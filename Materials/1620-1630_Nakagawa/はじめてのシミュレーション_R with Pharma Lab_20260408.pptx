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2" r:id="rId2"/>
    <p:sldId id="29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5" r:id="rId13"/>
    <p:sldId id="281" r:id="rId14"/>
    <p:sldId id="267" r:id="rId15"/>
  </p:sldIdLst>
  <p:sldSz cx="10795000" cy="8102600"/>
  <p:notesSz cx="10795000" cy="81026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2"/>
    <p:restoredTop sz="94577"/>
  </p:normalViewPr>
  <p:slideViewPr>
    <p:cSldViewPr>
      <p:cViewPr varScale="1">
        <p:scale>
          <a:sx n="79" d="100"/>
          <a:sy n="79" d="100"/>
        </p:scale>
        <p:origin x="2250" y="29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5" d="100"/>
          <a:sy n="105" d="100"/>
        </p:scale>
        <p:origin x="65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93D992C-766C-602C-FC8F-21FB802C9D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78363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AB2FB3-BE67-46A0-3BD8-4729399B8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115050" y="0"/>
            <a:ext cx="4676775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21CEF-AF14-0041-915F-47CFE44F64CA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F00729-649E-0BA7-ECE6-C1098C5414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696200"/>
            <a:ext cx="4678363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A418B1-FC60-1C7E-61BA-BC069A98B4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115050" y="7696200"/>
            <a:ext cx="4676775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A7924-DBDA-D047-B476-71AB933AB7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810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78363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115050" y="0"/>
            <a:ext cx="4676775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EDA11-FB64-E74C-B19E-49156B88425C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575050" y="1012825"/>
            <a:ext cx="3644900" cy="2735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079500" y="3898900"/>
            <a:ext cx="8636000" cy="31908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7696200"/>
            <a:ext cx="4678363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115050" y="7696200"/>
            <a:ext cx="4676775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0CB69-4F40-B640-B946-670202B280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34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190EC4D-2A0A-094D-9D6D-BFE7FFFBCF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1592"/>
            <a:ext cx="10809823" cy="8104191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62ECAD2-F9FE-7744-EC65-D49D3EA31A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62" y="0"/>
            <a:ext cx="2590800" cy="15113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073BC4D-C3CC-C546-A0C1-DF1C5E705B92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>
          <a:xfrm>
            <a:off x="720000" y="2816407"/>
            <a:ext cx="8001432" cy="184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ts val="4500"/>
              </a:lnSpc>
              <a:defRPr sz="3200" b="1" i="0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: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32pt</a:t>
            </a:r>
            <a:br>
              <a:rPr kumimoji="1" lang="en-US" altLang="ja-JP" dirty="0"/>
            </a:br>
            <a:r>
              <a:rPr kumimoji="1" lang="ja-JP" altLang="en-US"/>
              <a:t>文字色</a:t>
            </a:r>
            <a:r>
              <a:rPr kumimoji="1" lang="en-US" altLang="ja-JP" dirty="0"/>
              <a:t>:</a:t>
            </a:r>
            <a:r>
              <a:rPr kumimoji="1" lang="ja-JP" altLang="en-US"/>
              <a:t>セグメントカラー</a:t>
            </a:r>
            <a:br>
              <a:rPr kumimoji="1" lang="en-US" altLang="ja-JP" dirty="0"/>
            </a:br>
            <a:r>
              <a:rPr kumimoji="1" lang="en-US" altLang="ja-JP" dirty="0"/>
              <a:t>XXXXXXXXXXXXXXXXXXX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図 25">
            <a:extLst>
              <a:ext uri="{FF2B5EF4-FFF2-40B4-BE49-F238E27FC236}">
                <a16:creationId xmlns:a16="http://schemas.microsoft.com/office/drawing/2014/main" id="{D05B17E6-CA60-2145-A032-5F7B694BA2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760"/>
            <a:ext cx="10801350" cy="8097840"/>
          </a:xfrm>
          <a:prstGeom prst="rect">
            <a:avLst/>
          </a:prstGeom>
        </p:spPr>
      </p:pic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7A7A04BE-6D04-2343-9876-9EE00BAEE3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0" y="1440000"/>
            <a:ext cx="7200000" cy="6160650"/>
          </a:xfrm>
          <a:prstGeom prst="rect">
            <a:avLst/>
          </a:prstGeom>
        </p:spPr>
        <p:txBody>
          <a:bodyPr lIns="0" tIns="0" rIns="0" bIns="0"/>
          <a:lstStyle>
            <a:lvl1pPr marL="342900" indent="-342900">
              <a:lnSpc>
                <a:spcPct val="125000"/>
              </a:lnSpc>
              <a:buClr>
                <a:schemeClr val="accent2"/>
              </a:buClr>
              <a:buFont typeface="+mj-lt"/>
              <a:buAutoNum type="arabicPeriod"/>
              <a:defRPr sz="2800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A07CC24-60AA-8541-B629-D430D205C0AF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556A398D-440B-724F-BBB6-5981C38F3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7A061268-A195-BF40-8844-514CA37FAD65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8127DA1-654D-4949-AEAC-DA03013788AD}"/>
              </a:ext>
            </a:extLst>
          </p:cNvPr>
          <p:cNvSpPr txBox="1"/>
          <p:nvPr userDrawn="1"/>
        </p:nvSpPr>
        <p:spPr>
          <a:xfrm>
            <a:off x="720000" y="720000"/>
            <a:ext cx="95885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2800" b="1" u="sng" spc="150">
                <a:solidFill>
                  <a:schemeClr val="accent2"/>
                </a:solidFill>
                <a:latin typeface="Meiryo UI"/>
                <a:cs typeface="Meiryo UI"/>
              </a:rPr>
              <a:t>目次</a:t>
            </a:r>
            <a:endParaRPr sz="2800" u="sng" dirty="0">
              <a:solidFill>
                <a:schemeClr val="accent2"/>
              </a:solidFill>
              <a:latin typeface="Meiryo UI"/>
              <a:cs typeface="Meiryo U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222CE28-D473-C14C-84C1-69EDE33C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1591"/>
            <a:ext cx="10809822" cy="8104190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D2F004A0-CDDA-4D4D-8779-49503586D84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20001" y="3393020"/>
            <a:ext cx="8258900" cy="1363258"/>
          </a:xfrm>
          <a:prstGeom prst="rect">
            <a:avLst/>
          </a:prstGeom>
        </p:spPr>
        <p:txBody>
          <a:bodyPr vert="horz" wrap="square" lIns="0" tIns="12065" rIns="0" bIns="0" rtlCol="0" anchor="ctr" anchorCtr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spc="150" dirty="0" err="1"/>
              <a:t>中表紙</a:t>
            </a:r>
            <a:r>
              <a:rPr lang="en-US" spc="150" dirty="0"/>
              <a:t>①</a:t>
            </a:r>
            <a:r>
              <a:rPr spc="130" dirty="0"/>
              <a:t>:</a:t>
            </a:r>
            <a:r>
              <a:rPr spc="130" dirty="0" err="1"/>
              <a:t>Meiryo</a:t>
            </a:r>
            <a:r>
              <a:rPr spc="300" dirty="0"/>
              <a:t> </a:t>
            </a:r>
            <a:r>
              <a:rPr spc="110" dirty="0"/>
              <a:t>UI</a:t>
            </a:r>
            <a:r>
              <a:rPr lang="en-US" spc="110" dirty="0"/>
              <a:t> 28</a:t>
            </a:r>
            <a:r>
              <a:rPr spc="110" dirty="0"/>
              <a:t>pt</a:t>
            </a:r>
            <a:r>
              <a:rPr lang="en-US" spc="110" dirty="0"/>
              <a:t>/</a:t>
            </a:r>
            <a:r>
              <a:rPr lang="en-US" spc="110" dirty="0" err="1"/>
              <a:t>文字色:ブラック</a:t>
            </a:r>
            <a:br>
              <a:rPr lang="en-US" spc="110" dirty="0"/>
            </a:br>
            <a:r>
              <a:rPr spc="130" dirty="0"/>
              <a:t>XXXXXXXXXXXXXXXX</a:t>
            </a:r>
            <a:br>
              <a:rPr lang="en-US" spc="130" dirty="0"/>
            </a:br>
            <a:r>
              <a:rPr lang="en" altLang="ja-JP" spc="130" dirty="0"/>
              <a:t>XXXXXXXXXXXXXXXX</a:t>
            </a:r>
            <a:endParaRPr spc="13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9CE2B3B-2D14-6E44-918F-FAFE7F6365EE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1" name="スライド番号プレースホルダー 9">
            <a:extLst>
              <a:ext uri="{FF2B5EF4-FFF2-40B4-BE49-F238E27FC236}">
                <a16:creationId xmlns:a16="http://schemas.microsoft.com/office/drawing/2014/main" id="{C76D430D-033C-634E-8268-86C408D5D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9DF3868A-A770-2E4E-99DA-E9D6965A836F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F40FC24-4113-7BED-1259-48BC56860F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809820" cy="810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5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E18EC10-783E-354B-BF17-48DDEBB638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761"/>
            <a:ext cx="10801349" cy="8097838"/>
          </a:xfrm>
          <a:prstGeom prst="rect">
            <a:avLst/>
          </a:prstGeom>
        </p:spPr>
      </p:pic>
      <p:sp>
        <p:nvSpPr>
          <p:cNvPr id="7" name="object 12">
            <a:extLst>
              <a:ext uri="{FF2B5EF4-FFF2-40B4-BE49-F238E27FC236}">
                <a16:creationId xmlns:a16="http://schemas.microsoft.com/office/drawing/2014/main" id="{A8D0467E-C046-9F40-8D87-539417ADA83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20000" y="3369671"/>
            <a:ext cx="8182699" cy="13632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spc="150" dirty="0" err="1">
                <a:solidFill>
                  <a:srgbClr val="FFFFFF"/>
                </a:solidFill>
              </a:rPr>
              <a:t>中表紙</a:t>
            </a:r>
            <a:r>
              <a:rPr lang="ja-JP" altLang="en-US" spc="150">
                <a:solidFill>
                  <a:srgbClr val="FFFFFF"/>
                </a:solidFill>
              </a:rPr>
              <a:t>②</a:t>
            </a:r>
            <a:r>
              <a:rPr spc="130" dirty="0">
                <a:solidFill>
                  <a:srgbClr val="FFFFFF"/>
                </a:solidFill>
              </a:rPr>
              <a:t>:</a:t>
            </a:r>
            <a:r>
              <a:rPr spc="130" dirty="0" err="1">
                <a:solidFill>
                  <a:srgbClr val="FFFFFF"/>
                </a:solidFill>
              </a:rPr>
              <a:t>Meiryo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110" dirty="0">
                <a:solidFill>
                  <a:srgbClr val="FFFFFF"/>
                </a:solidFill>
              </a:rPr>
              <a:t>UI</a:t>
            </a:r>
            <a:r>
              <a:rPr lang="en-US" spc="110" dirty="0">
                <a:solidFill>
                  <a:srgbClr val="FFFFFF"/>
                </a:solidFill>
              </a:rPr>
              <a:t> 28</a:t>
            </a:r>
            <a:r>
              <a:rPr spc="110" dirty="0">
                <a:solidFill>
                  <a:srgbClr val="FFFFFF"/>
                </a:solidFill>
              </a:rPr>
              <a:t>pt</a:t>
            </a:r>
            <a:r>
              <a:rPr lang="en-US" spc="110" dirty="0">
                <a:solidFill>
                  <a:srgbClr val="FFFFFF"/>
                </a:solidFill>
              </a:rPr>
              <a:t>/</a:t>
            </a:r>
            <a:r>
              <a:rPr lang="en-US" spc="110" dirty="0" err="1">
                <a:solidFill>
                  <a:srgbClr val="FFFFFF"/>
                </a:solidFill>
              </a:rPr>
              <a:t>文字色:ホワイト</a:t>
            </a:r>
            <a:r>
              <a:rPr spc="110" dirty="0">
                <a:solidFill>
                  <a:srgbClr val="FFFFFF"/>
                </a:solidFill>
              </a:rPr>
              <a:t> </a:t>
            </a:r>
            <a:br>
              <a:rPr lang="en-US" spc="110" dirty="0">
                <a:solidFill>
                  <a:srgbClr val="FFFFFF"/>
                </a:solidFill>
              </a:rPr>
            </a:br>
            <a:r>
              <a:rPr spc="130" dirty="0">
                <a:solidFill>
                  <a:srgbClr val="FFFFFF"/>
                </a:solidFill>
              </a:rPr>
              <a:t>XXXXXXXXXXXXXXXX</a:t>
            </a:r>
            <a:br>
              <a:rPr lang="en-US" spc="130" dirty="0">
                <a:solidFill>
                  <a:srgbClr val="FFFFFF"/>
                </a:solidFill>
              </a:rPr>
            </a:br>
            <a:r>
              <a:rPr lang="en" altLang="ja-JP" spc="130" dirty="0">
                <a:solidFill>
                  <a:srgbClr val="FFFFFF"/>
                </a:solidFill>
              </a:rPr>
              <a:t>XXXXXXXXXXXXXXXX</a:t>
            </a:r>
            <a:endParaRPr spc="130" dirty="0">
              <a:solidFill>
                <a:srgbClr val="FFFFFF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756D76-865F-8041-AEAA-8F999D45749A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5071A86A-CFCE-5B4F-8FB6-00174C9EB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24AD27D0-2CCE-994E-9119-4C5939996F6F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7820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222CE28-D473-C14C-84C1-69EDE33C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760"/>
            <a:ext cx="10794999" cy="8093078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615126C-744F-7387-F194-F19834F3BE37}"/>
              </a:ext>
            </a:extLst>
          </p:cNvPr>
          <p:cNvSpPr/>
          <p:nvPr userDrawn="1"/>
        </p:nvSpPr>
        <p:spPr>
          <a:xfrm>
            <a:off x="368300" y="1003300"/>
            <a:ext cx="10058400" cy="6553199"/>
          </a:xfrm>
          <a:prstGeom prst="rect">
            <a:avLst/>
          </a:prstGeom>
          <a:solidFill>
            <a:srgbClr val="EBEF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5E26D6D-2E59-8840-842D-5B8609DB3702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1" name="スライド番号プレースホルダー 9">
            <a:extLst>
              <a:ext uri="{FF2B5EF4-FFF2-40B4-BE49-F238E27FC236}">
                <a16:creationId xmlns:a16="http://schemas.microsoft.com/office/drawing/2014/main" id="{03B30CBE-0F4E-DC44-ACF1-70933C35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8F0671EF-50F0-934C-9F94-5A0F029AAB7E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F97B9F-BAC7-EB44-9E34-E1EDA8754AB2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>
          <a:xfrm>
            <a:off x="368300" y="180002"/>
            <a:ext cx="10058400" cy="469583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28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見出し</a:t>
            </a:r>
            <a:r>
              <a:rPr kumimoji="1" lang="en-US" altLang="ja-JP" dirty="0"/>
              <a:t>: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28pt/</a:t>
            </a:r>
            <a:r>
              <a:rPr kumimoji="1" lang="ja-JP" altLang="en-US"/>
              <a:t>文字色</a:t>
            </a:r>
            <a:r>
              <a:rPr kumimoji="1" lang="en-US" altLang="ja-JP" dirty="0"/>
              <a:t>:</a:t>
            </a:r>
            <a:r>
              <a:rPr kumimoji="1" lang="ja-JP" altLang="en-US"/>
              <a:t>ブラック</a:t>
            </a:r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97E90BBE-0CA4-E3AC-7F5C-F71B8CCF069E}"/>
              </a:ext>
            </a:extLst>
          </p:cNvPr>
          <p:cNvSpPr>
            <a:spLocks noGrp="1" noChangeAspect="1"/>
          </p:cNvSpPr>
          <p:nvPr>
            <p:ph sz="half" idx="11" hasCustomPrompt="1"/>
          </p:nvPr>
        </p:nvSpPr>
        <p:spPr>
          <a:xfrm>
            <a:off x="535000" y="1672984"/>
            <a:ext cx="9720000" cy="5908235"/>
          </a:xfrm>
          <a:prstGeom prst="rect">
            <a:avLst/>
          </a:prstGeom>
        </p:spPr>
        <p:txBody>
          <a:bodyPr lIns="0" tIns="108000" rIns="0" bIns="180000"/>
          <a:lstStyle>
            <a:lvl1pPr marL="180975" indent="-236538">
              <a:lnSpc>
                <a:spcPct val="114000"/>
              </a:lnSpc>
              <a:spcAft>
                <a:spcPts val="5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252000" indent="0">
              <a:lnSpc>
                <a:spcPct val="114000"/>
              </a:lnSpc>
              <a:spcAft>
                <a:spcPts val="500"/>
              </a:spcAft>
              <a:buClr>
                <a:schemeClr val="accent2"/>
              </a:buClr>
              <a:buSzPct val="50000"/>
              <a:buFont typeface="Arial" panose="020B0604020202020204" pitchFamily="34" charset="0"/>
              <a:buNone/>
              <a:tabLst>
                <a:tab pos="217488" algn="l"/>
              </a:tabLst>
              <a:defRPr sz="2000"/>
            </a:lvl2pPr>
          </a:lstStyle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CD846E-4A2E-F322-8CD3-A9B17ACFC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044000"/>
            <a:ext cx="9720000" cy="630000"/>
          </a:xfrm>
          <a:prstGeom prst="rect">
            <a:avLst/>
          </a:prstGeom>
        </p:spPr>
        <p:txBody>
          <a:bodyPr lIns="0" tIns="180000" rIns="0" bIns="180000"/>
          <a:lstStyle>
            <a:lvl1pPr>
              <a:defRPr sz="2400" b="1" i="0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 dirty="0" err="1"/>
              <a:t>見出し:Meiryo</a:t>
            </a:r>
            <a:r>
              <a:rPr lang="en-US" altLang="ja-JP" dirty="0"/>
              <a:t> UI 24pt / </a:t>
            </a:r>
            <a:r>
              <a:rPr lang="en-US" altLang="ja-JP" dirty="0" err="1"/>
              <a:t>セグメントカラ</a:t>
            </a:r>
            <a:r>
              <a:rPr lang="en-US" altLang="ja-JP" dirty="0"/>
              <a:t>ー</a:t>
            </a:r>
          </a:p>
        </p:txBody>
      </p:sp>
    </p:spTree>
    <p:extLst>
      <p:ext uri="{BB962C8B-B14F-4D97-AF65-F5344CB8AC3E}">
        <p14:creationId xmlns:p14="http://schemas.microsoft.com/office/powerpoint/2010/main" val="1426851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2" userDrawn="1">
          <p15:clr>
            <a:srgbClr val="FBAE40"/>
          </p15:clr>
        </p15:guide>
        <p15:guide id="2" pos="232" userDrawn="1">
          <p15:clr>
            <a:srgbClr val="FBAE40"/>
          </p15:clr>
        </p15:guide>
        <p15:guide id="3" orient="horz" pos="4760" userDrawn="1">
          <p15:clr>
            <a:srgbClr val="FBAE40"/>
          </p15:clr>
        </p15:guide>
        <p15:guide id="4" pos="656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222CE28-D473-C14C-84C1-69EDE33C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760"/>
            <a:ext cx="10795000" cy="809307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5E26D6D-2E59-8840-842D-5B8609DB3702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1" name="スライド番号プレースホルダー 9">
            <a:extLst>
              <a:ext uri="{FF2B5EF4-FFF2-40B4-BE49-F238E27FC236}">
                <a16:creationId xmlns:a16="http://schemas.microsoft.com/office/drawing/2014/main" id="{03B30CBE-0F4E-DC44-ACF1-70933C35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654CD146-6917-E848-8306-D308C0C45C34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F97B9F-BAC7-EB44-9E34-E1EDA8754AB2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>
          <a:xfrm>
            <a:off x="368300" y="180002"/>
            <a:ext cx="10058400" cy="469583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28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見出し</a:t>
            </a:r>
            <a:r>
              <a:rPr kumimoji="1" lang="en-US" altLang="ja-JP" dirty="0"/>
              <a:t>: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28pt/</a:t>
            </a:r>
            <a:r>
              <a:rPr kumimoji="1" lang="ja-JP" altLang="en-US"/>
              <a:t>文字色</a:t>
            </a:r>
            <a:r>
              <a:rPr kumimoji="1" lang="en-US" altLang="ja-JP" dirty="0"/>
              <a:t>:</a:t>
            </a:r>
            <a:r>
              <a:rPr kumimoji="1" lang="ja-JP" altLang="en-US"/>
              <a:t>ブラック</a:t>
            </a:r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97E90BBE-0CA4-E3AC-7F5C-F71B8CCF069E}"/>
              </a:ext>
            </a:extLst>
          </p:cNvPr>
          <p:cNvSpPr>
            <a:spLocks noGrp="1" noChangeAspect="1"/>
          </p:cNvSpPr>
          <p:nvPr>
            <p:ph sz="half" idx="11" hasCustomPrompt="1"/>
          </p:nvPr>
        </p:nvSpPr>
        <p:spPr>
          <a:xfrm>
            <a:off x="535000" y="1672984"/>
            <a:ext cx="9720000" cy="5908235"/>
          </a:xfrm>
          <a:prstGeom prst="rect">
            <a:avLst/>
          </a:prstGeom>
        </p:spPr>
        <p:txBody>
          <a:bodyPr lIns="0" tIns="108000" rIns="0" bIns="180000"/>
          <a:lstStyle>
            <a:lvl1pPr marL="180975" indent="-236538">
              <a:lnSpc>
                <a:spcPct val="114000"/>
              </a:lnSpc>
              <a:spcAft>
                <a:spcPts val="5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252000" indent="0">
              <a:lnSpc>
                <a:spcPct val="114000"/>
              </a:lnSpc>
              <a:spcAft>
                <a:spcPts val="500"/>
              </a:spcAft>
              <a:buClr>
                <a:schemeClr val="accent2"/>
              </a:buClr>
              <a:buSzPct val="50000"/>
              <a:buFont typeface="Arial" panose="020B0604020202020204" pitchFamily="34" charset="0"/>
              <a:buNone/>
              <a:tabLst>
                <a:tab pos="217488" algn="l"/>
              </a:tabLst>
              <a:defRPr sz="2000"/>
            </a:lvl2pPr>
          </a:lstStyle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12" name="テキスト プレースホルダー 3">
            <a:extLst>
              <a:ext uri="{FF2B5EF4-FFF2-40B4-BE49-F238E27FC236}">
                <a16:creationId xmlns:a16="http://schemas.microsoft.com/office/drawing/2014/main" id="{7CBE6757-8177-5875-12DD-35C1BDBE8A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044000"/>
            <a:ext cx="9720000" cy="630000"/>
          </a:xfrm>
          <a:prstGeom prst="rect">
            <a:avLst/>
          </a:prstGeom>
        </p:spPr>
        <p:txBody>
          <a:bodyPr lIns="0" tIns="180000" rIns="0" bIns="180000"/>
          <a:lstStyle>
            <a:lvl1pPr>
              <a:defRPr sz="2400" b="1" i="0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 dirty="0" err="1"/>
              <a:t>見出し:Meiryo</a:t>
            </a:r>
            <a:r>
              <a:rPr lang="en-US" altLang="ja-JP" dirty="0"/>
              <a:t> UI 24pt / </a:t>
            </a:r>
            <a:r>
              <a:rPr lang="en-US" altLang="ja-JP" dirty="0" err="1"/>
              <a:t>セグメントカラ</a:t>
            </a:r>
            <a:r>
              <a:rPr lang="en-US" altLang="ja-JP" dirty="0"/>
              <a:t>ー</a:t>
            </a:r>
          </a:p>
        </p:txBody>
      </p:sp>
    </p:spTree>
    <p:extLst>
      <p:ext uri="{BB962C8B-B14F-4D97-AF65-F5344CB8AC3E}">
        <p14:creationId xmlns:p14="http://schemas.microsoft.com/office/powerpoint/2010/main" val="617449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2" userDrawn="1">
          <p15:clr>
            <a:srgbClr val="FBAE40"/>
          </p15:clr>
        </p15:guide>
        <p15:guide id="2" pos="6568" userDrawn="1">
          <p15:clr>
            <a:srgbClr val="FBAE40"/>
          </p15:clr>
        </p15:guide>
        <p15:guide id="3" orient="horz" pos="4760" userDrawn="1">
          <p15:clr>
            <a:srgbClr val="FBAE40"/>
          </p15:clr>
        </p15:guide>
        <p15:guide id="4" pos="2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経営理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222CE28-D473-C14C-84C1-69EDE33C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0807700" cy="81026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5E26D6D-2E59-8840-842D-5B8609DB3702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1" name="スライド番号プレースホルダー 9">
            <a:extLst>
              <a:ext uri="{FF2B5EF4-FFF2-40B4-BE49-F238E27FC236}">
                <a16:creationId xmlns:a16="http://schemas.microsoft.com/office/drawing/2014/main" id="{03B30CBE-0F4E-DC44-ACF1-70933C35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2778C13C-C538-404E-8DB9-D3B1725B8F7E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F97B9F-BAC7-EB44-9E34-E1EDA8754AB2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>
          <a:xfrm>
            <a:off x="368300" y="180002"/>
            <a:ext cx="10058400" cy="469583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28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経営理念</a:t>
            </a:r>
          </a:p>
        </p:txBody>
      </p:sp>
    </p:spTree>
    <p:extLst>
      <p:ext uri="{BB962C8B-B14F-4D97-AF65-F5344CB8AC3E}">
        <p14:creationId xmlns:p14="http://schemas.microsoft.com/office/powerpoint/2010/main" val="4149073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60C523-4E2A-CCB6-D902-AA710E554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0" y="3016250"/>
            <a:ext cx="32385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スライド番号プレースホルダー 9">
            <a:extLst>
              <a:ext uri="{FF2B5EF4-FFF2-40B4-BE49-F238E27FC236}">
                <a16:creationId xmlns:a16="http://schemas.microsoft.com/office/drawing/2014/main" id="{97A07057-976D-064B-8808-0B5ADC049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BCDD7E39-6288-7448-B6CC-36D1084B49C2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68" r:id="rId5"/>
    <p:sldLayoutId id="2147483671" r:id="rId6"/>
    <p:sldLayoutId id="2147483672" r:id="rId7"/>
    <p:sldLayoutId id="2147483669" r:id="rId8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AA678D9-D708-190A-756A-4690CB7B7D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6108700"/>
            <a:ext cx="3594100" cy="2159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6D9116-EA55-179E-3BAA-F5A75D32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 dirty="0"/>
              <a:t>R with Pharma Lab</a:t>
            </a:r>
            <a:br>
              <a:rPr kumimoji="1" lang="en-US" altLang="ja-JP" dirty="0"/>
            </a:br>
            <a:r>
              <a:rPr kumimoji="1" lang="ja-JP" altLang="en-US" dirty="0"/>
              <a:t>はじめてのシミュレーション</a:t>
            </a: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1DA6077F-F6D2-102F-0630-754FD8EBAD22}"/>
              </a:ext>
            </a:extLst>
          </p:cNvPr>
          <p:cNvSpPr txBox="1"/>
          <p:nvPr/>
        </p:nvSpPr>
        <p:spPr>
          <a:xfrm>
            <a:off x="720000" y="6413806"/>
            <a:ext cx="3272790" cy="258789"/>
          </a:xfrm>
          <a:prstGeom prst="rect">
            <a:avLst/>
          </a:prstGeom>
        </p:spPr>
        <p:txBody>
          <a:bodyPr vert="horz" wrap="square" lIns="0" tIns="54610" rIns="0" bIns="0" rtlCol="0" anchor="t">
            <a:spAutoFit/>
          </a:bodyPr>
          <a:lstStyle/>
          <a:p>
            <a:pPr marL="12700">
              <a:lnSpc>
                <a:spcPts val="18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eiryo UI"/>
                <a:cs typeface="Meiryo UI"/>
              </a:rPr>
              <a:t>中川　雄貴</a:t>
            </a:r>
            <a:endParaRPr lang="en" altLang="ja-JP" sz="1200" dirty="0">
              <a:solidFill>
                <a:schemeClr val="tx1"/>
              </a:solidFill>
              <a:latin typeface="Meiryo UI"/>
              <a:cs typeface="Meiryo UI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FA1B8F-6145-7FD8-7FD8-5EB81A4F1D75}"/>
              </a:ext>
            </a:extLst>
          </p:cNvPr>
          <p:cNvSpPr txBox="1"/>
          <p:nvPr/>
        </p:nvSpPr>
        <p:spPr>
          <a:xfrm>
            <a:off x="720000" y="540000"/>
            <a:ext cx="21336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2026</a:t>
            </a:r>
            <a:r>
              <a:rPr kumimoji="1" lang="ja-JP" altLang="en-US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年</a:t>
            </a:r>
            <a: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r>
            <a:r>
              <a:rPr kumimoji="1" lang="ja-JP" altLang="en-US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月</a:t>
            </a:r>
            <a: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r>
            <a:r>
              <a:rPr kumimoji="1" lang="ja-JP" altLang="en-US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870615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2565-A6CA-E319-4E64-46182024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78CD538-E280-F286-4ECD-EDAFEA47A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2</a:t>
            </a:fld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024055B-7FAC-1E33-F524-7EB84728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Aptos Narrow" panose="020B0004020202020204" pitchFamily="34" charset="0"/>
                <a:ea typeface="ＭＳ Ｐゴシック" panose="020B0600070205080204" pitchFamily="50" charset="-128"/>
              </a:rPr>
              <a:t>Introduction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897505-6E34-BBA7-66BE-F1AE7C53628F}"/>
              </a:ext>
            </a:extLst>
          </p:cNvPr>
          <p:cNvSpPr txBox="1"/>
          <p:nvPr/>
        </p:nvSpPr>
        <p:spPr>
          <a:xfrm>
            <a:off x="520700" y="1155700"/>
            <a:ext cx="90054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u="sng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</a:t>
            </a:r>
            <a:r>
              <a:rPr lang="ja-JP" altLang="en-US" sz="2400" u="sng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初心者</a:t>
            </a:r>
            <a:endParaRPr lang="en-US" altLang="ja-JP" sz="2400" u="sng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簡単なプログラムで</a:t>
            </a:r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を学ぶ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SAS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との違いを知る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endParaRPr lang="en-US" altLang="ja-JP" sz="2400" u="sng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endParaRPr lang="en-US" altLang="ja-JP" sz="2400" u="sng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400" u="sng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シミュレーション</a:t>
            </a:r>
            <a:endParaRPr lang="en-US" altLang="ja-JP" sz="2400" u="sng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視覚化による統計手法の理解促進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実務での活用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901700" lvl="4" indent="-547688">
              <a:buFont typeface="Wingdings" panose="05000000000000000000" pitchFamily="2" charset="2"/>
              <a:buChar char="ü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症例数設計の妥当性確認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901700" lvl="4" indent="-547688">
              <a:buFont typeface="Wingdings" panose="05000000000000000000" pitchFamily="2" charset="2"/>
              <a:buChar char="ü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推定値の精度および不確実性の評価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901700" lvl="4" indent="-547688">
              <a:buFont typeface="Wingdings" panose="05000000000000000000" pitchFamily="2" charset="2"/>
              <a:buChar char="ü"/>
            </a:pP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140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47BD-DC41-E18E-430F-F36FCB68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0CA9D6C-6F29-B419-E439-14152747B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3</a:t>
            </a:fld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125D7A2-7525-D025-F289-98673DA3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B431112-512C-CC1E-FF1F-BEFCE83D6FBA}"/>
              </a:ext>
            </a:extLst>
          </p:cNvPr>
          <p:cNvGrpSpPr/>
          <p:nvPr/>
        </p:nvGrpSpPr>
        <p:grpSpPr>
          <a:xfrm>
            <a:off x="1139994" y="1618584"/>
            <a:ext cx="8506690" cy="5176982"/>
            <a:chOff x="1842655" y="748145"/>
            <a:chExt cx="8506690" cy="5176982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3BC0961E-B58B-79E7-C56F-D2FF4506FA53}"/>
                </a:ext>
              </a:extLst>
            </p:cNvPr>
            <p:cNvGrpSpPr/>
            <p:nvPr/>
          </p:nvGrpSpPr>
          <p:grpSpPr>
            <a:xfrm>
              <a:off x="1842655" y="748145"/>
              <a:ext cx="8506690" cy="5176982"/>
              <a:chOff x="1842654" y="341745"/>
              <a:chExt cx="8506690" cy="5176982"/>
            </a:xfrm>
          </p:grpSpPr>
          <p:sp>
            <p:nvSpPr>
              <p:cNvPr id="12" name="四角形: 角を丸くする 11">
                <a:extLst>
                  <a:ext uri="{FF2B5EF4-FFF2-40B4-BE49-F238E27FC236}">
                    <a16:creationId xmlns:a16="http://schemas.microsoft.com/office/drawing/2014/main" id="{8E178A13-020F-D154-3C0A-35BF0852E85B}"/>
                  </a:ext>
                </a:extLst>
              </p:cNvPr>
              <p:cNvSpPr/>
              <p:nvPr/>
            </p:nvSpPr>
            <p:spPr>
              <a:xfrm>
                <a:off x="4336472" y="341745"/>
                <a:ext cx="3519055" cy="95134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2</a:t>
                </a:r>
                <a:r>
                  <a:rPr kumimoji="1" lang="ja-JP" altLang="en-US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標本</a:t>
                </a:r>
                <a:r>
                  <a:rPr kumimoji="1" lang="en-US" altLang="ja-JP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t</a:t>
                </a:r>
                <a:r>
                  <a:rPr kumimoji="1" lang="ja-JP" altLang="en-US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検定</a:t>
                </a:r>
              </a:p>
            </p:txBody>
          </p: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A1A87CB6-1AE3-D89C-C332-6507196DEBB0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6095999" y="1293090"/>
                <a:ext cx="1" cy="9698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14" name="四角形: 角を丸くする 13">
                <a:extLst>
                  <a:ext uri="{FF2B5EF4-FFF2-40B4-BE49-F238E27FC236}">
                    <a16:creationId xmlns:a16="http://schemas.microsoft.com/office/drawing/2014/main" id="{6EB76BFB-C278-EDB4-18E8-4CE53329AF70}"/>
                  </a:ext>
                </a:extLst>
              </p:cNvPr>
              <p:cNvSpPr/>
              <p:nvPr/>
            </p:nvSpPr>
            <p:spPr>
              <a:xfrm>
                <a:off x="4336472" y="2262909"/>
                <a:ext cx="3519055" cy="95134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等分散の仮定</a:t>
                </a:r>
              </a:p>
            </p:txBody>
          </p: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5FEDBA36-EDA9-024C-1CB0-5A23685D1126}"/>
                  </a:ext>
                </a:extLst>
              </p:cNvPr>
              <p:cNvCxnSpPr>
                <a:cxnSpLocks/>
                <a:endCxn id="17" idx="0"/>
              </p:cNvCxnSpPr>
              <p:nvPr/>
            </p:nvCxnSpPr>
            <p:spPr>
              <a:xfrm flipH="1">
                <a:off x="3602182" y="3214254"/>
                <a:ext cx="2493818" cy="13531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61EA1409-DE98-49C8-7373-ED95B28B0CAC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>
                <a:off x="6095999" y="3214254"/>
                <a:ext cx="2493818" cy="13531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17" name="四角形: 角を丸くする 16">
                <a:extLst>
                  <a:ext uri="{FF2B5EF4-FFF2-40B4-BE49-F238E27FC236}">
                    <a16:creationId xmlns:a16="http://schemas.microsoft.com/office/drawing/2014/main" id="{E9489D79-411B-1978-16DA-D69C49514F06}"/>
                  </a:ext>
                </a:extLst>
              </p:cNvPr>
              <p:cNvSpPr/>
              <p:nvPr/>
            </p:nvSpPr>
            <p:spPr>
              <a:xfrm>
                <a:off x="1842654" y="4567382"/>
                <a:ext cx="3519055" cy="95134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Student</a:t>
                </a:r>
                <a:r>
                  <a:rPr kumimoji="1" lang="ja-JP" altLang="en-US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の</a:t>
                </a:r>
                <a:r>
                  <a:rPr kumimoji="1" lang="en-US" altLang="ja-JP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t</a:t>
                </a:r>
                <a:r>
                  <a:rPr kumimoji="1" lang="ja-JP" altLang="en-US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検定</a:t>
                </a:r>
              </a:p>
            </p:txBody>
          </p:sp>
          <p:sp>
            <p:nvSpPr>
              <p:cNvPr id="18" name="四角形: 角を丸くする 17">
                <a:extLst>
                  <a:ext uri="{FF2B5EF4-FFF2-40B4-BE49-F238E27FC236}">
                    <a16:creationId xmlns:a16="http://schemas.microsoft.com/office/drawing/2014/main" id="{39384E74-FC44-99FA-F4CC-15AFB7615F28}"/>
                  </a:ext>
                </a:extLst>
              </p:cNvPr>
              <p:cNvSpPr/>
              <p:nvPr/>
            </p:nvSpPr>
            <p:spPr>
              <a:xfrm>
                <a:off x="6830289" y="4567381"/>
                <a:ext cx="3519055" cy="95134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Welch</a:t>
                </a:r>
                <a:r>
                  <a:rPr kumimoji="1" lang="ja-JP" altLang="en-US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の</a:t>
                </a:r>
                <a:r>
                  <a:rPr kumimoji="1" lang="en-US" altLang="ja-JP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t</a:t>
                </a:r>
                <a:r>
                  <a:rPr kumimoji="1" lang="ja-JP" altLang="en-US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検定</a:t>
                </a:r>
              </a:p>
            </p:txBody>
          </p: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B334B2B-A9D1-7728-A743-3456852CE7B0}"/>
                </a:ext>
              </a:extLst>
            </p:cNvPr>
            <p:cNvSpPr txBox="1"/>
            <p:nvPr/>
          </p:nvSpPr>
          <p:spPr>
            <a:xfrm>
              <a:off x="3329709" y="3892864"/>
              <a:ext cx="1634836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  <a:endParaRPr kumimoji="1" lang="ja-JP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A669EAF9-3617-58C4-625D-B58EAA27F145}"/>
                </a:ext>
              </a:extLst>
            </p:cNvPr>
            <p:cNvSpPr txBox="1"/>
            <p:nvPr/>
          </p:nvSpPr>
          <p:spPr>
            <a:xfrm>
              <a:off x="7204363" y="3892864"/>
              <a:ext cx="1634836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  <a:endParaRPr kumimoji="1" lang="ja-JP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208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2D84-FBE1-271A-40B1-6D44B670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BC001CF-7AD9-2DB9-5EC7-3BF045CB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4</a:t>
            </a:fld>
            <a:endParaRPr kumimoji="1" lang="en-US" altLang="ja-JP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C0F0388-1B37-BBB3-64F5-7B2F75CFA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98578"/>
              </p:ext>
            </p:extLst>
          </p:nvPr>
        </p:nvGraphicFramePr>
        <p:xfrm>
          <a:off x="894772" y="3365500"/>
          <a:ext cx="90054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392">
                  <a:extLst>
                    <a:ext uri="{9D8B030D-6E8A-4147-A177-3AD203B41FA5}">
                      <a16:colId xmlns:a16="http://schemas.microsoft.com/office/drawing/2014/main" val="3541827207"/>
                    </a:ext>
                  </a:extLst>
                </a:gridCol>
                <a:gridCol w="3024881">
                  <a:extLst>
                    <a:ext uri="{9D8B030D-6E8A-4147-A177-3AD203B41FA5}">
                      <a16:colId xmlns:a16="http://schemas.microsoft.com/office/drawing/2014/main" val="1728234502"/>
                    </a:ext>
                  </a:extLst>
                </a:gridCol>
                <a:gridCol w="3094182">
                  <a:extLst>
                    <a:ext uri="{9D8B030D-6E8A-4147-A177-3AD203B41FA5}">
                      <a16:colId xmlns:a16="http://schemas.microsoft.com/office/drawing/2014/main" val="2828068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群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A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群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B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51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サンプルサイズ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25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25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41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母平均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23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母標準偏差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0.1, 0.5, 1, 2, 5, 10</a:t>
                      </a:r>
                      <a:endParaRPr kumimoji="1" lang="ja-JP" altLang="en-US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785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有意水準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0.05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23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シミュレーション回数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10000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211562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B026A4-35C7-7F55-0131-8F542AB8FF8C}"/>
              </a:ext>
            </a:extLst>
          </p:cNvPr>
          <p:cNvSpPr txBox="1"/>
          <p:nvPr/>
        </p:nvSpPr>
        <p:spPr>
          <a:xfrm>
            <a:off x="894772" y="1231900"/>
            <a:ext cx="90054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サンプルサイズ，母平均が同じで，母標準偏差が異なる場合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…</a:t>
            </a:r>
          </a:p>
          <a:p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本当は２群間の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母平均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には差がないはず！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⇒ 誤って有意と判定される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α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エラーがどうなるかを確認．</a:t>
            </a:r>
            <a:endParaRPr kumimoji="1" lang="ja-JP" altLang="en-US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2C4978AD-ECC4-4AC1-5AB4-585ADCB21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69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A3A0-5942-FE80-9286-1B16B45B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4ED4EBA-D1B8-8F68-4CE1-92137233B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5</a:t>
            </a:fld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F5C6AA-AE39-7F28-4C0D-D30A84BD34C0}"/>
              </a:ext>
            </a:extLst>
          </p:cNvPr>
          <p:cNvSpPr txBox="1"/>
          <p:nvPr/>
        </p:nvSpPr>
        <p:spPr>
          <a:xfrm>
            <a:off x="673337" y="1098838"/>
            <a:ext cx="796174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n &lt;- c(25, 25)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mu &lt;- c(0, 0)</a:t>
            </a: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sigma_a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&lt;- 1</a:t>
            </a: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c(0.1, 0.5, 1, 2, 5, 10) 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l &lt;- length(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)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alpha &lt;- 0.05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iter &lt;- 10000 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pvalue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array(NA, dim = c(l, iter))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set.seed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(1234)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for 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in 1 : l) {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for (j in 1</a:t>
            </a:r>
            <a:r>
              <a:rPr lang="ja-JP" altLang="en-US" sz="1600" dirty="0">
                <a:latin typeface="+mn-lt"/>
                <a:ea typeface="ＭＳ Ｐゴシック" panose="020B0600070205080204" pitchFamily="50" charset="-128"/>
              </a:rPr>
              <a:t> 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: iter) {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 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y_a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rnorm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(n[1], mu[1],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sigma_a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 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y_b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rnorm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(n[2], mu[2],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[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])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  result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t.test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y_a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,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y_b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,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var.equal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= TRUE)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 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pvalue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[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, j]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result$p.value</a:t>
            </a:r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ja-JP" altLang="en-US" sz="1600" dirty="0">
                <a:latin typeface="+mn-lt"/>
                <a:ea typeface="ＭＳ Ｐゴシック" panose="020B0600070205080204" pitchFamily="50" charset="-128"/>
              </a:rPr>
              <a:t>  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}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}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type1error &lt;- rep(0, l)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for 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in 1 : l) {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type1error[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]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ifelse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pvalue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[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, ] &lt; 0.05, 1, 0) |&gt; mean()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}</a:t>
            </a:r>
            <a:endParaRPr lang="ja-JP" altLang="en-US" sz="1600" dirty="0">
              <a:latin typeface="+mn-lt"/>
              <a:ea typeface="ＭＳ Ｐゴシック" panose="020B0600070205080204" pitchFamily="50" charset="-128"/>
            </a:endParaRPr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0BF0E93E-75D3-4A00-8BCB-AF64439D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FA9B09A-479C-D630-FF95-0FBDB6C0558A}"/>
              </a:ext>
            </a:extLst>
          </p:cNvPr>
          <p:cNvSpPr/>
          <p:nvPr/>
        </p:nvSpPr>
        <p:spPr>
          <a:xfrm>
            <a:off x="622732" y="5308888"/>
            <a:ext cx="3917002" cy="22859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4DAC4D4-2740-8072-4D06-14CCB0FB77D1}"/>
              </a:ext>
            </a:extLst>
          </p:cNvPr>
          <p:cNvCxnSpPr>
            <a:cxnSpLocks/>
          </p:cNvCxnSpPr>
          <p:nvPr/>
        </p:nvCxnSpPr>
        <p:spPr>
          <a:xfrm>
            <a:off x="4548048" y="5410488"/>
            <a:ext cx="667327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B0F446B-1268-9A48-A1D3-5E17B11140A8}"/>
              </a:ext>
            </a:extLst>
          </p:cNvPr>
          <p:cNvSpPr txBox="1"/>
          <p:nvPr/>
        </p:nvSpPr>
        <p:spPr>
          <a:xfrm>
            <a:off x="5212200" y="5118100"/>
            <a:ext cx="5090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var.equal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= TRUE</a:t>
            </a:r>
            <a:r>
              <a:rPr lang="ja-JP" altLang="en-US" sz="1600" dirty="0">
                <a:latin typeface="+mn-lt"/>
                <a:ea typeface="ＭＳ Ｐゴシック" panose="020B0600070205080204" pitchFamily="50" charset="-128"/>
              </a:rPr>
              <a:t>：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 Student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の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検定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var.equal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= FALSE</a:t>
            </a:r>
            <a:r>
              <a:rPr lang="ja-JP" altLang="en-US" sz="1600" dirty="0">
                <a:latin typeface="+mn-lt"/>
                <a:ea typeface="ＭＳ Ｐゴシック" panose="020B0600070205080204" pitchFamily="50" charset="-128"/>
              </a:rPr>
              <a:t>：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 Welch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の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検定（デフォルト）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EA87F5B-216F-C145-CB2D-372A6636104D}"/>
              </a:ext>
            </a:extLst>
          </p:cNvPr>
          <p:cNvSpPr/>
          <p:nvPr/>
        </p:nvSpPr>
        <p:spPr>
          <a:xfrm>
            <a:off x="622732" y="3613438"/>
            <a:ext cx="3917002" cy="22859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81C3DE2-7FC1-9D27-77DE-C2BD4A0079A6}"/>
              </a:ext>
            </a:extLst>
          </p:cNvPr>
          <p:cNvCxnSpPr>
            <a:cxnSpLocks/>
          </p:cNvCxnSpPr>
          <p:nvPr/>
        </p:nvCxnSpPr>
        <p:spPr>
          <a:xfrm>
            <a:off x="4548048" y="3721388"/>
            <a:ext cx="664152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68D46D8-0679-A4A5-A425-CB042E18ABF9}"/>
              </a:ext>
            </a:extLst>
          </p:cNvPr>
          <p:cNvSpPr txBox="1"/>
          <p:nvPr/>
        </p:nvSpPr>
        <p:spPr>
          <a:xfrm>
            <a:off x="5212200" y="3284150"/>
            <a:ext cx="539495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latin typeface="+mn-lt"/>
                <a:ea typeface="ＭＳ Ｐゴシック" panose="020B0600070205080204" pitchFamily="50" charset="-128"/>
              </a:rPr>
              <a:t>pre-allocation</a:t>
            </a:r>
          </a:p>
          <a:p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ループ等で結果を溜める入れ物（ベクトル・行列・リスト等）を，最初に必要サイズで作っておく」 というパフォーマンス最適化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6" name="右中かっこ 15">
            <a:extLst>
              <a:ext uri="{FF2B5EF4-FFF2-40B4-BE49-F238E27FC236}">
                <a16:creationId xmlns:a16="http://schemas.microsoft.com/office/drawing/2014/main" id="{C5F0EC1A-8BFA-2C38-5701-0B84F973C88F}"/>
              </a:ext>
            </a:extLst>
          </p:cNvPr>
          <p:cNvSpPr/>
          <p:nvPr/>
        </p:nvSpPr>
        <p:spPr>
          <a:xfrm>
            <a:off x="4439786" y="1193860"/>
            <a:ext cx="667326" cy="2198013"/>
          </a:xfrm>
          <a:prstGeom prst="righ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3269FF7-5D9F-EB83-8109-43FD0DF27001}"/>
              </a:ext>
            </a:extLst>
          </p:cNvPr>
          <p:cNvSpPr txBox="1"/>
          <p:nvPr/>
        </p:nvSpPr>
        <p:spPr>
          <a:xfrm>
            <a:off x="5212200" y="2123589"/>
            <a:ext cx="1507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事前準備</a:t>
            </a:r>
            <a:endParaRPr lang="ja-JP" altLang="en-US" sz="1600" dirty="0"/>
          </a:p>
        </p:txBody>
      </p:sp>
      <p:sp>
        <p:nvSpPr>
          <p:cNvPr id="9" name="右中かっこ 8">
            <a:extLst>
              <a:ext uri="{FF2B5EF4-FFF2-40B4-BE49-F238E27FC236}">
                <a16:creationId xmlns:a16="http://schemas.microsoft.com/office/drawing/2014/main" id="{DD9B7B91-1739-4F30-52FB-80A542B40FE7}"/>
              </a:ext>
            </a:extLst>
          </p:cNvPr>
          <p:cNvSpPr/>
          <p:nvPr/>
        </p:nvSpPr>
        <p:spPr>
          <a:xfrm>
            <a:off x="4439786" y="4381212"/>
            <a:ext cx="667326" cy="1880403"/>
          </a:xfrm>
          <a:prstGeom prst="rightBrace">
            <a:avLst>
              <a:gd name="adj1" fmla="val 8333"/>
              <a:gd name="adj2" fmla="val 15704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3272CEA-F815-54B0-59D1-B520FE62718F}"/>
              </a:ext>
            </a:extLst>
          </p:cNvPr>
          <p:cNvSpPr txBox="1"/>
          <p:nvPr/>
        </p:nvSpPr>
        <p:spPr>
          <a:xfrm>
            <a:off x="5212199" y="4381538"/>
            <a:ext cx="5090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群の平均差の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検定を、繰り返しシミュレーションを実施．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p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値を</a:t>
            </a:r>
            <a:r>
              <a:rPr kumimoji="1" lang="en-US" altLang="ja-JP" sz="1600" dirty="0" err="1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pvalue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に蓄積していく．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7" name="右中かっこ 16">
            <a:extLst>
              <a:ext uri="{FF2B5EF4-FFF2-40B4-BE49-F238E27FC236}">
                <a16:creationId xmlns:a16="http://schemas.microsoft.com/office/drawing/2014/main" id="{6E4F20DE-B9F2-BFB0-43A0-C7AA84D57B57}"/>
              </a:ext>
            </a:extLst>
          </p:cNvPr>
          <p:cNvSpPr/>
          <p:nvPr/>
        </p:nvSpPr>
        <p:spPr>
          <a:xfrm>
            <a:off x="5527248" y="6576824"/>
            <a:ext cx="438726" cy="965775"/>
          </a:xfrm>
          <a:prstGeom prst="rightBrace">
            <a:avLst>
              <a:gd name="adj1" fmla="val 8333"/>
              <a:gd name="adj2" fmla="val 50534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92F79C5-269F-4F2F-604C-99ACD67BD562}"/>
              </a:ext>
            </a:extLst>
          </p:cNvPr>
          <p:cNvSpPr txBox="1"/>
          <p:nvPr/>
        </p:nvSpPr>
        <p:spPr>
          <a:xfrm>
            <a:off x="6056174" y="6890434"/>
            <a:ext cx="3075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ea typeface="ＭＳ Ｐゴシック" panose="020B0600070205080204" pitchFamily="50" charset="-128"/>
              </a:rPr>
              <a:t>p</a:t>
            </a:r>
            <a:r>
              <a:rPr lang="ja-JP" altLang="en-US" sz="1600" dirty="0">
                <a:ea typeface="ＭＳ Ｐゴシック" panose="020B0600070205080204" pitchFamily="50" charset="-128"/>
              </a:rPr>
              <a:t>値が</a:t>
            </a:r>
            <a:r>
              <a:rPr lang="en-US" altLang="ja-JP" sz="1600" dirty="0">
                <a:ea typeface="ＭＳ Ｐゴシック" panose="020B0600070205080204" pitchFamily="50" charset="-128"/>
              </a:rPr>
              <a:t>0.05</a:t>
            </a:r>
            <a:r>
              <a:rPr lang="ja-JP" altLang="en-US" sz="1600" dirty="0">
                <a:ea typeface="ＭＳ Ｐゴシック" panose="020B0600070205080204" pitchFamily="50" charset="-128"/>
              </a:rPr>
              <a:t>未満かどうかを判定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6697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45E1-FF83-45FE-EABA-91673173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5BD040A-E5D9-0FAE-FC5F-EFDF8D07F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6</a:t>
            </a:fld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877B4B9-B1EB-0D7C-F6B3-0B7804302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49" y="927100"/>
            <a:ext cx="9142702" cy="510066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90BBE7-F98A-74B2-11A7-2FC231CD48BA}"/>
              </a:ext>
            </a:extLst>
          </p:cNvPr>
          <p:cNvSpPr txBox="1"/>
          <p:nvPr/>
        </p:nvSpPr>
        <p:spPr>
          <a:xfrm>
            <a:off x="2486394" y="6652280"/>
            <a:ext cx="5822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思ったよりも</a:t>
            </a:r>
            <a:r>
              <a:rPr lang="en-US" altLang="ja-JP" sz="28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α</a:t>
            </a:r>
            <a:r>
              <a:rPr lang="ja-JP" altLang="en-US" sz="28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エラーは増加しない</a:t>
            </a:r>
            <a:r>
              <a:rPr lang="en-US" altLang="ja-JP" sz="28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…?</a:t>
            </a:r>
            <a:endParaRPr lang="ja-JP" altLang="en-US" sz="2800" dirty="0"/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15A6189E-FF39-6E7B-7AD8-986AEE7D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8086-79EB-83DE-36A2-B37143D3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11AD87-4BC8-DCF5-AB55-074AC1E12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7</a:t>
            </a:fld>
            <a:endParaRPr kumimoji="1" lang="en-US" altLang="ja-JP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51069AF-FA43-3B40-E74D-262DC5A73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143637"/>
              </p:ext>
            </p:extLst>
          </p:nvPr>
        </p:nvGraphicFramePr>
        <p:xfrm>
          <a:off x="894772" y="3682999"/>
          <a:ext cx="90054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392">
                  <a:extLst>
                    <a:ext uri="{9D8B030D-6E8A-4147-A177-3AD203B41FA5}">
                      <a16:colId xmlns:a16="http://schemas.microsoft.com/office/drawing/2014/main" val="3541827207"/>
                    </a:ext>
                  </a:extLst>
                </a:gridCol>
                <a:gridCol w="3024881">
                  <a:extLst>
                    <a:ext uri="{9D8B030D-6E8A-4147-A177-3AD203B41FA5}">
                      <a16:colId xmlns:a16="http://schemas.microsoft.com/office/drawing/2014/main" val="1728234502"/>
                    </a:ext>
                  </a:extLst>
                </a:gridCol>
                <a:gridCol w="3094182">
                  <a:extLst>
                    <a:ext uri="{9D8B030D-6E8A-4147-A177-3AD203B41FA5}">
                      <a16:colId xmlns:a16="http://schemas.microsoft.com/office/drawing/2014/main" val="2828068509"/>
                    </a:ext>
                  </a:extLst>
                </a:gridCol>
              </a:tblGrid>
              <a:tr h="453811"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群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A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群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B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513176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サンプルサイズ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25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, 25, </a:t>
                      </a:r>
                      <a:r>
                        <a:rPr kumimoji="1" lang="en-US" altLang="ja-JP" sz="24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50</a:t>
                      </a:r>
                      <a:endParaRPr kumimoji="1" lang="ja-JP" altLang="en-US" sz="2400" dirty="0">
                        <a:solidFill>
                          <a:srgbClr val="FF00FF"/>
                        </a:solidFill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418463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母平均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231018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母標準偏差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0.1, 0.5, 1, 2, 5, 10</a:t>
                      </a:r>
                      <a:endParaRPr kumimoji="1" lang="ja-JP" altLang="en-US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785175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有意水準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0.05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232038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シミュレーション回数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10000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211562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5B911A-2EA2-AE28-BA9F-78E34EAEC592}"/>
              </a:ext>
            </a:extLst>
          </p:cNvPr>
          <p:cNvSpPr txBox="1"/>
          <p:nvPr/>
        </p:nvSpPr>
        <p:spPr>
          <a:xfrm>
            <a:off x="894772" y="1375112"/>
            <a:ext cx="90054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母平均が同じで，母標準偏差が異なる場合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…</a:t>
            </a:r>
          </a:p>
          <a:p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本当は２群間の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母平均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には差がないはず！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⇒</a:t>
            </a:r>
            <a:r>
              <a:rPr lang="ja-JP" altLang="en-US" sz="2400" dirty="0">
                <a:solidFill>
                  <a:srgbClr val="FF00FF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サンプルサイズ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が異なる場合，誤って有意と判定される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α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エラーがどうなるか確認</a:t>
            </a:r>
            <a:endParaRPr kumimoji="1" lang="ja-JP" altLang="en-US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27708BA9-20FF-3758-F661-957D0C4F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278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2504A-6BDB-D603-D7D5-645C3E363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4F76E81-D1AA-52A1-7984-E46DC7711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8</a:t>
            </a:fld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1ABFBB7-F811-9462-B940-13013CE0F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943094"/>
            <a:ext cx="5040000" cy="310820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6012631-A262-3638-2380-E4E27D44A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4207075"/>
            <a:ext cx="5040000" cy="310820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84A134B-CE5D-3DBF-9041-4790AD350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101" y="1111569"/>
            <a:ext cx="5040000" cy="3108206"/>
          </a:xfrm>
          <a:prstGeom prst="rect">
            <a:avLst/>
          </a:prstGeom>
        </p:spPr>
      </p:pic>
      <p:sp>
        <p:nvSpPr>
          <p:cNvPr id="9" name="タイトル 2">
            <a:extLst>
              <a:ext uri="{FF2B5EF4-FFF2-40B4-BE49-F238E27FC236}">
                <a16:creationId xmlns:a16="http://schemas.microsoft.com/office/drawing/2014/main" id="{41EE7CE6-539F-313D-BEEB-616D3329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A36D32C2-D7FC-D327-3A0F-52ED5E1EFF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6717326"/>
                  </p:ext>
                </p:extLst>
              </p:nvPr>
            </p:nvGraphicFramePr>
            <p:xfrm>
              <a:off x="5791831" y="4714868"/>
              <a:ext cx="4534540" cy="13101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67270">
                      <a:extLst>
                        <a:ext uri="{9D8B030D-6E8A-4147-A177-3AD203B41FA5}">
                          <a16:colId xmlns:a16="http://schemas.microsoft.com/office/drawing/2014/main" val="1134367869"/>
                        </a:ext>
                      </a:extLst>
                    </a:gridCol>
                    <a:gridCol w="2267270">
                      <a:extLst>
                        <a:ext uri="{9D8B030D-6E8A-4147-A177-3AD203B41FA5}">
                          <a16:colId xmlns:a16="http://schemas.microsoft.com/office/drawing/2014/main" val="17144998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Student</a:t>
                          </a:r>
                          <a:r>
                            <a:rPr kumimoji="1" lang="ja-JP" altLang="en-US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の</a:t>
                          </a:r>
                          <a:r>
                            <a:rPr kumimoji="1" lang="en-US" altLang="ja-JP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t</a:t>
                          </a:r>
                          <a:r>
                            <a:rPr kumimoji="1" lang="ja-JP" altLang="en-US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検定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Welch</a:t>
                          </a:r>
                          <a:r>
                            <a:rPr kumimoji="1" lang="ja-JP" altLang="en-US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の</a:t>
                          </a:r>
                          <a:r>
                            <a:rPr kumimoji="1" lang="en-US" altLang="ja-JP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t</a:t>
                          </a:r>
                          <a:r>
                            <a:rPr kumimoji="1" lang="ja-JP" altLang="en-US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検定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4674424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kumimoji="1" lang="en-US" altLang="ja-JP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ja-JP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ja-JP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p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kumimoji="1" lang="en-US" altLang="ja-JP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ja-JP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ja-JP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p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78044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A36D32C2-D7FC-D327-3A0F-52ED5E1EFF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6717326"/>
                  </p:ext>
                </p:extLst>
              </p:nvPr>
            </p:nvGraphicFramePr>
            <p:xfrm>
              <a:off x="5791831" y="4714868"/>
              <a:ext cx="4534540" cy="13101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67270">
                      <a:extLst>
                        <a:ext uri="{9D8B030D-6E8A-4147-A177-3AD203B41FA5}">
                          <a16:colId xmlns:a16="http://schemas.microsoft.com/office/drawing/2014/main" val="1134367869"/>
                        </a:ext>
                      </a:extLst>
                    </a:gridCol>
                    <a:gridCol w="2267270">
                      <a:extLst>
                        <a:ext uri="{9D8B030D-6E8A-4147-A177-3AD203B41FA5}">
                          <a16:colId xmlns:a16="http://schemas.microsoft.com/office/drawing/2014/main" val="17144998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Student</a:t>
                          </a:r>
                          <a:r>
                            <a:rPr kumimoji="1" lang="ja-JP" altLang="en-US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の</a:t>
                          </a:r>
                          <a:r>
                            <a:rPr kumimoji="1" lang="en-US" altLang="ja-JP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t</a:t>
                          </a:r>
                          <a:r>
                            <a:rPr kumimoji="1" lang="ja-JP" altLang="en-US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検定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Welch</a:t>
                          </a:r>
                          <a:r>
                            <a:rPr kumimoji="1" lang="ja-JP" altLang="en-US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の</a:t>
                          </a:r>
                          <a:r>
                            <a:rPr kumimoji="1" lang="en-US" altLang="ja-JP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t</a:t>
                          </a:r>
                          <a:r>
                            <a:rPr kumimoji="1" lang="ja-JP" altLang="en-US" sz="1800" dirty="0">
                              <a:latin typeface="Arial" panose="020B0604020202020204" pitchFamily="34" charset="0"/>
                              <a:ea typeface="ＭＳ Ｐゴシック" panose="020B0600070205080204" pitchFamily="50" charset="-128"/>
                              <a:cs typeface="Arial" panose="020B0604020202020204" pitchFamily="34" charset="0"/>
                            </a:rPr>
                            <a:t>検定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467442495"/>
                      </a:ext>
                    </a:extLst>
                  </a:tr>
                  <a:tr h="9392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9" t="-43871" r="-100806" b="-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269" t="-43871" r="-806" b="-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78044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A712853-9A45-066E-9001-8201AC4CE169}"/>
                  </a:ext>
                </a:extLst>
              </p:cNvPr>
              <p:cNvSpPr txBox="1"/>
              <p:nvPr/>
            </p:nvSpPr>
            <p:spPr>
              <a:xfrm>
                <a:off x="6007100" y="6025000"/>
                <a:ext cx="4038600" cy="1221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</m:oMath>
                </a14:m>
                <a:r>
                  <a:rPr lang="ja-JP" altLang="en-US" dirty="0"/>
                  <a:t> </a:t>
                </a:r>
                <a:r>
                  <a:rPr lang="en-US" altLang="ja-JP" dirty="0"/>
                  <a:t>: </a:t>
                </a:r>
                <a:r>
                  <a:rPr lang="ja-JP" altLang="en-US" dirty="0"/>
                  <a:t>群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dirty="0"/>
                  <a:t>の標本平均</a:t>
                </a:r>
                <a:endParaRPr lang="en-US" altLang="ja-JP" dirty="0"/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ja-JP" altLang="en-US" dirty="0"/>
                  <a:t> </a:t>
                </a:r>
                <a:r>
                  <a:rPr lang="en-US" altLang="ja-JP" dirty="0"/>
                  <a:t>: </a:t>
                </a:r>
                <a:r>
                  <a:rPr lang="ja-JP" altLang="en-US" dirty="0"/>
                  <a:t>群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ja-JP" altLang="en-US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dirty="0"/>
                  <a:t>標本数</a:t>
                </a:r>
                <a:endParaRPr lang="en-US" altLang="ja-JP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dirty="0"/>
                  <a:t>:</a:t>
                </a:r>
                <a:r>
                  <a:rPr lang="ja-JP" altLang="en-US" dirty="0"/>
                  <a:t>プールされた標本標準偏差</a:t>
                </a:r>
                <a:endParaRPr lang="en-US" altLang="ja-JP" dirty="0"/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ja-JP" dirty="0"/>
                  <a:t> : </a:t>
                </a:r>
                <a:r>
                  <a:rPr lang="ja-JP" altLang="en-US" dirty="0"/>
                  <a:t>群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dirty="0"/>
                  <a:t>の標本標準偏差</a:t>
                </a:r>
              </a:p>
            </p:txBody>
          </p:sp>
        </mc:Choice>
        <mc:Fallback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A712853-9A45-066E-9001-8201AC4CE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100" y="6025000"/>
                <a:ext cx="4038600" cy="1221104"/>
              </a:xfrm>
              <a:prstGeom prst="rect">
                <a:avLst/>
              </a:prstGeom>
              <a:blipFill>
                <a:blip r:embed="rId6"/>
                <a:stretch>
                  <a:fillRect t="-3483" b="-54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861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8DBCA-B6A2-5F1D-05AE-788E3D12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2A55D78-02D6-C908-E1A3-41723CC4C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9</a:t>
            </a:fld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A6CCF4-7070-1CE7-D33C-3DFFDF7B1DE1}"/>
              </a:ext>
            </a:extLst>
          </p:cNvPr>
          <p:cNvSpPr txBox="1"/>
          <p:nvPr/>
        </p:nvSpPr>
        <p:spPr>
          <a:xfrm>
            <a:off x="368300" y="1012841"/>
            <a:ext cx="100584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母集団分布の明確な仮定が置けないけど，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何とか母数の推論をしたい</a:t>
            </a:r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…</a:t>
            </a:r>
          </a:p>
          <a:p>
            <a:endParaRPr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平均値の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95%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信頼区間を求める．</a:t>
            </a:r>
            <a:endParaRPr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サンプルサイズ</a:t>
            </a:r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n</a:t>
            </a: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の標本実現値から，</a:t>
            </a:r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n</a:t>
            </a: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個の実現値を復元抽出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し，平均値を計算．</a:t>
            </a:r>
            <a:endParaRPr lang="en-US" altLang="ja-JP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①を</a:t>
            </a:r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B</a:t>
            </a: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回（ブートブートストラップ標本数）繰り返す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．</a:t>
            </a:r>
            <a:endParaRPr kumimoji="1" lang="en-US" altLang="ja-JP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得られた平均値の分布から</a:t>
            </a:r>
            <a:r>
              <a:rPr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95%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信頼区間を算出する．</a:t>
            </a:r>
            <a:endParaRPr lang="en-US" altLang="ja-JP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昇順に並べ，</a:t>
            </a:r>
            <a:r>
              <a:rPr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2.5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パーセンタイルと</a:t>
            </a:r>
            <a:r>
              <a:rPr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97.5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パーセンタイルの値を</a:t>
            </a:r>
            <a:r>
              <a:rPr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95%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信頼区間の下限と上限とする．</a:t>
            </a:r>
            <a:endParaRPr kumimoji="1" lang="ja-JP" altLang="en-US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FD2A935C-5988-E9B7-FC1A-603B1DCD2439}"/>
              </a:ext>
            </a:extLst>
          </p:cNvPr>
          <p:cNvGrpSpPr/>
          <p:nvPr/>
        </p:nvGrpSpPr>
        <p:grpSpPr>
          <a:xfrm>
            <a:off x="2460664" y="4983518"/>
            <a:ext cx="1905000" cy="1549853"/>
            <a:chOff x="1314280" y="4132572"/>
            <a:chExt cx="1905000" cy="1549853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35F1300C-98D7-4BAD-E8EB-8DF32CAB7785}"/>
                </a:ext>
              </a:extLst>
            </p:cNvPr>
            <p:cNvGrpSpPr/>
            <p:nvPr/>
          </p:nvGrpSpPr>
          <p:grpSpPr>
            <a:xfrm>
              <a:off x="1314280" y="4553838"/>
              <a:ext cx="1905000" cy="1128587"/>
              <a:chOff x="862795" y="4371974"/>
              <a:chExt cx="1905000" cy="1128587"/>
            </a:xfrm>
          </p:grpSpPr>
          <p:sp>
            <p:nvSpPr>
              <p:cNvPr id="32" name="四角形: 角を丸くする 31">
                <a:extLst>
                  <a:ext uri="{FF2B5EF4-FFF2-40B4-BE49-F238E27FC236}">
                    <a16:creationId xmlns:a16="http://schemas.microsoft.com/office/drawing/2014/main" id="{2DCDEA77-4034-F7AA-999D-1C3BE338E5BE}"/>
                  </a:ext>
                </a:extLst>
              </p:cNvPr>
              <p:cNvSpPr/>
              <p:nvPr/>
            </p:nvSpPr>
            <p:spPr>
              <a:xfrm>
                <a:off x="862795" y="4371974"/>
                <a:ext cx="1905000" cy="1128587"/>
              </a:xfrm>
              <a:prstGeom prst="roundRect">
                <a:avLst>
                  <a:gd name="adj" fmla="val 22917"/>
                </a:avLst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グループ化 30">
                <a:extLst>
                  <a:ext uri="{FF2B5EF4-FFF2-40B4-BE49-F238E27FC236}">
                    <a16:creationId xmlns:a16="http://schemas.microsoft.com/office/drawing/2014/main" id="{B7E5837E-D892-14D7-6782-05B601E8C6EC}"/>
                  </a:ext>
                </a:extLst>
              </p:cNvPr>
              <p:cNvGrpSpPr/>
              <p:nvPr/>
            </p:nvGrpSpPr>
            <p:grpSpPr>
              <a:xfrm>
                <a:off x="1163785" y="4537710"/>
                <a:ext cx="1303020" cy="845820"/>
                <a:chOff x="1226820" y="4560570"/>
                <a:chExt cx="1303020" cy="845820"/>
              </a:xfrm>
            </p:grpSpPr>
            <p:sp>
              <p:nvSpPr>
                <p:cNvPr id="22" name="四角形: 角を丸くする 21">
                  <a:extLst>
                    <a:ext uri="{FF2B5EF4-FFF2-40B4-BE49-F238E27FC236}">
                      <a16:creationId xmlns:a16="http://schemas.microsoft.com/office/drawing/2014/main" id="{C79EB12E-4CCE-7570-4ED1-6F5216C7542F}"/>
                    </a:ext>
                  </a:extLst>
                </p:cNvPr>
                <p:cNvSpPr/>
                <p:nvPr/>
              </p:nvSpPr>
              <p:spPr>
                <a:xfrm>
                  <a:off x="1226820" y="45605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四角形: 角を丸くする 22">
                  <a:extLst>
                    <a:ext uri="{FF2B5EF4-FFF2-40B4-BE49-F238E27FC236}">
                      <a16:creationId xmlns:a16="http://schemas.microsoft.com/office/drawing/2014/main" id="{FAEDFA19-5B89-3BCB-4937-5437EB17792C}"/>
                    </a:ext>
                  </a:extLst>
                </p:cNvPr>
                <p:cNvSpPr/>
                <p:nvPr/>
              </p:nvSpPr>
              <p:spPr>
                <a:xfrm>
                  <a:off x="1684020" y="45605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四角形: 角を丸くする 23">
                  <a:extLst>
                    <a:ext uri="{FF2B5EF4-FFF2-40B4-BE49-F238E27FC236}">
                      <a16:creationId xmlns:a16="http://schemas.microsoft.com/office/drawing/2014/main" id="{9FD82C2A-D93E-75E0-0E66-BA024C3DBD5D}"/>
                    </a:ext>
                  </a:extLst>
                </p:cNvPr>
                <p:cNvSpPr/>
                <p:nvPr/>
              </p:nvSpPr>
              <p:spPr>
                <a:xfrm>
                  <a:off x="2141220" y="45605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四角形: 角を丸くする 24">
                  <a:extLst>
                    <a:ext uri="{FF2B5EF4-FFF2-40B4-BE49-F238E27FC236}">
                      <a16:creationId xmlns:a16="http://schemas.microsoft.com/office/drawing/2014/main" id="{A53E7BA6-2A3D-B6EF-1751-065B20A30826}"/>
                    </a:ext>
                  </a:extLst>
                </p:cNvPr>
                <p:cNvSpPr/>
                <p:nvPr/>
              </p:nvSpPr>
              <p:spPr>
                <a:xfrm>
                  <a:off x="1489710" y="50177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四角形: 角を丸くする 25">
                  <a:extLst>
                    <a:ext uri="{FF2B5EF4-FFF2-40B4-BE49-F238E27FC236}">
                      <a16:creationId xmlns:a16="http://schemas.microsoft.com/office/drawing/2014/main" id="{51943892-EB55-1FA2-CD1B-D4498E5B8879}"/>
                    </a:ext>
                  </a:extLst>
                </p:cNvPr>
                <p:cNvSpPr/>
                <p:nvPr/>
              </p:nvSpPr>
              <p:spPr>
                <a:xfrm>
                  <a:off x="1946910" y="50177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B6521FC9-C2BD-264B-71F3-F3497501B1D4}"/>
                </a:ext>
              </a:extLst>
            </p:cNvPr>
            <p:cNvSpPr txBox="1"/>
            <p:nvPr/>
          </p:nvSpPr>
          <p:spPr>
            <a:xfrm>
              <a:off x="1501880" y="4132572"/>
              <a:ext cx="15298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サンプルサイズ</a:t>
              </a:r>
              <a:r>
                <a:rPr lang="en-US" altLang="ja-JP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5</a:t>
              </a:r>
              <a:r>
                <a:rPr lang="ja-JP" altLang="en-US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の</a:t>
              </a:r>
              <a:endParaRPr lang="en-US" altLang="ja-JP" sz="1200" dirty="0"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endParaRPr>
            </a:p>
            <a:p>
              <a:pPr algn="ctr"/>
              <a:r>
                <a:rPr lang="ja-JP" altLang="en-US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標本実現値</a:t>
              </a:r>
            </a:p>
          </p:txBody>
        </p:sp>
      </p:grp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C3425144-EA01-9079-E6B0-3C9C90845A6A}"/>
              </a:ext>
            </a:extLst>
          </p:cNvPr>
          <p:cNvGrpSpPr/>
          <p:nvPr/>
        </p:nvGrpSpPr>
        <p:grpSpPr>
          <a:xfrm>
            <a:off x="5669546" y="4300522"/>
            <a:ext cx="4954379" cy="3100385"/>
            <a:chOff x="4524900" y="3468055"/>
            <a:chExt cx="4954379" cy="3100385"/>
          </a:xfrm>
        </p:grpSpPr>
        <p:sp>
          <p:nvSpPr>
            <p:cNvPr id="64" name="四角形: 角を丸くする 63">
              <a:extLst>
                <a:ext uri="{FF2B5EF4-FFF2-40B4-BE49-F238E27FC236}">
                  <a16:creationId xmlns:a16="http://schemas.microsoft.com/office/drawing/2014/main" id="{12426CB7-7788-AC73-C3A8-2E4D5A2A7F38}"/>
                </a:ext>
              </a:extLst>
            </p:cNvPr>
            <p:cNvSpPr/>
            <p:nvPr/>
          </p:nvSpPr>
          <p:spPr>
            <a:xfrm>
              <a:off x="4524900" y="3604260"/>
              <a:ext cx="4954379" cy="2964180"/>
            </a:xfrm>
            <a:prstGeom prst="roundRect">
              <a:avLst>
                <a:gd name="adj" fmla="val 22917"/>
              </a:avLst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787578ED-C63F-E93C-333E-13949F6001E2}"/>
                </a:ext>
              </a:extLst>
            </p:cNvPr>
            <p:cNvGrpSpPr/>
            <p:nvPr/>
          </p:nvGrpSpPr>
          <p:grpSpPr>
            <a:xfrm>
              <a:off x="4825891" y="3930902"/>
              <a:ext cx="4296641" cy="2447379"/>
              <a:chOff x="3728611" y="3896495"/>
              <a:chExt cx="4296641" cy="2447379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ECD936D1-3F47-BDC2-F481-95EDBCE2C363}"/>
                  </a:ext>
                </a:extLst>
              </p:cNvPr>
              <p:cNvGrpSpPr/>
              <p:nvPr/>
            </p:nvGrpSpPr>
            <p:grpSpPr>
              <a:xfrm>
                <a:off x="3728611" y="3896495"/>
                <a:ext cx="1905000" cy="1128587"/>
                <a:chOff x="862795" y="4371974"/>
                <a:chExt cx="1905000" cy="1128587"/>
              </a:xfrm>
            </p:grpSpPr>
            <p:sp>
              <p:nvSpPr>
                <p:cNvPr id="10" name="四角形: 角を丸くする 9">
                  <a:extLst>
                    <a:ext uri="{FF2B5EF4-FFF2-40B4-BE49-F238E27FC236}">
                      <a16:creationId xmlns:a16="http://schemas.microsoft.com/office/drawing/2014/main" id="{32EA3F94-3848-038D-1597-C7C729086EA1}"/>
                    </a:ext>
                  </a:extLst>
                </p:cNvPr>
                <p:cNvSpPr/>
                <p:nvPr/>
              </p:nvSpPr>
              <p:spPr>
                <a:xfrm>
                  <a:off x="862795" y="4371974"/>
                  <a:ext cx="1905000" cy="1128587"/>
                </a:xfrm>
                <a:prstGeom prst="roundRect">
                  <a:avLst>
                    <a:gd name="adj" fmla="val 22917"/>
                  </a:avLst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" name="グループ化 10">
                  <a:extLst>
                    <a:ext uri="{FF2B5EF4-FFF2-40B4-BE49-F238E27FC236}">
                      <a16:creationId xmlns:a16="http://schemas.microsoft.com/office/drawing/2014/main" id="{F3D24790-F782-31EA-3F50-AE4812C93DB6}"/>
                    </a:ext>
                  </a:extLst>
                </p:cNvPr>
                <p:cNvGrpSpPr/>
                <p:nvPr/>
              </p:nvGrpSpPr>
              <p:grpSpPr>
                <a:xfrm>
                  <a:off x="1163785" y="4537710"/>
                  <a:ext cx="1303020" cy="845820"/>
                  <a:chOff x="1226820" y="4560570"/>
                  <a:chExt cx="1303020" cy="845820"/>
                </a:xfrm>
              </p:grpSpPr>
              <p:sp>
                <p:nvSpPr>
                  <p:cNvPr id="12" name="四角形: 角を丸くする 11">
                    <a:extLst>
                      <a:ext uri="{FF2B5EF4-FFF2-40B4-BE49-F238E27FC236}">
                        <a16:creationId xmlns:a16="http://schemas.microsoft.com/office/drawing/2014/main" id="{9F3DE83E-CAF1-BA3B-3256-85387E1F24C0}"/>
                      </a:ext>
                    </a:extLst>
                  </p:cNvPr>
                  <p:cNvSpPr/>
                  <p:nvPr/>
                </p:nvSpPr>
                <p:spPr>
                  <a:xfrm>
                    <a:off x="12268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" name="四角形: 角を丸くする 26">
                    <a:extLst>
                      <a:ext uri="{FF2B5EF4-FFF2-40B4-BE49-F238E27FC236}">
                        <a16:creationId xmlns:a16="http://schemas.microsoft.com/office/drawing/2014/main" id="{F9888AA3-68A7-7D24-E98A-0AEC28F9BE91}"/>
                      </a:ext>
                    </a:extLst>
                  </p:cNvPr>
                  <p:cNvSpPr/>
                  <p:nvPr/>
                </p:nvSpPr>
                <p:spPr>
                  <a:xfrm>
                    <a:off x="16840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" name="四角形: 角を丸くする 27">
                    <a:extLst>
                      <a:ext uri="{FF2B5EF4-FFF2-40B4-BE49-F238E27FC236}">
                        <a16:creationId xmlns:a16="http://schemas.microsoft.com/office/drawing/2014/main" id="{245D9B59-72E0-3586-1781-988B4D350DCA}"/>
                      </a:ext>
                    </a:extLst>
                  </p:cNvPr>
                  <p:cNvSpPr/>
                  <p:nvPr/>
                </p:nvSpPr>
                <p:spPr>
                  <a:xfrm>
                    <a:off x="21412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" name="四角形: 角を丸くする 28">
                    <a:extLst>
                      <a:ext uri="{FF2B5EF4-FFF2-40B4-BE49-F238E27FC236}">
                        <a16:creationId xmlns:a16="http://schemas.microsoft.com/office/drawing/2014/main" id="{A1857369-45BA-E7DB-B460-D162A6162061}"/>
                      </a:ext>
                    </a:extLst>
                  </p:cNvPr>
                  <p:cNvSpPr/>
                  <p:nvPr/>
                </p:nvSpPr>
                <p:spPr>
                  <a:xfrm>
                    <a:off x="14897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" name="四角形: 角を丸くする 29">
                    <a:extLst>
                      <a:ext uri="{FF2B5EF4-FFF2-40B4-BE49-F238E27FC236}">
                        <a16:creationId xmlns:a16="http://schemas.microsoft.com/office/drawing/2014/main" id="{FBFE0AE7-8D32-9681-330D-4F06CC34A39D}"/>
                      </a:ext>
                    </a:extLst>
                  </p:cNvPr>
                  <p:cNvSpPr/>
                  <p:nvPr/>
                </p:nvSpPr>
                <p:spPr>
                  <a:xfrm>
                    <a:off x="19469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2D4CD154-7CF7-3779-AA1F-859AF128FFE3}"/>
                  </a:ext>
                </a:extLst>
              </p:cNvPr>
              <p:cNvGrpSpPr/>
              <p:nvPr/>
            </p:nvGrpSpPr>
            <p:grpSpPr>
              <a:xfrm>
                <a:off x="3728611" y="5215287"/>
                <a:ext cx="1905000" cy="1128587"/>
                <a:chOff x="862795" y="4371974"/>
                <a:chExt cx="1905000" cy="1128587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87D782E2-E273-9658-E719-A8550A478794}"/>
                    </a:ext>
                  </a:extLst>
                </p:cNvPr>
                <p:cNvSpPr/>
                <p:nvPr/>
              </p:nvSpPr>
              <p:spPr>
                <a:xfrm>
                  <a:off x="862795" y="4371974"/>
                  <a:ext cx="1905000" cy="1128587"/>
                </a:xfrm>
                <a:prstGeom prst="roundRect">
                  <a:avLst>
                    <a:gd name="adj" fmla="val 22917"/>
                  </a:avLst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A2A24781-5CE0-D53F-0CA2-4C9C01D4D535}"/>
                    </a:ext>
                  </a:extLst>
                </p:cNvPr>
                <p:cNvGrpSpPr/>
                <p:nvPr/>
              </p:nvGrpSpPr>
              <p:grpSpPr>
                <a:xfrm>
                  <a:off x="1163785" y="4537710"/>
                  <a:ext cx="1303020" cy="845820"/>
                  <a:chOff x="1226820" y="4560570"/>
                  <a:chExt cx="1303020" cy="845820"/>
                </a:xfrm>
              </p:grpSpPr>
              <p:sp>
                <p:nvSpPr>
                  <p:cNvPr id="16" name="四角形: 角を丸くする 15">
                    <a:extLst>
                      <a:ext uri="{FF2B5EF4-FFF2-40B4-BE49-F238E27FC236}">
                        <a16:creationId xmlns:a16="http://schemas.microsoft.com/office/drawing/2014/main" id="{AD06B2ED-C070-76C0-EF34-E7333FA37CB6}"/>
                      </a:ext>
                    </a:extLst>
                  </p:cNvPr>
                  <p:cNvSpPr/>
                  <p:nvPr/>
                </p:nvSpPr>
                <p:spPr>
                  <a:xfrm>
                    <a:off x="12268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" name="四角形: 角を丸くする 16">
                    <a:extLst>
                      <a:ext uri="{FF2B5EF4-FFF2-40B4-BE49-F238E27FC236}">
                        <a16:creationId xmlns:a16="http://schemas.microsoft.com/office/drawing/2014/main" id="{CC004E27-4DB8-AA4E-17C5-4492ED68642E}"/>
                      </a:ext>
                    </a:extLst>
                  </p:cNvPr>
                  <p:cNvSpPr/>
                  <p:nvPr/>
                </p:nvSpPr>
                <p:spPr>
                  <a:xfrm>
                    <a:off x="16840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" name="四角形: 角を丸くする 17">
                    <a:extLst>
                      <a:ext uri="{FF2B5EF4-FFF2-40B4-BE49-F238E27FC236}">
                        <a16:creationId xmlns:a16="http://schemas.microsoft.com/office/drawing/2014/main" id="{36EAAB3F-9395-B321-4579-A6EC811985C9}"/>
                      </a:ext>
                    </a:extLst>
                  </p:cNvPr>
                  <p:cNvSpPr/>
                  <p:nvPr/>
                </p:nvSpPr>
                <p:spPr>
                  <a:xfrm>
                    <a:off x="21412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" name="四角形: 角を丸くする 18">
                    <a:extLst>
                      <a:ext uri="{FF2B5EF4-FFF2-40B4-BE49-F238E27FC236}">
                        <a16:creationId xmlns:a16="http://schemas.microsoft.com/office/drawing/2014/main" id="{65E45986-3066-C5DA-F68E-3C1A6FB84CA5}"/>
                      </a:ext>
                    </a:extLst>
                  </p:cNvPr>
                  <p:cNvSpPr/>
                  <p:nvPr/>
                </p:nvSpPr>
                <p:spPr>
                  <a:xfrm>
                    <a:off x="14897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" name="四角形: 角を丸くする 19">
                    <a:extLst>
                      <a:ext uri="{FF2B5EF4-FFF2-40B4-BE49-F238E27FC236}">
                        <a16:creationId xmlns:a16="http://schemas.microsoft.com/office/drawing/2014/main" id="{59917708-FA73-15B0-F98F-ED8E3ED90063}"/>
                      </a:ext>
                    </a:extLst>
                  </p:cNvPr>
                  <p:cNvSpPr/>
                  <p:nvPr/>
                </p:nvSpPr>
                <p:spPr>
                  <a:xfrm>
                    <a:off x="19469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58E17B0E-72CB-CC15-1A2D-93AA5D9FB95B}"/>
                  </a:ext>
                </a:extLst>
              </p:cNvPr>
              <p:cNvGrpSpPr/>
              <p:nvPr/>
            </p:nvGrpSpPr>
            <p:grpSpPr>
              <a:xfrm>
                <a:off x="6117651" y="3896495"/>
                <a:ext cx="1905000" cy="1128587"/>
                <a:chOff x="862795" y="4371974"/>
                <a:chExt cx="1905000" cy="1128587"/>
              </a:xfrm>
            </p:grpSpPr>
            <p:sp>
              <p:nvSpPr>
                <p:cNvPr id="34" name="四角形: 角を丸くする 33">
                  <a:extLst>
                    <a:ext uri="{FF2B5EF4-FFF2-40B4-BE49-F238E27FC236}">
                      <a16:creationId xmlns:a16="http://schemas.microsoft.com/office/drawing/2014/main" id="{6D8DD7C9-3A45-1B77-85EF-91DD6F7B4A69}"/>
                    </a:ext>
                  </a:extLst>
                </p:cNvPr>
                <p:cNvSpPr/>
                <p:nvPr/>
              </p:nvSpPr>
              <p:spPr>
                <a:xfrm>
                  <a:off x="862795" y="4371974"/>
                  <a:ext cx="1905000" cy="1128587"/>
                </a:xfrm>
                <a:prstGeom prst="roundRect">
                  <a:avLst>
                    <a:gd name="adj" fmla="val 22917"/>
                  </a:avLst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5" name="グループ化 34">
                  <a:extLst>
                    <a:ext uri="{FF2B5EF4-FFF2-40B4-BE49-F238E27FC236}">
                      <a16:creationId xmlns:a16="http://schemas.microsoft.com/office/drawing/2014/main" id="{D4B6BB55-EB2F-DCA5-B6E2-7BF655ECD617}"/>
                    </a:ext>
                  </a:extLst>
                </p:cNvPr>
                <p:cNvGrpSpPr/>
                <p:nvPr/>
              </p:nvGrpSpPr>
              <p:grpSpPr>
                <a:xfrm>
                  <a:off x="1163785" y="4537710"/>
                  <a:ext cx="1303020" cy="845820"/>
                  <a:chOff x="1226820" y="4560570"/>
                  <a:chExt cx="1303020" cy="845820"/>
                </a:xfrm>
              </p:grpSpPr>
              <p:sp>
                <p:nvSpPr>
                  <p:cNvPr id="47" name="四角形: 角を丸くする 46">
                    <a:extLst>
                      <a:ext uri="{FF2B5EF4-FFF2-40B4-BE49-F238E27FC236}">
                        <a16:creationId xmlns:a16="http://schemas.microsoft.com/office/drawing/2014/main" id="{28C3E1D2-1C21-E124-A77F-4B7A5E70E5A4}"/>
                      </a:ext>
                    </a:extLst>
                  </p:cNvPr>
                  <p:cNvSpPr/>
                  <p:nvPr/>
                </p:nvSpPr>
                <p:spPr>
                  <a:xfrm>
                    <a:off x="12268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四角形: 角を丸くする 47">
                    <a:extLst>
                      <a:ext uri="{FF2B5EF4-FFF2-40B4-BE49-F238E27FC236}">
                        <a16:creationId xmlns:a16="http://schemas.microsoft.com/office/drawing/2014/main" id="{6F3BDBC1-F684-459D-0ED2-52FE663B6E62}"/>
                      </a:ext>
                    </a:extLst>
                  </p:cNvPr>
                  <p:cNvSpPr/>
                  <p:nvPr/>
                </p:nvSpPr>
                <p:spPr>
                  <a:xfrm>
                    <a:off x="16840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四角形: 角を丸くする 48">
                    <a:extLst>
                      <a:ext uri="{FF2B5EF4-FFF2-40B4-BE49-F238E27FC236}">
                        <a16:creationId xmlns:a16="http://schemas.microsoft.com/office/drawing/2014/main" id="{ECFC467F-FDA0-408C-5BF3-ADB0A5B8C7CB}"/>
                      </a:ext>
                    </a:extLst>
                  </p:cNvPr>
                  <p:cNvSpPr/>
                  <p:nvPr/>
                </p:nvSpPr>
                <p:spPr>
                  <a:xfrm>
                    <a:off x="21412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" name="四角形: 角を丸くする 49">
                    <a:extLst>
                      <a:ext uri="{FF2B5EF4-FFF2-40B4-BE49-F238E27FC236}">
                        <a16:creationId xmlns:a16="http://schemas.microsoft.com/office/drawing/2014/main" id="{25819190-A3FC-7C36-876B-7791EA7AFFB6}"/>
                      </a:ext>
                    </a:extLst>
                  </p:cNvPr>
                  <p:cNvSpPr/>
                  <p:nvPr/>
                </p:nvSpPr>
                <p:spPr>
                  <a:xfrm>
                    <a:off x="14897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四角形: 角を丸くする 50">
                    <a:extLst>
                      <a:ext uri="{FF2B5EF4-FFF2-40B4-BE49-F238E27FC236}">
                        <a16:creationId xmlns:a16="http://schemas.microsoft.com/office/drawing/2014/main" id="{F995E000-EFAA-18F7-D003-6FA463C218C5}"/>
                      </a:ext>
                    </a:extLst>
                  </p:cNvPr>
                  <p:cNvSpPr/>
                  <p:nvPr/>
                </p:nvSpPr>
                <p:spPr>
                  <a:xfrm>
                    <a:off x="19469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52" name="グループ化 51">
                <a:extLst>
                  <a:ext uri="{FF2B5EF4-FFF2-40B4-BE49-F238E27FC236}">
                    <a16:creationId xmlns:a16="http://schemas.microsoft.com/office/drawing/2014/main" id="{6A72DD81-BC30-2EEB-9730-5280C7445071}"/>
                  </a:ext>
                </a:extLst>
              </p:cNvPr>
              <p:cNvGrpSpPr/>
              <p:nvPr/>
            </p:nvGrpSpPr>
            <p:grpSpPr>
              <a:xfrm>
                <a:off x="6120252" y="5212949"/>
                <a:ext cx="1905000" cy="1128587"/>
                <a:chOff x="862795" y="4371974"/>
                <a:chExt cx="1905000" cy="1128587"/>
              </a:xfrm>
            </p:grpSpPr>
            <p:sp>
              <p:nvSpPr>
                <p:cNvPr id="53" name="四角形: 角を丸くする 52">
                  <a:extLst>
                    <a:ext uri="{FF2B5EF4-FFF2-40B4-BE49-F238E27FC236}">
                      <a16:creationId xmlns:a16="http://schemas.microsoft.com/office/drawing/2014/main" id="{C35B05CB-0E39-9899-DEE4-CEC5E7A0BF54}"/>
                    </a:ext>
                  </a:extLst>
                </p:cNvPr>
                <p:cNvSpPr/>
                <p:nvPr/>
              </p:nvSpPr>
              <p:spPr>
                <a:xfrm>
                  <a:off x="862795" y="4371974"/>
                  <a:ext cx="1905000" cy="1128587"/>
                </a:xfrm>
                <a:prstGeom prst="roundRect">
                  <a:avLst>
                    <a:gd name="adj" fmla="val 22917"/>
                  </a:avLst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4" name="グループ化 53">
                  <a:extLst>
                    <a:ext uri="{FF2B5EF4-FFF2-40B4-BE49-F238E27FC236}">
                      <a16:creationId xmlns:a16="http://schemas.microsoft.com/office/drawing/2014/main" id="{5E427C1D-0760-7F95-2490-FD254990FA8D}"/>
                    </a:ext>
                  </a:extLst>
                </p:cNvPr>
                <p:cNvGrpSpPr/>
                <p:nvPr/>
              </p:nvGrpSpPr>
              <p:grpSpPr>
                <a:xfrm>
                  <a:off x="1163785" y="4537710"/>
                  <a:ext cx="1303020" cy="845820"/>
                  <a:chOff x="1226820" y="4560570"/>
                  <a:chExt cx="1303020" cy="845820"/>
                </a:xfrm>
              </p:grpSpPr>
              <p:sp>
                <p:nvSpPr>
                  <p:cNvPr id="55" name="四角形: 角を丸くする 54">
                    <a:extLst>
                      <a:ext uri="{FF2B5EF4-FFF2-40B4-BE49-F238E27FC236}">
                        <a16:creationId xmlns:a16="http://schemas.microsoft.com/office/drawing/2014/main" id="{EAFEE48C-9A8C-B339-ADD3-F6026D6F773D}"/>
                      </a:ext>
                    </a:extLst>
                  </p:cNvPr>
                  <p:cNvSpPr/>
                  <p:nvPr/>
                </p:nvSpPr>
                <p:spPr>
                  <a:xfrm>
                    <a:off x="12268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四角形: 角を丸くする 55">
                    <a:extLst>
                      <a:ext uri="{FF2B5EF4-FFF2-40B4-BE49-F238E27FC236}">
                        <a16:creationId xmlns:a16="http://schemas.microsoft.com/office/drawing/2014/main" id="{23912E93-B073-1B5D-A241-B876AD7E65D6}"/>
                      </a:ext>
                    </a:extLst>
                  </p:cNvPr>
                  <p:cNvSpPr/>
                  <p:nvPr/>
                </p:nvSpPr>
                <p:spPr>
                  <a:xfrm>
                    <a:off x="16840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7" name="四角形: 角を丸くする 56">
                    <a:extLst>
                      <a:ext uri="{FF2B5EF4-FFF2-40B4-BE49-F238E27FC236}">
                        <a16:creationId xmlns:a16="http://schemas.microsoft.com/office/drawing/2014/main" id="{DE1DC734-E9DE-8B9D-B974-2AFE2F07DA11}"/>
                      </a:ext>
                    </a:extLst>
                  </p:cNvPr>
                  <p:cNvSpPr/>
                  <p:nvPr/>
                </p:nvSpPr>
                <p:spPr>
                  <a:xfrm>
                    <a:off x="21412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四角形: 角を丸くする 57">
                    <a:extLst>
                      <a:ext uri="{FF2B5EF4-FFF2-40B4-BE49-F238E27FC236}">
                        <a16:creationId xmlns:a16="http://schemas.microsoft.com/office/drawing/2014/main" id="{79A1ECE3-16A8-E661-9C26-52D543B6E738}"/>
                      </a:ext>
                    </a:extLst>
                  </p:cNvPr>
                  <p:cNvSpPr/>
                  <p:nvPr/>
                </p:nvSpPr>
                <p:spPr>
                  <a:xfrm>
                    <a:off x="14897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9" name="四角形: 角を丸くする 58">
                    <a:extLst>
                      <a:ext uri="{FF2B5EF4-FFF2-40B4-BE49-F238E27FC236}">
                        <a16:creationId xmlns:a16="http://schemas.microsoft.com/office/drawing/2014/main" id="{95923A87-DB6F-029A-0C30-EA077DAA6347}"/>
                      </a:ext>
                    </a:extLst>
                  </p:cNvPr>
                  <p:cNvSpPr/>
                  <p:nvPr/>
                </p:nvSpPr>
                <p:spPr>
                  <a:xfrm>
                    <a:off x="19469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20A80F79-66C0-CE51-90AA-18BDC2FC2330}"/>
                </a:ext>
              </a:extLst>
            </p:cNvPr>
            <p:cNvSpPr txBox="1"/>
            <p:nvPr/>
          </p:nvSpPr>
          <p:spPr>
            <a:xfrm>
              <a:off x="5807569" y="3468055"/>
              <a:ext cx="238904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ブートストラップ標本数：</a:t>
              </a:r>
              <a:r>
                <a:rPr lang="en-US" altLang="ja-JP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B = 4</a:t>
              </a:r>
              <a:endParaRPr lang="ja-JP" altLang="en-US" sz="1200" dirty="0"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endParaRPr>
            </a:p>
          </p:txBody>
        </p:sp>
      </p:grp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4AFD0AF-DC8A-2B29-258F-BE782C8A871E}"/>
              </a:ext>
            </a:extLst>
          </p:cNvPr>
          <p:cNvSpPr txBox="1"/>
          <p:nvPr/>
        </p:nvSpPr>
        <p:spPr>
          <a:xfrm>
            <a:off x="247758" y="5127440"/>
            <a:ext cx="11658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8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Arial" panose="020B0604020202020204" pitchFamily="34" charset="0"/>
              </a:rPr>
              <a:t>？</a:t>
            </a:r>
          </a:p>
        </p:txBody>
      </p:sp>
      <p:sp>
        <p:nvSpPr>
          <p:cNvPr id="68" name="矢印: 右 67">
            <a:extLst>
              <a:ext uri="{FF2B5EF4-FFF2-40B4-BE49-F238E27FC236}">
                <a16:creationId xmlns:a16="http://schemas.microsoft.com/office/drawing/2014/main" id="{D4F7C127-767C-7903-9C68-B305E18CD506}"/>
              </a:ext>
            </a:extLst>
          </p:cNvPr>
          <p:cNvSpPr/>
          <p:nvPr/>
        </p:nvSpPr>
        <p:spPr>
          <a:xfrm>
            <a:off x="1473976" y="5758445"/>
            <a:ext cx="781575" cy="4458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532835DD-2B3F-27D1-AA7F-D798C2ECDF9E}"/>
              </a:ext>
            </a:extLst>
          </p:cNvPr>
          <p:cNvSpPr/>
          <p:nvPr/>
        </p:nvSpPr>
        <p:spPr>
          <a:xfrm>
            <a:off x="4629535" y="5758444"/>
            <a:ext cx="781575" cy="4458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6B7CDB51-A2CE-CB4A-A83F-21BDE14FD9C1}"/>
              </a:ext>
            </a:extLst>
          </p:cNvPr>
          <p:cNvSpPr txBox="1"/>
          <p:nvPr/>
        </p:nvSpPr>
        <p:spPr>
          <a:xfrm>
            <a:off x="65788" y="4956225"/>
            <a:ext cx="1529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rPr>
              <a:t>母集団分布</a:t>
            </a: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CAA52BC5-AA3B-7CCA-11E2-5289B2DFD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ノンパラメトリック・ブートストラップ法　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パーセンタイル法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686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C2156-3B6E-1DAF-D006-9334A0B4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6DE254C-2793-B5FA-061F-00C37B745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10</a:t>
            </a:fld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ADBEA0-1457-E03A-C794-76F09EB267E6}"/>
              </a:ext>
            </a:extLst>
          </p:cNvPr>
          <p:cNvSpPr txBox="1"/>
          <p:nvPr/>
        </p:nvSpPr>
        <p:spPr>
          <a:xfrm>
            <a:off x="368300" y="1231900"/>
            <a:ext cx="100584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data &lt;- c(55, 24, 97, 77, 63, 86, 5, 42, 30, 14)</a:t>
            </a:r>
          </a:p>
          <a:p>
            <a:r>
              <a:rPr lang="en-US" altLang="ja-JP" sz="1600" dirty="0"/>
              <a:t>B &lt;- 10000</a:t>
            </a:r>
          </a:p>
          <a:p>
            <a:endParaRPr lang="en-US" altLang="ja-JP" sz="1600" dirty="0"/>
          </a:p>
          <a:p>
            <a:r>
              <a:rPr lang="en-US" altLang="ja-JP" sz="1600" dirty="0" err="1"/>
              <a:t>boot_data</a:t>
            </a:r>
            <a:r>
              <a:rPr lang="en-US" altLang="ja-JP" sz="1600" dirty="0"/>
              <a:t> &lt;- rep(0, each = B)</a:t>
            </a:r>
          </a:p>
          <a:p>
            <a:endParaRPr lang="en-US" altLang="ja-JP" sz="1600" dirty="0"/>
          </a:p>
          <a:p>
            <a:r>
              <a:rPr lang="en-US" altLang="ja-JP" sz="1600" dirty="0" err="1"/>
              <a:t>set.seed</a:t>
            </a:r>
            <a:r>
              <a:rPr lang="en-US" altLang="ja-JP" sz="1600" dirty="0"/>
              <a:t>(123)</a:t>
            </a:r>
          </a:p>
          <a:p>
            <a:endParaRPr lang="en-US" altLang="ja-JP" sz="1600" dirty="0"/>
          </a:p>
          <a:p>
            <a:r>
              <a:rPr lang="en-US" altLang="ja-JP" sz="1600" dirty="0"/>
              <a:t>for (</a:t>
            </a:r>
            <a:r>
              <a:rPr lang="en-US" altLang="ja-JP" sz="1600" dirty="0" err="1"/>
              <a:t>i</a:t>
            </a:r>
            <a:r>
              <a:rPr lang="en-US" altLang="ja-JP" sz="1600" dirty="0"/>
              <a:t> in 1:B) {</a:t>
            </a:r>
          </a:p>
          <a:p>
            <a:r>
              <a:rPr lang="en-US" altLang="ja-JP" sz="1600" dirty="0"/>
              <a:t>  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[</a:t>
            </a:r>
            <a:r>
              <a:rPr lang="en-US" altLang="ja-JP" sz="1600" dirty="0" err="1"/>
              <a:t>i</a:t>
            </a:r>
            <a:r>
              <a:rPr lang="en-US" altLang="ja-JP" sz="1600" dirty="0"/>
              <a:t>] &lt;- mean(sample(data, size=length(data), replace=TRUE))</a:t>
            </a:r>
          </a:p>
          <a:p>
            <a:r>
              <a:rPr lang="en-US" altLang="ja-JP" sz="1600" dirty="0"/>
              <a:t>}</a:t>
            </a:r>
          </a:p>
          <a:p>
            <a:endParaRPr lang="en-US" altLang="ja-JP" sz="1600" dirty="0"/>
          </a:p>
          <a:p>
            <a:r>
              <a:rPr lang="en-US" altLang="ja-JP" sz="1600" dirty="0"/>
              <a:t>mean(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quantile(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, prob=c(0.025, 0.975))</a:t>
            </a:r>
          </a:p>
          <a:p>
            <a:endParaRPr lang="en-US" altLang="ja-JP" sz="1600" dirty="0"/>
          </a:p>
          <a:p>
            <a:r>
              <a:rPr lang="en-US" altLang="ja-JP" sz="1600" dirty="0"/>
              <a:t>hist(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, breaks = 10, </a:t>
            </a:r>
            <a:r>
              <a:rPr lang="en-US" altLang="ja-JP" sz="1600" dirty="0" err="1"/>
              <a:t>xlim</a:t>
            </a:r>
            <a:r>
              <a:rPr lang="en-US" altLang="ja-JP" sz="1600" dirty="0"/>
              <a:t> = c(0, 100), </a:t>
            </a:r>
            <a:r>
              <a:rPr lang="en-US" altLang="ja-JP" sz="1600" dirty="0" err="1"/>
              <a:t>ylim</a:t>
            </a:r>
            <a:r>
              <a:rPr lang="en-US" altLang="ja-JP" sz="1600" dirty="0"/>
              <a:t> = c(0, 2500), col = "</a:t>
            </a:r>
            <a:r>
              <a:rPr lang="en-US" altLang="ja-JP" sz="1600" dirty="0" err="1"/>
              <a:t>lightblue</a:t>
            </a:r>
            <a:r>
              <a:rPr lang="en-US" altLang="ja-JP" sz="1600" dirty="0"/>
              <a:t>")</a:t>
            </a:r>
          </a:p>
          <a:p>
            <a:r>
              <a:rPr lang="en-US" altLang="ja-JP" sz="1600" dirty="0" err="1"/>
              <a:t>abline</a:t>
            </a:r>
            <a:r>
              <a:rPr lang="en-US" altLang="ja-JP" sz="1600" dirty="0"/>
              <a:t>(v=quantile(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, prob=0.025), col  = "red", </a:t>
            </a:r>
            <a:r>
              <a:rPr lang="en-US" altLang="ja-JP" sz="1600" dirty="0" err="1"/>
              <a:t>lty</a:t>
            </a:r>
            <a:r>
              <a:rPr lang="en-US" altLang="ja-JP" sz="1600" dirty="0"/>
              <a:t> = 2, </a:t>
            </a:r>
            <a:r>
              <a:rPr lang="en-US" altLang="ja-JP" sz="1600" dirty="0" err="1"/>
              <a:t>lwd</a:t>
            </a:r>
            <a:r>
              <a:rPr lang="en-US" altLang="ja-JP" sz="1600" dirty="0"/>
              <a:t> = 3)</a:t>
            </a:r>
          </a:p>
          <a:p>
            <a:r>
              <a:rPr lang="en-US" altLang="ja-JP" sz="1600" dirty="0" err="1"/>
              <a:t>abline</a:t>
            </a:r>
            <a:r>
              <a:rPr lang="en-US" altLang="ja-JP" sz="1600" dirty="0"/>
              <a:t>(v=quantile(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, prob=0.975), col  = "red", </a:t>
            </a:r>
            <a:r>
              <a:rPr lang="en-US" altLang="ja-JP" sz="1600" dirty="0" err="1"/>
              <a:t>lty</a:t>
            </a:r>
            <a:r>
              <a:rPr lang="en-US" altLang="ja-JP" sz="1600" dirty="0"/>
              <a:t> = 2, </a:t>
            </a:r>
            <a:r>
              <a:rPr lang="en-US" altLang="ja-JP" sz="1600" dirty="0" err="1"/>
              <a:t>lwd</a:t>
            </a:r>
            <a:r>
              <a:rPr lang="en-US" altLang="ja-JP" sz="1600" dirty="0"/>
              <a:t> = 3)</a:t>
            </a:r>
            <a:endParaRPr lang="ja-JP" altLang="en-US" sz="1600" dirty="0"/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4702E72D-8732-2133-87F7-3E2964D8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ノンパラメトリック・ブートストラップ法　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パーセンタイル法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5FE449-4586-C157-9CBA-167CBAC0845F}"/>
              </a:ext>
            </a:extLst>
          </p:cNvPr>
          <p:cNvSpPr/>
          <p:nvPr/>
        </p:nvSpPr>
        <p:spPr>
          <a:xfrm>
            <a:off x="393700" y="3251200"/>
            <a:ext cx="6527800" cy="22859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0A963BB8-8F3B-1EDC-AD81-B675B02E9371}"/>
              </a:ext>
            </a:extLst>
          </p:cNvPr>
          <p:cNvCxnSpPr>
            <a:cxnSpLocks/>
          </p:cNvCxnSpPr>
          <p:nvPr/>
        </p:nvCxnSpPr>
        <p:spPr>
          <a:xfrm>
            <a:off x="6921500" y="3365500"/>
            <a:ext cx="685800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623FEC-2EFA-04F4-6A9E-133D79DCA38D}"/>
              </a:ext>
            </a:extLst>
          </p:cNvPr>
          <p:cNvSpPr/>
          <p:nvPr/>
        </p:nvSpPr>
        <p:spPr>
          <a:xfrm>
            <a:off x="393700" y="4228941"/>
            <a:ext cx="4013200" cy="22858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CF6B949-24C1-FAF0-38A3-E4C0CC1CFC62}"/>
              </a:ext>
            </a:extLst>
          </p:cNvPr>
          <p:cNvCxnSpPr>
            <a:cxnSpLocks/>
          </p:cNvCxnSpPr>
          <p:nvPr/>
        </p:nvCxnSpPr>
        <p:spPr>
          <a:xfrm>
            <a:off x="4406900" y="4356100"/>
            <a:ext cx="685800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177F3C9-91E9-A4BE-3E3B-FDD6E60C0169}"/>
              </a:ext>
            </a:extLst>
          </p:cNvPr>
          <p:cNvSpPr txBox="1"/>
          <p:nvPr/>
        </p:nvSpPr>
        <p:spPr>
          <a:xfrm>
            <a:off x="7642447" y="3196220"/>
            <a:ext cx="25556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replace=TRUE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：復元抽出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A97FB06-D515-09D6-F346-7C58191785C3}"/>
              </a:ext>
            </a:extLst>
          </p:cNvPr>
          <p:cNvSpPr txBox="1"/>
          <p:nvPr/>
        </p:nvSpPr>
        <p:spPr>
          <a:xfrm>
            <a:off x="5092700" y="4173958"/>
            <a:ext cx="36100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信頼区間用のパーセンタイルを取得</a:t>
            </a:r>
            <a:endParaRPr lang="ja-JP" altLang="en-US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240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0A704-7C53-A790-36D0-F1109555A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C793BE4-93A9-443E-9D7C-9BA7C82EC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11</a:t>
            </a:fld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DA28E4-A45A-1E5D-BF23-CDCB41762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2679700"/>
            <a:ext cx="7753350" cy="477202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227FCE-7212-32AB-CD11-D8A3D3C4AEEA}"/>
              </a:ext>
            </a:extLst>
          </p:cNvPr>
          <p:cNvSpPr txBox="1"/>
          <p:nvPr/>
        </p:nvSpPr>
        <p:spPr>
          <a:xfrm>
            <a:off x="673100" y="93807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altLang="ja-JP" b="0" i="0" dirty="0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mean(</a:t>
            </a:r>
            <a:r>
              <a:rPr lang="en-US" altLang="ja-JP" b="0" i="0" dirty="0" err="1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boot_data</a:t>
            </a:r>
            <a:r>
              <a:rPr lang="en-US" altLang="ja-JP" b="0" i="0" dirty="0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)</a:t>
            </a:r>
          </a:p>
          <a:p>
            <a:pPr algn="l" latinLnBrk="1"/>
            <a:r>
              <a:rPr lang="en-US" altLang="ja-JP" b="0" i="0" dirty="0"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[1] 49.15858</a:t>
            </a:r>
          </a:p>
          <a:p>
            <a:pPr algn="l" latinLnBrk="1">
              <a:buNone/>
            </a:pPr>
            <a:endParaRPr lang="en-US" altLang="ja-JP" b="0" i="0" dirty="0">
              <a:solidFill>
                <a:srgbClr val="C792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altLang="ja-JP" b="0" i="0" dirty="0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quantile(</a:t>
            </a:r>
            <a:r>
              <a:rPr lang="en-US" altLang="ja-JP" b="0" i="0" dirty="0" err="1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boot_data</a:t>
            </a:r>
            <a:r>
              <a:rPr lang="en-US" altLang="ja-JP" b="0" i="0" dirty="0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, prob=c(0.025, 0.975))</a:t>
            </a:r>
          </a:p>
          <a:p>
            <a:pPr algn="l" latinLnBrk="1">
              <a:buNone/>
            </a:pPr>
            <a:r>
              <a:rPr lang="en-US" altLang="ja-JP" b="0" i="0" dirty="0"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  2.5%   97.5% </a:t>
            </a:r>
          </a:p>
          <a:p>
            <a:pPr algn="l" latinLnBrk="1">
              <a:buNone/>
            </a:pPr>
            <a:r>
              <a:rPr lang="en-US" altLang="ja-JP" b="0" i="0" dirty="0"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30.9975 67.7000 </a:t>
            </a: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DC878977-9141-A175-115A-3EDC6C5E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ノンパラメトリック・ブートストラップ法　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パーセンタイル法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59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B74D-C5B7-7091-8C58-96F3645C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B8F79D4-C9FA-BB5E-79DF-064FEB427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12</a:t>
            </a:fld>
            <a:endParaRPr kumimoji="1" lang="en-US" altLang="ja-JP" dirty="0"/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880F6A4C-EDEB-A4E0-607F-6F93533B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参考文献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0753C8-AE35-07AA-6973-05EED3308B63}"/>
              </a:ext>
            </a:extLst>
          </p:cNvPr>
          <p:cNvSpPr txBox="1"/>
          <p:nvPr/>
        </p:nvSpPr>
        <p:spPr>
          <a:xfrm>
            <a:off x="368300" y="1231900"/>
            <a:ext cx="10058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ja-JP" altLang="en-US" sz="1600" dirty="0"/>
              <a:t>小杉考司，紀ノ定保礼，清水裕士（</a:t>
            </a:r>
            <a:r>
              <a:rPr lang="en-US" altLang="ja-JP" sz="1600" dirty="0"/>
              <a:t>2023</a:t>
            </a:r>
            <a:r>
              <a:rPr lang="ja-JP" altLang="en-US" sz="1600" dirty="0"/>
              <a:t>）．数値シミュレーションで読み解く統計のしくみ </a:t>
            </a:r>
            <a:r>
              <a:rPr lang="en-US" altLang="ja-JP" sz="1600" dirty="0"/>
              <a:t>-R</a:t>
            </a:r>
            <a:r>
              <a:rPr lang="ja-JP" altLang="en-US" sz="1600" dirty="0"/>
              <a:t>でためしてわかる心理統計</a:t>
            </a:r>
            <a:r>
              <a:rPr lang="en-US" altLang="ja-JP" sz="1600" dirty="0"/>
              <a:t>-</a:t>
            </a:r>
            <a:r>
              <a:rPr lang="ja-JP" altLang="en-US" sz="1600" dirty="0"/>
              <a:t>．技術評論社．</a:t>
            </a: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600" dirty="0"/>
              <a:t>日本統計学会（編）（</a:t>
            </a:r>
            <a:r>
              <a:rPr lang="en-US" altLang="ja-JP" sz="1600" dirty="0"/>
              <a:t>2020</a:t>
            </a:r>
            <a:r>
              <a:rPr lang="ja-JP" altLang="en-US" sz="1600" dirty="0"/>
              <a:t>）．統計学実践ワークブック．学術図書出版社．</a:t>
            </a: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1600" dirty="0"/>
              <a:t>東京大学教養学部統計学教室（編）（</a:t>
            </a:r>
            <a:r>
              <a:rPr lang="en-US" altLang="zh-TW" sz="1600" dirty="0"/>
              <a:t>1991</a:t>
            </a:r>
            <a:r>
              <a:rPr lang="zh-TW" altLang="en-US" sz="1600" dirty="0"/>
              <a:t>）．統計学入門（基礎統計学 </a:t>
            </a:r>
            <a:r>
              <a:rPr lang="en-US" altLang="zh-TW" sz="1600" dirty="0"/>
              <a:t>I</a:t>
            </a:r>
            <a:r>
              <a:rPr lang="zh-TW" altLang="en-US" sz="1600" dirty="0"/>
              <a:t>）．東京：東京大学出版会．</a:t>
            </a: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600" dirty="0"/>
              <a:t>ブートストラップ法で平均値の</a:t>
            </a:r>
            <a:r>
              <a:rPr lang="en-US" altLang="ja-JP" sz="1600" dirty="0"/>
              <a:t>95%</a:t>
            </a:r>
            <a:r>
              <a:rPr lang="ja-JP" altLang="en-US" sz="1600" dirty="0"/>
              <a:t>信頼区間を求めよう！統計</a:t>
            </a:r>
            <a:r>
              <a:rPr lang="en-US" altLang="ja-JP" sz="1600" dirty="0"/>
              <a:t>ER</a:t>
            </a:r>
            <a:r>
              <a:rPr lang="ja-JP" altLang="en-US" sz="1600" dirty="0"/>
              <a:t>．</a:t>
            </a:r>
            <a:r>
              <a:rPr lang="en-US" altLang="ja-JP" sz="1600" dirty="0"/>
              <a:t>https://best-biostatistics.com/toukei-er/entry/bootstrap-method-calculate-95-percent-confidence-interval-mean/</a:t>
            </a:r>
            <a:r>
              <a:rPr lang="ja-JP" altLang="en-US" sz="1600" dirty="0"/>
              <a:t>（最終参照日：</a:t>
            </a:r>
            <a:r>
              <a:rPr lang="en-US" altLang="ja-JP" sz="1600" dirty="0"/>
              <a:t>2026</a:t>
            </a:r>
            <a:r>
              <a:rPr lang="ja-JP" altLang="en-US" sz="1600" dirty="0"/>
              <a:t>年</a:t>
            </a:r>
            <a:r>
              <a:rPr lang="en-US" altLang="ja-JP" sz="1600" dirty="0"/>
              <a:t>3</a:t>
            </a:r>
            <a:r>
              <a:rPr lang="ja-JP" altLang="en-US" sz="1600" dirty="0"/>
              <a:t>月</a:t>
            </a:r>
            <a:r>
              <a:rPr lang="en-US" altLang="ja-JP" sz="1600" dirty="0"/>
              <a:t>30</a:t>
            </a:r>
            <a:r>
              <a:rPr lang="ja-JP" altLang="en-US" sz="1600" dirty="0"/>
              <a:t>日）</a:t>
            </a:r>
          </a:p>
        </p:txBody>
      </p:sp>
    </p:spTree>
    <p:extLst>
      <p:ext uri="{BB962C8B-B14F-4D97-AF65-F5344CB8AC3E}">
        <p14:creationId xmlns:p14="http://schemas.microsoft.com/office/powerpoint/2010/main" val="828151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BD9AB20-6EFB-47BB-FF73-F8C60310A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5BDEE-5BDE-3F4B-A67A-3F0F70216356}" type="slidenum">
              <a:rPr kumimoji="1" lang="en-US" altLang="ja-JP" smtClean="0"/>
              <a:t>13</a:t>
            </a:fld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B8B8E93-030B-D888-18C6-B08D3CBB4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経営理念</a:t>
            </a:r>
          </a:p>
        </p:txBody>
      </p:sp>
    </p:spTree>
    <p:extLst>
      <p:ext uri="{BB962C8B-B14F-4D97-AF65-F5344CB8AC3E}">
        <p14:creationId xmlns:p14="http://schemas.microsoft.com/office/powerpoint/2010/main" val="1988336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874306A-8C6B-1E4C-D9DA-5FE14AC310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8750" y="4662000"/>
            <a:ext cx="53975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72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PS_PPT_Color">
      <a:dk1>
        <a:srgbClr val="000000"/>
      </a:dk1>
      <a:lt1>
        <a:srgbClr val="FFFFFF"/>
      </a:lt1>
      <a:dk2>
        <a:srgbClr val="00A096"/>
      </a:dk2>
      <a:lt2>
        <a:srgbClr val="8BAAB3"/>
      </a:lt2>
      <a:accent1>
        <a:srgbClr val="005386"/>
      </a:accent1>
      <a:accent2>
        <a:srgbClr val="148ECF"/>
      </a:accent2>
      <a:accent3>
        <a:srgbClr val="89BD44"/>
      </a:accent3>
      <a:accent4>
        <a:srgbClr val="ED9124"/>
      </a:accent4>
      <a:accent5>
        <a:srgbClr val="B60E2E"/>
      </a:accent5>
      <a:accent6>
        <a:srgbClr val="DB3E8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1124</Words>
  <Application>Microsoft Office PowerPoint</Application>
  <PresentationFormat>ユーザー設定</PresentationFormat>
  <Paragraphs>191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4" baseType="lpstr">
      <vt:lpstr>Meiryo UI</vt:lpstr>
      <vt:lpstr>ＭＳ Ｐゴシック</vt:lpstr>
      <vt:lpstr>ＭＳ ゴシック</vt:lpstr>
      <vt:lpstr>游ゴシック</vt:lpstr>
      <vt:lpstr>Aptos Narrow</vt:lpstr>
      <vt:lpstr>Arial</vt:lpstr>
      <vt:lpstr>Cambria Math</vt:lpstr>
      <vt:lpstr>Lucida Console</vt:lpstr>
      <vt:lpstr>Wingdings</vt:lpstr>
      <vt:lpstr>Office Theme</vt:lpstr>
      <vt:lpstr>R with Pharma Lab はじめてのシミュレーション</vt:lpstr>
      <vt:lpstr>Introduction</vt:lpstr>
      <vt:lpstr>2標本t検定　Student or Welch ?</vt:lpstr>
      <vt:lpstr>2標本t検定　Student or Welch ?</vt:lpstr>
      <vt:lpstr>2標本t検定　Student or Welch ?</vt:lpstr>
      <vt:lpstr>2標本t検定　Student or Welch ?</vt:lpstr>
      <vt:lpstr>2標本t検定　Student or Welch ?</vt:lpstr>
      <vt:lpstr>2標本t検定　Student or Welch ?</vt:lpstr>
      <vt:lpstr>ノンパラメトリック・ブートストラップ法　-パーセンタイル法-</vt:lpstr>
      <vt:lpstr>ノンパラメトリック・ブートストラップ法　-パーセンタイル法-</vt:lpstr>
      <vt:lpstr>ノンパラメトリック・ブートストラップ法　-パーセンタイル法-</vt:lpstr>
      <vt:lpstr>参考文献</vt:lpstr>
      <vt:lpstr>経営理念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2026-03-30T03:45:57Z</dcterms:created>
  <dcterms:modified xsi:type="dcterms:W3CDTF">2026-03-30T03:46:03Z</dcterms:modified>
</cp:coreProperties>
</file>