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25"/>
  </p:notesMasterIdLst>
  <p:sldIdLst>
    <p:sldId id="257" r:id="rId2"/>
    <p:sldId id="498" r:id="rId3"/>
    <p:sldId id="505" r:id="rId4"/>
    <p:sldId id="522" r:id="rId5"/>
    <p:sldId id="499" r:id="rId6"/>
    <p:sldId id="507" r:id="rId7"/>
    <p:sldId id="523" r:id="rId8"/>
    <p:sldId id="502" r:id="rId9"/>
    <p:sldId id="512" r:id="rId10"/>
    <p:sldId id="513" r:id="rId11"/>
    <p:sldId id="509" r:id="rId12"/>
    <p:sldId id="515" r:id="rId13"/>
    <p:sldId id="263" r:id="rId14"/>
    <p:sldId id="510" r:id="rId15"/>
    <p:sldId id="524" r:id="rId16"/>
    <p:sldId id="511" r:id="rId17"/>
    <p:sldId id="500" r:id="rId18"/>
    <p:sldId id="519" r:id="rId19"/>
    <p:sldId id="518" r:id="rId20"/>
    <p:sldId id="526" r:id="rId21"/>
    <p:sldId id="525" r:id="rId22"/>
    <p:sldId id="520" r:id="rId23"/>
    <p:sldId id="258" r:id="rId24"/>
  </p:sldIdLst>
  <p:sldSz cx="12192000" cy="6858000"/>
  <p:notesSz cx="6858000" cy="9144000"/>
  <p:defaultTextStyle>
    <a:defPPr>
      <a:defRPr lang="ja-JP"/>
    </a:defPPr>
    <a:lvl1pPr algn="l" rtl="0" fontAlgn="base">
      <a:spcBef>
        <a:spcPct val="0"/>
      </a:spcBef>
      <a:spcAft>
        <a:spcPct val="0"/>
      </a:spcAft>
      <a:defRPr kumimoji="1" sz="2400" kern="1200">
        <a:solidFill>
          <a:schemeClr val="tx1"/>
        </a:solidFill>
        <a:latin typeface="Times" charset="0"/>
        <a:ea typeface="Osaka" charset="-128"/>
        <a:cs typeface="+mn-cs"/>
      </a:defRPr>
    </a:lvl1pPr>
    <a:lvl2pPr marL="457200" algn="l" rtl="0" fontAlgn="base">
      <a:spcBef>
        <a:spcPct val="0"/>
      </a:spcBef>
      <a:spcAft>
        <a:spcPct val="0"/>
      </a:spcAft>
      <a:defRPr kumimoji="1" sz="2400" kern="1200">
        <a:solidFill>
          <a:schemeClr val="tx1"/>
        </a:solidFill>
        <a:latin typeface="Times" charset="0"/>
        <a:ea typeface="Osaka" charset="-128"/>
        <a:cs typeface="+mn-cs"/>
      </a:defRPr>
    </a:lvl2pPr>
    <a:lvl3pPr marL="914400" algn="l" rtl="0" fontAlgn="base">
      <a:spcBef>
        <a:spcPct val="0"/>
      </a:spcBef>
      <a:spcAft>
        <a:spcPct val="0"/>
      </a:spcAft>
      <a:defRPr kumimoji="1" sz="2400" kern="1200">
        <a:solidFill>
          <a:schemeClr val="tx1"/>
        </a:solidFill>
        <a:latin typeface="Times" charset="0"/>
        <a:ea typeface="Osaka" charset="-128"/>
        <a:cs typeface="+mn-cs"/>
      </a:defRPr>
    </a:lvl3pPr>
    <a:lvl4pPr marL="1371600" algn="l" rtl="0" fontAlgn="base">
      <a:spcBef>
        <a:spcPct val="0"/>
      </a:spcBef>
      <a:spcAft>
        <a:spcPct val="0"/>
      </a:spcAft>
      <a:defRPr kumimoji="1" sz="2400" kern="1200">
        <a:solidFill>
          <a:schemeClr val="tx1"/>
        </a:solidFill>
        <a:latin typeface="Times" charset="0"/>
        <a:ea typeface="Osaka" charset="-128"/>
        <a:cs typeface="+mn-cs"/>
      </a:defRPr>
    </a:lvl4pPr>
    <a:lvl5pPr marL="1828800" algn="l" rtl="0" fontAlgn="base">
      <a:spcBef>
        <a:spcPct val="0"/>
      </a:spcBef>
      <a:spcAft>
        <a:spcPct val="0"/>
      </a:spcAft>
      <a:defRPr kumimoji="1" sz="2400" kern="1200">
        <a:solidFill>
          <a:schemeClr val="tx1"/>
        </a:solidFill>
        <a:latin typeface="Times" charset="0"/>
        <a:ea typeface="Osaka" charset="-128"/>
        <a:cs typeface="+mn-cs"/>
      </a:defRPr>
    </a:lvl5pPr>
    <a:lvl6pPr marL="2286000" algn="l" defTabSz="914400" rtl="0" eaLnBrk="1" latinLnBrk="0" hangingPunct="1">
      <a:defRPr kumimoji="1" sz="2400" kern="1200">
        <a:solidFill>
          <a:schemeClr val="tx1"/>
        </a:solidFill>
        <a:latin typeface="Times" charset="0"/>
        <a:ea typeface="Osaka" charset="-128"/>
        <a:cs typeface="+mn-cs"/>
      </a:defRPr>
    </a:lvl6pPr>
    <a:lvl7pPr marL="2743200" algn="l" defTabSz="914400" rtl="0" eaLnBrk="1" latinLnBrk="0" hangingPunct="1">
      <a:defRPr kumimoji="1" sz="2400" kern="1200">
        <a:solidFill>
          <a:schemeClr val="tx1"/>
        </a:solidFill>
        <a:latin typeface="Times" charset="0"/>
        <a:ea typeface="Osaka" charset="-128"/>
        <a:cs typeface="+mn-cs"/>
      </a:defRPr>
    </a:lvl7pPr>
    <a:lvl8pPr marL="3200400" algn="l" defTabSz="914400" rtl="0" eaLnBrk="1" latinLnBrk="0" hangingPunct="1">
      <a:defRPr kumimoji="1" sz="2400" kern="1200">
        <a:solidFill>
          <a:schemeClr val="tx1"/>
        </a:solidFill>
        <a:latin typeface="Times" charset="0"/>
        <a:ea typeface="Osaka" charset="-128"/>
        <a:cs typeface="+mn-cs"/>
      </a:defRPr>
    </a:lvl8pPr>
    <a:lvl9pPr marL="3657600" algn="l" defTabSz="914400" rtl="0" eaLnBrk="1" latinLnBrk="0" hangingPunct="1">
      <a:defRPr kumimoji="1" sz="2400" kern="1200">
        <a:solidFill>
          <a:schemeClr val="tx1"/>
        </a:solidFill>
        <a:latin typeface="Times" charset="0"/>
        <a:ea typeface="Osaka"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FFFF"/>
    <a:srgbClr val="008000"/>
    <a:srgbClr val="CCFFFF"/>
    <a:srgbClr val="FF99FF"/>
    <a:srgbClr val="FF6600"/>
    <a:srgbClr val="3366FF"/>
    <a:srgbClr val="0066FF"/>
    <a:srgbClr val="3366CC"/>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03" autoAdjust="0"/>
    <p:restoredTop sz="90929"/>
  </p:normalViewPr>
  <p:slideViewPr>
    <p:cSldViewPr>
      <p:cViewPr>
        <p:scale>
          <a:sx n="75" d="100"/>
          <a:sy n="75" d="100"/>
        </p:scale>
        <p:origin x="4104" y="1938"/>
      </p:cViewPr>
      <p:guideLst>
        <p:guide orient="horz" pos="2160"/>
        <p:guide pos="3840"/>
      </p:guideLst>
    </p:cSldViewPr>
  </p:slideViewPr>
  <p:notesTextViewPr>
    <p:cViewPr>
      <p:scale>
        <a:sx n="1" d="1"/>
        <a:sy n="1" d="1"/>
      </p:scale>
      <p:origin x="0" y="0"/>
    </p:cViewPr>
  </p:notesTextViewPr>
  <p:sorterViewPr>
    <p:cViewPr>
      <p:scale>
        <a:sx n="100" d="100"/>
        <a:sy n="100" d="100"/>
      </p:scale>
      <p:origin x="0" y="-4637"/>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ＭＳ Ｐゴシック" pitchFamily="50" charset="-128"/>
              </a:defRPr>
            </a:lvl1pPr>
          </a:lstStyle>
          <a:p>
            <a:endParaRPr lang="en-US" altLang="ja-JP"/>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ＭＳ Ｐゴシック" pitchFamily="50" charset="-128"/>
              </a:defRPr>
            </a:lvl1pPr>
          </a:lstStyle>
          <a:p>
            <a:fld id="{442BAA3F-557D-4B17-AE9E-1755FE9972DC}" type="slidenum">
              <a:rPr lang="en-US" altLang="ja-JP"/>
              <a:pPr/>
              <a:t>‹#›</a:t>
            </a:fld>
            <a:endParaRPr lang="en-US" altLang="ja-JP"/>
          </a:p>
        </p:txBody>
      </p:sp>
    </p:spTree>
    <p:extLst>
      <p:ext uri="{BB962C8B-B14F-4D97-AF65-F5344CB8AC3E}">
        <p14:creationId xmlns:p14="http://schemas.microsoft.com/office/powerpoint/2010/main" val="19764086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8223" name="AutoShape 31"/>
          <p:cNvSpPr>
            <a:spLocks noChangeArrowheads="1"/>
          </p:cNvSpPr>
          <p:nvPr/>
        </p:nvSpPr>
        <p:spPr bwMode="auto">
          <a:xfrm rot="5400000">
            <a:off x="506414" y="2305580"/>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4" name="AutoShape 32"/>
          <p:cNvSpPr>
            <a:spLocks noChangeArrowheads="1"/>
          </p:cNvSpPr>
          <p:nvPr/>
        </p:nvSpPr>
        <p:spPr bwMode="auto">
          <a:xfrm rot="5400000">
            <a:off x="511704" y="3349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5" name="AutoShape 33"/>
          <p:cNvSpPr>
            <a:spLocks noChangeArrowheads="1"/>
          </p:cNvSpPr>
          <p:nvPr/>
        </p:nvSpPr>
        <p:spPr bwMode="auto">
          <a:xfrm rot="5400000">
            <a:off x="289455" y="47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6" name="AutoShape 34"/>
          <p:cNvSpPr>
            <a:spLocks noChangeArrowheads="1"/>
          </p:cNvSpPr>
          <p:nvPr/>
        </p:nvSpPr>
        <p:spPr bwMode="auto">
          <a:xfrm rot="5400000">
            <a:off x="216430" y="665693"/>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7" name="AutoShape 35"/>
          <p:cNvSpPr>
            <a:spLocks noChangeArrowheads="1"/>
          </p:cNvSpPr>
          <p:nvPr/>
        </p:nvSpPr>
        <p:spPr bwMode="auto">
          <a:xfrm rot="5400000">
            <a:off x="511704" y="9985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8" name="AutoShape 36"/>
          <p:cNvSpPr>
            <a:spLocks noChangeArrowheads="1"/>
          </p:cNvSpPr>
          <p:nvPr/>
        </p:nvSpPr>
        <p:spPr bwMode="auto">
          <a:xfrm rot="5400000">
            <a:off x="804069" y="1328474"/>
            <a:ext cx="442913" cy="510117"/>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9" name="AutoShape 37"/>
          <p:cNvSpPr>
            <a:spLocks noChangeArrowheads="1"/>
          </p:cNvSpPr>
          <p:nvPr/>
        </p:nvSpPr>
        <p:spPr bwMode="auto">
          <a:xfrm rot="5400000">
            <a:off x="511704" y="1660526"/>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1" name="AutoShape 39"/>
          <p:cNvSpPr>
            <a:spLocks noChangeArrowheads="1"/>
          </p:cNvSpPr>
          <p:nvPr/>
        </p:nvSpPr>
        <p:spPr bwMode="auto">
          <a:xfrm rot="5400000">
            <a:off x="234422" y="1968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2" name="AutoShape 40"/>
          <p:cNvSpPr>
            <a:spLocks noChangeArrowheads="1"/>
          </p:cNvSpPr>
          <p:nvPr/>
        </p:nvSpPr>
        <p:spPr bwMode="auto">
          <a:xfrm rot="5400000">
            <a:off x="776288" y="26463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3" name="AutoShape 41"/>
          <p:cNvSpPr>
            <a:spLocks noChangeArrowheads="1"/>
          </p:cNvSpPr>
          <p:nvPr/>
        </p:nvSpPr>
        <p:spPr bwMode="auto">
          <a:xfrm rot="5400000">
            <a:off x="505355" y="2984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4" name="AutoShape 42"/>
          <p:cNvSpPr>
            <a:spLocks noChangeArrowheads="1"/>
          </p:cNvSpPr>
          <p:nvPr/>
        </p:nvSpPr>
        <p:spPr bwMode="auto">
          <a:xfrm rot="5400000">
            <a:off x="234422" y="3322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5" name="AutoShape 43"/>
          <p:cNvSpPr>
            <a:spLocks noChangeArrowheads="1"/>
          </p:cNvSpPr>
          <p:nvPr/>
        </p:nvSpPr>
        <p:spPr bwMode="auto">
          <a:xfrm rot="5400000">
            <a:off x="505620" y="3660511"/>
            <a:ext cx="442912" cy="510116"/>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6" name="AutoShape 44"/>
          <p:cNvSpPr>
            <a:spLocks noChangeArrowheads="1"/>
          </p:cNvSpPr>
          <p:nvPr/>
        </p:nvSpPr>
        <p:spPr bwMode="auto">
          <a:xfrm rot="5400000">
            <a:off x="234422" y="4000501"/>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7" name="AutoShape 45"/>
          <p:cNvSpPr>
            <a:spLocks noChangeArrowheads="1"/>
          </p:cNvSpPr>
          <p:nvPr/>
        </p:nvSpPr>
        <p:spPr bwMode="auto">
          <a:xfrm rot="5400000">
            <a:off x="505355" y="4338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9" name="AutoShape 47"/>
          <p:cNvSpPr>
            <a:spLocks noChangeArrowheads="1"/>
          </p:cNvSpPr>
          <p:nvPr/>
        </p:nvSpPr>
        <p:spPr bwMode="auto">
          <a:xfrm rot="5400000">
            <a:off x="234422" y="4676776"/>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0" name="AutoShape 48"/>
          <p:cNvSpPr>
            <a:spLocks noChangeArrowheads="1"/>
          </p:cNvSpPr>
          <p:nvPr/>
        </p:nvSpPr>
        <p:spPr bwMode="auto">
          <a:xfrm rot="5400000">
            <a:off x="506414" y="5015443"/>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1" name="AutoShape 49"/>
          <p:cNvSpPr>
            <a:spLocks noChangeArrowheads="1"/>
          </p:cNvSpPr>
          <p:nvPr/>
        </p:nvSpPr>
        <p:spPr bwMode="auto">
          <a:xfrm rot="5400000">
            <a:off x="777347" y="5353580"/>
            <a:ext cx="441325" cy="510116"/>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3" name="AutoShape 51"/>
          <p:cNvSpPr>
            <a:spLocks noChangeArrowheads="1"/>
          </p:cNvSpPr>
          <p:nvPr/>
        </p:nvSpPr>
        <p:spPr bwMode="auto">
          <a:xfrm rot="5400000">
            <a:off x="236538" y="53387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4" name="AutoShape 52"/>
          <p:cNvSpPr>
            <a:spLocks noChangeArrowheads="1"/>
          </p:cNvSpPr>
          <p:nvPr/>
        </p:nvSpPr>
        <p:spPr bwMode="auto">
          <a:xfrm rot="5400000">
            <a:off x="490538" y="5694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5" name="AutoShape 53"/>
          <p:cNvSpPr>
            <a:spLocks noChangeArrowheads="1"/>
          </p:cNvSpPr>
          <p:nvPr/>
        </p:nvSpPr>
        <p:spPr bwMode="auto">
          <a:xfrm rot="5400000">
            <a:off x="236538" y="60372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6" name="AutoShape 54"/>
          <p:cNvSpPr>
            <a:spLocks noChangeArrowheads="1"/>
          </p:cNvSpPr>
          <p:nvPr/>
        </p:nvSpPr>
        <p:spPr bwMode="auto">
          <a:xfrm rot="5400000">
            <a:off x="542396" y="6369580"/>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196" name="Rectangle 4"/>
          <p:cNvSpPr>
            <a:spLocks noGrp="1" noChangeArrowheads="1"/>
          </p:cNvSpPr>
          <p:nvPr>
            <p:ph type="dt" sz="half" idx="2"/>
          </p:nvPr>
        </p:nvSpPr>
        <p:spPr>
          <a:xfrm>
            <a:off x="1930400" y="6553200"/>
            <a:ext cx="2336800" cy="457200"/>
          </a:xfrm>
        </p:spPr>
        <p:txBody>
          <a:bodyPr/>
          <a:lstStyle>
            <a:lvl1pPr algn="ctr">
              <a:defRPr kumimoji="1" b="0">
                <a:solidFill>
                  <a:schemeClr val="tx1"/>
                </a:solidFill>
                <a:effectLst/>
                <a:latin typeface="+mn-lt"/>
                <a:ea typeface="+mn-ea"/>
              </a:defRPr>
            </a:lvl1pPr>
          </a:lstStyle>
          <a:p>
            <a:endParaRPr lang="en-US" altLang="ja-JP"/>
          </a:p>
        </p:txBody>
      </p:sp>
      <p:sp>
        <p:nvSpPr>
          <p:cNvPr id="8197" name="Rectangle 5"/>
          <p:cNvSpPr>
            <a:spLocks noGrp="1" noChangeArrowheads="1"/>
          </p:cNvSpPr>
          <p:nvPr>
            <p:ph type="ftr" sz="quarter" idx="3"/>
          </p:nvPr>
        </p:nvSpPr>
        <p:spPr bwMode="auto">
          <a:xfrm>
            <a:off x="4320118" y="6553200"/>
            <a:ext cx="3551767"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endParaRPr lang="en-US" altLang="ja-JP"/>
          </a:p>
        </p:txBody>
      </p:sp>
      <p:sp>
        <p:nvSpPr>
          <p:cNvPr id="8221" name="Rectangle 29"/>
          <p:cNvSpPr>
            <a:spLocks noGrp="1" noChangeArrowheads="1"/>
          </p:cNvSpPr>
          <p:nvPr>
            <p:ph type="ctrTitle" sz="quarter"/>
          </p:nvPr>
        </p:nvSpPr>
        <p:spPr>
          <a:xfrm>
            <a:off x="1274236" y="1752600"/>
            <a:ext cx="9681630" cy="1143000"/>
          </a:xfrm>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lvl1pPr algn="ctr">
              <a:defRPr sz="4400" i="0"/>
            </a:lvl1pPr>
          </a:lstStyle>
          <a:p>
            <a:pPr lvl="0"/>
            <a:r>
              <a:rPr lang="ja-JP" altLang="en-US" noProof="0"/>
              <a:t>マスター タイトルの書式設定</a:t>
            </a:r>
            <a:endParaRPr lang="ja-JP" altLang="en-US" noProof="0" dirty="0"/>
          </a:p>
        </p:txBody>
      </p:sp>
      <p:sp>
        <p:nvSpPr>
          <p:cNvPr id="8222" name="Rectangle 30"/>
          <p:cNvSpPr>
            <a:spLocks noGrp="1" noChangeArrowheads="1"/>
          </p:cNvSpPr>
          <p:nvPr>
            <p:ph type="subTitle" sz="quarter" idx="1"/>
          </p:nvPr>
        </p:nvSpPr>
        <p:spPr>
          <a:xfrm>
            <a:off x="1274235" y="4038600"/>
            <a:ext cx="9679513" cy="762000"/>
          </a:xfrm>
        </p:spPr>
        <p:txBody>
          <a:bodyPr/>
          <a:lstStyle>
            <a:lvl1pPr marL="0" indent="0" algn="ctr">
              <a:defRPr/>
            </a:lvl1pPr>
          </a:lstStyle>
          <a:p>
            <a:pPr lvl="0"/>
            <a:r>
              <a:rPr lang="ja-JP" altLang="en-US" noProof="0"/>
              <a:t>マスター サブタイトルの書式設定</a:t>
            </a:r>
            <a:endParaRPr lang="ja-JP" altLang="en-US" noProof="0" dirty="0"/>
          </a:p>
        </p:txBody>
      </p:sp>
      <p:sp>
        <p:nvSpPr>
          <p:cNvPr id="8248" name="AutoShape 56"/>
          <p:cNvSpPr>
            <a:spLocks noChangeArrowheads="1"/>
          </p:cNvSpPr>
          <p:nvPr/>
        </p:nvSpPr>
        <p:spPr bwMode="auto">
          <a:xfrm rot="5400000">
            <a:off x="11295063" y="6369580"/>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9" name="AutoShape 57"/>
          <p:cNvSpPr>
            <a:spLocks noChangeArrowheads="1"/>
          </p:cNvSpPr>
          <p:nvPr/>
        </p:nvSpPr>
        <p:spPr bwMode="auto">
          <a:xfrm rot="5400000">
            <a:off x="11024130"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0" name="AutoShape 58"/>
          <p:cNvSpPr>
            <a:spLocks noChangeArrowheads="1"/>
          </p:cNvSpPr>
          <p:nvPr/>
        </p:nvSpPr>
        <p:spPr bwMode="auto">
          <a:xfrm rot="5400000">
            <a:off x="11294004" y="56816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1" name="AutoShape 59"/>
          <p:cNvSpPr>
            <a:spLocks noChangeArrowheads="1"/>
          </p:cNvSpPr>
          <p:nvPr/>
        </p:nvSpPr>
        <p:spPr bwMode="auto">
          <a:xfrm rot="5400000">
            <a:off x="11006138" y="5329238"/>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2" name="AutoShape 60"/>
          <p:cNvSpPr>
            <a:spLocks noChangeArrowheads="1"/>
          </p:cNvSpPr>
          <p:nvPr/>
        </p:nvSpPr>
        <p:spPr bwMode="auto">
          <a:xfrm rot="5400000">
            <a:off x="11260138" y="4970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3" name="AutoShape 61"/>
          <p:cNvSpPr>
            <a:spLocks noChangeArrowheads="1"/>
          </p:cNvSpPr>
          <p:nvPr/>
        </p:nvSpPr>
        <p:spPr bwMode="auto">
          <a:xfrm rot="5400000">
            <a:off x="10989204" y="46275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4" name="AutoShape 62"/>
          <p:cNvSpPr>
            <a:spLocks noChangeArrowheads="1"/>
          </p:cNvSpPr>
          <p:nvPr/>
        </p:nvSpPr>
        <p:spPr bwMode="auto">
          <a:xfrm rot="5400000">
            <a:off x="11277071" y="4297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5" name="AutoShape 63"/>
          <p:cNvSpPr>
            <a:spLocks noChangeArrowheads="1"/>
          </p:cNvSpPr>
          <p:nvPr/>
        </p:nvSpPr>
        <p:spPr bwMode="auto">
          <a:xfrm rot="5400000">
            <a:off x="11564938" y="3954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6" name="AutoShape 64"/>
          <p:cNvSpPr>
            <a:spLocks noChangeArrowheads="1"/>
          </p:cNvSpPr>
          <p:nvPr/>
        </p:nvSpPr>
        <p:spPr bwMode="auto">
          <a:xfrm rot="5400000">
            <a:off x="11278130" y="3610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7" name="AutoShape 65"/>
          <p:cNvSpPr>
            <a:spLocks noChangeArrowheads="1"/>
          </p:cNvSpPr>
          <p:nvPr/>
        </p:nvSpPr>
        <p:spPr bwMode="auto">
          <a:xfrm rot="5400000">
            <a:off x="11565996"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06400" y="381000"/>
            <a:ext cx="10370120" cy="533400"/>
          </a:xfrm>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23B20E4E-3F95-4221-AFE5-FD1FD9CC3448}" type="slidenum">
              <a:rPr lang="en-US" altLang="ja-JP"/>
              <a:pPr/>
              <a:t>‹#›</a:t>
            </a:fld>
            <a:endParaRPr lang="en-US" altLang="ja-JP"/>
          </a:p>
        </p:txBody>
      </p:sp>
    </p:spTree>
    <p:extLst>
      <p:ext uri="{BB962C8B-B14F-4D97-AF65-F5344CB8AC3E}">
        <p14:creationId xmlns:p14="http://schemas.microsoft.com/office/powerpoint/2010/main" val="67354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59B327E7-9605-4B1F-A86B-23630CCB1D76}" type="slidenum">
              <a:rPr lang="en-US" altLang="ja-JP"/>
              <a:pPr/>
              <a:t>‹#›</a:t>
            </a:fld>
            <a:endParaRPr lang="en-US" altLang="ja-JP"/>
          </a:p>
        </p:txBody>
      </p:sp>
    </p:spTree>
    <p:extLst>
      <p:ext uri="{BB962C8B-B14F-4D97-AF65-F5344CB8AC3E}">
        <p14:creationId xmlns:p14="http://schemas.microsoft.com/office/powerpoint/2010/main" val="2795626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510117" y="1219200"/>
            <a:ext cx="5484283"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1" y="1219200"/>
            <a:ext cx="5484284"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80724435-5351-4F85-AB21-E011B281C3F4}" type="slidenum">
              <a:rPr lang="en-US" altLang="ja-JP"/>
              <a:pPr/>
              <a:t>‹#›</a:t>
            </a:fld>
            <a:endParaRPr lang="en-US" altLang="ja-JP"/>
          </a:p>
        </p:txBody>
      </p:sp>
    </p:spTree>
    <p:extLst>
      <p:ext uri="{BB962C8B-B14F-4D97-AF65-F5344CB8AC3E}">
        <p14:creationId xmlns:p14="http://schemas.microsoft.com/office/powerpoint/2010/main" val="311713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591942" y="0"/>
            <a:ext cx="10400602" cy="908720"/>
          </a:xfrm>
        </p:spPr>
        <p:txBody>
          <a:bodyPr/>
          <a:lstStyle>
            <a:lvl1pPr>
              <a:defRPr/>
            </a:lvl1pPr>
          </a:lstStyle>
          <a:p>
            <a:r>
              <a:rPr lang="ja-JP" altLang="en-US"/>
              <a:t>マスター タイトルの書式設定</a:t>
            </a:r>
            <a:endParaRPr lang="ja-JP" altLang="en-US" dirty="0"/>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6"/>
          <p:cNvSpPr>
            <a:spLocks noGrp="1"/>
          </p:cNvSpPr>
          <p:nvPr>
            <p:ph type="dt" sz="half" idx="10"/>
          </p:nvPr>
        </p:nvSpPr>
        <p:spPr/>
        <p:txBody>
          <a:bodyPr/>
          <a:lstStyle>
            <a:lvl1pPr>
              <a:defRPr/>
            </a:lvl1pPr>
          </a:lstStyle>
          <a:p>
            <a:endParaRPr lang="en-US" altLang="ja-JP"/>
          </a:p>
        </p:txBody>
      </p:sp>
      <p:sp>
        <p:nvSpPr>
          <p:cNvPr id="8" name="スライド番号プレースホルダー 7"/>
          <p:cNvSpPr>
            <a:spLocks noGrp="1"/>
          </p:cNvSpPr>
          <p:nvPr>
            <p:ph type="sldNum" sz="quarter" idx="11"/>
          </p:nvPr>
        </p:nvSpPr>
        <p:spPr/>
        <p:txBody>
          <a:bodyPr/>
          <a:lstStyle>
            <a:lvl1pPr>
              <a:defRPr/>
            </a:lvl1pPr>
          </a:lstStyle>
          <a:p>
            <a:fld id="{5FBBB600-0FC1-4824-A895-1F4A3020CA10}" type="slidenum">
              <a:rPr lang="en-US" altLang="ja-JP"/>
              <a:pPr/>
              <a:t>‹#›</a:t>
            </a:fld>
            <a:endParaRPr lang="en-US" altLang="ja-JP"/>
          </a:p>
        </p:txBody>
      </p:sp>
    </p:spTree>
    <p:extLst>
      <p:ext uri="{BB962C8B-B14F-4D97-AF65-F5344CB8AC3E}">
        <p14:creationId xmlns:p14="http://schemas.microsoft.com/office/powerpoint/2010/main" val="366198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2"/>
          <p:cNvSpPr>
            <a:spLocks noGrp="1"/>
          </p:cNvSpPr>
          <p:nvPr>
            <p:ph type="dt" sz="half" idx="10"/>
          </p:nvPr>
        </p:nvSpPr>
        <p:spPr/>
        <p:txBody>
          <a:bodyPr/>
          <a:lstStyle>
            <a:lvl1pPr>
              <a:defRPr/>
            </a:lvl1pPr>
          </a:lstStyle>
          <a:p>
            <a:endParaRPr lang="en-US" altLang="ja-JP"/>
          </a:p>
        </p:txBody>
      </p:sp>
      <p:sp>
        <p:nvSpPr>
          <p:cNvPr id="4" name="スライド番号プレースホルダー 3"/>
          <p:cNvSpPr>
            <a:spLocks noGrp="1"/>
          </p:cNvSpPr>
          <p:nvPr>
            <p:ph type="sldNum" sz="quarter" idx="11"/>
          </p:nvPr>
        </p:nvSpPr>
        <p:spPr/>
        <p:txBody>
          <a:bodyPr/>
          <a:lstStyle>
            <a:lvl1pPr>
              <a:defRPr/>
            </a:lvl1pPr>
          </a:lstStyle>
          <a:p>
            <a:fld id="{8AB6CAD0-26EA-44DC-A34E-525D1C843D86}" type="slidenum">
              <a:rPr lang="en-US" altLang="ja-JP"/>
              <a:pPr/>
              <a:t>‹#›</a:t>
            </a:fld>
            <a:endParaRPr lang="en-US" altLang="ja-JP"/>
          </a:p>
        </p:txBody>
      </p:sp>
    </p:spTree>
    <p:extLst>
      <p:ext uri="{BB962C8B-B14F-4D97-AF65-F5344CB8AC3E}">
        <p14:creationId xmlns:p14="http://schemas.microsoft.com/office/powerpoint/2010/main" val="82003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lvl1pPr>
              <a:defRPr/>
            </a:lvl1pPr>
          </a:lstStyle>
          <a:p>
            <a:endParaRPr lang="en-US" altLang="ja-JP"/>
          </a:p>
        </p:txBody>
      </p:sp>
      <p:sp>
        <p:nvSpPr>
          <p:cNvPr id="3" name="スライド番号プレースホルダー 2"/>
          <p:cNvSpPr>
            <a:spLocks noGrp="1"/>
          </p:cNvSpPr>
          <p:nvPr>
            <p:ph type="sldNum" sz="quarter" idx="11"/>
          </p:nvPr>
        </p:nvSpPr>
        <p:spPr/>
        <p:txBody>
          <a:bodyPr/>
          <a:lstStyle>
            <a:lvl1pPr>
              <a:defRPr/>
            </a:lvl1pPr>
          </a:lstStyle>
          <a:p>
            <a:fld id="{57B969C8-B00C-423B-B7C2-865033CB3CDB}" type="slidenum">
              <a:rPr lang="en-US" altLang="ja-JP"/>
              <a:pPr/>
              <a:t>‹#›</a:t>
            </a:fld>
            <a:endParaRPr lang="en-US" altLang="ja-JP"/>
          </a:p>
        </p:txBody>
      </p:sp>
    </p:spTree>
    <p:extLst>
      <p:ext uri="{BB962C8B-B14F-4D97-AF65-F5344CB8AC3E}">
        <p14:creationId xmlns:p14="http://schemas.microsoft.com/office/powerpoint/2010/main" val="42492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970866"/>
            <a:ext cx="4011084" cy="526380"/>
          </a:xfrm>
        </p:spPr>
        <p:txBody>
          <a:bodyPr anchor="b"/>
          <a:lstStyle>
            <a:lvl1pPr algn="l">
              <a:defRPr sz="2000" b="1"/>
            </a:lvl1pPr>
          </a:lstStyle>
          <a:p>
            <a:r>
              <a:rPr lang="ja-JP" altLang="en-US"/>
              <a:t>マスター タイトルの書式設定</a:t>
            </a:r>
            <a:endParaRPr lang="ja-JP" altLang="en-US" dirty="0"/>
          </a:p>
        </p:txBody>
      </p:sp>
      <p:sp>
        <p:nvSpPr>
          <p:cNvPr id="3" name="コンテンツ プレースホルダー 2"/>
          <p:cNvSpPr>
            <a:spLocks noGrp="1"/>
          </p:cNvSpPr>
          <p:nvPr>
            <p:ph idx="1"/>
          </p:nvPr>
        </p:nvSpPr>
        <p:spPr>
          <a:xfrm>
            <a:off x="4766733" y="970866"/>
            <a:ext cx="6815667" cy="52174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4" name="テキスト プレースホルダー 3"/>
          <p:cNvSpPr>
            <a:spLocks noGrp="1"/>
          </p:cNvSpPr>
          <p:nvPr>
            <p:ph type="body" sz="half" idx="2"/>
          </p:nvPr>
        </p:nvSpPr>
        <p:spPr>
          <a:xfrm>
            <a:off x="609601" y="1497247"/>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27517061-3919-4886-BB04-892603DCDF1C}" type="slidenum">
              <a:rPr lang="en-US" altLang="ja-JP"/>
              <a:pPr/>
              <a:t>‹#›</a:t>
            </a:fld>
            <a:endParaRPr lang="en-US" altLang="ja-JP"/>
          </a:p>
        </p:txBody>
      </p:sp>
    </p:spTree>
    <p:extLst>
      <p:ext uri="{BB962C8B-B14F-4D97-AF65-F5344CB8AC3E}">
        <p14:creationId xmlns:p14="http://schemas.microsoft.com/office/powerpoint/2010/main" val="1322185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1052735"/>
            <a:ext cx="7315200" cy="36748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3675D8CF-DD1E-4EAB-BC58-2A87F58CC84A}" type="slidenum">
              <a:rPr lang="en-US" altLang="ja-JP"/>
              <a:pPr/>
              <a:t>‹#›</a:t>
            </a:fld>
            <a:endParaRPr lang="en-US" altLang="ja-JP"/>
          </a:p>
        </p:txBody>
      </p:sp>
    </p:spTree>
    <p:extLst>
      <p:ext uri="{BB962C8B-B14F-4D97-AF65-F5344CB8AC3E}">
        <p14:creationId xmlns:p14="http://schemas.microsoft.com/office/powerpoint/2010/main" val="407430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39210B1D-38D9-4389-8774-02EB9DE2EE2A}" type="slidenum">
              <a:rPr lang="en-US" altLang="ja-JP"/>
              <a:pPr/>
              <a:t>‹#›</a:t>
            </a:fld>
            <a:endParaRPr lang="en-US" altLang="ja-JP"/>
          </a:p>
        </p:txBody>
      </p:sp>
    </p:spTree>
    <p:extLst>
      <p:ext uri="{BB962C8B-B14F-4D97-AF65-F5344CB8AC3E}">
        <p14:creationId xmlns:p14="http://schemas.microsoft.com/office/powerpoint/2010/main" val="89055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40800" y="980728"/>
            <a:ext cx="2844800" cy="5420072"/>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06400" y="980728"/>
            <a:ext cx="8331200" cy="542007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EEB424A9-2B98-46EE-806E-1DC4FA4740DF}" type="slidenum">
              <a:rPr lang="en-US" altLang="ja-JP"/>
              <a:pPr/>
              <a:t>‹#›</a:t>
            </a:fld>
            <a:endParaRPr lang="en-US" altLang="ja-JP"/>
          </a:p>
        </p:txBody>
      </p:sp>
    </p:spTree>
    <p:extLst>
      <p:ext uri="{BB962C8B-B14F-4D97-AF65-F5344CB8AC3E}">
        <p14:creationId xmlns:p14="http://schemas.microsoft.com/office/powerpoint/2010/main" val="157424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dt" sz="half" idx="2"/>
          </p:nvPr>
        </p:nvSpPr>
        <p:spPr bwMode="auto">
          <a:xfrm>
            <a:off x="0" y="64770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endParaRPr lang="en-US" altLang="ja-JP"/>
          </a:p>
        </p:txBody>
      </p:sp>
      <p:sp>
        <p:nvSpPr>
          <p:cNvPr id="7171" name="Rectangle 3"/>
          <p:cNvSpPr>
            <a:spLocks noGrp="1" noChangeArrowheads="1"/>
          </p:cNvSpPr>
          <p:nvPr>
            <p:ph type="sldNum" sz="quarter" idx="4"/>
          </p:nvPr>
        </p:nvSpPr>
        <p:spPr bwMode="auto">
          <a:xfrm>
            <a:off x="11564742" y="6477401"/>
            <a:ext cx="547044" cy="28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lvl1pPr algn="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fld id="{9E14BAE2-246D-40C8-99B9-BF4FC5F3B658}" type="slidenum">
              <a:rPr lang="en-US" altLang="ja-JP"/>
              <a:pPr/>
              <a:t>‹#›</a:t>
            </a:fld>
            <a:endParaRPr lang="en-US" altLang="ja-JP" dirty="0"/>
          </a:p>
        </p:txBody>
      </p:sp>
      <p:sp>
        <p:nvSpPr>
          <p:cNvPr id="7172" name="Rectangle 4"/>
          <p:cNvSpPr>
            <a:spLocks noGrp="1" noChangeArrowheads="1"/>
          </p:cNvSpPr>
          <p:nvPr>
            <p:ph type="title"/>
          </p:nvPr>
        </p:nvSpPr>
        <p:spPr bwMode="auto">
          <a:xfrm>
            <a:off x="406400" y="381000"/>
            <a:ext cx="106644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7174" name="Rectangle 6"/>
          <p:cNvSpPr>
            <a:spLocks noGrp="1" noChangeArrowheads="1"/>
          </p:cNvSpPr>
          <p:nvPr>
            <p:ph type="body" idx="1"/>
          </p:nvPr>
        </p:nvSpPr>
        <p:spPr bwMode="auto">
          <a:xfrm>
            <a:off x="510118" y="1219200"/>
            <a:ext cx="11171767"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第</a:t>
            </a:r>
            <a:r>
              <a:rPr lang="en-US" altLang="ja-JP"/>
              <a:t>1</a:t>
            </a:r>
            <a:r>
              <a:rPr lang="ja-JP" altLang="en-US"/>
              <a:t>レベル</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195" name="AutoShape 27"/>
          <p:cNvSpPr>
            <a:spLocks noChangeArrowheads="1"/>
          </p:cNvSpPr>
          <p:nvPr/>
        </p:nvSpPr>
        <p:spPr bwMode="auto">
          <a:xfrm rot="5400000">
            <a:off x="11664034" y="5675919"/>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8" name="AutoShape 30"/>
          <p:cNvSpPr>
            <a:spLocks noChangeArrowheads="1"/>
          </p:cNvSpPr>
          <p:nvPr/>
        </p:nvSpPr>
        <p:spPr bwMode="auto">
          <a:xfrm rot="5400000">
            <a:off x="11376167" y="60188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9" name="AutoShape 31"/>
          <p:cNvSpPr>
            <a:spLocks noChangeArrowheads="1"/>
          </p:cNvSpPr>
          <p:nvPr/>
        </p:nvSpPr>
        <p:spPr bwMode="auto">
          <a:xfrm rot="5400000">
            <a:off x="11647100" y="63617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200" name="Line 32"/>
          <p:cNvSpPr>
            <a:spLocks noChangeShapeType="1"/>
          </p:cNvSpPr>
          <p:nvPr/>
        </p:nvSpPr>
        <p:spPr bwMode="auto">
          <a:xfrm>
            <a:off x="0" y="914400"/>
            <a:ext cx="10972800" cy="0"/>
          </a:xfrm>
          <a:prstGeom prst="line">
            <a:avLst/>
          </a:prstGeom>
          <a:noFill/>
          <a:ln w="571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2400"/>
          </a:p>
        </p:txBody>
      </p:sp>
      <p:sp>
        <p:nvSpPr>
          <p:cNvPr id="7201" name="AutoShape 33"/>
          <p:cNvSpPr>
            <a:spLocks noChangeArrowheads="1"/>
          </p:cNvSpPr>
          <p:nvPr/>
        </p:nvSpPr>
        <p:spPr bwMode="auto">
          <a:xfrm rot="5400000">
            <a:off x="11105234" y="6361719"/>
            <a:ext cx="441325" cy="510117"/>
          </a:xfrm>
          <a:prstGeom prst="hexagon">
            <a:avLst>
              <a:gd name="adj" fmla="val 2883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pic>
        <p:nvPicPr>
          <p:cNvPr id="4" name="図 3">
            <a:extLst>
              <a:ext uri="{FF2B5EF4-FFF2-40B4-BE49-F238E27FC236}">
                <a16:creationId xmlns:a16="http://schemas.microsoft.com/office/drawing/2014/main" id="{A2460E87-9CF7-4B1F-1772-B456971EFF47}"/>
              </a:ext>
            </a:extLst>
          </p:cNvPr>
          <p:cNvPicPr>
            <a:picLocks noChangeAspect="1"/>
          </p:cNvPicPr>
          <p:nvPr userDrawn="1"/>
        </p:nvPicPr>
        <p:blipFill>
          <a:blip r:embed="rId13"/>
          <a:stretch>
            <a:fillRect/>
          </a:stretch>
        </p:blipFill>
        <p:spPr>
          <a:xfrm>
            <a:off x="10783120" y="70502"/>
            <a:ext cx="1335818" cy="649386"/>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rtl="0" eaLnBrk="1" fontAlgn="base" hangingPunct="1">
        <a:spcBef>
          <a:spcPct val="0"/>
        </a:spcBef>
        <a:spcAft>
          <a:spcPct val="0"/>
        </a:spcAft>
        <a:defRPr kumimoji="1" sz="3200" b="1" i="1">
          <a:solidFill>
            <a:srgbClr val="4D4D4D"/>
          </a:solidFill>
          <a:latin typeface="+mj-lt"/>
          <a:ea typeface="+mj-ea"/>
          <a:cs typeface="+mj-cs"/>
        </a:defRPr>
      </a:lvl1pPr>
      <a:lvl2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9pPr>
    </p:titleStyle>
    <p:body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cdisc.org/sites/default/files/2023-10/ars_workshop_us_interchange_2023-10-18.pdf"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iki.cdisc.org/pages/viewpage.action?pageId=222298985"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sk-biostatistics.github.io/tfrmt/articles/examples.html" TargetMode="Externa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disc.org/" TargetMode="External"/><Relationship Id="rId7" Type="http://schemas.openxmlformats.org/officeDocument/2006/relationships/hyperlink" Target="https://gsk-biostatistics.github.io/tfrmt/articles/examples.html" TargetMode="External"/><Relationship Id="rId2" Type="http://schemas.openxmlformats.org/officeDocument/2006/relationships/hyperlink" Target="https://www.cdisc.org/sites/default/files/2023-10/ars_workshop_us_interchange_2023-10-18.pdf" TargetMode="External"/><Relationship Id="rId1" Type="http://schemas.openxmlformats.org/officeDocument/2006/relationships/slideLayout" Target="../slideLayouts/slideLayout2.xml"/><Relationship Id="rId6" Type="http://schemas.openxmlformats.org/officeDocument/2006/relationships/hyperlink" Target="https://wiki.cdisc.org/pages/viewpage.action?pageId=222298985" TargetMode="External"/><Relationship Id="rId5" Type="http://schemas.openxmlformats.org/officeDocument/2006/relationships/hyperlink" Target="https://insightsengineering.github.io/cards/latest-tag/" TargetMode="External"/><Relationship Id="rId4" Type="http://schemas.openxmlformats.org/officeDocument/2006/relationships/hyperlink" Target="https://gsk-biostatistics.github.io/tfrm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2" name="Rectangle 18"/>
          <p:cNvSpPr>
            <a:spLocks noGrp="1" noChangeArrowheads="1"/>
          </p:cNvSpPr>
          <p:nvPr>
            <p:ph type="ctrTitle"/>
          </p:nvPr>
        </p:nvSpPr>
        <p:spPr>
          <a:xfrm>
            <a:off x="1271464" y="2300807"/>
            <a:ext cx="10006342" cy="1143000"/>
          </a:xfrm>
        </p:spPr>
        <p:txBody>
          <a:bodyPr/>
          <a:lstStyle/>
          <a:p>
            <a:r>
              <a:rPr lang="en-US" altLang="ja-JP" dirty="0"/>
              <a:t> CDISC ARD (Analysis Result Data)</a:t>
            </a:r>
            <a:endParaRPr lang="ja-JP" altLang="ja-JP" dirty="0"/>
          </a:p>
        </p:txBody>
      </p:sp>
      <p:sp>
        <p:nvSpPr>
          <p:cNvPr id="6163" name="Rectangle 19"/>
          <p:cNvSpPr>
            <a:spLocks noGrp="1" noChangeArrowheads="1"/>
          </p:cNvSpPr>
          <p:nvPr>
            <p:ph type="subTitle" idx="1"/>
          </p:nvPr>
        </p:nvSpPr>
        <p:spPr>
          <a:xfrm>
            <a:off x="5879029" y="5704386"/>
            <a:ext cx="4968552" cy="762000"/>
          </a:xfrm>
        </p:spPr>
        <p:txBody>
          <a:bodyPr/>
          <a:lstStyle/>
          <a:p>
            <a:pPr algn="r"/>
            <a:r>
              <a:rPr lang="ja-JP" altLang="en-US" sz="1800" dirty="0"/>
              <a:t>マルホ株式会社</a:t>
            </a:r>
            <a:endParaRPr lang="en-US" altLang="ja-JP" sz="1800" dirty="0"/>
          </a:p>
          <a:p>
            <a:pPr algn="r"/>
            <a:r>
              <a:rPr lang="ja-JP" altLang="en-US" sz="1800" dirty="0"/>
              <a:t>データサイエンス部　統計解析グループ</a:t>
            </a:r>
            <a:endParaRPr lang="en-US" altLang="ja-JP" sz="1800" dirty="0"/>
          </a:p>
          <a:p>
            <a:pPr algn="r"/>
            <a:r>
              <a:rPr lang="ja-JP" altLang="en-US" sz="1800" dirty="0"/>
              <a:t>山野辺浩己</a:t>
            </a:r>
            <a:endParaRPr lang="ja-JP" altLang="ja-JP" sz="1800" dirty="0"/>
          </a:p>
        </p:txBody>
      </p:sp>
      <p:sp>
        <p:nvSpPr>
          <p:cNvPr id="2" name="Rectangle 19">
            <a:extLst>
              <a:ext uri="{FF2B5EF4-FFF2-40B4-BE49-F238E27FC236}">
                <a16:creationId xmlns:a16="http://schemas.microsoft.com/office/drawing/2014/main" id="{B6F82BB8-2B9F-18D6-4D35-1939E572079C}"/>
              </a:ext>
            </a:extLst>
          </p:cNvPr>
          <p:cNvSpPr txBox="1">
            <a:spLocks noChangeArrowheads="1"/>
          </p:cNvSpPr>
          <p:nvPr/>
        </p:nvSpPr>
        <p:spPr bwMode="auto">
          <a:xfrm>
            <a:off x="6456040" y="4521967"/>
            <a:ext cx="439248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pPr algn="r"/>
            <a:r>
              <a:rPr lang="en-US" altLang="ja-JP" sz="1800" kern="0" dirty="0"/>
              <a:t>R with Pharma Lab</a:t>
            </a:r>
          </a:p>
          <a:p>
            <a:pPr algn="r"/>
            <a:r>
              <a:rPr lang="en-US" altLang="ja-JP" sz="1800" kern="0" dirty="0"/>
              <a:t>Meetup #1</a:t>
            </a:r>
          </a:p>
          <a:p>
            <a:pPr algn="r"/>
            <a:r>
              <a:rPr lang="en-US" altLang="ja-JP" sz="1800" kern="0" dirty="0"/>
              <a:t>2026-04-08(</a:t>
            </a:r>
            <a:r>
              <a:rPr lang="ja-JP" altLang="en-US" sz="1800" kern="0" dirty="0"/>
              <a:t>水</a:t>
            </a:r>
            <a:r>
              <a:rPr lang="en-US" altLang="ja-JP" sz="1800" kern="0" dirty="0"/>
              <a:t>)</a:t>
            </a:r>
            <a:endParaRPr lang="ja-JP" altLang="ja-JP" sz="1800" kern="0" dirty="0"/>
          </a:p>
        </p:txBody>
      </p:sp>
    </p:spTree>
    <p:extLst>
      <p:ext uri="{BB962C8B-B14F-4D97-AF65-F5344CB8AC3E}">
        <p14:creationId xmlns:p14="http://schemas.microsoft.com/office/powerpoint/2010/main" val="1039152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ja-JP" altLang="en-US" dirty="0"/>
              <a:t>免責事項</a:t>
            </a:r>
            <a:br>
              <a:rPr kumimoji="1" lang="ja-JP" altLang="en-US" dirty="0"/>
            </a:b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p:txBody>
          <a:bodyPr/>
          <a:lstStyle/>
          <a:p>
            <a:r>
              <a:rPr kumimoji="1" lang="ja-JP" altLang="en-US" dirty="0"/>
              <a:t>本発表における意見や見解は発表者個人に属するものであり、所属する組織・企業を代表するものではありません。</a:t>
            </a:r>
          </a:p>
          <a:p>
            <a:endParaRPr kumimoji="1" lang="en-US" altLang="ja-JP" dirty="0"/>
          </a:p>
          <a:p>
            <a:r>
              <a:rPr kumimoji="1" lang="ja-JP" altLang="en-US" dirty="0"/>
              <a:t>本資料は発表者の認識に基づいた経験の情報共有のみを目的としており、その正確性や完全性を保証するものではありません。発表者の勉強不足による誤解、また誤記誤謬が含まれている可能性があります。本資料に含まれる情報に基づいてなされた判断により発生した如何なる損害・トラブルについても、発表者は一切の責任を負いかねます。</a:t>
            </a: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2</a:t>
            </a:fld>
            <a:endParaRPr lang="en-US" altLang="ja-JP"/>
          </a:p>
        </p:txBody>
      </p:sp>
    </p:spTree>
    <p:extLst>
      <p:ext uri="{BB962C8B-B14F-4D97-AF65-F5344CB8AC3E}">
        <p14:creationId xmlns:p14="http://schemas.microsoft.com/office/powerpoint/2010/main" val="334361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B14B7F-9793-6E50-ECF2-2CF41656E88F}"/>
              </a:ext>
            </a:extLst>
          </p:cNvPr>
          <p:cNvSpPr>
            <a:spLocks noGrp="1"/>
          </p:cNvSpPr>
          <p:nvPr>
            <p:ph type="title"/>
          </p:nvPr>
        </p:nvSpPr>
        <p:spPr/>
        <p:txBody>
          <a:bodyPr/>
          <a:lstStyle/>
          <a:p>
            <a:r>
              <a:rPr lang="en-US" altLang="ja-JP" dirty="0"/>
              <a:t>Agenda</a:t>
            </a:r>
            <a:endParaRPr kumimoji="1" lang="ja-JP" altLang="en-US" dirty="0"/>
          </a:p>
        </p:txBody>
      </p:sp>
      <p:sp>
        <p:nvSpPr>
          <p:cNvPr id="3" name="コンテンツ プレースホルダー 2">
            <a:extLst>
              <a:ext uri="{FF2B5EF4-FFF2-40B4-BE49-F238E27FC236}">
                <a16:creationId xmlns:a16="http://schemas.microsoft.com/office/drawing/2014/main" id="{DA8DAFCE-6C75-6783-DF81-141E8EC284CA}"/>
              </a:ext>
            </a:extLst>
          </p:cNvPr>
          <p:cNvSpPr>
            <a:spLocks noGrp="1"/>
          </p:cNvSpPr>
          <p:nvPr>
            <p:ph idx="1"/>
          </p:nvPr>
        </p:nvSpPr>
        <p:spPr/>
        <p:txBody>
          <a:bodyPr/>
          <a:lstStyle/>
          <a:p>
            <a:pPr marL="457200" indent="-457200">
              <a:buFont typeface="Arial" panose="020B0604020202020204" pitchFamily="34" charset="0"/>
              <a:buChar char="•"/>
            </a:pPr>
            <a:r>
              <a:rPr kumimoji="1" lang="ja-JP" altLang="en-US" dirty="0"/>
              <a:t>背景と課題</a:t>
            </a:r>
            <a:endParaRPr kumimoji="1" lang="en-US" altLang="ja-JP" dirty="0"/>
          </a:p>
          <a:p>
            <a:pPr marL="457200" indent="-457200">
              <a:buFont typeface="Arial" panose="020B0604020202020204" pitchFamily="34" charset="0"/>
              <a:buChar char="•"/>
            </a:pPr>
            <a:r>
              <a:rPr lang="en-US" altLang="ja-JP" dirty="0"/>
              <a:t>Analysis Result Data </a:t>
            </a:r>
            <a:r>
              <a:rPr kumimoji="1" lang="en-US" altLang="ja-JP" dirty="0"/>
              <a:t>(ARD)</a:t>
            </a:r>
            <a:endParaRPr lang="en-US" altLang="ja-JP" dirty="0"/>
          </a:p>
          <a:p>
            <a:pPr marL="457200" indent="-457200">
              <a:buFont typeface="Arial" panose="020B0604020202020204" pitchFamily="34" charset="0"/>
              <a:buChar char="•"/>
            </a:pPr>
            <a:r>
              <a:rPr kumimoji="1" lang="en-US" altLang="ja-JP" dirty="0"/>
              <a:t>Table</a:t>
            </a:r>
            <a:r>
              <a:rPr kumimoji="1" lang="ja-JP" altLang="en-US" dirty="0"/>
              <a:t>化</a:t>
            </a:r>
            <a:endParaRPr lang="en-US" altLang="ja-JP" dirty="0"/>
          </a:p>
          <a:p>
            <a:pPr marL="457200" indent="-457200">
              <a:buFont typeface="Arial" panose="020B0604020202020204" pitchFamily="34" charset="0"/>
              <a:buChar char="•"/>
            </a:pPr>
            <a:r>
              <a:rPr kumimoji="1" lang="ja-JP" altLang="en-US" dirty="0"/>
              <a:t>まとめ</a:t>
            </a:r>
          </a:p>
        </p:txBody>
      </p:sp>
      <p:sp>
        <p:nvSpPr>
          <p:cNvPr id="4" name="スライド番号プレースホルダー 3">
            <a:extLst>
              <a:ext uri="{FF2B5EF4-FFF2-40B4-BE49-F238E27FC236}">
                <a16:creationId xmlns:a16="http://schemas.microsoft.com/office/drawing/2014/main" id="{A06F826F-809B-D0DA-F205-C3087D90B3BB}"/>
              </a:ext>
            </a:extLst>
          </p:cNvPr>
          <p:cNvSpPr>
            <a:spLocks noGrp="1"/>
          </p:cNvSpPr>
          <p:nvPr>
            <p:ph type="sldNum" sz="quarter" idx="11"/>
          </p:nvPr>
        </p:nvSpPr>
        <p:spPr/>
        <p:txBody>
          <a:bodyPr/>
          <a:lstStyle/>
          <a:p>
            <a:fld id="{23B20E4E-3F95-4221-AFE5-FD1FD9CC3448}" type="slidenum">
              <a:rPr lang="en-US" altLang="ja-JP" smtClean="0"/>
              <a:pPr/>
              <a:t>3</a:t>
            </a:fld>
            <a:endParaRPr lang="en-US" altLang="ja-JP"/>
          </a:p>
        </p:txBody>
      </p:sp>
    </p:spTree>
    <p:extLst>
      <p:ext uri="{BB962C8B-B14F-4D97-AF65-F5344CB8AC3E}">
        <p14:creationId xmlns:p14="http://schemas.microsoft.com/office/powerpoint/2010/main" val="4192048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B14B7F-9793-6E50-ECF2-2CF41656E88F}"/>
              </a:ext>
            </a:extLst>
          </p:cNvPr>
          <p:cNvSpPr>
            <a:spLocks noGrp="1"/>
          </p:cNvSpPr>
          <p:nvPr>
            <p:ph type="title"/>
          </p:nvPr>
        </p:nvSpPr>
        <p:spPr/>
        <p:txBody>
          <a:bodyPr/>
          <a:lstStyle/>
          <a:p>
            <a:r>
              <a:rPr lang="en-US" altLang="ja-JP" dirty="0"/>
              <a:t>Agenda</a:t>
            </a:r>
            <a:endParaRPr kumimoji="1" lang="ja-JP" altLang="en-US" dirty="0"/>
          </a:p>
        </p:txBody>
      </p:sp>
      <p:sp>
        <p:nvSpPr>
          <p:cNvPr id="3" name="コンテンツ プレースホルダー 2">
            <a:extLst>
              <a:ext uri="{FF2B5EF4-FFF2-40B4-BE49-F238E27FC236}">
                <a16:creationId xmlns:a16="http://schemas.microsoft.com/office/drawing/2014/main" id="{DA8DAFCE-6C75-6783-DF81-141E8EC284CA}"/>
              </a:ext>
            </a:extLst>
          </p:cNvPr>
          <p:cNvSpPr>
            <a:spLocks noGrp="1"/>
          </p:cNvSpPr>
          <p:nvPr>
            <p:ph idx="1"/>
          </p:nvPr>
        </p:nvSpPr>
        <p:spPr/>
        <p:txBody>
          <a:bodyPr/>
          <a:lstStyle/>
          <a:p>
            <a:pPr marL="457200" indent="-457200">
              <a:buFont typeface="Arial" panose="020B0604020202020204" pitchFamily="34" charset="0"/>
              <a:buChar char="•"/>
            </a:pPr>
            <a:r>
              <a:rPr kumimoji="1" lang="ja-JP" altLang="en-US" b="1" u="sng" dirty="0">
                <a:solidFill>
                  <a:srgbClr val="FF0000"/>
                </a:solidFill>
              </a:rPr>
              <a:t>背景と課題</a:t>
            </a:r>
            <a:endParaRPr kumimoji="1" lang="en-US" altLang="ja-JP" b="1" u="sng" dirty="0">
              <a:solidFill>
                <a:srgbClr val="FF0000"/>
              </a:solidFill>
            </a:endParaRPr>
          </a:p>
          <a:p>
            <a:pPr marL="457200" indent="-457200">
              <a:buFont typeface="Arial" panose="020B0604020202020204" pitchFamily="34" charset="0"/>
              <a:buChar char="•"/>
            </a:pPr>
            <a:r>
              <a:rPr lang="en-US" altLang="ja-JP" dirty="0"/>
              <a:t>Analysis Result Data </a:t>
            </a:r>
            <a:r>
              <a:rPr kumimoji="1" lang="en-US" altLang="ja-JP" dirty="0"/>
              <a:t>(ARD)</a:t>
            </a:r>
            <a:endParaRPr lang="en-US" altLang="ja-JP" dirty="0"/>
          </a:p>
          <a:p>
            <a:pPr marL="457200" indent="-457200">
              <a:buFont typeface="Arial" panose="020B0604020202020204" pitchFamily="34" charset="0"/>
              <a:buChar char="•"/>
            </a:pPr>
            <a:r>
              <a:rPr kumimoji="1" lang="en-US" altLang="ja-JP" dirty="0"/>
              <a:t>Table</a:t>
            </a:r>
            <a:r>
              <a:rPr kumimoji="1" lang="ja-JP" altLang="en-US" dirty="0"/>
              <a:t>化</a:t>
            </a:r>
            <a:endParaRPr lang="en-US" altLang="ja-JP" dirty="0"/>
          </a:p>
          <a:p>
            <a:pPr marL="457200" indent="-457200">
              <a:buFont typeface="Arial" panose="020B0604020202020204" pitchFamily="34" charset="0"/>
              <a:buChar char="•"/>
            </a:pPr>
            <a:r>
              <a:rPr kumimoji="1" lang="ja-JP" altLang="en-US" dirty="0"/>
              <a:t>まとめ</a:t>
            </a:r>
          </a:p>
        </p:txBody>
      </p:sp>
      <p:sp>
        <p:nvSpPr>
          <p:cNvPr id="4" name="スライド番号プレースホルダー 3">
            <a:extLst>
              <a:ext uri="{FF2B5EF4-FFF2-40B4-BE49-F238E27FC236}">
                <a16:creationId xmlns:a16="http://schemas.microsoft.com/office/drawing/2014/main" id="{A06F826F-809B-D0DA-F205-C3087D90B3BB}"/>
              </a:ext>
            </a:extLst>
          </p:cNvPr>
          <p:cNvSpPr>
            <a:spLocks noGrp="1"/>
          </p:cNvSpPr>
          <p:nvPr>
            <p:ph type="sldNum" sz="quarter" idx="11"/>
          </p:nvPr>
        </p:nvSpPr>
        <p:spPr/>
        <p:txBody>
          <a:bodyPr/>
          <a:lstStyle/>
          <a:p>
            <a:fld id="{23B20E4E-3F95-4221-AFE5-FD1FD9CC3448}" type="slidenum">
              <a:rPr lang="en-US" altLang="ja-JP" smtClean="0"/>
              <a:pPr/>
              <a:t>4</a:t>
            </a:fld>
            <a:endParaRPr lang="en-US" altLang="ja-JP"/>
          </a:p>
        </p:txBody>
      </p:sp>
    </p:spTree>
    <p:extLst>
      <p:ext uri="{BB962C8B-B14F-4D97-AF65-F5344CB8AC3E}">
        <p14:creationId xmlns:p14="http://schemas.microsoft.com/office/powerpoint/2010/main" val="1095613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ja-JP" altLang="en-US" dirty="0"/>
              <a:t>背景と課題</a:t>
            </a:r>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a:xfrm>
            <a:off x="510118" y="1219200"/>
            <a:ext cx="11171767" cy="5538860"/>
          </a:xfrm>
        </p:spPr>
        <p:txBody>
          <a:bodyPr/>
          <a:lstStyle/>
          <a:p>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現状の医薬品開発における</a:t>
            </a:r>
            <a:r>
              <a:rPr lang="en-US" altLang="ja-JP" sz="1800" b="0" i="0" u="none" strike="noStrike" baseline="0" dirty="0">
                <a:solidFill>
                  <a:srgbClr val="404040"/>
                </a:solidFill>
                <a:latin typeface="メイリオ" panose="020B0604030504040204" pitchFamily="50" charset="-128"/>
                <a:ea typeface="メイリオ" panose="020B0604030504040204" pitchFamily="50" charset="-128"/>
              </a:rPr>
              <a:t>[</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解析</a:t>
            </a:r>
            <a:r>
              <a:rPr lang="en-US" altLang="ja-JP" sz="1800" b="0" i="0" u="none" strike="noStrike" baseline="0" dirty="0">
                <a:solidFill>
                  <a:srgbClr val="404040"/>
                </a:solidFill>
                <a:latin typeface="メイリオ" panose="020B0604030504040204" pitchFamily="50" charset="-128"/>
                <a:ea typeface="メイリオ" panose="020B0604030504040204" pitchFamily="50" charset="-128"/>
              </a:rPr>
              <a:t>]</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a:t>
            </a:r>
            <a:r>
              <a:rPr lang="en-US" altLang="ja-JP" sz="1800" b="0" i="0" u="none" strike="noStrike" baseline="0" dirty="0">
                <a:solidFill>
                  <a:srgbClr val="404040"/>
                </a:solidFill>
                <a:latin typeface="メイリオ" panose="020B0604030504040204" pitchFamily="50" charset="-128"/>
                <a:ea typeface="メイリオ" panose="020B0604030504040204" pitchFamily="50" charset="-128"/>
              </a:rPr>
              <a:t>[</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帳票作成</a:t>
            </a:r>
            <a:r>
              <a:rPr lang="en-US" altLang="ja-JP" sz="1800" b="0" i="0" u="none" strike="noStrike" baseline="0" dirty="0">
                <a:solidFill>
                  <a:srgbClr val="404040"/>
                </a:solidFill>
                <a:latin typeface="メイリオ" panose="020B0604030504040204" pitchFamily="50" charset="-128"/>
                <a:ea typeface="メイリオ" panose="020B0604030504040204" pitchFamily="50" charset="-128"/>
              </a:rPr>
              <a:t>]</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の課題</a:t>
            </a:r>
          </a:p>
          <a:p>
            <a:pPr>
              <a:buFont typeface="Arial" panose="020B0604020202020204" pitchFamily="34" charset="0"/>
              <a:buChar char="•"/>
            </a:pPr>
            <a:r>
              <a:rPr lang="ja-JP" altLang="en-US" sz="2200" b="1" i="0" u="sng" strike="noStrike" baseline="0" dirty="0">
                <a:solidFill>
                  <a:srgbClr val="404040"/>
                </a:solidFill>
                <a:latin typeface="メイリオ" panose="020B0604030504040204" pitchFamily="50" charset="-128"/>
                <a:ea typeface="メイリオ" panose="020B0604030504040204" pitchFamily="50" charset="-128"/>
              </a:rPr>
              <a:t>「</a:t>
            </a:r>
            <a:r>
              <a:rPr lang="en-US" altLang="ja-JP" sz="2200" b="1" i="0" u="sng" strike="noStrike" baseline="0" dirty="0">
                <a:solidFill>
                  <a:srgbClr val="404040"/>
                </a:solidFill>
                <a:latin typeface="Trebuchet MS" panose="020B0603020202020204" pitchFamily="34" charset="0"/>
                <a:ea typeface="メイリオ" panose="020B0604030504040204" pitchFamily="50" charset="-128"/>
              </a:rPr>
              <a:t>TFL</a:t>
            </a:r>
            <a:r>
              <a:rPr lang="ja-JP" altLang="en-US" sz="2200" b="1" i="0" u="sng" strike="noStrike" baseline="0" dirty="0">
                <a:solidFill>
                  <a:srgbClr val="404040"/>
                </a:solidFill>
                <a:latin typeface="メイリオ" panose="020B0604030504040204" pitchFamily="50" charset="-128"/>
                <a:ea typeface="メイリオ" panose="020B0604030504040204" pitchFamily="50" charset="-128"/>
              </a:rPr>
              <a:t>作成」の属人化と複雑化</a:t>
            </a:r>
            <a:endParaRPr lang="en-US" altLang="ja-JP" sz="2200" b="1" i="0" u="sng" strike="noStrike" baseline="0" dirty="0">
              <a:solidFill>
                <a:srgbClr val="404040"/>
              </a:solidFill>
              <a:latin typeface="メイリオ" panose="020B0604030504040204" pitchFamily="50" charset="-128"/>
              <a:ea typeface="メイリオ" panose="020B0604030504040204" pitchFamily="50" charset="-128"/>
            </a:endParaRPr>
          </a:p>
          <a:p>
            <a:pPr lvl="1">
              <a:buFont typeface="Arial" panose="020B0604020202020204" pitchFamily="34" charset="0"/>
              <a:buChar char="•"/>
            </a:pP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医薬品開発では臨床試験データ提出が義務化されて以来、</a:t>
            </a:r>
            <a:r>
              <a:rPr lang="en-US" altLang="ja-JP" sz="1800" b="0" i="0" u="none" strike="noStrike" baseline="0" dirty="0">
                <a:solidFill>
                  <a:srgbClr val="404040"/>
                </a:solidFill>
                <a:latin typeface="メイリオ" panose="020B0604030504040204" pitchFamily="50" charset="-128"/>
                <a:ea typeface="メイリオ" panose="020B0604030504040204" pitchFamily="50" charset="-128"/>
              </a:rPr>
              <a:t>CDISC SDTM/</a:t>
            </a:r>
            <a:r>
              <a:rPr lang="en-US" altLang="ja-JP" sz="1800" b="0" i="0" u="none" strike="noStrike" baseline="0" dirty="0" err="1">
                <a:solidFill>
                  <a:srgbClr val="404040"/>
                </a:solidFill>
                <a:latin typeface="メイリオ" panose="020B0604030504040204" pitchFamily="50" charset="-128"/>
                <a:ea typeface="メイリオ" panose="020B0604030504040204" pitchFamily="50" charset="-128"/>
              </a:rPr>
              <a:t>ADaM</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といったデータ標準が浸透し、</a:t>
            </a:r>
            <a:r>
              <a:rPr lang="ja-JP" altLang="en-US" sz="1800" b="1" i="0" strike="noStrike" baseline="0" dirty="0">
                <a:solidFill>
                  <a:srgbClr val="404040"/>
                </a:solidFill>
                <a:latin typeface="メイリオ" panose="020B0604030504040204" pitchFamily="50" charset="-128"/>
                <a:ea typeface="メイリオ" panose="020B0604030504040204" pitchFamily="50" charset="-128"/>
              </a:rPr>
              <a:t>「臨床試験データ</a:t>
            </a:r>
            <a:r>
              <a:rPr lang="en-US" altLang="ja-JP" sz="1800" b="1" dirty="0">
                <a:solidFill>
                  <a:srgbClr val="404040"/>
                </a:solidFill>
                <a:latin typeface="メイリオ" panose="020B0604030504040204" pitchFamily="50" charset="-128"/>
                <a:ea typeface="メイリオ" panose="020B0604030504040204" pitchFamily="50" charset="-128"/>
              </a:rPr>
              <a:t>(SDTM)</a:t>
            </a:r>
            <a:r>
              <a:rPr lang="ja-JP" altLang="en-US" sz="1800" b="1" i="0" strike="noStrike" baseline="0" dirty="0">
                <a:solidFill>
                  <a:srgbClr val="404040"/>
                </a:solidFill>
                <a:latin typeface="メイリオ" panose="020B0604030504040204" pitchFamily="50" charset="-128"/>
                <a:ea typeface="メイリオ" panose="020B0604030504040204" pitchFamily="50" charset="-128"/>
              </a:rPr>
              <a:t>」及び「解析データセット</a:t>
            </a:r>
            <a:r>
              <a:rPr lang="en-US" altLang="ja-JP" sz="1800" b="1" i="0" strike="noStrike" baseline="0" dirty="0">
                <a:solidFill>
                  <a:srgbClr val="404040"/>
                </a:solidFill>
                <a:latin typeface="メイリオ" panose="020B0604030504040204" pitchFamily="50" charset="-128"/>
                <a:ea typeface="メイリオ" panose="020B0604030504040204" pitchFamily="50" charset="-128"/>
              </a:rPr>
              <a:t>(</a:t>
            </a:r>
            <a:r>
              <a:rPr lang="en-US" altLang="ja-JP" sz="1800" b="1" i="0" strike="noStrike" baseline="0" dirty="0" err="1">
                <a:solidFill>
                  <a:srgbClr val="404040"/>
                </a:solidFill>
                <a:latin typeface="メイリオ" panose="020B0604030504040204" pitchFamily="50" charset="-128"/>
                <a:ea typeface="メイリオ" panose="020B0604030504040204" pitchFamily="50" charset="-128"/>
              </a:rPr>
              <a:t>ADaM</a:t>
            </a:r>
            <a:r>
              <a:rPr lang="en-US" altLang="ja-JP" sz="1800" b="1" i="0" strike="noStrike" baseline="0" dirty="0">
                <a:solidFill>
                  <a:srgbClr val="404040"/>
                </a:solidFill>
                <a:latin typeface="メイリオ" panose="020B0604030504040204" pitchFamily="50" charset="-128"/>
                <a:ea typeface="メイリオ" panose="020B0604030504040204" pitchFamily="50" charset="-128"/>
              </a:rPr>
              <a:t>)</a:t>
            </a:r>
            <a:r>
              <a:rPr lang="ja-JP" altLang="en-US" sz="1800" b="1" i="0" strike="noStrike" baseline="0" dirty="0">
                <a:solidFill>
                  <a:srgbClr val="404040"/>
                </a:solidFill>
                <a:latin typeface="メイリオ" panose="020B0604030504040204" pitchFamily="50" charset="-128"/>
                <a:ea typeface="メイリオ" panose="020B0604030504040204" pitchFamily="50" charset="-128"/>
              </a:rPr>
              <a:t>」は標準化</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が進んでいる。</a:t>
            </a:r>
            <a:endParaRPr lang="en-US" altLang="ja-JP" sz="1800" b="0" i="0" u="none" strike="noStrike" baseline="0" dirty="0">
              <a:solidFill>
                <a:srgbClr val="404040"/>
              </a:solidFill>
              <a:latin typeface="メイリオ" panose="020B0604030504040204" pitchFamily="50" charset="-128"/>
              <a:ea typeface="メイリオ" panose="020B0604030504040204" pitchFamily="50" charset="-128"/>
            </a:endParaRPr>
          </a:p>
          <a:p>
            <a:pPr marL="457200" lvl="1" indent="0"/>
            <a:endParaRPr lang="ja-JP" altLang="en-US" sz="1800" b="0" i="0" u="none" strike="noStrike" baseline="0" dirty="0">
              <a:solidFill>
                <a:srgbClr val="404040"/>
              </a:solidFill>
              <a:latin typeface="メイリオ" panose="020B0604030504040204" pitchFamily="50" charset="-128"/>
              <a:ea typeface="メイリオ" panose="020B0604030504040204" pitchFamily="50" charset="-128"/>
            </a:endParaRPr>
          </a:p>
          <a:p>
            <a:pPr lvl="1">
              <a:buFont typeface="Arial" panose="020B0604020202020204" pitchFamily="34" charset="0"/>
              <a:buChar char="•"/>
            </a:pP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解析に関する標準は、</a:t>
            </a:r>
            <a:r>
              <a:rPr lang="en-US" altLang="ja-JP" sz="1800" dirty="0">
                <a:solidFill>
                  <a:srgbClr val="404040"/>
                </a:solidFill>
                <a:latin typeface="メイリオ" panose="020B0604030504040204" pitchFamily="50" charset="-128"/>
                <a:ea typeface="メイリオ" panose="020B0604030504040204" pitchFamily="50" charset="-128"/>
              </a:rPr>
              <a:t>Analysis Results Metadata(ARM)</a:t>
            </a:r>
            <a:r>
              <a:rPr lang="ja-JP" altLang="en-US" sz="1800" dirty="0">
                <a:solidFill>
                  <a:srgbClr val="404040"/>
                </a:solidFill>
                <a:latin typeface="メイリオ" panose="020B0604030504040204" pitchFamily="50" charset="-128"/>
                <a:ea typeface="メイリオ" panose="020B0604030504040204" pitchFamily="50" charset="-128"/>
              </a:rPr>
              <a:t>により解析結果と</a:t>
            </a:r>
            <a:r>
              <a:rPr lang="en-US" altLang="ja-JP" sz="1800" dirty="0" err="1">
                <a:solidFill>
                  <a:srgbClr val="404040"/>
                </a:solidFill>
                <a:latin typeface="メイリオ" panose="020B0604030504040204" pitchFamily="50" charset="-128"/>
                <a:ea typeface="メイリオ" panose="020B0604030504040204" pitchFamily="50" charset="-128"/>
              </a:rPr>
              <a:t>ADaM</a:t>
            </a:r>
            <a:r>
              <a:rPr lang="ja-JP" altLang="en-US" sz="1800" dirty="0">
                <a:solidFill>
                  <a:srgbClr val="404040"/>
                </a:solidFill>
                <a:latin typeface="メイリオ" panose="020B0604030504040204" pitchFamily="50" charset="-128"/>
                <a:ea typeface="メイリオ" panose="020B0604030504040204" pitchFamily="50" charset="-128"/>
              </a:rPr>
              <a:t>データセットの関連は示されているものの、</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最終的な帳票（</a:t>
            </a:r>
            <a:r>
              <a:rPr lang="en-US" altLang="ja-JP" sz="1800" b="0" i="0" u="none" strike="noStrike" baseline="0" dirty="0">
                <a:solidFill>
                  <a:srgbClr val="404040"/>
                </a:solidFill>
                <a:latin typeface="Trebuchet MS" panose="020B0603020202020204" pitchFamily="34" charset="0"/>
                <a:ea typeface="メイリオ" panose="020B0604030504040204" pitchFamily="50" charset="-128"/>
              </a:rPr>
              <a:t>Table</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）作成は歴史的に</a:t>
            </a:r>
            <a:r>
              <a:rPr lang="en-US" altLang="ja-JP" sz="1800" b="0" i="0" u="none" strike="noStrike" baseline="0" dirty="0">
                <a:solidFill>
                  <a:srgbClr val="404040"/>
                </a:solidFill>
                <a:latin typeface="メイリオ" panose="020B0604030504040204" pitchFamily="50" charset="-128"/>
                <a:ea typeface="メイリオ" panose="020B0604030504040204" pitchFamily="50" charset="-128"/>
              </a:rPr>
              <a:t>SAS</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が支配的な地位にあったことなどから</a:t>
            </a:r>
            <a:r>
              <a:rPr lang="en-US" altLang="ja-JP" sz="1800" b="1" i="0" strike="noStrike" baseline="0" dirty="0">
                <a:solidFill>
                  <a:srgbClr val="404040"/>
                </a:solidFill>
                <a:latin typeface="メイリオ" panose="020B0604030504040204" pitchFamily="50" charset="-128"/>
                <a:ea typeface="メイリオ" panose="020B0604030504040204" pitchFamily="50" charset="-128"/>
              </a:rPr>
              <a:t>SAS</a:t>
            </a:r>
            <a:r>
              <a:rPr lang="ja-JP" altLang="en-US" sz="1800" b="1" i="0" strike="noStrike" baseline="0" dirty="0">
                <a:solidFill>
                  <a:srgbClr val="404040"/>
                </a:solidFill>
                <a:latin typeface="メイリオ" panose="020B0604030504040204" pitchFamily="50" charset="-128"/>
                <a:ea typeface="メイリオ" panose="020B0604030504040204" pitchFamily="50" charset="-128"/>
              </a:rPr>
              <a:t>の「統計解析プロシジャ」＋「</a:t>
            </a:r>
            <a:r>
              <a:rPr lang="en-US" altLang="ja-JP" sz="1800" b="1" i="0" strike="noStrike" baseline="0" dirty="0">
                <a:solidFill>
                  <a:srgbClr val="404040"/>
                </a:solidFill>
                <a:latin typeface="Trebuchet MS" panose="020B0603020202020204" pitchFamily="34" charset="0"/>
                <a:ea typeface="メイリオ" panose="020B0604030504040204" pitchFamily="50" charset="-128"/>
              </a:rPr>
              <a:t>Proc Report </a:t>
            </a:r>
            <a:r>
              <a:rPr lang="ja-JP" altLang="en-US" sz="1800" b="1" i="0" strike="noStrike" baseline="0" dirty="0">
                <a:solidFill>
                  <a:srgbClr val="404040"/>
                </a:solidFill>
                <a:latin typeface="メイリオ" panose="020B0604030504040204" pitchFamily="50" charset="-128"/>
                <a:ea typeface="メイリオ" panose="020B0604030504040204" pitchFamily="50" charset="-128"/>
              </a:rPr>
              <a:t>内の複雑なプログラム」</a:t>
            </a:r>
            <a:r>
              <a:rPr lang="ja-JP" altLang="en-US" sz="1800" b="0" i="0" u="none" strike="noStrike" baseline="0" dirty="0">
                <a:solidFill>
                  <a:srgbClr val="404040"/>
                </a:solidFill>
                <a:latin typeface="メイリオ" panose="020B0604030504040204" pitchFamily="50" charset="-128"/>
                <a:ea typeface="メイリオ" panose="020B0604030504040204" pitchFamily="50" charset="-128"/>
              </a:rPr>
              <a:t>に依存していた。</a:t>
            </a:r>
            <a:endParaRPr lang="en-US" altLang="ja-JP" sz="1800" b="0" i="0" u="none" strike="noStrike" baseline="0" dirty="0">
              <a:solidFill>
                <a:srgbClr val="404040"/>
              </a:solidFill>
              <a:latin typeface="メイリオ" panose="020B0604030504040204" pitchFamily="50" charset="-128"/>
              <a:ea typeface="メイリオ" panose="020B0604030504040204" pitchFamily="50" charset="-128"/>
            </a:endParaRPr>
          </a:p>
          <a:p>
            <a:pPr marL="457200" lvl="1" indent="0"/>
            <a:endParaRPr lang="en-US" altLang="ja-JP" sz="1800" dirty="0">
              <a:solidFill>
                <a:srgbClr val="404040"/>
              </a:solidFill>
              <a:latin typeface="メイリオ" panose="020B0604030504040204" pitchFamily="50" charset="-128"/>
              <a:ea typeface="メイリオ" panose="020B0604030504040204" pitchFamily="50" charset="-128"/>
            </a:endParaRPr>
          </a:p>
          <a:p>
            <a:pPr>
              <a:buFont typeface="Arial" panose="020B0604020202020204" pitchFamily="34" charset="0"/>
              <a:buChar char="•"/>
            </a:pPr>
            <a:r>
              <a:rPr lang="ja-JP" altLang="en-US" sz="2200" b="1" i="0" u="sng" strike="noStrike" baseline="0" dirty="0">
                <a:solidFill>
                  <a:srgbClr val="404040"/>
                </a:solidFill>
                <a:latin typeface="メイリオ" panose="020B0604030504040204" pitchFamily="50" charset="-128"/>
                <a:ea typeface="メイリオ" panose="020B0604030504040204" pitchFamily="50" charset="-128"/>
              </a:rPr>
              <a:t>レイアウト変更への弱さ</a:t>
            </a:r>
          </a:p>
          <a:p>
            <a:pPr lvl="1">
              <a:buFont typeface="Arial" panose="020B0604020202020204" pitchFamily="34" charset="0"/>
              <a:buChar char="•"/>
            </a:pPr>
            <a:r>
              <a:rPr lang="en-US" altLang="ja-JP" sz="1800" dirty="0">
                <a:solidFill>
                  <a:srgbClr val="404040"/>
                </a:solidFill>
                <a:latin typeface="メイリオ" panose="020B0604030504040204" pitchFamily="50" charset="-128"/>
                <a:ea typeface="メイリオ" panose="020B0604030504040204" pitchFamily="50" charset="-128"/>
              </a:rPr>
              <a:t>SAS</a:t>
            </a:r>
            <a:r>
              <a:rPr lang="ja-JP" altLang="en-US" sz="1800" dirty="0">
                <a:solidFill>
                  <a:srgbClr val="404040"/>
                </a:solidFill>
                <a:latin typeface="メイリオ" panose="020B0604030504040204" pitchFamily="50" charset="-128"/>
                <a:ea typeface="メイリオ" panose="020B0604030504040204" pitchFamily="50" charset="-128"/>
              </a:rPr>
              <a:t>による帳票作成は解析結果をそのまま帳票出力用に加工するため「小数点以下の桁数を変えたい」「行の順番を変えたい」「出力の枠組みを変えたい」といった</a:t>
            </a:r>
            <a:r>
              <a:rPr lang="ja-JP" altLang="en-US" sz="1800" b="1" dirty="0">
                <a:solidFill>
                  <a:srgbClr val="404040"/>
                </a:solidFill>
                <a:latin typeface="メイリオ" panose="020B0604030504040204" pitchFamily="50" charset="-128"/>
                <a:ea typeface="メイリオ" panose="020B0604030504040204" pitchFamily="50" charset="-128"/>
              </a:rPr>
              <a:t>一見簡単な処理でもプログラムの大幅な改修</a:t>
            </a:r>
            <a:r>
              <a:rPr lang="ja-JP" altLang="en-US" sz="1800" dirty="0">
                <a:solidFill>
                  <a:srgbClr val="404040"/>
                </a:solidFill>
                <a:latin typeface="メイリオ" panose="020B0604030504040204" pitchFamily="50" charset="-128"/>
                <a:ea typeface="メイリオ" panose="020B0604030504040204" pitchFamily="50" charset="-128"/>
              </a:rPr>
              <a:t>が必要。</a:t>
            </a:r>
            <a:endParaRPr lang="en-US" altLang="ja-JP" sz="1800" dirty="0">
              <a:solidFill>
                <a:srgbClr val="404040"/>
              </a:solidFill>
              <a:latin typeface="メイリオ" panose="020B0604030504040204" pitchFamily="50" charset="-128"/>
              <a:ea typeface="メイリオ" panose="020B0604030504040204" pitchFamily="50" charset="-128"/>
            </a:endParaRPr>
          </a:p>
          <a:p>
            <a:pPr lvl="1">
              <a:buFont typeface="Arial" panose="020B0604020202020204" pitchFamily="34" charset="0"/>
              <a:buChar char="•"/>
            </a:pPr>
            <a:endParaRPr lang="en-US" altLang="ja-JP" sz="1800" dirty="0">
              <a:solidFill>
                <a:srgbClr val="404040"/>
              </a:solidFill>
              <a:latin typeface="メイリオ" panose="020B0604030504040204" pitchFamily="50" charset="-128"/>
              <a:ea typeface="メイリオ" panose="020B0604030504040204" pitchFamily="50" charset="-128"/>
            </a:endParaRPr>
          </a:p>
          <a:p>
            <a:pPr>
              <a:buFont typeface="Arial" panose="020B0604020202020204" pitchFamily="34" charset="0"/>
              <a:buChar char="•"/>
            </a:pPr>
            <a:r>
              <a:rPr lang="en-US" altLang="ja-JP" sz="2200" b="1" u="sng" dirty="0">
                <a:solidFill>
                  <a:srgbClr val="404040"/>
                </a:solidFill>
                <a:latin typeface="メイリオ" panose="020B0604030504040204" pitchFamily="50" charset="-128"/>
                <a:ea typeface="メイリオ" panose="020B0604030504040204" pitchFamily="50" charset="-128"/>
              </a:rPr>
              <a:t>QC</a:t>
            </a:r>
            <a:r>
              <a:rPr lang="ja-JP" altLang="en-US" sz="2200" b="1" u="sng" dirty="0">
                <a:solidFill>
                  <a:srgbClr val="404040"/>
                </a:solidFill>
                <a:latin typeface="メイリオ" panose="020B0604030504040204" pitchFamily="50" charset="-128"/>
                <a:ea typeface="メイリオ" panose="020B0604030504040204" pitchFamily="50" charset="-128"/>
              </a:rPr>
              <a:t>（品質管理）の難しさ</a:t>
            </a:r>
          </a:p>
          <a:p>
            <a:pPr lvl="1">
              <a:buFont typeface="Arial" panose="020B0604020202020204" pitchFamily="34" charset="0"/>
              <a:buChar char="•"/>
            </a:pPr>
            <a:r>
              <a:rPr lang="ja-JP" altLang="en-US" sz="1800" b="1" dirty="0">
                <a:solidFill>
                  <a:srgbClr val="404040"/>
                </a:solidFill>
                <a:latin typeface="メイリオ" panose="020B0604030504040204" pitchFamily="50" charset="-128"/>
                <a:ea typeface="メイリオ" panose="020B0604030504040204" pitchFamily="50" charset="-128"/>
              </a:rPr>
              <a:t>出力された</a:t>
            </a:r>
            <a:r>
              <a:rPr lang="en-US" altLang="ja-JP" sz="1800" b="1" dirty="0">
                <a:solidFill>
                  <a:srgbClr val="404040"/>
                </a:solidFill>
                <a:latin typeface="メイリオ" panose="020B0604030504040204" pitchFamily="50" charset="-128"/>
                <a:ea typeface="メイリオ" panose="020B0604030504040204" pitchFamily="50" charset="-128"/>
              </a:rPr>
              <a:t>PDF/RTF</a:t>
            </a:r>
            <a:r>
              <a:rPr lang="ja-JP" altLang="en-US" sz="1800" b="1" dirty="0">
                <a:solidFill>
                  <a:srgbClr val="404040"/>
                </a:solidFill>
                <a:latin typeface="メイリオ" panose="020B0604030504040204" pitchFamily="50" charset="-128"/>
                <a:ea typeface="メイリオ" panose="020B0604030504040204" pitchFamily="50" charset="-128"/>
              </a:rPr>
              <a:t>を目視確認</a:t>
            </a:r>
            <a:r>
              <a:rPr lang="ja-JP" altLang="en-US" sz="1800" dirty="0">
                <a:solidFill>
                  <a:srgbClr val="404040"/>
                </a:solidFill>
                <a:latin typeface="メイリオ" panose="020B0604030504040204" pitchFamily="50" charset="-128"/>
                <a:ea typeface="メイリオ" panose="020B0604030504040204" pitchFamily="50" charset="-128"/>
              </a:rPr>
              <a:t>する必要があり、</a:t>
            </a:r>
            <a:r>
              <a:rPr lang="en-US" altLang="ja-JP" sz="1800" dirty="0">
                <a:solidFill>
                  <a:srgbClr val="404040"/>
                </a:solidFill>
                <a:latin typeface="メイリオ" panose="020B0604030504040204" pitchFamily="50" charset="-128"/>
                <a:ea typeface="メイリオ" panose="020B0604030504040204" pitchFamily="50" charset="-128"/>
              </a:rPr>
              <a:t>QC/</a:t>
            </a:r>
            <a:r>
              <a:rPr lang="ja-JP" altLang="en-US" sz="1800" dirty="0">
                <a:solidFill>
                  <a:srgbClr val="404040"/>
                </a:solidFill>
                <a:latin typeface="メイリオ" panose="020B0604030504040204" pitchFamily="50" charset="-128"/>
                <a:ea typeface="メイリオ" panose="020B0604030504040204" pitchFamily="50" charset="-128"/>
              </a:rPr>
              <a:t>検証 自動化の妨げになっている。</a:t>
            </a:r>
            <a:endParaRPr lang="ja-JP" altLang="en-US" sz="1800" b="0" i="0" u="none" strike="noStrike" baseline="0" dirty="0">
              <a:solidFill>
                <a:srgbClr val="404040"/>
              </a:solidFill>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5</a:t>
            </a:fld>
            <a:endParaRPr lang="en-US" altLang="ja-JP"/>
          </a:p>
        </p:txBody>
      </p:sp>
    </p:spTree>
    <p:extLst>
      <p:ext uri="{BB962C8B-B14F-4D97-AF65-F5344CB8AC3E}">
        <p14:creationId xmlns:p14="http://schemas.microsoft.com/office/powerpoint/2010/main" val="2722890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ja-JP" altLang="en-US" dirty="0"/>
              <a:t>背景と課題</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p:txBody>
          <a:bodyPr/>
          <a:lstStyle/>
          <a:p>
            <a:pPr marL="457200" indent="-457200">
              <a:buFont typeface="Arial" panose="020B0604020202020204" pitchFamily="34" charset="0"/>
              <a:buChar char="•"/>
            </a:pPr>
            <a:r>
              <a:rPr kumimoji="1" lang="ja-JP" altLang="en-US" dirty="0"/>
              <a:t>これらの課題の解決に何が必要か？</a:t>
            </a:r>
          </a:p>
          <a:p>
            <a:pPr marL="857250" lvl="1" indent="-457200">
              <a:buFont typeface="Arial" panose="020B0604020202020204" pitchFamily="34" charset="0"/>
              <a:buChar char="•"/>
            </a:pPr>
            <a:r>
              <a:rPr kumimoji="1" lang="en-US" altLang="ja-JP" dirty="0"/>
              <a:t>[1</a:t>
            </a:r>
            <a:r>
              <a:rPr kumimoji="1" lang="ja-JP" altLang="en-US" dirty="0"/>
              <a:t>つの解析結果</a:t>
            </a:r>
            <a:r>
              <a:rPr kumimoji="1" lang="en-US" altLang="ja-JP" dirty="0"/>
              <a:t>] </a:t>
            </a:r>
            <a:r>
              <a:rPr kumimoji="1" lang="ja-JP" altLang="en-US" dirty="0"/>
              <a:t>でも</a:t>
            </a:r>
            <a:r>
              <a:rPr kumimoji="1" lang="en-US" altLang="ja-JP" dirty="0"/>
              <a:t>CTD</a:t>
            </a:r>
            <a:r>
              <a:rPr kumimoji="1" lang="ja-JP" altLang="en-US" dirty="0"/>
              <a:t>や</a:t>
            </a:r>
            <a:r>
              <a:rPr kumimoji="1" lang="en-US" altLang="ja-JP" dirty="0"/>
              <a:t>publication</a:t>
            </a:r>
            <a:r>
              <a:rPr kumimoji="1" lang="ja-JP" altLang="en-US" dirty="0"/>
              <a:t>、追加解析、当局照会事項時では、人の手で体裁</a:t>
            </a:r>
            <a:r>
              <a:rPr lang="en-US" altLang="ja-JP" dirty="0"/>
              <a:t>(</a:t>
            </a:r>
            <a:r>
              <a:rPr lang="ja-JP" altLang="en-US" dirty="0"/>
              <a:t>見栄え</a:t>
            </a:r>
            <a:r>
              <a:rPr lang="en-US" altLang="ja-JP" dirty="0"/>
              <a:t>)</a:t>
            </a:r>
            <a:r>
              <a:rPr kumimoji="1" lang="ja-JP" altLang="en-US" dirty="0"/>
              <a:t>が修正されることもある</a:t>
            </a:r>
            <a:endParaRPr kumimoji="1" lang="en-US" altLang="ja-JP" dirty="0"/>
          </a:p>
          <a:p>
            <a:pPr marL="857250" lvl="1" indent="-457200">
              <a:buFont typeface="Arial" panose="020B0604020202020204" pitchFamily="34" charset="0"/>
              <a:buChar char="•"/>
            </a:pPr>
            <a:r>
              <a:rPr kumimoji="1" lang="en-US" altLang="ja-JP" dirty="0"/>
              <a:t>[1</a:t>
            </a:r>
            <a:r>
              <a:rPr kumimoji="1" lang="ja-JP" altLang="en-US" dirty="0"/>
              <a:t>つの解析結果</a:t>
            </a:r>
            <a:r>
              <a:rPr kumimoji="1" lang="en-US" altLang="ja-JP" dirty="0"/>
              <a:t>] </a:t>
            </a:r>
            <a:r>
              <a:rPr kumimoji="1" lang="ja-JP" altLang="en-US" dirty="0"/>
              <a:t>でも</a:t>
            </a:r>
            <a:r>
              <a:rPr kumimoji="1" lang="en-US" altLang="ja-JP" dirty="0"/>
              <a:t>CSR</a:t>
            </a:r>
            <a:r>
              <a:rPr kumimoji="1" lang="ja-JP" altLang="en-US" dirty="0"/>
              <a:t>内で表と図など複数の見せ方が行われる</a:t>
            </a:r>
            <a:endParaRPr kumimoji="1" lang="en-US" altLang="ja-JP" dirty="0"/>
          </a:p>
          <a:p>
            <a:pPr marL="400050" lvl="1" indent="0"/>
            <a:endParaRPr kumimoji="1" lang="ja-JP" altLang="en-US" dirty="0"/>
          </a:p>
          <a:p>
            <a:pPr marL="0" indent="0"/>
            <a:endParaRPr lang="en-US" altLang="ja-JP" dirty="0"/>
          </a:p>
          <a:p>
            <a:pPr marL="0" indent="0"/>
            <a:r>
              <a:rPr lang="ja-JP" altLang="en-US" dirty="0"/>
              <a:t>→</a:t>
            </a:r>
            <a:r>
              <a:rPr kumimoji="1" lang="ja-JP" altLang="en-US" dirty="0"/>
              <a:t>解析結果</a:t>
            </a:r>
            <a:r>
              <a:rPr kumimoji="1" lang="en-US" altLang="ja-JP" dirty="0"/>
              <a:t>(Analysis Result)</a:t>
            </a:r>
            <a:r>
              <a:rPr kumimoji="1" lang="ja-JP" altLang="en-US" dirty="0"/>
              <a:t>において、値</a:t>
            </a:r>
            <a:r>
              <a:rPr kumimoji="1" lang="en-US" altLang="ja-JP" dirty="0"/>
              <a:t>(Data)</a:t>
            </a:r>
            <a:r>
              <a:rPr kumimoji="1" lang="ja-JP" altLang="en-US" dirty="0"/>
              <a:t>と体裁</a:t>
            </a:r>
            <a:r>
              <a:rPr kumimoji="1" lang="en-US" altLang="ja-JP" dirty="0"/>
              <a:t>(Table)</a:t>
            </a:r>
            <a:r>
              <a:rPr kumimoji="1" lang="ja-JP" altLang="en-US" dirty="0"/>
              <a:t>の分離</a:t>
            </a:r>
            <a:r>
              <a:rPr lang="ja-JP" altLang="en-US" dirty="0"/>
              <a:t>が鍵</a:t>
            </a:r>
            <a:endParaRPr lang="en-US" altLang="ja-JP" dirty="0"/>
          </a:p>
          <a:p>
            <a:pPr marL="0" indent="0"/>
            <a:br>
              <a:rPr lang="en-US" altLang="ja-JP" dirty="0"/>
            </a:br>
            <a:endParaRPr lang="en-US" altLang="ja-JP"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6</a:t>
            </a:fld>
            <a:endParaRPr lang="en-US" altLang="ja-JP"/>
          </a:p>
        </p:txBody>
      </p:sp>
    </p:spTree>
    <p:extLst>
      <p:ext uri="{BB962C8B-B14F-4D97-AF65-F5344CB8AC3E}">
        <p14:creationId xmlns:p14="http://schemas.microsoft.com/office/powerpoint/2010/main" val="145733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B14B7F-9793-6E50-ECF2-2CF41656E88F}"/>
              </a:ext>
            </a:extLst>
          </p:cNvPr>
          <p:cNvSpPr>
            <a:spLocks noGrp="1"/>
          </p:cNvSpPr>
          <p:nvPr>
            <p:ph type="title"/>
          </p:nvPr>
        </p:nvSpPr>
        <p:spPr/>
        <p:txBody>
          <a:bodyPr/>
          <a:lstStyle/>
          <a:p>
            <a:r>
              <a:rPr lang="en-US" altLang="ja-JP" dirty="0"/>
              <a:t>Agenda</a:t>
            </a:r>
            <a:endParaRPr kumimoji="1" lang="ja-JP" altLang="en-US" dirty="0"/>
          </a:p>
        </p:txBody>
      </p:sp>
      <p:sp>
        <p:nvSpPr>
          <p:cNvPr id="3" name="コンテンツ プレースホルダー 2">
            <a:extLst>
              <a:ext uri="{FF2B5EF4-FFF2-40B4-BE49-F238E27FC236}">
                <a16:creationId xmlns:a16="http://schemas.microsoft.com/office/drawing/2014/main" id="{DA8DAFCE-6C75-6783-DF81-141E8EC284CA}"/>
              </a:ext>
            </a:extLst>
          </p:cNvPr>
          <p:cNvSpPr>
            <a:spLocks noGrp="1"/>
          </p:cNvSpPr>
          <p:nvPr>
            <p:ph idx="1"/>
          </p:nvPr>
        </p:nvSpPr>
        <p:spPr/>
        <p:txBody>
          <a:bodyPr/>
          <a:lstStyle/>
          <a:p>
            <a:pPr marL="457200" indent="-457200">
              <a:buFont typeface="Arial" panose="020B0604020202020204" pitchFamily="34" charset="0"/>
              <a:buChar char="•"/>
            </a:pPr>
            <a:r>
              <a:rPr kumimoji="1" lang="ja-JP" altLang="en-US" dirty="0"/>
              <a:t>背景と課題</a:t>
            </a:r>
            <a:endParaRPr kumimoji="1" lang="en-US" altLang="ja-JP" dirty="0"/>
          </a:p>
          <a:p>
            <a:pPr marL="457200" indent="-457200">
              <a:buFont typeface="Arial" panose="020B0604020202020204" pitchFamily="34" charset="0"/>
              <a:buChar char="•"/>
            </a:pPr>
            <a:r>
              <a:rPr lang="en-US" altLang="ja-JP" b="1" u="sng" dirty="0">
                <a:solidFill>
                  <a:srgbClr val="FF0000"/>
                </a:solidFill>
              </a:rPr>
              <a:t>Analysis Result Data </a:t>
            </a:r>
            <a:r>
              <a:rPr kumimoji="1" lang="en-US" altLang="ja-JP" b="1" u="sng" dirty="0">
                <a:solidFill>
                  <a:srgbClr val="FF0000"/>
                </a:solidFill>
              </a:rPr>
              <a:t>(ARD)</a:t>
            </a:r>
            <a:endParaRPr lang="en-US" altLang="ja-JP" b="1" u="sng" dirty="0">
              <a:solidFill>
                <a:srgbClr val="FF0000"/>
              </a:solidFill>
            </a:endParaRPr>
          </a:p>
          <a:p>
            <a:pPr marL="457200" indent="-457200">
              <a:buFont typeface="Arial" panose="020B0604020202020204" pitchFamily="34" charset="0"/>
              <a:buChar char="•"/>
            </a:pPr>
            <a:r>
              <a:rPr kumimoji="1" lang="en-US" altLang="ja-JP" dirty="0"/>
              <a:t>Table</a:t>
            </a:r>
            <a:r>
              <a:rPr kumimoji="1" lang="ja-JP" altLang="en-US" dirty="0"/>
              <a:t>化</a:t>
            </a:r>
            <a:endParaRPr lang="en-US" altLang="ja-JP" dirty="0"/>
          </a:p>
          <a:p>
            <a:pPr marL="457200" indent="-457200">
              <a:buFont typeface="Arial" panose="020B0604020202020204" pitchFamily="34" charset="0"/>
              <a:buChar char="•"/>
            </a:pPr>
            <a:r>
              <a:rPr kumimoji="1" lang="ja-JP" altLang="en-US" dirty="0"/>
              <a:t>まとめ</a:t>
            </a:r>
          </a:p>
        </p:txBody>
      </p:sp>
      <p:sp>
        <p:nvSpPr>
          <p:cNvPr id="4" name="スライド番号プレースホルダー 3">
            <a:extLst>
              <a:ext uri="{FF2B5EF4-FFF2-40B4-BE49-F238E27FC236}">
                <a16:creationId xmlns:a16="http://schemas.microsoft.com/office/drawing/2014/main" id="{A06F826F-809B-D0DA-F205-C3087D90B3BB}"/>
              </a:ext>
            </a:extLst>
          </p:cNvPr>
          <p:cNvSpPr>
            <a:spLocks noGrp="1"/>
          </p:cNvSpPr>
          <p:nvPr>
            <p:ph type="sldNum" sz="quarter" idx="11"/>
          </p:nvPr>
        </p:nvSpPr>
        <p:spPr/>
        <p:txBody>
          <a:bodyPr/>
          <a:lstStyle/>
          <a:p>
            <a:fld id="{23B20E4E-3F95-4221-AFE5-FD1FD9CC3448}" type="slidenum">
              <a:rPr lang="en-US" altLang="ja-JP" smtClean="0"/>
              <a:pPr/>
              <a:t>7</a:t>
            </a:fld>
            <a:endParaRPr lang="en-US" altLang="ja-JP"/>
          </a:p>
        </p:txBody>
      </p:sp>
    </p:spTree>
    <p:extLst>
      <p:ext uri="{BB962C8B-B14F-4D97-AF65-F5344CB8AC3E}">
        <p14:creationId xmlns:p14="http://schemas.microsoft.com/office/powerpoint/2010/main" val="924213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a:xfrm>
            <a:off x="510118" y="1219200"/>
            <a:ext cx="10050377" cy="1873686"/>
          </a:xfrm>
        </p:spPr>
        <p:txBody>
          <a:bodyPr/>
          <a:lstStyle/>
          <a:p>
            <a:pPr marL="457200" indent="-457200">
              <a:buFont typeface="Arial" panose="020B0604020202020204" pitchFamily="34" charset="0"/>
              <a:buChar char="•"/>
            </a:pPr>
            <a:r>
              <a:rPr lang="ja-JP" altLang="en-US" dirty="0"/>
              <a:t>「解析値</a:t>
            </a:r>
            <a:r>
              <a:rPr lang="en-US" altLang="ja-JP" dirty="0"/>
              <a:t>(Analysis Result Data)</a:t>
            </a:r>
            <a:r>
              <a:rPr lang="ja-JP" altLang="en-US" dirty="0"/>
              <a:t>」と「帳票化</a:t>
            </a:r>
            <a:r>
              <a:rPr lang="en-US" altLang="ja-JP" dirty="0"/>
              <a:t>(</a:t>
            </a:r>
            <a:r>
              <a:rPr lang="ja-JP" altLang="en-US" dirty="0"/>
              <a:t>可視化</a:t>
            </a:r>
            <a:r>
              <a:rPr lang="en-US" altLang="ja-JP" dirty="0"/>
              <a:t>)</a:t>
            </a:r>
            <a:r>
              <a:rPr lang="ja-JP" altLang="en-US" dirty="0"/>
              <a:t>」を分離</a:t>
            </a:r>
            <a:endParaRPr lang="en-US" altLang="ja-JP" dirty="0"/>
          </a:p>
          <a:p>
            <a:pPr marL="857250" lvl="1" indent="-457200">
              <a:buFont typeface="Arial" panose="020B0604020202020204" pitchFamily="34" charset="0"/>
              <a:buChar char="•"/>
            </a:pPr>
            <a:r>
              <a:rPr lang="en-US" altLang="ja-JP" dirty="0"/>
              <a:t>   (1)</a:t>
            </a:r>
            <a:r>
              <a:rPr lang="ja-JP" altLang="en-US" dirty="0"/>
              <a:t>解析値 </a:t>
            </a:r>
            <a:r>
              <a:rPr lang="en-US" altLang="ja-JP" dirty="0"/>
              <a:t>(Analysis Result Data[ARD])</a:t>
            </a:r>
            <a:r>
              <a:rPr lang="ja-JP" altLang="en-US" dirty="0"/>
              <a:t>を作成</a:t>
            </a:r>
            <a:endParaRPr lang="en-US" altLang="ja-JP" dirty="0"/>
          </a:p>
          <a:p>
            <a:pPr marL="857250" lvl="1" indent="-457200">
              <a:buFont typeface="Arial" panose="020B0604020202020204" pitchFamily="34" charset="0"/>
              <a:buChar char="•"/>
            </a:pPr>
            <a:r>
              <a:rPr lang="en-US" altLang="ja-JP" dirty="0"/>
              <a:t>   (2)Table</a:t>
            </a:r>
            <a:r>
              <a:rPr lang="ja-JP" altLang="en-US" dirty="0"/>
              <a:t>化</a:t>
            </a:r>
            <a:endParaRPr lang="en-US" altLang="ja-JP" dirty="0"/>
          </a:p>
          <a:p>
            <a:pPr marL="400050" lvl="1" indent="0"/>
            <a:r>
              <a:rPr lang="en-US" altLang="ja-JP" dirty="0"/>
              <a:t>	</a:t>
            </a:r>
            <a:r>
              <a:rPr lang="ja-JP" altLang="en-US" dirty="0"/>
              <a:t>上記の流れは</a:t>
            </a:r>
            <a:r>
              <a:rPr lang="en-US" altLang="ja-JP" dirty="0"/>
              <a:t>CDISC</a:t>
            </a:r>
            <a:r>
              <a:rPr lang="ja-JP" altLang="en-US" dirty="0"/>
              <a:t>の</a:t>
            </a:r>
            <a:r>
              <a:rPr lang="en-US" altLang="ja-JP" dirty="0"/>
              <a:t>Analysis Results Standard(ARS)</a:t>
            </a:r>
            <a:r>
              <a:rPr lang="ja-JP" altLang="en-US" dirty="0"/>
              <a:t>の中で記載</a:t>
            </a:r>
            <a:endParaRPr lang="en-US" altLang="ja-JP" dirty="0"/>
          </a:p>
          <a:p>
            <a:pPr marL="457200" indent="-457200">
              <a:buFont typeface="Arial" panose="020B0604020202020204" pitchFamily="34" charset="0"/>
              <a:buChar char="•"/>
            </a:pPr>
            <a:endParaRPr kumimoji="1" lang="ja-JP" altLang="en-US"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8</a:t>
            </a:fld>
            <a:endParaRPr lang="en-US" altLang="ja-JP"/>
          </a:p>
        </p:txBody>
      </p:sp>
      <p:pic>
        <p:nvPicPr>
          <p:cNvPr id="5" name="図 4">
            <a:extLst>
              <a:ext uri="{FF2B5EF4-FFF2-40B4-BE49-F238E27FC236}">
                <a16:creationId xmlns:a16="http://schemas.microsoft.com/office/drawing/2014/main" id="{ACCCBB5F-B37E-6C93-3C3C-7FA258715067}"/>
              </a:ext>
            </a:extLst>
          </p:cNvPr>
          <p:cNvPicPr>
            <a:picLocks noChangeAspect="1"/>
          </p:cNvPicPr>
          <p:nvPr/>
        </p:nvPicPr>
        <p:blipFill>
          <a:blip r:embed="rId2"/>
          <a:stretch>
            <a:fillRect/>
          </a:stretch>
        </p:blipFill>
        <p:spPr>
          <a:xfrm>
            <a:off x="6633916" y="3212884"/>
            <a:ext cx="5424212" cy="3014744"/>
          </a:xfrm>
          <a:prstGeom prst="rect">
            <a:avLst/>
          </a:prstGeom>
          <a:ln>
            <a:noFill/>
          </a:ln>
          <a:effectLst>
            <a:outerShdw blurRad="292100" dist="139700" dir="2700000" algn="tl" rotWithShape="0">
              <a:srgbClr val="333333">
                <a:alpha val="65000"/>
              </a:srgbClr>
            </a:outerShdw>
          </a:effectLst>
        </p:spPr>
      </p:pic>
      <p:sp>
        <p:nvSpPr>
          <p:cNvPr id="6" name="テキスト ボックス 5">
            <a:extLst>
              <a:ext uri="{FF2B5EF4-FFF2-40B4-BE49-F238E27FC236}">
                <a16:creationId xmlns:a16="http://schemas.microsoft.com/office/drawing/2014/main" id="{24959837-6632-DF50-84B9-D818DA906570}"/>
              </a:ext>
            </a:extLst>
          </p:cNvPr>
          <p:cNvSpPr txBox="1"/>
          <p:nvPr/>
        </p:nvSpPr>
        <p:spPr>
          <a:xfrm>
            <a:off x="5535306" y="6401345"/>
            <a:ext cx="5855347" cy="430887"/>
          </a:xfrm>
          <a:prstGeom prst="rect">
            <a:avLst/>
          </a:prstGeom>
          <a:noFill/>
        </p:spPr>
        <p:txBody>
          <a:bodyPr wrap="square">
            <a:spAutoFit/>
          </a:bodyPr>
          <a:lstStyle/>
          <a:p>
            <a:r>
              <a:rPr lang="en-US" altLang="ja-JP" sz="1100" dirty="0"/>
              <a:t>Analysis Results Standard Workshop</a:t>
            </a:r>
            <a:r>
              <a:rPr lang="ja-JP" altLang="en-US" sz="1100" dirty="0"/>
              <a:t> </a:t>
            </a:r>
            <a:r>
              <a:rPr lang="en-US" altLang="ja-JP" sz="1100" dirty="0"/>
              <a:t>(2023 US INTERCHANGE)</a:t>
            </a:r>
          </a:p>
          <a:p>
            <a:r>
              <a:rPr lang="ja-JP" altLang="en-US" sz="1100" dirty="0">
                <a:hlinkClick r:id="rId3"/>
              </a:rPr>
              <a:t>https://www.cdisc.org/sites/default/files/2023-10/ars_workshop_us_interchange_2023-10-18.pdf</a:t>
            </a:r>
            <a:endParaRPr lang="ja-JP" altLang="en-US" sz="1100" dirty="0"/>
          </a:p>
        </p:txBody>
      </p:sp>
      <p:pic>
        <p:nvPicPr>
          <p:cNvPr id="7" name="Picture 4" descr="ARS Trainings">
            <a:extLst>
              <a:ext uri="{FF2B5EF4-FFF2-40B4-BE49-F238E27FC236}">
                <a16:creationId xmlns:a16="http://schemas.microsoft.com/office/drawing/2014/main" id="{2FD6FB80-E8CB-6D0E-0D73-56388F032D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33937" y="732858"/>
            <a:ext cx="1974078" cy="2253109"/>
          </a:xfrm>
          <a:prstGeom prst="rect">
            <a:avLst/>
          </a:prstGeom>
          <a:noFill/>
          <a:extLst>
            <a:ext uri="{909E8E84-426E-40DD-AFC4-6F175D3DCCD1}">
              <a14:hiddenFill xmlns:a14="http://schemas.microsoft.com/office/drawing/2010/main">
                <a:solidFill>
                  <a:srgbClr val="FFFFFF"/>
                </a:solidFill>
              </a14:hiddenFill>
            </a:ext>
          </a:extLst>
        </p:spPr>
      </p:pic>
      <p:sp>
        <p:nvSpPr>
          <p:cNvPr id="8" name="コンテンツ プレースホルダー 2">
            <a:extLst>
              <a:ext uri="{FF2B5EF4-FFF2-40B4-BE49-F238E27FC236}">
                <a16:creationId xmlns:a16="http://schemas.microsoft.com/office/drawing/2014/main" id="{DDF31157-F676-0066-E854-D775A6EF56E1}"/>
              </a:ext>
            </a:extLst>
          </p:cNvPr>
          <p:cNvSpPr txBox="1">
            <a:spLocks/>
          </p:cNvSpPr>
          <p:nvPr/>
        </p:nvSpPr>
        <p:spPr bwMode="auto">
          <a:xfrm>
            <a:off x="119336" y="3291118"/>
            <a:ext cx="6646210" cy="3466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pPr marL="857250" lvl="1" indent="-457200">
              <a:buFont typeface="Arial" panose="020B0604020202020204" pitchFamily="34" charset="0"/>
              <a:buChar char="•"/>
            </a:pPr>
            <a:r>
              <a:rPr lang="ja-JP" altLang="en-US" sz="3200" kern="0" dirty="0"/>
              <a:t>「解析結果を保持する構造化データ」</a:t>
            </a:r>
          </a:p>
          <a:p>
            <a:pPr marL="1257300" lvl="2" indent="-457200">
              <a:buFont typeface="Arial" panose="020B0604020202020204" pitchFamily="34" charset="0"/>
              <a:buChar char="•"/>
            </a:pPr>
            <a:r>
              <a:rPr lang="ja-JP" altLang="en-US" sz="1800" kern="0" dirty="0"/>
              <a:t>解析結果（平均値、標準偏差、</a:t>
            </a:r>
            <a:r>
              <a:rPr lang="en-US" altLang="ja-JP" sz="1800" kern="0" dirty="0"/>
              <a:t>p</a:t>
            </a:r>
            <a:r>
              <a:rPr lang="ja-JP" altLang="en-US" sz="1800" kern="0" dirty="0"/>
              <a:t>値など）を</a:t>
            </a:r>
            <a:r>
              <a:rPr lang="en-US" altLang="ja-JP" sz="1800" kern="0" dirty="0"/>
              <a:t>1</a:t>
            </a:r>
            <a:r>
              <a:rPr lang="ja-JP" altLang="en-US" sz="1800" kern="0" dirty="0"/>
              <a:t>レコード＝</a:t>
            </a:r>
            <a:r>
              <a:rPr lang="en-US" altLang="ja-JP" sz="1800" kern="0" dirty="0"/>
              <a:t>1</a:t>
            </a:r>
            <a:r>
              <a:rPr lang="ja-JP" altLang="en-US" sz="1800" kern="0" dirty="0"/>
              <a:t>値の形式で保持。</a:t>
            </a:r>
          </a:p>
          <a:p>
            <a:pPr marL="1257300" lvl="2" indent="-457200">
              <a:buFont typeface="Arial" panose="020B0604020202020204" pitchFamily="34" charset="0"/>
              <a:buChar char="•"/>
            </a:pPr>
            <a:r>
              <a:rPr lang="ja-JP" altLang="en-US" sz="1800" kern="0" dirty="0"/>
              <a:t>レイアウト情報（フォント、インデント、改ページ）を含まない。</a:t>
            </a:r>
          </a:p>
          <a:p>
            <a:pPr marL="1257300" lvl="2" indent="-457200">
              <a:buFont typeface="Arial" panose="020B0604020202020204" pitchFamily="34" charset="0"/>
              <a:buChar char="•"/>
            </a:pPr>
            <a:r>
              <a:rPr lang="ja-JP" altLang="en-US" sz="1800" kern="0" dirty="0"/>
              <a:t>機械可読性が高く、二次利用（グラフ作成、他の帳票への転用）が容易。</a:t>
            </a:r>
          </a:p>
          <a:p>
            <a:pPr marL="457200" indent="-457200">
              <a:buFont typeface="Arial" panose="020B0604020202020204" pitchFamily="34" charset="0"/>
              <a:buChar char="•"/>
            </a:pPr>
            <a:endParaRPr lang="ja-JP" altLang="en-US" sz="3600" kern="0" dirty="0"/>
          </a:p>
        </p:txBody>
      </p:sp>
    </p:spTree>
    <p:extLst>
      <p:ext uri="{BB962C8B-B14F-4D97-AF65-F5344CB8AC3E}">
        <p14:creationId xmlns:p14="http://schemas.microsoft.com/office/powerpoint/2010/main" val="2601138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a:xfrm>
            <a:off x="510118" y="1219200"/>
            <a:ext cx="11601668" cy="5538860"/>
          </a:xfrm>
        </p:spPr>
        <p:txBody>
          <a:bodyPr/>
          <a:lstStyle/>
          <a:p>
            <a:pPr marL="0" indent="0">
              <a:buNone/>
            </a:pPr>
            <a:r>
              <a:rPr kumimoji="1" lang="ja-JP" altLang="en-US" sz="2100" dirty="0"/>
              <a:t>従来の解析の流れ </a:t>
            </a:r>
            <a:r>
              <a:rPr kumimoji="1" lang="en-US" altLang="ja-JP" sz="2100" dirty="0"/>
              <a:t>vs ARD</a:t>
            </a:r>
            <a:r>
              <a:rPr kumimoji="1" lang="ja-JP" altLang="en-US" sz="2100" dirty="0"/>
              <a:t>を介した解析の流れ</a:t>
            </a:r>
            <a:endParaRPr kumimoji="1" lang="en-US" altLang="ja-JP" sz="2100" dirty="0"/>
          </a:p>
          <a:p>
            <a:pPr marL="457200" indent="-457200">
              <a:buFont typeface="Arial" panose="020B0604020202020204" pitchFamily="34" charset="0"/>
              <a:buChar char="•"/>
            </a:pPr>
            <a:r>
              <a:rPr kumimoji="1" lang="ja-JP" altLang="en-US" sz="3600" dirty="0"/>
              <a:t>従来</a:t>
            </a:r>
            <a:r>
              <a:rPr kumimoji="1" lang="en-US" altLang="ja-JP" sz="3600" dirty="0"/>
              <a:t>: </a:t>
            </a:r>
          </a:p>
          <a:p>
            <a:pPr marL="857250" lvl="2" indent="0"/>
            <a:r>
              <a:rPr lang="en-US" altLang="ja-JP" sz="2800" dirty="0"/>
              <a:t>[</a:t>
            </a:r>
            <a:r>
              <a:rPr kumimoji="1" lang="en-US" altLang="ja-JP" sz="2800" dirty="0" err="1"/>
              <a:t>ADaM</a:t>
            </a:r>
            <a:r>
              <a:rPr kumimoji="1" lang="en-US" altLang="ja-JP" sz="2800" dirty="0"/>
              <a:t>]                                                       [</a:t>
            </a:r>
            <a:r>
              <a:rPr kumimoji="1" lang="ja-JP" altLang="en-US" sz="2800" dirty="0"/>
              <a:t>帳票</a:t>
            </a:r>
            <a:r>
              <a:rPr kumimoji="1" lang="en-US" altLang="ja-JP" sz="2800" dirty="0"/>
              <a:t>]</a:t>
            </a:r>
          </a:p>
          <a:p>
            <a:pPr lvl="1"/>
            <a:endParaRPr kumimoji="1" lang="en-US" altLang="ja-JP" dirty="0"/>
          </a:p>
          <a:p>
            <a:pPr lvl="1"/>
            <a:endParaRPr kumimoji="1" lang="ja-JP" altLang="en-US" dirty="0"/>
          </a:p>
          <a:p>
            <a:pPr marL="457200" indent="-457200">
              <a:buFont typeface="Arial" panose="020B0604020202020204" pitchFamily="34" charset="0"/>
              <a:buChar char="•"/>
            </a:pPr>
            <a:r>
              <a:rPr kumimoji="1" lang="en-US" altLang="ja-JP" sz="3600" dirty="0"/>
              <a:t>ARD: </a:t>
            </a:r>
          </a:p>
          <a:p>
            <a:pPr marL="857250" lvl="2" indent="0"/>
            <a:r>
              <a:rPr lang="en-US" altLang="ja-JP" sz="2800" dirty="0"/>
              <a:t>[</a:t>
            </a:r>
            <a:r>
              <a:rPr kumimoji="1" lang="en-US" altLang="ja-JP" sz="2800" dirty="0" err="1"/>
              <a:t>ADaM</a:t>
            </a:r>
            <a:r>
              <a:rPr kumimoji="1" lang="en-US" altLang="ja-JP" sz="2800" dirty="0"/>
              <a:t>]                       [ARD]                        [</a:t>
            </a:r>
            <a:r>
              <a:rPr kumimoji="1" lang="ja-JP" altLang="en-US" sz="2800" dirty="0"/>
              <a:t>帳票</a:t>
            </a:r>
            <a:r>
              <a:rPr kumimoji="1" lang="en-US" altLang="ja-JP" sz="2800" dirty="0"/>
              <a:t>]</a:t>
            </a:r>
          </a:p>
          <a:p>
            <a:pPr lvl="2"/>
            <a:endParaRPr kumimoji="1" lang="en-US" altLang="ja-JP" sz="2800" dirty="0"/>
          </a:p>
          <a:p>
            <a:pPr lvl="2"/>
            <a:endParaRPr kumimoji="1" lang="en-US" altLang="ja-JP" sz="2800" dirty="0"/>
          </a:p>
          <a:p>
            <a:pPr lvl="2"/>
            <a:r>
              <a:rPr kumimoji="1" lang="en-US" altLang="ja-JP" sz="2400" dirty="0"/>
              <a:t>ARD: </a:t>
            </a:r>
            <a:r>
              <a:rPr kumimoji="1" lang="ja-JP" altLang="en-US" sz="2400" dirty="0"/>
              <a:t>解析結果のみを保持する中間データセット。</a:t>
            </a:r>
          </a:p>
          <a:p>
            <a:pPr lvl="2"/>
            <a:r>
              <a:rPr kumimoji="1" lang="ja-JP" altLang="en-US" sz="2400" dirty="0"/>
              <a:t>帳票作成は</a:t>
            </a:r>
            <a:r>
              <a:rPr kumimoji="1" lang="en-US" altLang="ja-JP" sz="2400" dirty="0"/>
              <a:t>ARD</a:t>
            </a:r>
            <a:r>
              <a:rPr kumimoji="1" lang="ja-JP" altLang="en-US" sz="2400" dirty="0"/>
              <a:t>をソースデータとする「フォーマット工程」として分離</a:t>
            </a:r>
            <a:endParaRPr kumimoji="1" lang="en-US" altLang="ja-JP" sz="2400"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9</a:t>
            </a:fld>
            <a:endParaRPr lang="en-US" altLang="ja-JP"/>
          </a:p>
        </p:txBody>
      </p:sp>
    </p:spTree>
    <p:extLst>
      <p:ext uri="{BB962C8B-B14F-4D97-AF65-F5344CB8AC3E}">
        <p14:creationId xmlns:p14="http://schemas.microsoft.com/office/powerpoint/2010/main" val="1620036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a:xfrm>
            <a:off x="510118" y="1219200"/>
            <a:ext cx="11601668" cy="5538860"/>
          </a:xfrm>
        </p:spPr>
        <p:txBody>
          <a:bodyPr/>
          <a:lstStyle/>
          <a:p>
            <a:pPr marL="0" indent="0">
              <a:buNone/>
            </a:pPr>
            <a:r>
              <a:rPr kumimoji="1" lang="ja-JP" altLang="en-US" sz="2100" dirty="0"/>
              <a:t>従来の解析の流れ </a:t>
            </a:r>
            <a:r>
              <a:rPr kumimoji="1" lang="en-US" altLang="ja-JP" sz="2100" dirty="0"/>
              <a:t>vs ARD</a:t>
            </a:r>
            <a:r>
              <a:rPr kumimoji="1" lang="ja-JP" altLang="en-US" sz="2100" dirty="0"/>
              <a:t>を介した解析の流れ</a:t>
            </a:r>
            <a:endParaRPr kumimoji="1" lang="en-US" altLang="ja-JP" sz="2100" dirty="0"/>
          </a:p>
          <a:p>
            <a:pPr marL="457200" indent="-457200">
              <a:buFont typeface="Arial" panose="020B0604020202020204" pitchFamily="34" charset="0"/>
              <a:buChar char="•"/>
            </a:pPr>
            <a:r>
              <a:rPr kumimoji="1" lang="ja-JP" altLang="en-US" sz="3600" dirty="0"/>
              <a:t>従来</a:t>
            </a:r>
            <a:r>
              <a:rPr kumimoji="1" lang="en-US" altLang="ja-JP" sz="3600" dirty="0"/>
              <a:t>: </a:t>
            </a:r>
          </a:p>
          <a:p>
            <a:pPr marL="857250" lvl="2" indent="0"/>
            <a:r>
              <a:rPr lang="en-US" altLang="ja-JP" sz="2800" dirty="0"/>
              <a:t>[</a:t>
            </a:r>
            <a:r>
              <a:rPr kumimoji="1" lang="en-US" altLang="ja-JP" sz="2800" dirty="0" err="1"/>
              <a:t>ADaM</a:t>
            </a:r>
            <a:r>
              <a:rPr kumimoji="1" lang="en-US" altLang="ja-JP" sz="2800" dirty="0"/>
              <a:t>]                                                       [</a:t>
            </a:r>
            <a:r>
              <a:rPr kumimoji="1" lang="ja-JP" altLang="en-US" sz="2800" dirty="0"/>
              <a:t>帳票</a:t>
            </a:r>
            <a:r>
              <a:rPr kumimoji="1" lang="en-US" altLang="ja-JP" sz="2800" dirty="0"/>
              <a:t>]</a:t>
            </a:r>
          </a:p>
          <a:p>
            <a:pPr lvl="1"/>
            <a:endParaRPr kumimoji="1" lang="en-US" altLang="ja-JP" dirty="0"/>
          </a:p>
          <a:p>
            <a:pPr lvl="1"/>
            <a:endParaRPr kumimoji="1" lang="ja-JP" altLang="en-US" dirty="0"/>
          </a:p>
          <a:p>
            <a:pPr marL="457200" indent="-457200">
              <a:buFont typeface="Arial" panose="020B0604020202020204" pitchFamily="34" charset="0"/>
              <a:buChar char="•"/>
            </a:pPr>
            <a:r>
              <a:rPr kumimoji="1" lang="en-US" altLang="ja-JP" sz="3600" dirty="0"/>
              <a:t>ARD: </a:t>
            </a:r>
          </a:p>
          <a:p>
            <a:pPr marL="857250" lvl="2" indent="0"/>
            <a:r>
              <a:rPr lang="en-US" altLang="ja-JP" sz="2800" dirty="0"/>
              <a:t>[</a:t>
            </a:r>
            <a:r>
              <a:rPr kumimoji="1" lang="en-US" altLang="ja-JP" sz="2800" dirty="0" err="1"/>
              <a:t>ADaM</a:t>
            </a:r>
            <a:r>
              <a:rPr kumimoji="1" lang="en-US" altLang="ja-JP" sz="2800" dirty="0"/>
              <a:t>]                       [ARD]                        [</a:t>
            </a:r>
            <a:r>
              <a:rPr kumimoji="1" lang="ja-JP" altLang="en-US" sz="2800" dirty="0"/>
              <a:t>帳票</a:t>
            </a:r>
            <a:r>
              <a:rPr kumimoji="1" lang="en-US" altLang="ja-JP" sz="2800" dirty="0"/>
              <a:t>]</a:t>
            </a:r>
          </a:p>
          <a:p>
            <a:pPr lvl="2"/>
            <a:endParaRPr kumimoji="1" lang="en-US" altLang="ja-JP" sz="2800" dirty="0"/>
          </a:p>
          <a:p>
            <a:pPr lvl="2"/>
            <a:endParaRPr kumimoji="1" lang="en-US" altLang="ja-JP" sz="2800" dirty="0"/>
          </a:p>
          <a:p>
            <a:pPr lvl="2"/>
            <a:r>
              <a:rPr kumimoji="1" lang="en-US" altLang="ja-JP" sz="2400" dirty="0"/>
              <a:t>ARD: </a:t>
            </a:r>
            <a:r>
              <a:rPr kumimoji="1" lang="ja-JP" altLang="en-US" sz="2400" dirty="0"/>
              <a:t>解析結果のみを保持する中間データセット。</a:t>
            </a:r>
          </a:p>
          <a:p>
            <a:pPr lvl="2"/>
            <a:r>
              <a:rPr kumimoji="1" lang="ja-JP" altLang="en-US" sz="2400" dirty="0"/>
              <a:t>帳票作成は</a:t>
            </a:r>
            <a:r>
              <a:rPr kumimoji="1" lang="en-US" altLang="ja-JP" sz="2400" dirty="0"/>
              <a:t>ARD</a:t>
            </a:r>
            <a:r>
              <a:rPr kumimoji="1" lang="ja-JP" altLang="en-US" sz="2400" dirty="0"/>
              <a:t>をソースデータとする「フォーマット工程」として分離</a:t>
            </a:r>
            <a:endParaRPr kumimoji="1" lang="en-US" altLang="ja-JP" sz="2400"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10</a:t>
            </a:fld>
            <a:endParaRPr lang="en-US" altLang="ja-JP"/>
          </a:p>
        </p:txBody>
      </p:sp>
      <p:sp>
        <p:nvSpPr>
          <p:cNvPr id="9" name="吹き出し: 角を丸めた四角形 8">
            <a:extLst>
              <a:ext uri="{FF2B5EF4-FFF2-40B4-BE49-F238E27FC236}">
                <a16:creationId xmlns:a16="http://schemas.microsoft.com/office/drawing/2014/main" id="{5AA32137-BF80-5B85-B2F0-0E7569A22E56}"/>
              </a:ext>
            </a:extLst>
          </p:cNvPr>
          <p:cNvSpPr/>
          <p:nvPr/>
        </p:nvSpPr>
        <p:spPr>
          <a:xfrm>
            <a:off x="5633210" y="3068960"/>
            <a:ext cx="6048672" cy="648072"/>
          </a:xfrm>
          <a:prstGeom prst="wedgeRoundRectCallout">
            <a:avLst>
              <a:gd name="adj1" fmla="val -28274"/>
              <a:gd name="adj2" fmla="val -92313"/>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solidFill>
                  <a:schemeClr val="accent5">
                    <a:lumMod val="75000"/>
                  </a:schemeClr>
                </a:solidFill>
              </a:rPr>
              <a:t>[</a:t>
            </a:r>
            <a:r>
              <a:rPr kumimoji="1" lang="ja-JP" altLang="en-US" dirty="0">
                <a:solidFill>
                  <a:schemeClr val="accent5">
                    <a:lumMod val="75000"/>
                  </a:schemeClr>
                </a:solidFill>
              </a:rPr>
              <a:t>解析</a:t>
            </a:r>
            <a:r>
              <a:rPr kumimoji="1" lang="en-US" altLang="ja-JP" dirty="0">
                <a:solidFill>
                  <a:schemeClr val="accent5">
                    <a:lumMod val="75000"/>
                  </a:schemeClr>
                </a:solidFill>
              </a:rPr>
              <a:t>]</a:t>
            </a:r>
            <a:r>
              <a:rPr kumimoji="1" lang="ja-JP" altLang="en-US" dirty="0">
                <a:solidFill>
                  <a:schemeClr val="accent5">
                    <a:lumMod val="75000"/>
                  </a:schemeClr>
                </a:solidFill>
              </a:rPr>
              <a:t>と</a:t>
            </a:r>
            <a:r>
              <a:rPr kumimoji="1" lang="en-US" altLang="ja-JP" dirty="0">
                <a:solidFill>
                  <a:schemeClr val="accent5">
                    <a:lumMod val="75000"/>
                  </a:schemeClr>
                </a:solidFill>
              </a:rPr>
              <a:t>[</a:t>
            </a:r>
            <a:r>
              <a:rPr kumimoji="1" lang="ja-JP" altLang="en-US" dirty="0">
                <a:solidFill>
                  <a:schemeClr val="accent5">
                    <a:lumMod val="75000"/>
                  </a:schemeClr>
                </a:solidFill>
              </a:rPr>
              <a:t>帳票レイアウト定義</a:t>
            </a:r>
            <a:r>
              <a:rPr kumimoji="1" lang="en-US" altLang="ja-JP" dirty="0">
                <a:solidFill>
                  <a:schemeClr val="accent5">
                    <a:lumMod val="75000"/>
                  </a:schemeClr>
                </a:solidFill>
              </a:rPr>
              <a:t>]</a:t>
            </a:r>
            <a:r>
              <a:rPr kumimoji="1" lang="ja-JP" altLang="en-US" dirty="0">
                <a:solidFill>
                  <a:schemeClr val="accent5">
                    <a:lumMod val="75000"/>
                  </a:schemeClr>
                </a:solidFill>
              </a:rPr>
              <a:t>が</a:t>
            </a:r>
            <a:r>
              <a:rPr kumimoji="1" lang="en-US" altLang="ja-JP" dirty="0">
                <a:solidFill>
                  <a:schemeClr val="accent5">
                    <a:lumMod val="75000"/>
                  </a:schemeClr>
                </a:solidFill>
              </a:rPr>
              <a:t>1</a:t>
            </a:r>
            <a:r>
              <a:rPr kumimoji="1" lang="ja-JP" altLang="en-US" dirty="0">
                <a:solidFill>
                  <a:schemeClr val="accent5">
                    <a:lumMod val="75000"/>
                  </a:schemeClr>
                </a:solidFill>
              </a:rPr>
              <a:t>つの概念</a:t>
            </a:r>
          </a:p>
        </p:txBody>
      </p:sp>
      <p:sp>
        <p:nvSpPr>
          <p:cNvPr id="12" name="矢印: 右 11">
            <a:extLst>
              <a:ext uri="{FF2B5EF4-FFF2-40B4-BE49-F238E27FC236}">
                <a16:creationId xmlns:a16="http://schemas.microsoft.com/office/drawing/2014/main" id="{84BA7020-DA19-AD59-1D83-98021FF786B8}"/>
              </a:ext>
            </a:extLst>
          </p:cNvPr>
          <p:cNvSpPr/>
          <p:nvPr/>
        </p:nvSpPr>
        <p:spPr>
          <a:xfrm>
            <a:off x="2999656" y="2420888"/>
            <a:ext cx="5328592" cy="36004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50829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a:xfrm>
            <a:off x="510118" y="1219200"/>
            <a:ext cx="11601668" cy="5538860"/>
          </a:xfrm>
        </p:spPr>
        <p:txBody>
          <a:bodyPr/>
          <a:lstStyle/>
          <a:p>
            <a:pPr marL="0" indent="0">
              <a:buNone/>
            </a:pPr>
            <a:r>
              <a:rPr kumimoji="1" lang="ja-JP" altLang="en-US" sz="2100" dirty="0"/>
              <a:t>従来の解析の流れ </a:t>
            </a:r>
            <a:r>
              <a:rPr kumimoji="1" lang="en-US" altLang="ja-JP" sz="2100" dirty="0"/>
              <a:t>vs ARD</a:t>
            </a:r>
            <a:r>
              <a:rPr kumimoji="1" lang="ja-JP" altLang="en-US" sz="2100" dirty="0"/>
              <a:t>を介した解析の流れ</a:t>
            </a:r>
            <a:endParaRPr kumimoji="1" lang="en-US" altLang="ja-JP" sz="2100" dirty="0"/>
          </a:p>
          <a:p>
            <a:pPr marL="457200" indent="-457200">
              <a:buFont typeface="Arial" panose="020B0604020202020204" pitchFamily="34" charset="0"/>
              <a:buChar char="•"/>
            </a:pPr>
            <a:r>
              <a:rPr kumimoji="1" lang="ja-JP" altLang="en-US" sz="3600" dirty="0"/>
              <a:t>従来</a:t>
            </a:r>
            <a:r>
              <a:rPr kumimoji="1" lang="en-US" altLang="ja-JP" sz="3600" dirty="0"/>
              <a:t>: </a:t>
            </a:r>
          </a:p>
          <a:p>
            <a:pPr marL="857250" lvl="2" indent="0"/>
            <a:r>
              <a:rPr lang="en-US" altLang="ja-JP" sz="2800" dirty="0"/>
              <a:t>[</a:t>
            </a:r>
            <a:r>
              <a:rPr kumimoji="1" lang="en-US" altLang="ja-JP" sz="2800" dirty="0" err="1"/>
              <a:t>ADaM</a:t>
            </a:r>
            <a:r>
              <a:rPr kumimoji="1" lang="en-US" altLang="ja-JP" sz="2800" dirty="0"/>
              <a:t>]                                                       [</a:t>
            </a:r>
            <a:r>
              <a:rPr kumimoji="1" lang="ja-JP" altLang="en-US" sz="2800" dirty="0"/>
              <a:t>帳票</a:t>
            </a:r>
            <a:r>
              <a:rPr kumimoji="1" lang="en-US" altLang="ja-JP" sz="2800" dirty="0"/>
              <a:t>]</a:t>
            </a:r>
          </a:p>
          <a:p>
            <a:pPr lvl="1"/>
            <a:endParaRPr kumimoji="1" lang="en-US" altLang="ja-JP" dirty="0"/>
          </a:p>
          <a:p>
            <a:pPr lvl="1"/>
            <a:endParaRPr kumimoji="1" lang="ja-JP" altLang="en-US" dirty="0"/>
          </a:p>
          <a:p>
            <a:pPr marL="457200" indent="-457200">
              <a:buFont typeface="Arial" panose="020B0604020202020204" pitchFamily="34" charset="0"/>
              <a:buChar char="•"/>
            </a:pPr>
            <a:r>
              <a:rPr kumimoji="1" lang="en-US" altLang="ja-JP" sz="3600" dirty="0"/>
              <a:t>ARD: </a:t>
            </a:r>
          </a:p>
          <a:p>
            <a:pPr marL="857250" lvl="2" indent="0"/>
            <a:r>
              <a:rPr lang="en-US" altLang="ja-JP" sz="2800" dirty="0"/>
              <a:t>[</a:t>
            </a:r>
            <a:r>
              <a:rPr kumimoji="1" lang="en-US" altLang="ja-JP" sz="2800" dirty="0" err="1"/>
              <a:t>ADaM</a:t>
            </a:r>
            <a:r>
              <a:rPr kumimoji="1" lang="en-US" altLang="ja-JP" sz="2800" dirty="0"/>
              <a:t>]                       [ARD]                        [</a:t>
            </a:r>
            <a:r>
              <a:rPr kumimoji="1" lang="ja-JP" altLang="en-US" sz="2800" dirty="0"/>
              <a:t>帳票</a:t>
            </a:r>
            <a:r>
              <a:rPr kumimoji="1" lang="en-US" altLang="ja-JP" sz="2800" dirty="0"/>
              <a:t>]</a:t>
            </a:r>
          </a:p>
          <a:p>
            <a:pPr lvl="2"/>
            <a:endParaRPr kumimoji="1" lang="en-US" altLang="ja-JP" sz="2800" dirty="0"/>
          </a:p>
          <a:p>
            <a:pPr lvl="2"/>
            <a:endParaRPr kumimoji="1" lang="en-US" altLang="ja-JP" sz="2800" dirty="0"/>
          </a:p>
          <a:p>
            <a:pPr lvl="2"/>
            <a:r>
              <a:rPr kumimoji="1" lang="en-US" altLang="ja-JP" sz="2400" dirty="0"/>
              <a:t>ARD: </a:t>
            </a:r>
            <a:r>
              <a:rPr kumimoji="1" lang="ja-JP" altLang="en-US" sz="2400" dirty="0"/>
              <a:t>解析結果のみを保持する中間データセット。</a:t>
            </a:r>
          </a:p>
          <a:p>
            <a:pPr lvl="2"/>
            <a:r>
              <a:rPr kumimoji="1" lang="ja-JP" altLang="en-US" sz="2400" dirty="0"/>
              <a:t>帳票作成は</a:t>
            </a:r>
            <a:r>
              <a:rPr kumimoji="1" lang="en-US" altLang="ja-JP" sz="2400" dirty="0"/>
              <a:t>ARD</a:t>
            </a:r>
            <a:r>
              <a:rPr kumimoji="1" lang="ja-JP" altLang="en-US" sz="2400" dirty="0"/>
              <a:t>をソースデータとする「フォーマット工程」として分離</a:t>
            </a:r>
            <a:endParaRPr kumimoji="1" lang="en-US" altLang="ja-JP" sz="2400"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11</a:t>
            </a:fld>
            <a:endParaRPr lang="en-US" altLang="ja-JP"/>
          </a:p>
        </p:txBody>
      </p:sp>
      <p:sp>
        <p:nvSpPr>
          <p:cNvPr id="9" name="吹き出し: 角を丸めた四角形 8">
            <a:extLst>
              <a:ext uri="{FF2B5EF4-FFF2-40B4-BE49-F238E27FC236}">
                <a16:creationId xmlns:a16="http://schemas.microsoft.com/office/drawing/2014/main" id="{5AA32137-BF80-5B85-B2F0-0E7569A22E56}"/>
              </a:ext>
            </a:extLst>
          </p:cNvPr>
          <p:cNvSpPr/>
          <p:nvPr/>
        </p:nvSpPr>
        <p:spPr>
          <a:xfrm>
            <a:off x="5633210" y="3068960"/>
            <a:ext cx="6048672" cy="648072"/>
          </a:xfrm>
          <a:prstGeom prst="wedgeRoundRectCallout">
            <a:avLst>
              <a:gd name="adj1" fmla="val -28274"/>
              <a:gd name="adj2" fmla="val -92313"/>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solidFill>
                  <a:schemeClr val="accent5">
                    <a:lumMod val="75000"/>
                  </a:schemeClr>
                </a:solidFill>
              </a:rPr>
              <a:t>[</a:t>
            </a:r>
            <a:r>
              <a:rPr kumimoji="1" lang="ja-JP" altLang="en-US" dirty="0">
                <a:solidFill>
                  <a:schemeClr val="accent5">
                    <a:lumMod val="75000"/>
                  </a:schemeClr>
                </a:solidFill>
              </a:rPr>
              <a:t>解析</a:t>
            </a:r>
            <a:r>
              <a:rPr kumimoji="1" lang="en-US" altLang="ja-JP" dirty="0">
                <a:solidFill>
                  <a:schemeClr val="accent5">
                    <a:lumMod val="75000"/>
                  </a:schemeClr>
                </a:solidFill>
              </a:rPr>
              <a:t>]</a:t>
            </a:r>
            <a:r>
              <a:rPr kumimoji="1" lang="ja-JP" altLang="en-US" dirty="0">
                <a:solidFill>
                  <a:schemeClr val="accent5">
                    <a:lumMod val="75000"/>
                  </a:schemeClr>
                </a:solidFill>
              </a:rPr>
              <a:t>と</a:t>
            </a:r>
            <a:r>
              <a:rPr kumimoji="1" lang="en-US" altLang="ja-JP" dirty="0">
                <a:solidFill>
                  <a:schemeClr val="accent5">
                    <a:lumMod val="75000"/>
                  </a:schemeClr>
                </a:solidFill>
              </a:rPr>
              <a:t>[</a:t>
            </a:r>
            <a:r>
              <a:rPr kumimoji="1" lang="ja-JP" altLang="en-US" dirty="0">
                <a:solidFill>
                  <a:schemeClr val="accent5">
                    <a:lumMod val="75000"/>
                  </a:schemeClr>
                </a:solidFill>
              </a:rPr>
              <a:t>帳票レイアウト定義</a:t>
            </a:r>
            <a:r>
              <a:rPr kumimoji="1" lang="en-US" altLang="ja-JP" dirty="0">
                <a:solidFill>
                  <a:schemeClr val="accent5">
                    <a:lumMod val="75000"/>
                  </a:schemeClr>
                </a:solidFill>
              </a:rPr>
              <a:t>]</a:t>
            </a:r>
            <a:r>
              <a:rPr kumimoji="1" lang="ja-JP" altLang="en-US" dirty="0">
                <a:solidFill>
                  <a:schemeClr val="accent5">
                    <a:lumMod val="75000"/>
                  </a:schemeClr>
                </a:solidFill>
              </a:rPr>
              <a:t>が</a:t>
            </a:r>
            <a:r>
              <a:rPr kumimoji="1" lang="en-US" altLang="ja-JP" dirty="0">
                <a:solidFill>
                  <a:schemeClr val="accent5">
                    <a:lumMod val="75000"/>
                  </a:schemeClr>
                </a:solidFill>
              </a:rPr>
              <a:t>1</a:t>
            </a:r>
            <a:r>
              <a:rPr kumimoji="1" lang="ja-JP" altLang="en-US" dirty="0">
                <a:solidFill>
                  <a:schemeClr val="accent5">
                    <a:lumMod val="75000"/>
                  </a:schemeClr>
                </a:solidFill>
              </a:rPr>
              <a:t>つの概念</a:t>
            </a:r>
          </a:p>
        </p:txBody>
      </p:sp>
      <p:sp>
        <p:nvSpPr>
          <p:cNvPr id="11" name="吹き出し: 角を丸めた四角形 10">
            <a:extLst>
              <a:ext uri="{FF2B5EF4-FFF2-40B4-BE49-F238E27FC236}">
                <a16:creationId xmlns:a16="http://schemas.microsoft.com/office/drawing/2014/main" id="{6F9CFD8B-6398-2A58-8843-6C8F8003EBB4}"/>
              </a:ext>
            </a:extLst>
          </p:cNvPr>
          <p:cNvSpPr/>
          <p:nvPr/>
        </p:nvSpPr>
        <p:spPr>
          <a:xfrm>
            <a:off x="2567608" y="5123850"/>
            <a:ext cx="1872208" cy="648072"/>
          </a:xfrm>
          <a:prstGeom prst="wedgeRoundRectCallout">
            <a:avLst>
              <a:gd name="adj1" fmla="val -11439"/>
              <a:gd name="adj2" fmla="val -10995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accent6">
                    <a:lumMod val="60000"/>
                    <a:lumOff val="40000"/>
                  </a:schemeClr>
                </a:solidFill>
              </a:rPr>
              <a:t>[</a:t>
            </a:r>
            <a:r>
              <a:rPr lang="ja-JP" altLang="en-US" sz="2400" dirty="0">
                <a:solidFill>
                  <a:schemeClr val="accent6">
                    <a:lumMod val="60000"/>
                    <a:lumOff val="40000"/>
                  </a:schemeClr>
                </a:solidFill>
              </a:rPr>
              <a:t>解析</a:t>
            </a:r>
            <a:r>
              <a:rPr lang="en-US" altLang="ja-JP" sz="2400" dirty="0">
                <a:solidFill>
                  <a:schemeClr val="accent6">
                    <a:lumMod val="60000"/>
                    <a:lumOff val="40000"/>
                  </a:schemeClr>
                </a:solidFill>
              </a:rPr>
              <a:t>]</a:t>
            </a:r>
            <a:endParaRPr kumimoji="1" lang="ja-JP" altLang="en-US" dirty="0">
              <a:solidFill>
                <a:schemeClr val="accent6">
                  <a:lumMod val="60000"/>
                  <a:lumOff val="40000"/>
                </a:schemeClr>
              </a:solidFill>
            </a:endParaRPr>
          </a:p>
        </p:txBody>
      </p:sp>
      <p:sp>
        <p:nvSpPr>
          <p:cNvPr id="12" name="矢印: 右 11">
            <a:extLst>
              <a:ext uri="{FF2B5EF4-FFF2-40B4-BE49-F238E27FC236}">
                <a16:creationId xmlns:a16="http://schemas.microsoft.com/office/drawing/2014/main" id="{84BA7020-DA19-AD59-1D83-98021FF786B8}"/>
              </a:ext>
            </a:extLst>
          </p:cNvPr>
          <p:cNvSpPr/>
          <p:nvPr/>
        </p:nvSpPr>
        <p:spPr>
          <a:xfrm>
            <a:off x="2999656" y="2420888"/>
            <a:ext cx="5328592" cy="36004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43D89684-69B8-CAC7-1B25-3EF1405C8553}"/>
              </a:ext>
            </a:extLst>
          </p:cNvPr>
          <p:cNvSpPr/>
          <p:nvPr/>
        </p:nvSpPr>
        <p:spPr>
          <a:xfrm>
            <a:off x="2999656" y="4423626"/>
            <a:ext cx="1944216"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44466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a:xfrm>
            <a:off x="510118" y="1219200"/>
            <a:ext cx="11601668" cy="5538860"/>
          </a:xfrm>
        </p:spPr>
        <p:txBody>
          <a:bodyPr/>
          <a:lstStyle/>
          <a:p>
            <a:pPr marL="0" indent="0">
              <a:buNone/>
            </a:pPr>
            <a:r>
              <a:rPr kumimoji="1" lang="ja-JP" altLang="en-US" sz="2100" dirty="0"/>
              <a:t>従来の解析の流れ </a:t>
            </a:r>
            <a:r>
              <a:rPr kumimoji="1" lang="en-US" altLang="ja-JP" sz="2100" dirty="0"/>
              <a:t>vs ARD</a:t>
            </a:r>
            <a:r>
              <a:rPr kumimoji="1" lang="ja-JP" altLang="en-US" sz="2100" dirty="0"/>
              <a:t>を介した解析の流れ</a:t>
            </a:r>
            <a:endParaRPr kumimoji="1" lang="en-US" altLang="ja-JP" sz="2100" dirty="0"/>
          </a:p>
          <a:p>
            <a:pPr marL="457200" indent="-457200">
              <a:buFont typeface="Arial" panose="020B0604020202020204" pitchFamily="34" charset="0"/>
              <a:buChar char="•"/>
            </a:pPr>
            <a:r>
              <a:rPr kumimoji="1" lang="ja-JP" altLang="en-US" sz="3600" dirty="0"/>
              <a:t>従来</a:t>
            </a:r>
            <a:r>
              <a:rPr kumimoji="1" lang="en-US" altLang="ja-JP" sz="3600" dirty="0"/>
              <a:t>: </a:t>
            </a:r>
          </a:p>
          <a:p>
            <a:pPr marL="857250" lvl="2" indent="0"/>
            <a:r>
              <a:rPr lang="en-US" altLang="ja-JP" sz="2800" dirty="0"/>
              <a:t>[</a:t>
            </a:r>
            <a:r>
              <a:rPr kumimoji="1" lang="en-US" altLang="ja-JP" sz="2800" dirty="0" err="1"/>
              <a:t>ADaM</a:t>
            </a:r>
            <a:r>
              <a:rPr kumimoji="1" lang="en-US" altLang="ja-JP" sz="2800" dirty="0"/>
              <a:t>]                                                       [</a:t>
            </a:r>
            <a:r>
              <a:rPr kumimoji="1" lang="ja-JP" altLang="en-US" sz="2800" dirty="0"/>
              <a:t>帳票</a:t>
            </a:r>
            <a:r>
              <a:rPr kumimoji="1" lang="en-US" altLang="ja-JP" sz="2800" dirty="0"/>
              <a:t>]</a:t>
            </a:r>
          </a:p>
          <a:p>
            <a:pPr lvl="1"/>
            <a:endParaRPr kumimoji="1" lang="en-US" altLang="ja-JP" dirty="0"/>
          </a:p>
          <a:p>
            <a:pPr lvl="1"/>
            <a:endParaRPr kumimoji="1" lang="ja-JP" altLang="en-US" dirty="0"/>
          </a:p>
          <a:p>
            <a:pPr marL="457200" indent="-457200">
              <a:buFont typeface="Arial" panose="020B0604020202020204" pitchFamily="34" charset="0"/>
              <a:buChar char="•"/>
            </a:pPr>
            <a:r>
              <a:rPr kumimoji="1" lang="en-US" altLang="ja-JP" sz="3600" dirty="0"/>
              <a:t>ARD: </a:t>
            </a:r>
          </a:p>
          <a:p>
            <a:pPr marL="857250" lvl="2" indent="0"/>
            <a:r>
              <a:rPr lang="en-US" altLang="ja-JP" sz="2800" dirty="0"/>
              <a:t>[</a:t>
            </a:r>
            <a:r>
              <a:rPr kumimoji="1" lang="en-US" altLang="ja-JP" sz="2800" dirty="0" err="1"/>
              <a:t>ADaM</a:t>
            </a:r>
            <a:r>
              <a:rPr kumimoji="1" lang="en-US" altLang="ja-JP" sz="2800" dirty="0"/>
              <a:t>]                       [ARD]                        [</a:t>
            </a:r>
            <a:r>
              <a:rPr kumimoji="1" lang="ja-JP" altLang="en-US" sz="2800" dirty="0"/>
              <a:t>帳票</a:t>
            </a:r>
            <a:r>
              <a:rPr kumimoji="1" lang="en-US" altLang="ja-JP" sz="2800" dirty="0"/>
              <a:t>]</a:t>
            </a:r>
          </a:p>
          <a:p>
            <a:pPr lvl="2"/>
            <a:endParaRPr kumimoji="1" lang="en-US" altLang="ja-JP" sz="2800" dirty="0"/>
          </a:p>
          <a:p>
            <a:pPr lvl="2"/>
            <a:endParaRPr kumimoji="1" lang="en-US" altLang="ja-JP" sz="2800" dirty="0"/>
          </a:p>
          <a:p>
            <a:pPr lvl="2"/>
            <a:r>
              <a:rPr kumimoji="1" lang="en-US" altLang="ja-JP" sz="2400" dirty="0"/>
              <a:t>ARD: </a:t>
            </a:r>
            <a:r>
              <a:rPr kumimoji="1" lang="ja-JP" altLang="en-US" sz="2400" dirty="0"/>
              <a:t>解析結果のみを保持する中間データセット。</a:t>
            </a:r>
          </a:p>
          <a:p>
            <a:pPr lvl="2"/>
            <a:r>
              <a:rPr kumimoji="1" lang="ja-JP" altLang="en-US" sz="2400" dirty="0"/>
              <a:t>帳票作成は</a:t>
            </a:r>
            <a:r>
              <a:rPr kumimoji="1" lang="en-US" altLang="ja-JP" sz="2400" dirty="0"/>
              <a:t>ARD</a:t>
            </a:r>
            <a:r>
              <a:rPr kumimoji="1" lang="ja-JP" altLang="en-US" sz="2400" dirty="0"/>
              <a:t>をソースデータとする「フォーマット工程」として分離</a:t>
            </a:r>
            <a:endParaRPr kumimoji="1" lang="en-US" altLang="ja-JP" sz="2400"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12</a:t>
            </a:fld>
            <a:endParaRPr lang="en-US" altLang="ja-JP"/>
          </a:p>
        </p:txBody>
      </p:sp>
      <p:sp>
        <p:nvSpPr>
          <p:cNvPr id="9" name="吹き出し: 角を丸めた四角形 8">
            <a:extLst>
              <a:ext uri="{FF2B5EF4-FFF2-40B4-BE49-F238E27FC236}">
                <a16:creationId xmlns:a16="http://schemas.microsoft.com/office/drawing/2014/main" id="{5AA32137-BF80-5B85-B2F0-0E7569A22E56}"/>
              </a:ext>
            </a:extLst>
          </p:cNvPr>
          <p:cNvSpPr/>
          <p:nvPr/>
        </p:nvSpPr>
        <p:spPr>
          <a:xfrm>
            <a:off x="5633210" y="3068960"/>
            <a:ext cx="6048672" cy="648072"/>
          </a:xfrm>
          <a:prstGeom prst="wedgeRoundRectCallout">
            <a:avLst>
              <a:gd name="adj1" fmla="val -28274"/>
              <a:gd name="adj2" fmla="val -92313"/>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solidFill>
                  <a:schemeClr val="accent5">
                    <a:lumMod val="75000"/>
                  </a:schemeClr>
                </a:solidFill>
              </a:rPr>
              <a:t>[</a:t>
            </a:r>
            <a:r>
              <a:rPr kumimoji="1" lang="ja-JP" altLang="en-US" dirty="0">
                <a:solidFill>
                  <a:schemeClr val="accent5">
                    <a:lumMod val="75000"/>
                  </a:schemeClr>
                </a:solidFill>
              </a:rPr>
              <a:t>解析</a:t>
            </a:r>
            <a:r>
              <a:rPr kumimoji="1" lang="en-US" altLang="ja-JP" dirty="0">
                <a:solidFill>
                  <a:schemeClr val="accent5">
                    <a:lumMod val="75000"/>
                  </a:schemeClr>
                </a:solidFill>
              </a:rPr>
              <a:t>]</a:t>
            </a:r>
            <a:r>
              <a:rPr kumimoji="1" lang="ja-JP" altLang="en-US" dirty="0">
                <a:solidFill>
                  <a:schemeClr val="accent5">
                    <a:lumMod val="75000"/>
                  </a:schemeClr>
                </a:solidFill>
              </a:rPr>
              <a:t>と</a:t>
            </a:r>
            <a:r>
              <a:rPr kumimoji="1" lang="en-US" altLang="ja-JP" dirty="0">
                <a:solidFill>
                  <a:schemeClr val="accent5">
                    <a:lumMod val="75000"/>
                  </a:schemeClr>
                </a:solidFill>
              </a:rPr>
              <a:t>[</a:t>
            </a:r>
            <a:r>
              <a:rPr kumimoji="1" lang="ja-JP" altLang="en-US" dirty="0">
                <a:solidFill>
                  <a:schemeClr val="accent5">
                    <a:lumMod val="75000"/>
                  </a:schemeClr>
                </a:solidFill>
              </a:rPr>
              <a:t>帳票レイアウト定義</a:t>
            </a:r>
            <a:r>
              <a:rPr kumimoji="1" lang="en-US" altLang="ja-JP" dirty="0">
                <a:solidFill>
                  <a:schemeClr val="accent5">
                    <a:lumMod val="75000"/>
                  </a:schemeClr>
                </a:solidFill>
              </a:rPr>
              <a:t>]</a:t>
            </a:r>
            <a:r>
              <a:rPr kumimoji="1" lang="ja-JP" altLang="en-US" dirty="0">
                <a:solidFill>
                  <a:schemeClr val="accent5">
                    <a:lumMod val="75000"/>
                  </a:schemeClr>
                </a:solidFill>
              </a:rPr>
              <a:t>が</a:t>
            </a:r>
            <a:r>
              <a:rPr kumimoji="1" lang="en-US" altLang="ja-JP" dirty="0">
                <a:solidFill>
                  <a:schemeClr val="accent5">
                    <a:lumMod val="75000"/>
                  </a:schemeClr>
                </a:solidFill>
              </a:rPr>
              <a:t>1</a:t>
            </a:r>
            <a:r>
              <a:rPr kumimoji="1" lang="ja-JP" altLang="en-US" dirty="0">
                <a:solidFill>
                  <a:schemeClr val="accent5">
                    <a:lumMod val="75000"/>
                  </a:schemeClr>
                </a:solidFill>
              </a:rPr>
              <a:t>つの概念</a:t>
            </a:r>
          </a:p>
        </p:txBody>
      </p:sp>
      <p:sp>
        <p:nvSpPr>
          <p:cNvPr id="10" name="吹き出し: 角を丸めた四角形 9">
            <a:extLst>
              <a:ext uri="{FF2B5EF4-FFF2-40B4-BE49-F238E27FC236}">
                <a16:creationId xmlns:a16="http://schemas.microsoft.com/office/drawing/2014/main" id="{FC448D70-EB92-89A5-1E17-AF3C2317E2BB}"/>
              </a:ext>
            </a:extLst>
          </p:cNvPr>
          <p:cNvSpPr/>
          <p:nvPr/>
        </p:nvSpPr>
        <p:spPr>
          <a:xfrm>
            <a:off x="6852084" y="5131254"/>
            <a:ext cx="2952328" cy="648072"/>
          </a:xfrm>
          <a:prstGeom prst="wedgeRoundRectCallout">
            <a:avLst>
              <a:gd name="adj1" fmla="val -50740"/>
              <a:gd name="adj2" fmla="val -9427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accent6">
                    <a:lumMod val="60000"/>
                    <a:lumOff val="40000"/>
                  </a:schemeClr>
                </a:solidFill>
              </a:rPr>
              <a:t>[</a:t>
            </a:r>
            <a:r>
              <a:rPr lang="ja-JP" altLang="en-US" sz="2400" dirty="0">
                <a:solidFill>
                  <a:schemeClr val="accent6">
                    <a:lumMod val="60000"/>
                    <a:lumOff val="40000"/>
                  </a:schemeClr>
                </a:solidFill>
              </a:rPr>
              <a:t>帳票レイアウト定義</a:t>
            </a:r>
            <a:r>
              <a:rPr lang="en-US" altLang="ja-JP" sz="2400" dirty="0">
                <a:solidFill>
                  <a:schemeClr val="accent6">
                    <a:lumMod val="60000"/>
                    <a:lumOff val="40000"/>
                  </a:schemeClr>
                </a:solidFill>
              </a:rPr>
              <a:t>]</a:t>
            </a:r>
            <a:endParaRPr kumimoji="1" lang="ja-JP" altLang="en-US" dirty="0">
              <a:solidFill>
                <a:schemeClr val="accent6">
                  <a:lumMod val="60000"/>
                  <a:lumOff val="40000"/>
                </a:schemeClr>
              </a:solidFill>
            </a:endParaRPr>
          </a:p>
        </p:txBody>
      </p:sp>
      <p:sp>
        <p:nvSpPr>
          <p:cNvPr id="11" name="吹き出し: 角を丸めた四角形 10">
            <a:extLst>
              <a:ext uri="{FF2B5EF4-FFF2-40B4-BE49-F238E27FC236}">
                <a16:creationId xmlns:a16="http://schemas.microsoft.com/office/drawing/2014/main" id="{6F9CFD8B-6398-2A58-8843-6C8F8003EBB4}"/>
              </a:ext>
            </a:extLst>
          </p:cNvPr>
          <p:cNvSpPr/>
          <p:nvPr/>
        </p:nvSpPr>
        <p:spPr>
          <a:xfrm>
            <a:off x="2567608" y="5123850"/>
            <a:ext cx="1872208" cy="648072"/>
          </a:xfrm>
          <a:prstGeom prst="wedgeRoundRectCallout">
            <a:avLst>
              <a:gd name="adj1" fmla="val -11439"/>
              <a:gd name="adj2" fmla="val -10995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accent6">
                    <a:lumMod val="60000"/>
                    <a:lumOff val="40000"/>
                  </a:schemeClr>
                </a:solidFill>
              </a:rPr>
              <a:t>[</a:t>
            </a:r>
            <a:r>
              <a:rPr lang="ja-JP" altLang="en-US" sz="2400" dirty="0">
                <a:solidFill>
                  <a:schemeClr val="accent6">
                    <a:lumMod val="60000"/>
                    <a:lumOff val="40000"/>
                  </a:schemeClr>
                </a:solidFill>
              </a:rPr>
              <a:t>解析</a:t>
            </a:r>
            <a:r>
              <a:rPr lang="en-US" altLang="ja-JP" sz="2400" dirty="0">
                <a:solidFill>
                  <a:schemeClr val="accent6">
                    <a:lumMod val="60000"/>
                    <a:lumOff val="40000"/>
                  </a:schemeClr>
                </a:solidFill>
              </a:rPr>
              <a:t>]</a:t>
            </a:r>
            <a:endParaRPr kumimoji="1" lang="ja-JP" altLang="en-US" dirty="0">
              <a:solidFill>
                <a:schemeClr val="accent6">
                  <a:lumMod val="60000"/>
                  <a:lumOff val="40000"/>
                </a:schemeClr>
              </a:solidFill>
            </a:endParaRPr>
          </a:p>
        </p:txBody>
      </p:sp>
      <p:sp>
        <p:nvSpPr>
          <p:cNvPr id="12" name="矢印: 右 11">
            <a:extLst>
              <a:ext uri="{FF2B5EF4-FFF2-40B4-BE49-F238E27FC236}">
                <a16:creationId xmlns:a16="http://schemas.microsoft.com/office/drawing/2014/main" id="{84BA7020-DA19-AD59-1D83-98021FF786B8}"/>
              </a:ext>
            </a:extLst>
          </p:cNvPr>
          <p:cNvSpPr/>
          <p:nvPr/>
        </p:nvSpPr>
        <p:spPr>
          <a:xfrm>
            <a:off x="2999656" y="2420888"/>
            <a:ext cx="5328592" cy="36004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43D89684-69B8-CAC7-1B25-3EF1405C8553}"/>
              </a:ext>
            </a:extLst>
          </p:cNvPr>
          <p:cNvSpPr/>
          <p:nvPr/>
        </p:nvSpPr>
        <p:spPr>
          <a:xfrm>
            <a:off x="2999656" y="4423626"/>
            <a:ext cx="1944216"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C62B4148-E4B8-0FBF-3558-D9853065FBDB}"/>
              </a:ext>
            </a:extLst>
          </p:cNvPr>
          <p:cNvSpPr/>
          <p:nvPr/>
        </p:nvSpPr>
        <p:spPr>
          <a:xfrm>
            <a:off x="6096000" y="4450668"/>
            <a:ext cx="2232248"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78865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A078EA-FAD8-899A-945D-D669CC208BFC}"/>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CB24621C-6CDD-E445-8BDD-063C6B1C8188}"/>
              </a:ext>
            </a:extLst>
          </p:cNvPr>
          <p:cNvSpPr>
            <a:spLocks noGrp="1"/>
          </p:cNvSpPr>
          <p:nvPr>
            <p:ph idx="1"/>
          </p:nvPr>
        </p:nvSpPr>
        <p:spPr>
          <a:xfrm>
            <a:off x="330200" y="1052736"/>
            <a:ext cx="11171767" cy="5181600"/>
          </a:xfrm>
        </p:spPr>
        <p:txBody>
          <a:bodyPr/>
          <a:lstStyle/>
          <a:p>
            <a:r>
              <a:rPr lang="ja-JP" altLang="en-US" sz="2400" dirty="0"/>
              <a:t>課題</a:t>
            </a:r>
            <a:endParaRPr lang="en-US" altLang="ja-JP" sz="2400" dirty="0"/>
          </a:p>
          <a:p>
            <a:pPr marL="457200" indent="-457200">
              <a:buFont typeface="Arial" panose="020B0604020202020204" pitchFamily="34" charset="0"/>
              <a:buChar char="•"/>
            </a:pPr>
            <a:r>
              <a:rPr lang="en-US" altLang="ja-JP" dirty="0"/>
              <a:t>ARS</a:t>
            </a:r>
            <a:r>
              <a:rPr lang="ja-JP" altLang="en-US" dirty="0"/>
              <a:t>で定義されているのは、</a:t>
            </a:r>
            <a:r>
              <a:rPr lang="en-US" altLang="ja-JP" dirty="0"/>
              <a:t>[</a:t>
            </a:r>
            <a:r>
              <a:rPr lang="ja-JP" altLang="en-US" dirty="0"/>
              <a:t>ラベル</a:t>
            </a:r>
            <a:r>
              <a:rPr lang="en-US" altLang="ja-JP" dirty="0"/>
              <a:t>]</a:t>
            </a:r>
            <a:r>
              <a:rPr lang="ja-JP" altLang="en-US" dirty="0"/>
              <a:t>と</a:t>
            </a:r>
            <a:r>
              <a:rPr lang="en-US" altLang="ja-JP" dirty="0"/>
              <a:t>[</a:t>
            </a:r>
            <a:r>
              <a:rPr lang="ja-JP" altLang="en-US" dirty="0"/>
              <a:t>結果</a:t>
            </a:r>
            <a:r>
              <a:rPr lang="en-US" altLang="ja-JP" dirty="0"/>
              <a:t>]</a:t>
            </a:r>
            <a:r>
              <a:rPr lang="ja-JP" altLang="en-US" dirty="0"/>
              <a:t>、</a:t>
            </a:r>
            <a:r>
              <a:rPr lang="en-US" altLang="ja-JP" dirty="0"/>
              <a:t>[Grouping]</a:t>
            </a:r>
            <a:r>
              <a:rPr lang="ja-JP" altLang="en-US" dirty="0"/>
              <a:t>や</a:t>
            </a:r>
            <a:r>
              <a:rPr lang="en-US" altLang="ja-JP" dirty="0"/>
              <a:t>[</a:t>
            </a:r>
            <a:r>
              <a:rPr lang="ja-JP" altLang="en-US" dirty="0"/>
              <a:t>結果値データ</a:t>
            </a:r>
            <a:r>
              <a:rPr lang="en-US" altLang="ja-JP" dirty="0"/>
              <a:t>]</a:t>
            </a:r>
            <a:r>
              <a:rPr lang="ja-JP" altLang="en-US" dirty="0"/>
              <a:t>の縦積みの考え方で、細部の定義や実装は記載されていない。</a:t>
            </a:r>
          </a:p>
          <a:p>
            <a:pPr marL="457200" indent="-457200">
              <a:buFont typeface="Arial" panose="020B0604020202020204" pitchFamily="34" charset="0"/>
              <a:buChar char="•"/>
            </a:pPr>
            <a:r>
              <a:rPr lang="ja-JP" altLang="en-US" dirty="0"/>
              <a:t>そのため、</a:t>
            </a:r>
            <a:r>
              <a:rPr lang="en-US" altLang="ja-JP" dirty="0"/>
              <a:t>[Null</a:t>
            </a:r>
            <a:r>
              <a:rPr lang="ja-JP" altLang="en-US" dirty="0"/>
              <a:t>値</a:t>
            </a:r>
            <a:r>
              <a:rPr lang="en-US" altLang="ja-JP" dirty="0"/>
              <a:t>]</a:t>
            </a:r>
            <a:r>
              <a:rPr lang="ja-JP" altLang="en-US" dirty="0"/>
              <a:t>やブランクレコードなど実際に生じるケースが定義されておらず、</a:t>
            </a:r>
            <a:r>
              <a:rPr lang="en-US" altLang="ja-JP" dirty="0"/>
              <a:t>ARS</a:t>
            </a:r>
            <a:r>
              <a:rPr lang="ja-JP" altLang="en-US" dirty="0"/>
              <a:t>のみで</a:t>
            </a:r>
            <a:r>
              <a:rPr lang="en-US" altLang="ja-JP" dirty="0"/>
              <a:t>ARD</a:t>
            </a:r>
            <a:r>
              <a:rPr lang="ja-JP" altLang="en-US" dirty="0"/>
              <a:t>が業界横断的に標準化されたとは言えない状況</a:t>
            </a:r>
          </a:p>
          <a:p>
            <a:pPr marL="457200" indent="-457200">
              <a:buFont typeface="Arial" panose="020B0604020202020204" pitchFamily="34" charset="0"/>
              <a:buChar char="•"/>
            </a:pPr>
            <a:r>
              <a:rPr lang="en-US" altLang="ja-JP" dirty="0"/>
              <a:t>R</a:t>
            </a:r>
            <a:r>
              <a:rPr lang="ja-JP" altLang="en-US" dirty="0"/>
              <a:t>においては</a:t>
            </a:r>
            <a:r>
              <a:rPr lang="en-US" altLang="ja-JP" dirty="0"/>
              <a:t> </a:t>
            </a:r>
            <a:r>
              <a:rPr lang="ja-JP" altLang="en-US" dirty="0"/>
              <a:t>パッケージによって作成した</a:t>
            </a:r>
            <a:r>
              <a:rPr lang="en-US" altLang="ja-JP" dirty="0"/>
              <a:t>ARD</a:t>
            </a:r>
            <a:r>
              <a:rPr lang="ja-JP" altLang="en-US" dirty="0"/>
              <a:t>細かい値の取り扱いが異なる</a:t>
            </a:r>
            <a:endParaRPr lang="en-US" altLang="ja-JP" dirty="0"/>
          </a:p>
          <a:p>
            <a:endParaRPr kumimoji="1" lang="ja-JP" altLang="en-US" sz="2400" dirty="0"/>
          </a:p>
        </p:txBody>
      </p:sp>
      <p:pic>
        <p:nvPicPr>
          <p:cNvPr id="5" name="図 4">
            <a:extLst>
              <a:ext uri="{FF2B5EF4-FFF2-40B4-BE49-F238E27FC236}">
                <a16:creationId xmlns:a16="http://schemas.microsoft.com/office/drawing/2014/main" id="{4BDEC338-CFF3-72D4-E6D4-4BCB49BCDB4E}"/>
              </a:ext>
            </a:extLst>
          </p:cNvPr>
          <p:cNvPicPr>
            <a:picLocks noChangeAspect="1"/>
          </p:cNvPicPr>
          <p:nvPr/>
        </p:nvPicPr>
        <p:blipFill>
          <a:blip r:embed="rId2"/>
          <a:stretch>
            <a:fillRect/>
          </a:stretch>
        </p:blipFill>
        <p:spPr>
          <a:xfrm>
            <a:off x="3665478" y="4441884"/>
            <a:ext cx="7836489" cy="2344837"/>
          </a:xfrm>
          <a:prstGeom prst="rect">
            <a:avLst/>
          </a:prstGeom>
          <a:ln>
            <a:noFill/>
          </a:ln>
          <a:effectLst>
            <a:outerShdw blurRad="292100" dist="139700" dir="2700000" algn="tl" rotWithShape="0">
              <a:srgbClr val="333333">
                <a:alpha val="65000"/>
              </a:srgbClr>
            </a:outerShdw>
          </a:effectLst>
        </p:spPr>
      </p:pic>
      <p:sp>
        <p:nvSpPr>
          <p:cNvPr id="7" name="テキスト ボックス 6">
            <a:extLst>
              <a:ext uri="{FF2B5EF4-FFF2-40B4-BE49-F238E27FC236}">
                <a16:creationId xmlns:a16="http://schemas.microsoft.com/office/drawing/2014/main" id="{71808968-3F19-1AF1-EB2D-4918325BD2FF}"/>
              </a:ext>
            </a:extLst>
          </p:cNvPr>
          <p:cNvSpPr txBox="1"/>
          <p:nvPr/>
        </p:nvSpPr>
        <p:spPr>
          <a:xfrm>
            <a:off x="14684" y="6540500"/>
            <a:ext cx="4133850" cy="246221"/>
          </a:xfrm>
          <a:prstGeom prst="rect">
            <a:avLst/>
          </a:prstGeom>
          <a:noFill/>
        </p:spPr>
        <p:txBody>
          <a:bodyPr wrap="square">
            <a:spAutoFit/>
          </a:bodyPr>
          <a:lstStyle/>
          <a:p>
            <a:r>
              <a:rPr lang="ja-JP" altLang="en-US" sz="1000" dirty="0">
                <a:hlinkClick r:id="rId3"/>
              </a:rPr>
              <a:t>https://wiki.cdisc.org/pages/viewpage.action?pageId=222298985</a:t>
            </a:r>
            <a:endParaRPr lang="ja-JP" altLang="en-US" sz="1000" dirty="0"/>
          </a:p>
        </p:txBody>
      </p:sp>
    </p:spTree>
    <p:extLst>
      <p:ext uri="{BB962C8B-B14F-4D97-AF65-F5344CB8AC3E}">
        <p14:creationId xmlns:p14="http://schemas.microsoft.com/office/powerpoint/2010/main" val="1671601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en-US" altLang="ja-JP" dirty="0"/>
              <a:t>Analysis Result Data </a:t>
            </a:r>
            <a:r>
              <a:rPr kumimoji="1" lang="en-US" altLang="ja-JP" dirty="0"/>
              <a:t>(ARD)</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p:txBody>
          <a:bodyPr/>
          <a:lstStyle/>
          <a:p>
            <a:r>
              <a:rPr lang="ja-JP" altLang="en-US" dirty="0"/>
              <a:t>例：</a:t>
            </a:r>
            <a:r>
              <a:rPr kumimoji="1" lang="en-US" altLang="ja-JP" dirty="0"/>
              <a:t>{cards}</a:t>
            </a:r>
            <a:r>
              <a:rPr kumimoji="1" lang="ja-JP" altLang="en-US" dirty="0"/>
              <a:t>で作成した</a:t>
            </a:r>
            <a:r>
              <a:rPr kumimoji="1" lang="en-US" altLang="ja-JP" dirty="0"/>
              <a:t>ARD</a:t>
            </a:r>
            <a:endParaRPr kumimoji="1" lang="ja-JP" altLang="en-US"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14</a:t>
            </a:fld>
            <a:endParaRPr lang="en-US" altLang="ja-JP"/>
          </a:p>
        </p:txBody>
      </p:sp>
      <p:pic>
        <p:nvPicPr>
          <p:cNvPr id="6" name="図 5">
            <a:extLst>
              <a:ext uri="{FF2B5EF4-FFF2-40B4-BE49-F238E27FC236}">
                <a16:creationId xmlns:a16="http://schemas.microsoft.com/office/drawing/2014/main" id="{31BA00C4-3C0A-4B9F-6824-CA50A338708F}"/>
              </a:ext>
            </a:extLst>
          </p:cNvPr>
          <p:cNvPicPr>
            <a:picLocks noChangeAspect="1"/>
          </p:cNvPicPr>
          <p:nvPr/>
        </p:nvPicPr>
        <p:blipFill>
          <a:blip r:embed="rId2"/>
          <a:stretch>
            <a:fillRect/>
          </a:stretch>
        </p:blipFill>
        <p:spPr>
          <a:xfrm>
            <a:off x="1847528" y="2132856"/>
            <a:ext cx="9606521" cy="3960440"/>
          </a:xfrm>
          <a:prstGeom prst="rect">
            <a:avLst/>
          </a:prstGeom>
        </p:spPr>
      </p:pic>
      <p:pic>
        <p:nvPicPr>
          <p:cNvPr id="7" name="Picture 2">
            <a:extLst>
              <a:ext uri="{FF2B5EF4-FFF2-40B4-BE49-F238E27FC236}">
                <a16:creationId xmlns:a16="http://schemas.microsoft.com/office/drawing/2014/main" id="{D2A427E8-C9C6-9B0E-F166-8C3289005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36" y="4653136"/>
            <a:ext cx="2052464" cy="2052464"/>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99278D95-66C0-00E0-2B39-F88F195B3C88}"/>
              </a:ext>
            </a:extLst>
          </p:cNvPr>
          <p:cNvSpPr txBox="1"/>
          <p:nvPr/>
        </p:nvSpPr>
        <p:spPr>
          <a:xfrm>
            <a:off x="8472264" y="6502314"/>
            <a:ext cx="2736304" cy="230832"/>
          </a:xfrm>
          <a:prstGeom prst="rect">
            <a:avLst/>
          </a:prstGeom>
          <a:noFill/>
        </p:spPr>
        <p:txBody>
          <a:bodyPr wrap="square">
            <a:spAutoFit/>
          </a:bodyPr>
          <a:lstStyle/>
          <a:p>
            <a:r>
              <a:rPr lang="ja-JP" altLang="en-US" sz="900" dirty="0"/>
              <a:t>https://insightsengineering.github.io/cards/latest-tag/</a:t>
            </a:r>
          </a:p>
        </p:txBody>
      </p:sp>
      <p:sp>
        <p:nvSpPr>
          <p:cNvPr id="9" name="四角形: 角を丸くする 8">
            <a:extLst>
              <a:ext uri="{FF2B5EF4-FFF2-40B4-BE49-F238E27FC236}">
                <a16:creationId xmlns:a16="http://schemas.microsoft.com/office/drawing/2014/main" id="{1BCFCE45-361C-581C-A447-3E09211A84C3}"/>
              </a:ext>
            </a:extLst>
          </p:cNvPr>
          <p:cNvSpPr/>
          <p:nvPr/>
        </p:nvSpPr>
        <p:spPr>
          <a:xfrm>
            <a:off x="9624392" y="2119412"/>
            <a:ext cx="841143" cy="3960440"/>
          </a:xfrm>
          <a:prstGeom prst="roundRect">
            <a:avLst>
              <a:gd name="adj" fmla="val 8116"/>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A1C7E695-E00F-0990-355A-85210431AE18}"/>
              </a:ext>
            </a:extLst>
          </p:cNvPr>
          <p:cNvSpPr/>
          <p:nvPr/>
        </p:nvSpPr>
        <p:spPr>
          <a:xfrm>
            <a:off x="2351584" y="2852936"/>
            <a:ext cx="9102465" cy="317667"/>
          </a:xfrm>
          <a:prstGeom prst="roundRect">
            <a:avLst>
              <a:gd name="adj" fmla="val 8116"/>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3C9B2405-9C41-5520-5ED6-8B0F4246233D}"/>
              </a:ext>
            </a:extLst>
          </p:cNvPr>
          <p:cNvSpPr/>
          <p:nvPr/>
        </p:nvSpPr>
        <p:spPr>
          <a:xfrm>
            <a:off x="119336" y="3429000"/>
            <a:ext cx="1872208" cy="648072"/>
          </a:xfrm>
          <a:prstGeom prst="wedgeRoundRectCallout">
            <a:avLst>
              <a:gd name="adj1" fmla="val 69284"/>
              <a:gd name="adj2" fmla="val -10211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60000"/>
                    <a:lumOff val="40000"/>
                  </a:schemeClr>
                </a:solidFill>
              </a:rPr>
              <a:t>1</a:t>
            </a:r>
            <a:r>
              <a:rPr kumimoji="1" lang="ja-JP" altLang="en-US" dirty="0">
                <a:solidFill>
                  <a:schemeClr val="accent6">
                    <a:lumMod val="60000"/>
                    <a:lumOff val="40000"/>
                  </a:schemeClr>
                </a:solidFill>
              </a:rPr>
              <a:t>行</a:t>
            </a:r>
            <a:r>
              <a:rPr kumimoji="1" lang="en-US" altLang="ja-JP" dirty="0">
                <a:solidFill>
                  <a:schemeClr val="accent6">
                    <a:lumMod val="60000"/>
                    <a:lumOff val="40000"/>
                  </a:schemeClr>
                </a:solidFill>
              </a:rPr>
              <a:t>1</a:t>
            </a:r>
            <a:r>
              <a:rPr lang="ja-JP" altLang="en-US" dirty="0">
                <a:solidFill>
                  <a:schemeClr val="accent6">
                    <a:lumMod val="60000"/>
                    <a:lumOff val="40000"/>
                  </a:schemeClr>
                </a:solidFill>
              </a:rPr>
              <a:t>結果値</a:t>
            </a:r>
            <a:endParaRPr kumimoji="1" lang="ja-JP" altLang="en-US" dirty="0">
              <a:solidFill>
                <a:schemeClr val="accent6">
                  <a:lumMod val="60000"/>
                  <a:lumOff val="40000"/>
                </a:schemeClr>
              </a:solidFill>
            </a:endParaRPr>
          </a:p>
        </p:txBody>
      </p:sp>
    </p:spTree>
    <p:extLst>
      <p:ext uri="{BB962C8B-B14F-4D97-AF65-F5344CB8AC3E}">
        <p14:creationId xmlns:p14="http://schemas.microsoft.com/office/powerpoint/2010/main" val="3778049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B14B7F-9793-6E50-ECF2-2CF41656E88F}"/>
              </a:ext>
            </a:extLst>
          </p:cNvPr>
          <p:cNvSpPr>
            <a:spLocks noGrp="1"/>
          </p:cNvSpPr>
          <p:nvPr>
            <p:ph type="title"/>
          </p:nvPr>
        </p:nvSpPr>
        <p:spPr/>
        <p:txBody>
          <a:bodyPr/>
          <a:lstStyle/>
          <a:p>
            <a:r>
              <a:rPr lang="en-US" altLang="ja-JP" dirty="0"/>
              <a:t>Agenda</a:t>
            </a:r>
            <a:endParaRPr kumimoji="1" lang="ja-JP" altLang="en-US" dirty="0"/>
          </a:p>
        </p:txBody>
      </p:sp>
      <p:sp>
        <p:nvSpPr>
          <p:cNvPr id="3" name="コンテンツ プレースホルダー 2">
            <a:extLst>
              <a:ext uri="{FF2B5EF4-FFF2-40B4-BE49-F238E27FC236}">
                <a16:creationId xmlns:a16="http://schemas.microsoft.com/office/drawing/2014/main" id="{DA8DAFCE-6C75-6783-DF81-141E8EC284CA}"/>
              </a:ext>
            </a:extLst>
          </p:cNvPr>
          <p:cNvSpPr>
            <a:spLocks noGrp="1"/>
          </p:cNvSpPr>
          <p:nvPr>
            <p:ph idx="1"/>
          </p:nvPr>
        </p:nvSpPr>
        <p:spPr/>
        <p:txBody>
          <a:bodyPr/>
          <a:lstStyle/>
          <a:p>
            <a:pPr marL="457200" indent="-457200">
              <a:buFont typeface="Arial" panose="020B0604020202020204" pitchFamily="34" charset="0"/>
              <a:buChar char="•"/>
            </a:pPr>
            <a:r>
              <a:rPr kumimoji="1" lang="ja-JP" altLang="en-US" dirty="0"/>
              <a:t>背景と課題</a:t>
            </a:r>
            <a:endParaRPr kumimoji="1" lang="en-US" altLang="ja-JP" dirty="0"/>
          </a:p>
          <a:p>
            <a:pPr marL="457200" indent="-457200">
              <a:buFont typeface="Arial" panose="020B0604020202020204" pitchFamily="34" charset="0"/>
              <a:buChar char="•"/>
            </a:pPr>
            <a:r>
              <a:rPr lang="en-US" altLang="ja-JP" dirty="0"/>
              <a:t>Analysis Result Data </a:t>
            </a:r>
            <a:r>
              <a:rPr kumimoji="1" lang="en-US" altLang="ja-JP" dirty="0"/>
              <a:t>(ARD)</a:t>
            </a:r>
            <a:endParaRPr lang="en-US" altLang="ja-JP" dirty="0"/>
          </a:p>
          <a:p>
            <a:pPr marL="457200" indent="-457200">
              <a:buFont typeface="Arial" panose="020B0604020202020204" pitchFamily="34" charset="0"/>
              <a:buChar char="•"/>
            </a:pPr>
            <a:r>
              <a:rPr kumimoji="1" lang="en-US" altLang="ja-JP" b="1" u="sng" dirty="0">
                <a:solidFill>
                  <a:srgbClr val="FF0000"/>
                </a:solidFill>
              </a:rPr>
              <a:t>Table</a:t>
            </a:r>
            <a:r>
              <a:rPr kumimoji="1" lang="ja-JP" altLang="en-US" b="1" u="sng" dirty="0">
                <a:solidFill>
                  <a:srgbClr val="FF0000"/>
                </a:solidFill>
              </a:rPr>
              <a:t>化</a:t>
            </a:r>
            <a:endParaRPr lang="en-US" altLang="ja-JP" b="1" u="sng" dirty="0">
              <a:solidFill>
                <a:srgbClr val="FF0000"/>
              </a:solidFill>
            </a:endParaRPr>
          </a:p>
          <a:p>
            <a:pPr marL="457200" indent="-457200">
              <a:buFont typeface="Arial" panose="020B0604020202020204" pitchFamily="34" charset="0"/>
              <a:buChar char="•"/>
            </a:pPr>
            <a:r>
              <a:rPr kumimoji="1" lang="ja-JP" altLang="en-US" dirty="0"/>
              <a:t>まとめ</a:t>
            </a:r>
          </a:p>
        </p:txBody>
      </p:sp>
      <p:sp>
        <p:nvSpPr>
          <p:cNvPr id="4" name="スライド番号プレースホルダー 3">
            <a:extLst>
              <a:ext uri="{FF2B5EF4-FFF2-40B4-BE49-F238E27FC236}">
                <a16:creationId xmlns:a16="http://schemas.microsoft.com/office/drawing/2014/main" id="{A06F826F-809B-D0DA-F205-C3087D90B3BB}"/>
              </a:ext>
            </a:extLst>
          </p:cNvPr>
          <p:cNvSpPr>
            <a:spLocks noGrp="1"/>
          </p:cNvSpPr>
          <p:nvPr>
            <p:ph type="sldNum" sz="quarter" idx="11"/>
          </p:nvPr>
        </p:nvSpPr>
        <p:spPr/>
        <p:txBody>
          <a:bodyPr/>
          <a:lstStyle/>
          <a:p>
            <a:fld id="{23B20E4E-3F95-4221-AFE5-FD1FD9CC3448}" type="slidenum">
              <a:rPr lang="en-US" altLang="ja-JP" smtClean="0"/>
              <a:pPr/>
              <a:t>15</a:t>
            </a:fld>
            <a:endParaRPr lang="en-US" altLang="ja-JP"/>
          </a:p>
        </p:txBody>
      </p:sp>
    </p:spTree>
    <p:extLst>
      <p:ext uri="{BB962C8B-B14F-4D97-AF65-F5344CB8AC3E}">
        <p14:creationId xmlns:p14="http://schemas.microsoft.com/office/powerpoint/2010/main" val="1808519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en-US" altLang="ja-JP" dirty="0"/>
              <a:t>Table</a:t>
            </a:r>
            <a:r>
              <a:rPr kumimoji="1" lang="ja-JP" altLang="en-US" dirty="0"/>
              <a:t>化</a:t>
            </a:r>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p:txBody>
          <a:bodyPr/>
          <a:lstStyle/>
          <a:p>
            <a:pPr marL="457200" indent="-457200">
              <a:buFont typeface="Arial" panose="020B0604020202020204" pitchFamily="34" charset="0"/>
              <a:buChar char="•"/>
            </a:pPr>
            <a:r>
              <a:rPr lang="en-US" altLang="ja-JP" dirty="0"/>
              <a:t>R</a:t>
            </a:r>
            <a:r>
              <a:rPr lang="ja-JP" altLang="en-US" dirty="0"/>
              <a:t>における</a:t>
            </a:r>
            <a:r>
              <a:rPr kumimoji="1" lang="en-US" altLang="ja-JP" dirty="0"/>
              <a:t>Table</a:t>
            </a:r>
            <a:r>
              <a:rPr kumimoji="1" lang="ja-JP" altLang="en-US" dirty="0"/>
              <a:t>化にあたっては</a:t>
            </a:r>
            <a:r>
              <a:rPr kumimoji="1" lang="en-US" altLang="ja-JP" dirty="0"/>
              <a:t>{</a:t>
            </a:r>
            <a:r>
              <a:rPr kumimoji="1" lang="en-US" altLang="ja-JP" dirty="0" err="1"/>
              <a:t>gt</a:t>
            </a:r>
            <a:r>
              <a:rPr kumimoji="1" lang="en-US" altLang="ja-JP" dirty="0"/>
              <a:t>}</a:t>
            </a:r>
            <a:r>
              <a:rPr kumimoji="1" lang="ja-JP" altLang="en-US" dirty="0"/>
              <a:t>や</a:t>
            </a:r>
            <a:r>
              <a:rPr kumimoji="1" lang="en-US" altLang="ja-JP" dirty="0"/>
              <a:t>{</a:t>
            </a:r>
            <a:r>
              <a:rPr kumimoji="1" lang="en-US" altLang="ja-JP" dirty="0" err="1"/>
              <a:t>tfrmt</a:t>
            </a:r>
            <a:r>
              <a:rPr kumimoji="1" lang="en-US" altLang="ja-JP" dirty="0"/>
              <a:t>}</a:t>
            </a:r>
            <a:r>
              <a:rPr kumimoji="1" lang="ja-JP" altLang="en-US" dirty="0"/>
              <a:t> 等が対応可能</a:t>
            </a:r>
            <a:endParaRPr kumimoji="1" lang="en-US" altLang="ja-JP" dirty="0"/>
          </a:p>
          <a:p>
            <a:pPr marL="457200" indent="-457200">
              <a:buFont typeface="Arial" panose="020B0604020202020204" pitchFamily="34" charset="0"/>
              <a:buChar char="•"/>
            </a:pPr>
            <a:endParaRPr kumimoji="1" lang="ja-JP" altLang="en-US"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16</a:t>
            </a:fld>
            <a:endParaRPr lang="en-US" altLang="ja-JP"/>
          </a:p>
        </p:txBody>
      </p:sp>
      <p:pic>
        <p:nvPicPr>
          <p:cNvPr id="8" name="図 7">
            <a:extLst>
              <a:ext uri="{FF2B5EF4-FFF2-40B4-BE49-F238E27FC236}">
                <a16:creationId xmlns:a16="http://schemas.microsoft.com/office/drawing/2014/main" id="{AC9D53B3-1F13-5591-B471-9AF18FF59E8A}"/>
              </a:ext>
            </a:extLst>
          </p:cNvPr>
          <p:cNvPicPr>
            <a:picLocks noChangeAspect="1"/>
          </p:cNvPicPr>
          <p:nvPr/>
        </p:nvPicPr>
        <p:blipFill>
          <a:blip r:embed="rId2"/>
          <a:stretch>
            <a:fillRect/>
          </a:stretch>
        </p:blipFill>
        <p:spPr>
          <a:xfrm>
            <a:off x="10198840" y="1340768"/>
            <a:ext cx="1622978" cy="1800200"/>
          </a:xfrm>
          <a:prstGeom prst="rect">
            <a:avLst/>
          </a:prstGeom>
        </p:spPr>
      </p:pic>
      <p:sp>
        <p:nvSpPr>
          <p:cNvPr id="10" name="テキスト ボックス 9">
            <a:extLst>
              <a:ext uri="{FF2B5EF4-FFF2-40B4-BE49-F238E27FC236}">
                <a16:creationId xmlns:a16="http://schemas.microsoft.com/office/drawing/2014/main" id="{C86B5A63-06B0-C10F-55C8-135374C6659F}"/>
              </a:ext>
            </a:extLst>
          </p:cNvPr>
          <p:cNvSpPr txBox="1"/>
          <p:nvPr/>
        </p:nvSpPr>
        <p:spPr>
          <a:xfrm>
            <a:off x="10236750" y="3171951"/>
            <a:ext cx="1607840" cy="261610"/>
          </a:xfrm>
          <a:prstGeom prst="rect">
            <a:avLst/>
          </a:prstGeom>
          <a:noFill/>
        </p:spPr>
        <p:txBody>
          <a:bodyPr wrap="square">
            <a:spAutoFit/>
          </a:bodyPr>
          <a:lstStyle/>
          <a:p>
            <a:r>
              <a:rPr lang="ja-JP" altLang="en-US" sz="1100" dirty="0"/>
              <a:t>https://gt.rstudio.com/</a:t>
            </a:r>
          </a:p>
        </p:txBody>
      </p:sp>
      <p:pic>
        <p:nvPicPr>
          <p:cNvPr id="11" name="図 10">
            <a:extLst>
              <a:ext uri="{FF2B5EF4-FFF2-40B4-BE49-F238E27FC236}">
                <a16:creationId xmlns:a16="http://schemas.microsoft.com/office/drawing/2014/main" id="{D460270E-B067-13E9-1D4F-8258CEB2CBDF}"/>
              </a:ext>
            </a:extLst>
          </p:cNvPr>
          <p:cNvPicPr>
            <a:picLocks noChangeAspect="1"/>
          </p:cNvPicPr>
          <p:nvPr/>
        </p:nvPicPr>
        <p:blipFill>
          <a:blip r:embed="rId3"/>
          <a:stretch>
            <a:fillRect/>
          </a:stretch>
        </p:blipFill>
        <p:spPr>
          <a:xfrm>
            <a:off x="10254212" y="3974854"/>
            <a:ext cx="1615525" cy="1752600"/>
          </a:xfrm>
          <a:prstGeom prst="rect">
            <a:avLst/>
          </a:prstGeom>
        </p:spPr>
      </p:pic>
      <p:sp>
        <p:nvSpPr>
          <p:cNvPr id="12" name="テキスト ボックス 11">
            <a:extLst>
              <a:ext uri="{FF2B5EF4-FFF2-40B4-BE49-F238E27FC236}">
                <a16:creationId xmlns:a16="http://schemas.microsoft.com/office/drawing/2014/main" id="{EF8C71EA-4F98-A1DF-CBA0-ABB645B64E0E}"/>
              </a:ext>
            </a:extLst>
          </p:cNvPr>
          <p:cNvSpPr txBox="1"/>
          <p:nvPr/>
        </p:nvSpPr>
        <p:spPr>
          <a:xfrm>
            <a:off x="9792999" y="5830485"/>
            <a:ext cx="2406091" cy="261610"/>
          </a:xfrm>
          <a:prstGeom prst="rect">
            <a:avLst/>
          </a:prstGeom>
          <a:noFill/>
        </p:spPr>
        <p:txBody>
          <a:bodyPr wrap="square">
            <a:spAutoFit/>
          </a:bodyPr>
          <a:lstStyle/>
          <a:p>
            <a:r>
              <a:rPr lang="ja-JP" altLang="en-US" sz="1100" dirty="0"/>
              <a:t>https://gsk-biostatistics.github.io/tfrmt/</a:t>
            </a:r>
          </a:p>
        </p:txBody>
      </p:sp>
      <p:sp>
        <p:nvSpPr>
          <p:cNvPr id="13" name="タイトル 1">
            <a:extLst>
              <a:ext uri="{FF2B5EF4-FFF2-40B4-BE49-F238E27FC236}">
                <a16:creationId xmlns:a16="http://schemas.microsoft.com/office/drawing/2014/main" id="{0FA01B05-E26A-36AD-71CC-1FE3416E8BA1}"/>
              </a:ext>
            </a:extLst>
          </p:cNvPr>
          <p:cNvSpPr txBox="1">
            <a:spLocks/>
          </p:cNvSpPr>
          <p:nvPr/>
        </p:nvSpPr>
        <p:spPr bwMode="auto">
          <a:xfrm>
            <a:off x="119336" y="2142034"/>
            <a:ext cx="859666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200" b="1" i="1">
                <a:solidFill>
                  <a:srgbClr val="4D4D4D"/>
                </a:solidFill>
                <a:latin typeface="+mj-lt"/>
                <a:ea typeface="+mj-ea"/>
                <a:cs typeface="+mj-cs"/>
              </a:defRPr>
            </a:lvl1pPr>
            <a:lvl2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9pPr>
          </a:lstStyle>
          <a:p>
            <a:r>
              <a:rPr lang="en-US" altLang="ja-JP" kern="0" dirty="0"/>
              <a:t>R</a:t>
            </a:r>
            <a:r>
              <a:rPr lang="ja-JP" altLang="en-US" kern="0" dirty="0"/>
              <a:t> </a:t>
            </a:r>
            <a:r>
              <a:rPr lang="en-US" altLang="ja-JP" kern="0" dirty="0"/>
              <a:t>{</a:t>
            </a:r>
            <a:r>
              <a:rPr lang="en-US" altLang="ja-JP" kern="0" dirty="0" err="1"/>
              <a:t>tfrmt</a:t>
            </a:r>
            <a:r>
              <a:rPr lang="en-US" altLang="ja-JP" kern="0" dirty="0"/>
              <a:t>}</a:t>
            </a:r>
            <a:r>
              <a:rPr lang="ja-JP" altLang="en-US" kern="0" dirty="0"/>
              <a:t>パッケージ</a:t>
            </a:r>
          </a:p>
        </p:txBody>
      </p:sp>
      <p:sp>
        <p:nvSpPr>
          <p:cNvPr id="14" name="コンテンツ プレースホルダー 2">
            <a:extLst>
              <a:ext uri="{FF2B5EF4-FFF2-40B4-BE49-F238E27FC236}">
                <a16:creationId xmlns:a16="http://schemas.microsoft.com/office/drawing/2014/main" id="{EEB5103D-2FBA-230A-C7EE-D1FC6626876C}"/>
              </a:ext>
            </a:extLst>
          </p:cNvPr>
          <p:cNvSpPr txBox="1">
            <a:spLocks/>
          </p:cNvSpPr>
          <p:nvPr/>
        </p:nvSpPr>
        <p:spPr bwMode="auto">
          <a:xfrm>
            <a:off x="538775" y="3215184"/>
            <a:ext cx="8596668" cy="365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pPr marL="0" indent="0"/>
            <a:r>
              <a:rPr lang="en-US" altLang="ja-JP" sz="2000" b="1" kern="0" dirty="0"/>
              <a:t>{</a:t>
            </a:r>
            <a:r>
              <a:rPr lang="en-US" altLang="ja-JP" sz="2000" b="1" kern="0" dirty="0" err="1"/>
              <a:t>tfrmt</a:t>
            </a:r>
            <a:r>
              <a:rPr lang="en-US" altLang="ja-JP" sz="2000" b="1" kern="0" dirty="0"/>
              <a:t>} (Table Format) </a:t>
            </a:r>
            <a:r>
              <a:rPr lang="ja-JP" altLang="en-US" sz="2000" b="1" kern="0" dirty="0"/>
              <a:t>とは</a:t>
            </a:r>
            <a:endParaRPr lang="en-US" altLang="ja-JP" sz="2000" b="1" kern="0" dirty="0"/>
          </a:p>
          <a:p>
            <a:r>
              <a:rPr lang="en-US" altLang="ja-JP" sz="2000" b="1" kern="0" dirty="0"/>
              <a:t>ARD</a:t>
            </a:r>
            <a:r>
              <a:rPr lang="ja-JP" altLang="en-US" sz="2000" b="1" kern="0" dirty="0"/>
              <a:t>に表示フォーマット情報を与えて、テーブル化する</a:t>
            </a:r>
            <a:r>
              <a:rPr lang="en-US" altLang="ja-JP" sz="2000" b="1" kern="0" dirty="0"/>
              <a:t>R</a:t>
            </a:r>
            <a:r>
              <a:rPr lang="ja-JP" altLang="en-US" sz="2000" b="1" kern="0" dirty="0"/>
              <a:t>パッケージ</a:t>
            </a:r>
            <a:endParaRPr lang="en-US" altLang="ja-JP" sz="2000" b="1" kern="0" dirty="0"/>
          </a:p>
          <a:p>
            <a:r>
              <a:rPr lang="en-US" altLang="ja-JP" sz="2000" b="1" kern="0" dirty="0"/>
              <a:t>GSK</a:t>
            </a:r>
            <a:r>
              <a:rPr lang="ja-JP" altLang="en-US" sz="2000" b="1" kern="0" dirty="0"/>
              <a:t>社などが開発に関わる</a:t>
            </a:r>
            <a:r>
              <a:rPr lang="en-US" altLang="ja-JP" sz="2000" b="1" kern="0" dirty="0"/>
              <a:t>R</a:t>
            </a:r>
            <a:r>
              <a:rPr lang="ja-JP" altLang="en-US" sz="2000" b="1" kern="0" dirty="0"/>
              <a:t>パッケージ。</a:t>
            </a:r>
            <a:endParaRPr lang="en-US" altLang="ja-JP" sz="2000" b="1" kern="0" dirty="0"/>
          </a:p>
          <a:p>
            <a:r>
              <a:rPr lang="en-US" altLang="ja-JP" sz="2000" b="1" kern="0" dirty="0"/>
              <a:t>COSA(CDISC Open Source Alliance)</a:t>
            </a:r>
            <a:r>
              <a:rPr lang="ja-JP" altLang="en-US" sz="2000" b="1" kern="0" dirty="0"/>
              <a:t>に認証済み</a:t>
            </a:r>
            <a:endParaRPr lang="en-US" altLang="ja-JP" sz="2000" b="1" kern="0" dirty="0"/>
          </a:p>
          <a:p>
            <a:r>
              <a:rPr lang="ja-JP" altLang="en-US" sz="2000" b="1" kern="0" dirty="0"/>
              <a:t>コンセプト</a:t>
            </a:r>
            <a:r>
              <a:rPr lang="en-US" altLang="ja-JP" sz="2000" b="1" kern="0" dirty="0"/>
              <a:t>: "Separation of Data and Display"</a:t>
            </a:r>
            <a:r>
              <a:rPr lang="ja-JP" altLang="en-US" sz="2000" b="1" kern="0" dirty="0"/>
              <a:t>（データと表示の分離）</a:t>
            </a:r>
            <a:endParaRPr lang="en-US" altLang="ja-JP" sz="2000" b="1" kern="0" dirty="0"/>
          </a:p>
          <a:p>
            <a:endParaRPr lang="en-US" altLang="ja-JP" sz="2000" b="1" kern="0" dirty="0"/>
          </a:p>
          <a:p>
            <a:r>
              <a:rPr lang="en-US" altLang="ja-JP" sz="2000" b="1" kern="0" dirty="0"/>
              <a:t>ARD (Analysis Result Data):</a:t>
            </a:r>
          </a:p>
          <a:p>
            <a:pPr lvl="1"/>
            <a:r>
              <a:rPr lang="ja-JP" altLang="en-US" sz="1800" b="1" kern="0" dirty="0"/>
              <a:t>帳票に必要な数値情報を「構造化されたデータ」として保持。</a:t>
            </a:r>
            <a:endParaRPr lang="en-US" altLang="ja-JP" sz="1800" b="1" kern="0" dirty="0"/>
          </a:p>
          <a:p>
            <a:pPr lvl="1"/>
            <a:r>
              <a:rPr lang="en-US" altLang="ja-JP" sz="1800" b="1" kern="0" dirty="0"/>
              <a:t>R</a:t>
            </a:r>
            <a:r>
              <a:rPr lang="ja-JP" altLang="en-US" sz="1800" b="1" kern="0" dirty="0"/>
              <a:t>では</a:t>
            </a:r>
            <a:r>
              <a:rPr lang="en-US" altLang="ja-JP" sz="1800" b="1" kern="0" dirty="0"/>
              <a:t>{cards},</a:t>
            </a:r>
            <a:r>
              <a:rPr lang="ja-JP" altLang="en-US" sz="1800" b="1" kern="0" dirty="0"/>
              <a:t> </a:t>
            </a:r>
            <a:r>
              <a:rPr lang="en-US" altLang="ja-JP" sz="1800" b="1" kern="0" dirty="0"/>
              <a:t>{</a:t>
            </a:r>
            <a:r>
              <a:rPr lang="en-US" altLang="ja-JP" sz="1800" b="1" kern="0" dirty="0" err="1"/>
              <a:t>cardx</a:t>
            </a:r>
            <a:r>
              <a:rPr lang="en-US" altLang="ja-JP" sz="1800" b="1" kern="0" dirty="0"/>
              <a:t>}</a:t>
            </a:r>
            <a:r>
              <a:rPr lang="ja-JP" altLang="en-US" sz="1800" b="1" kern="0" dirty="0"/>
              <a:t>等が作成に対応</a:t>
            </a:r>
            <a:endParaRPr lang="en-US" altLang="ja-JP" sz="1800" b="1" kern="0" dirty="0"/>
          </a:p>
        </p:txBody>
      </p:sp>
    </p:spTree>
    <p:extLst>
      <p:ext uri="{BB962C8B-B14F-4D97-AF65-F5344CB8AC3E}">
        <p14:creationId xmlns:p14="http://schemas.microsoft.com/office/powerpoint/2010/main" val="1007653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en-US" altLang="ja-JP" dirty="0"/>
              <a:t>Table</a:t>
            </a:r>
            <a:r>
              <a:rPr kumimoji="1" lang="ja-JP" altLang="en-US" dirty="0"/>
              <a:t>化</a:t>
            </a: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17</a:t>
            </a:fld>
            <a:endParaRPr lang="en-US" altLang="ja-JP"/>
          </a:p>
        </p:txBody>
      </p:sp>
      <p:sp>
        <p:nvSpPr>
          <p:cNvPr id="5" name="コンテンツ プレースホルダー 2">
            <a:extLst>
              <a:ext uri="{FF2B5EF4-FFF2-40B4-BE49-F238E27FC236}">
                <a16:creationId xmlns:a16="http://schemas.microsoft.com/office/drawing/2014/main" id="{7C1697D4-FC15-D6AD-04BF-2C2E5F13A470}"/>
              </a:ext>
            </a:extLst>
          </p:cNvPr>
          <p:cNvSpPr>
            <a:spLocks noGrp="1"/>
          </p:cNvSpPr>
          <p:nvPr>
            <p:ph idx="1"/>
          </p:nvPr>
        </p:nvSpPr>
        <p:spPr>
          <a:xfrm>
            <a:off x="509588" y="1219200"/>
            <a:ext cx="11172825" cy="5181600"/>
          </a:xfrm>
        </p:spPr>
        <p:txBody>
          <a:bodyPr>
            <a:normAutofit/>
          </a:bodyPr>
          <a:lstStyle/>
          <a:p>
            <a:pPr marL="0" indent="0">
              <a:buNone/>
            </a:pPr>
            <a:r>
              <a:rPr kumimoji="1" lang="en-US" altLang="ja-JP" dirty="0"/>
              <a:t>{cards}</a:t>
            </a:r>
            <a:r>
              <a:rPr kumimoji="1" lang="ja-JP" altLang="en-US" dirty="0"/>
              <a:t>で</a:t>
            </a:r>
            <a:r>
              <a:rPr kumimoji="1" lang="en-US" altLang="ja-JP" dirty="0"/>
              <a:t>ARD</a:t>
            </a:r>
            <a:r>
              <a:rPr kumimoji="1" lang="ja-JP" altLang="en-US" dirty="0"/>
              <a:t>を作成した例</a:t>
            </a:r>
            <a:r>
              <a:rPr kumimoji="1" lang="en-US" altLang="ja-JP" sz="1800" dirty="0"/>
              <a:t>(</a:t>
            </a:r>
            <a:r>
              <a:rPr kumimoji="1" lang="ja-JP" altLang="en-US" sz="1800" dirty="0"/>
              <a:t>再掲</a:t>
            </a:r>
            <a:r>
              <a:rPr kumimoji="1" lang="en-US" altLang="ja-JP" sz="1800" dirty="0"/>
              <a:t>)</a:t>
            </a:r>
            <a:endParaRPr kumimoji="1" lang="en-US" altLang="ja-JP" dirty="0"/>
          </a:p>
          <a:p>
            <a:pPr marL="0" indent="0">
              <a:buNone/>
            </a:pPr>
            <a:r>
              <a:rPr lang="en-US" altLang="ja-JP" dirty="0"/>
              <a:t>sort</a:t>
            </a:r>
            <a:r>
              <a:rPr lang="ja-JP" altLang="en-US" dirty="0"/>
              <a:t>情報や</a:t>
            </a:r>
            <a:r>
              <a:rPr kumimoji="1" lang="en-US" altLang="ja-JP" dirty="0"/>
              <a:t>Null</a:t>
            </a:r>
            <a:r>
              <a:rPr kumimoji="1" lang="ja-JP" altLang="en-US" dirty="0"/>
              <a:t>の情報が</a:t>
            </a:r>
            <a:endParaRPr kumimoji="1" lang="en-US" altLang="ja-JP" dirty="0"/>
          </a:p>
          <a:p>
            <a:pPr marL="0" indent="0">
              <a:buNone/>
            </a:pPr>
            <a:r>
              <a:rPr kumimoji="1" lang="ja-JP" altLang="en-US" dirty="0"/>
              <a:t>値として保持されていない</a:t>
            </a:r>
            <a:endParaRPr kumimoji="1"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en-US" altLang="ja-JP" dirty="0"/>
              <a:t>Parameter</a:t>
            </a:r>
            <a:r>
              <a:rPr kumimoji="1" lang="ja-JP" altLang="en-US" dirty="0"/>
              <a:t>の指定は</a:t>
            </a:r>
            <a:r>
              <a:rPr kumimoji="1" lang="en-US" altLang="ja-JP" dirty="0"/>
              <a:t>{cards}</a:t>
            </a:r>
            <a:r>
              <a:rPr kumimoji="1" lang="ja-JP" altLang="en-US" dirty="0"/>
              <a:t>と</a:t>
            </a:r>
            <a:r>
              <a:rPr kumimoji="1" lang="en-US" altLang="ja-JP" dirty="0"/>
              <a:t>{</a:t>
            </a:r>
            <a:r>
              <a:rPr kumimoji="1" lang="en-US" altLang="ja-JP" dirty="0" err="1"/>
              <a:t>tfrmt</a:t>
            </a:r>
            <a:r>
              <a:rPr kumimoji="1" lang="en-US" altLang="ja-JP" dirty="0"/>
              <a:t>}</a:t>
            </a:r>
            <a:r>
              <a:rPr kumimoji="1" lang="ja-JP" altLang="en-US" dirty="0"/>
              <a:t>でも差異があり、</a:t>
            </a:r>
            <a:endParaRPr kumimoji="1" lang="en-US" altLang="ja-JP" dirty="0"/>
          </a:p>
          <a:p>
            <a:pPr marL="0" indent="0">
              <a:buNone/>
            </a:pPr>
            <a:r>
              <a:rPr kumimoji="1" lang="en-US" altLang="ja-JP" dirty="0"/>
              <a:t>{</a:t>
            </a:r>
            <a:r>
              <a:rPr kumimoji="1" lang="en-US" altLang="ja-JP" dirty="0" err="1"/>
              <a:t>tfrmt</a:t>
            </a:r>
            <a:r>
              <a:rPr kumimoji="1" lang="en-US" altLang="ja-JP" dirty="0"/>
              <a:t>}</a:t>
            </a:r>
            <a:r>
              <a:rPr kumimoji="1" lang="ja-JP" altLang="en-US" dirty="0"/>
              <a:t>では</a:t>
            </a:r>
            <a:r>
              <a:rPr kumimoji="1" lang="en-US" altLang="ja-JP" dirty="0" err="1"/>
              <a:t>shuffle_card</a:t>
            </a:r>
            <a:r>
              <a:rPr kumimoji="1" lang="ja-JP" altLang="en-US" dirty="0"/>
              <a:t>関数を準備し、</a:t>
            </a:r>
            <a:r>
              <a:rPr lang="en-US" altLang="ja-JP" dirty="0"/>
              <a:t>big N</a:t>
            </a:r>
            <a:r>
              <a:rPr lang="ja-JP" altLang="en-US" dirty="0"/>
              <a:t>をやラベル階層を成形してから</a:t>
            </a:r>
            <a:r>
              <a:rPr lang="en-US" altLang="ja-JP" dirty="0"/>
              <a:t>Table</a:t>
            </a:r>
            <a:r>
              <a:rPr lang="ja-JP" altLang="en-US" dirty="0"/>
              <a:t>化する流れを作っている</a:t>
            </a:r>
            <a:endParaRPr kumimoji="1" lang="ja-JP" altLang="en-US" dirty="0"/>
          </a:p>
        </p:txBody>
      </p:sp>
      <p:pic>
        <p:nvPicPr>
          <p:cNvPr id="6" name="図 5">
            <a:extLst>
              <a:ext uri="{FF2B5EF4-FFF2-40B4-BE49-F238E27FC236}">
                <a16:creationId xmlns:a16="http://schemas.microsoft.com/office/drawing/2014/main" id="{7F60A87A-D930-6CFC-496A-F52143B8D807}"/>
              </a:ext>
            </a:extLst>
          </p:cNvPr>
          <p:cNvPicPr>
            <a:picLocks noChangeAspect="1"/>
          </p:cNvPicPr>
          <p:nvPr/>
        </p:nvPicPr>
        <p:blipFill>
          <a:blip r:embed="rId2"/>
          <a:stretch>
            <a:fillRect/>
          </a:stretch>
        </p:blipFill>
        <p:spPr>
          <a:xfrm>
            <a:off x="5186073" y="1018832"/>
            <a:ext cx="6947814" cy="2864346"/>
          </a:xfrm>
          <a:prstGeom prst="rect">
            <a:avLst/>
          </a:prstGeom>
        </p:spPr>
      </p:pic>
    </p:spTree>
    <p:extLst>
      <p:ext uri="{BB962C8B-B14F-4D97-AF65-F5344CB8AC3E}">
        <p14:creationId xmlns:p14="http://schemas.microsoft.com/office/powerpoint/2010/main" val="4203924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en-US" altLang="ja-JP" dirty="0"/>
              <a:t>Table</a:t>
            </a:r>
            <a:r>
              <a:rPr kumimoji="1" lang="ja-JP" altLang="en-US" dirty="0"/>
              <a:t>化</a:t>
            </a: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18</a:t>
            </a:fld>
            <a:endParaRPr lang="en-US" altLang="ja-JP"/>
          </a:p>
        </p:txBody>
      </p:sp>
      <p:sp>
        <p:nvSpPr>
          <p:cNvPr id="5" name="コンテンツ プレースホルダー 2">
            <a:extLst>
              <a:ext uri="{FF2B5EF4-FFF2-40B4-BE49-F238E27FC236}">
                <a16:creationId xmlns:a16="http://schemas.microsoft.com/office/drawing/2014/main" id="{7C1697D4-FC15-D6AD-04BF-2C2E5F13A470}"/>
              </a:ext>
            </a:extLst>
          </p:cNvPr>
          <p:cNvSpPr>
            <a:spLocks noGrp="1"/>
          </p:cNvSpPr>
          <p:nvPr>
            <p:ph idx="1"/>
          </p:nvPr>
        </p:nvSpPr>
        <p:spPr>
          <a:xfrm>
            <a:off x="509588" y="1219200"/>
            <a:ext cx="4144247" cy="5181600"/>
          </a:xfrm>
        </p:spPr>
        <p:txBody>
          <a:bodyPr>
            <a:normAutofit/>
          </a:bodyPr>
          <a:lstStyle/>
          <a:p>
            <a:pPr marL="0" indent="0"/>
            <a:r>
              <a:rPr kumimoji="1" lang="ja-JP" altLang="en-US" dirty="0"/>
              <a:t>プログラム実行</a:t>
            </a:r>
            <a:endParaRPr kumimoji="1" lang="en-US" altLang="ja-JP" dirty="0"/>
          </a:p>
          <a:p>
            <a:pPr marL="0" indent="0"/>
            <a:endParaRPr lang="en-US" altLang="ja-JP" dirty="0"/>
          </a:p>
          <a:p>
            <a:pPr marL="0" indent="0"/>
            <a:r>
              <a:rPr kumimoji="1" lang="en-US" altLang="ja-JP" dirty="0"/>
              <a:t>{</a:t>
            </a:r>
            <a:r>
              <a:rPr kumimoji="1" lang="en-US" altLang="ja-JP" dirty="0" err="1"/>
              <a:t>tfrmt</a:t>
            </a:r>
            <a:r>
              <a:rPr kumimoji="1" lang="en-US" altLang="ja-JP" dirty="0"/>
              <a:t>}</a:t>
            </a:r>
            <a:r>
              <a:rPr kumimoji="1" lang="ja-JP" altLang="en-US" dirty="0"/>
              <a:t>は縦型のデータを</a:t>
            </a:r>
            <a:r>
              <a:rPr lang="ja-JP" altLang="en-US" dirty="0"/>
              <a:t>、</a:t>
            </a:r>
            <a:r>
              <a:rPr lang="en-US" altLang="ja-JP" dirty="0" err="1"/>
              <a:t>Paramter</a:t>
            </a:r>
            <a:r>
              <a:rPr lang="ja-JP" altLang="en-US" dirty="0"/>
              <a:t>で出力形式を当てるだけで出力が可能</a:t>
            </a:r>
            <a:endParaRPr kumimoji="1" lang="en-US" altLang="ja-JP" dirty="0"/>
          </a:p>
          <a:p>
            <a:pPr marL="0" indent="0">
              <a:buNone/>
            </a:pPr>
            <a:endParaRPr kumimoji="1" lang="ja-JP" altLang="en-US" dirty="0"/>
          </a:p>
        </p:txBody>
      </p:sp>
      <p:pic>
        <p:nvPicPr>
          <p:cNvPr id="3" name="図 2">
            <a:extLst>
              <a:ext uri="{FF2B5EF4-FFF2-40B4-BE49-F238E27FC236}">
                <a16:creationId xmlns:a16="http://schemas.microsoft.com/office/drawing/2014/main" id="{B879AD61-0B87-ECE2-A649-B3FC403B8F09}"/>
              </a:ext>
            </a:extLst>
          </p:cNvPr>
          <p:cNvPicPr>
            <a:picLocks noChangeAspect="1"/>
          </p:cNvPicPr>
          <p:nvPr/>
        </p:nvPicPr>
        <p:blipFill>
          <a:blip r:embed="rId2"/>
          <a:stretch>
            <a:fillRect/>
          </a:stretch>
        </p:blipFill>
        <p:spPr>
          <a:xfrm>
            <a:off x="6197459" y="235466"/>
            <a:ext cx="4144247" cy="1400469"/>
          </a:xfrm>
          <a:prstGeom prst="rect">
            <a:avLst/>
          </a:prstGeom>
          <a:ln>
            <a:noFill/>
          </a:ln>
          <a:effectLst>
            <a:outerShdw blurRad="292100" dist="139700" dir="2700000" algn="tl" rotWithShape="0">
              <a:srgbClr val="333333">
                <a:alpha val="65000"/>
              </a:srgbClr>
            </a:outerShdw>
          </a:effectLst>
        </p:spPr>
      </p:pic>
      <p:sp>
        <p:nvSpPr>
          <p:cNvPr id="7" name="テキスト ボックス 6">
            <a:extLst>
              <a:ext uri="{FF2B5EF4-FFF2-40B4-BE49-F238E27FC236}">
                <a16:creationId xmlns:a16="http://schemas.microsoft.com/office/drawing/2014/main" id="{928DFB0C-1D2F-C13A-C854-0293F63C70ED}"/>
              </a:ext>
            </a:extLst>
          </p:cNvPr>
          <p:cNvSpPr txBox="1"/>
          <p:nvPr/>
        </p:nvSpPr>
        <p:spPr>
          <a:xfrm>
            <a:off x="6885543" y="6160869"/>
            <a:ext cx="4841482" cy="461665"/>
          </a:xfrm>
          <a:prstGeom prst="rect">
            <a:avLst/>
          </a:prstGeom>
          <a:noFill/>
        </p:spPr>
        <p:txBody>
          <a:bodyPr wrap="square">
            <a:spAutoFit/>
          </a:bodyPr>
          <a:lstStyle/>
          <a:p>
            <a:r>
              <a:rPr lang="en-US" altLang="ja-JP" sz="1200" dirty="0" err="1"/>
              <a:t>tfmrt</a:t>
            </a:r>
            <a:r>
              <a:rPr lang="en-US" altLang="ja-JP" sz="1200" dirty="0"/>
              <a:t> Efficacy</a:t>
            </a:r>
            <a:br>
              <a:rPr lang="en-US" altLang="ja-JP" sz="1200" dirty="0"/>
            </a:br>
            <a:r>
              <a:rPr lang="ja-JP" altLang="en-US" sz="1200" dirty="0">
                <a:hlinkClick r:id="rId3"/>
              </a:rPr>
              <a:t>https://gsk-biostatistics.github.io/tfrmt/articles/examples.html</a:t>
            </a:r>
            <a:endParaRPr lang="en-US" altLang="ja-JP" sz="1200" dirty="0"/>
          </a:p>
        </p:txBody>
      </p:sp>
      <p:sp>
        <p:nvSpPr>
          <p:cNvPr id="8" name="四角形: 角を丸くする 7">
            <a:extLst>
              <a:ext uri="{FF2B5EF4-FFF2-40B4-BE49-F238E27FC236}">
                <a16:creationId xmlns:a16="http://schemas.microsoft.com/office/drawing/2014/main" id="{073456D4-09C7-ACCE-1C25-1D25C278D1E3}"/>
              </a:ext>
            </a:extLst>
          </p:cNvPr>
          <p:cNvSpPr/>
          <p:nvPr/>
        </p:nvSpPr>
        <p:spPr>
          <a:xfrm>
            <a:off x="7117299" y="745178"/>
            <a:ext cx="2077156" cy="156979"/>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74B829BA-2EC6-F97F-E458-49458C30AB40}"/>
              </a:ext>
            </a:extLst>
          </p:cNvPr>
          <p:cNvPicPr>
            <a:picLocks noChangeAspect="1"/>
          </p:cNvPicPr>
          <p:nvPr/>
        </p:nvPicPr>
        <p:blipFill>
          <a:blip r:embed="rId4"/>
          <a:stretch>
            <a:fillRect/>
          </a:stretch>
        </p:blipFill>
        <p:spPr>
          <a:xfrm>
            <a:off x="5872652" y="4366219"/>
            <a:ext cx="5315692" cy="1390844"/>
          </a:xfrm>
          <a:prstGeom prst="rect">
            <a:avLst/>
          </a:prstGeom>
          <a:ln>
            <a:noFill/>
          </a:ln>
          <a:effectLst>
            <a:outerShdw blurRad="292100" dist="139700" dir="2700000" algn="tl" rotWithShape="0">
              <a:srgbClr val="333333">
                <a:alpha val="65000"/>
              </a:srgbClr>
            </a:outerShdw>
          </a:effectLst>
        </p:spPr>
      </p:pic>
      <p:sp>
        <p:nvSpPr>
          <p:cNvPr id="10" name="四角形: 角を丸くする 9">
            <a:extLst>
              <a:ext uri="{FF2B5EF4-FFF2-40B4-BE49-F238E27FC236}">
                <a16:creationId xmlns:a16="http://schemas.microsoft.com/office/drawing/2014/main" id="{0503E153-C31C-00EC-9D19-D4238428BA49}"/>
              </a:ext>
            </a:extLst>
          </p:cNvPr>
          <p:cNvSpPr/>
          <p:nvPr/>
        </p:nvSpPr>
        <p:spPr>
          <a:xfrm>
            <a:off x="7117299" y="1230599"/>
            <a:ext cx="2077156" cy="405335"/>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314960E9-5F7A-7559-00A5-615AFD688120}"/>
              </a:ext>
            </a:extLst>
          </p:cNvPr>
          <p:cNvSpPr/>
          <p:nvPr/>
        </p:nvSpPr>
        <p:spPr>
          <a:xfrm>
            <a:off x="5990068" y="5453110"/>
            <a:ext cx="5080859" cy="263377"/>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00CF2CCE-7A4D-2FED-AC05-BB92E713540E}"/>
              </a:ext>
            </a:extLst>
          </p:cNvPr>
          <p:cNvPicPr>
            <a:picLocks noChangeAspect="1"/>
          </p:cNvPicPr>
          <p:nvPr/>
        </p:nvPicPr>
        <p:blipFill>
          <a:blip r:embed="rId5"/>
          <a:stretch>
            <a:fillRect/>
          </a:stretch>
        </p:blipFill>
        <p:spPr>
          <a:xfrm>
            <a:off x="4790302" y="2258842"/>
            <a:ext cx="7192379" cy="1419423"/>
          </a:xfrm>
          <a:prstGeom prst="rect">
            <a:avLst/>
          </a:prstGeom>
          <a:ln>
            <a:noFill/>
          </a:ln>
          <a:effectLst>
            <a:outerShdw blurRad="292100" dist="139700" dir="2700000" algn="tl" rotWithShape="0">
              <a:srgbClr val="333333">
                <a:alpha val="65000"/>
              </a:srgbClr>
            </a:outerShdw>
          </a:effectLst>
        </p:spPr>
      </p:pic>
      <p:sp>
        <p:nvSpPr>
          <p:cNvPr id="13" name="四角形: 角を丸くする 12">
            <a:extLst>
              <a:ext uri="{FF2B5EF4-FFF2-40B4-BE49-F238E27FC236}">
                <a16:creationId xmlns:a16="http://schemas.microsoft.com/office/drawing/2014/main" id="{ABD74F15-C35E-189B-B982-D5AD05F5303C}"/>
              </a:ext>
            </a:extLst>
          </p:cNvPr>
          <p:cNvSpPr/>
          <p:nvPr/>
        </p:nvSpPr>
        <p:spPr>
          <a:xfrm>
            <a:off x="6027126" y="2556573"/>
            <a:ext cx="5080859" cy="263377"/>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B330E84-44A0-CD75-D851-4F3D9AD7528E}"/>
              </a:ext>
            </a:extLst>
          </p:cNvPr>
          <p:cNvSpPr/>
          <p:nvPr/>
        </p:nvSpPr>
        <p:spPr>
          <a:xfrm>
            <a:off x="8030582" y="1916719"/>
            <a:ext cx="742319" cy="137004"/>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3F12F8DE-20C2-FD25-F54B-1FF179BDA57D}"/>
              </a:ext>
            </a:extLst>
          </p:cNvPr>
          <p:cNvSpPr/>
          <p:nvPr/>
        </p:nvSpPr>
        <p:spPr>
          <a:xfrm rot="5400000">
            <a:off x="8076543" y="1896405"/>
            <a:ext cx="657976" cy="15456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6485C455-219C-C3E3-6E7B-FF5A3A203866}"/>
              </a:ext>
            </a:extLst>
          </p:cNvPr>
          <p:cNvSpPr/>
          <p:nvPr/>
        </p:nvSpPr>
        <p:spPr>
          <a:xfrm rot="5400000">
            <a:off x="7980220" y="3959948"/>
            <a:ext cx="657976" cy="15456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133A05AE-DD5B-0494-4CA2-8F47A6145481}"/>
              </a:ext>
            </a:extLst>
          </p:cNvPr>
          <p:cNvSpPr/>
          <p:nvPr/>
        </p:nvSpPr>
        <p:spPr>
          <a:xfrm rot="5400000">
            <a:off x="8231109" y="3959948"/>
            <a:ext cx="657976" cy="15456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20566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en-US" altLang="ja-JP" dirty="0"/>
              <a:t>Table</a:t>
            </a:r>
            <a:r>
              <a:rPr kumimoji="1" lang="ja-JP" altLang="en-US" dirty="0"/>
              <a:t>化</a:t>
            </a: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19</a:t>
            </a:fld>
            <a:endParaRPr lang="en-US" altLang="ja-JP"/>
          </a:p>
        </p:txBody>
      </p:sp>
      <p:sp>
        <p:nvSpPr>
          <p:cNvPr id="5" name="コンテンツ プレースホルダー 2">
            <a:extLst>
              <a:ext uri="{FF2B5EF4-FFF2-40B4-BE49-F238E27FC236}">
                <a16:creationId xmlns:a16="http://schemas.microsoft.com/office/drawing/2014/main" id="{7C1697D4-FC15-D6AD-04BF-2C2E5F13A470}"/>
              </a:ext>
            </a:extLst>
          </p:cNvPr>
          <p:cNvSpPr>
            <a:spLocks noGrp="1"/>
          </p:cNvSpPr>
          <p:nvPr>
            <p:ph idx="1"/>
          </p:nvPr>
        </p:nvSpPr>
        <p:spPr>
          <a:xfrm>
            <a:off x="475154" y="1225550"/>
            <a:ext cx="4972774" cy="5181600"/>
          </a:xfrm>
        </p:spPr>
        <p:txBody>
          <a:bodyPr>
            <a:normAutofit/>
          </a:bodyPr>
          <a:lstStyle/>
          <a:p>
            <a:pPr marL="0" indent="0">
              <a:buNone/>
            </a:pPr>
            <a:r>
              <a:rPr kumimoji="1" lang="en-US" altLang="ja-JP" dirty="0"/>
              <a:t>ARD</a:t>
            </a:r>
            <a:r>
              <a:rPr lang="ja-JP" altLang="en-US" dirty="0"/>
              <a:t>を作成・検証してしまえば、</a:t>
            </a:r>
            <a:r>
              <a:rPr lang="en-US" altLang="ja-JP" dirty="0"/>
              <a:t>R</a:t>
            </a:r>
            <a:r>
              <a:rPr lang="ja-JP" altLang="en-US" dirty="0"/>
              <a:t>以外での帳票作成も可能</a:t>
            </a:r>
            <a:endParaRPr lang="en-US" altLang="ja-JP" dirty="0"/>
          </a:p>
          <a:p>
            <a:pPr marL="0" indent="0">
              <a:buNone/>
            </a:pPr>
            <a:r>
              <a:rPr lang="en-US" altLang="ja-JP" dirty="0"/>
              <a:t>(SAS</a:t>
            </a:r>
            <a:r>
              <a:rPr lang="ja-JP" altLang="en-US" dirty="0"/>
              <a:t>での実行例</a:t>
            </a:r>
            <a:r>
              <a:rPr lang="en-US" altLang="ja-JP" dirty="0"/>
              <a:t>)</a:t>
            </a:r>
          </a:p>
          <a:p>
            <a:pPr marL="0" indent="0">
              <a:buNone/>
            </a:pPr>
            <a:endParaRPr lang="en-US" altLang="ja-JP" dirty="0"/>
          </a:p>
          <a:p>
            <a:pPr marL="0" indent="0">
              <a:buNone/>
            </a:pPr>
            <a:endParaRPr lang="en-US" altLang="ja-JP" dirty="0"/>
          </a:p>
          <a:p>
            <a:pPr marL="0" indent="0"/>
            <a:r>
              <a:rPr lang="en-US" altLang="ja-JP" sz="2800" dirty="0"/>
              <a:t>[</a:t>
            </a:r>
            <a:r>
              <a:rPr kumimoji="1" lang="en-US" altLang="ja-JP" sz="2800" dirty="0" err="1"/>
              <a:t>ADaM</a:t>
            </a:r>
            <a:r>
              <a:rPr kumimoji="1" lang="en-US" altLang="ja-JP" sz="2800" dirty="0"/>
              <a:t>]        [ARD]        [</a:t>
            </a:r>
            <a:r>
              <a:rPr kumimoji="1" lang="ja-JP" altLang="en-US" sz="2800" dirty="0"/>
              <a:t>帳票</a:t>
            </a:r>
            <a:r>
              <a:rPr kumimoji="1" lang="en-US" altLang="ja-JP" sz="2800" dirty="0"/>
              <a:t>]</a:t>
            </a:r>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r>
              <a:rPr kumimoji="1" lang="ja-JP" altLang="en-US" dirty="0"/>
              <a:t>当然</a:t>
            </a:r>
            <a:r>
              <a:rPr kumimoji="1" lang="en-US" altLang="ja-JP" dirty="0"/>
              <a:t>[SAS]</a:t>
            </a:r>
            <a:r>
              <a:rPr kumimoji="1" lang="ja-JP" altLang="en-US" dirty="0"/>
              <a:t>→</a:t>
            </a:r>
            <a:r>
              <a:rPr kumimoji="1" lang="en-US" altLang="ja-JP" dirty="0"/>
              <a:t>[R]</a:t>
            </a:r>
            <a:r>
              <a:rPr kumimoji="1" lang="ja-JP" altLang="en-US" dirty="0"/>
              <a:t>も可能</a:t>
            </a:r>
            <a:endParaRPr kumimoji="1" lang="en-US" altLang="ja-JP" dirty="0"/>
          </a:p>
        </p:txBody>
      </p:sp>
      <p:pic>
        <p:nvPicPr>
          <p:cNvPr id="13" name="図 12">
            <a:extLst>
              <a:ext uri="{FF2B5EF4-FFF2-40B4-BE49-F238E27FC236}">
                <a16:creationId xmlns:a16="http://schemas.microsoft.com/office/drawing/2014/main" id="{E90E0AC4-09A9-3AB1-8275-E74CB2E60178}"/>
              </a:ext>
            </a:extLst>
          </p:cNvPr>
          <p:cNvPicPr>
            <a:picLocks noChangeAspect="1"/>
          </p:cNvPicPr>
          <p:nvPr/>
        </p:nvPicPr>
        <p:blipFill>
          <a:blip r:embed="rId2"/>
          <a:stretch>
            <a:fillRect/>
          </a:stretch>
        </p:blipFill>
        <p:spPr>
          <a:xfrm>
            <a:off x="7568348" y="725661"/>
            <a:ext cx="4067743" cy="3153215"/>
          </a:xfrm>
          <a:prstGeom prst="rect">
            <a:avLst/>
          </a:prstGeom>
          <a:ln>
            <a:noFill/>
          </a:ln>
          <a:effectLst>
            <a:outerShdw blurRad="292100" dist="139700" dir="2700000" algn="tl" rotWithShape="0">
              <a:srgbClr val="333333">
                <a:alpha val="65000"/>
              </a:srgbClr>
            </a:outerShdw>
          </a:effectLst>
        </p:spPr>
      </p:pic>
      <p:sp>
        <p:nvSpPr>
          <p:cNvPr id="14" name="四角形: 角を丸くする 13">
            <a:extLst>
              <a:ext uri="{FF2B5EF4-FFF2-40B4-BE49-F238E27FC236}">
                <a16:creationId xmlns:a16="http://schemas.microsoft.com/office/drawing/2014/main" id="{00EFC48D-0289-7784-0067-A0CA6C523F9D}"/>
              </a:ext>
            </a:extLst>
          </p:cNvPr>
          <p:cNvSpPr/>
          <p:nvPr/>
        </p:nvSpPr>
        <p:spPr>
          <a:xfrm>
            <a:off x="7751554" y="1371598"/>
            <a:ext cx="2345381" cy="138113"/>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a:extLst>
              <a:ext uri="{FF2B5EF4-FFF2-40B4-BE49-F238E27FC236}">
                <a16:creationId xmlns:a16="http://schemas.microsoft.com/office/drawing/2014/main" id="{3DF4239D-326B-7646-AB82-50AC3414A787}"/>
              </a:ext>
            </a:extLst>
          </p:cNvPr>
          <p:cNvPicPr>
            <a:picLocks noChangeAspect="1"/>
          </p:cNvPicPr>
          <p:nvPr/>
        </p:nvPicPr>
        <p:blipFill>
          <a:blip r:embed="rId3"/>
          <a:stretch>
            <a:fillRect/>
          </a:stretch>
        </p:blipFill>
        <p:spPr>
          <a:xfrm>
            <a:off x="7207337" y="4163748"/>
            <a:ext cx="4715533" cy="1324160"/>
          </a:xfrm>
          <a:prstGeom prst="rect">
            <a:avLst/>
          </a:prstGeom>
          <a:ln>
            <a:noFill/>
          </a:ln>
          <a:effectLst>
            <a:outerShdw blurRad="292100" dist="139700" dir="2700000" algn="tl" rotWithShape="0">
              <a:srgbClr val="333333">
                <a:alpha val="65000"/>
              </a:srgbClr>
            </a:outerShdw>
          </a:effectLst>
        </p:spPr>
      </p:pic>
      <p:pic>
        <p:nvPicPr>
          <p:cNvPr id="16" name="図 15">
            <a:extLst>
              <a:ext uri="{FF2B5EF4-FFF2-40B4-BE49-F238E27FC236}">
                <a16:creationId xmlns:a16="http://schemas.microsoft.com/office/drawing/2014/main" id="{B7D4AEA9-2811-CC5A-D006-39E74E814EF0}"/>
              </a:ext>
            </a:extLst>
          </p:cNvPr>
          <p:cNvPicPr>
            <a:picLocks noChangeAspect="1"/>
          </p:cNvPicPr>
          <p:nvPr/>
        </p:nvPicPr>
        <p:blipFill>
          <a:blip r:embed="rId4"/>
          <a:stretch>
            <a:fillRect/>
          </a:stretch>
        </p:blipFill>
        <p:spPr>
          <a:xfrm>
            <a:off x="5922079" y="5795935"/>
            <a:ext cx="5930900" cy="904930"/>
          </a:xfrm>
          <a:prstGeom prst="rect">
            <a:avLst/>
          </a:prstGeom>
          <a:ln>
            <a:noFill/>
          </a:ln>
          <a:effectLst>
            <a:outerShdw blurRad="292100" dist="139700" dir="2700000" algn="tl" rotWithShape="0">
              <a:srgbClr val="333333">
                <a:alpha val="65000"/>
              </a:srgbClr>
            </a:outerShdw>
          </a:effectLst>
        </p:spPr>
      </p:pic>
      <p:pic>
        <p:nvPicPr>
          <p:cNvPr id="17" name="図 16">
            <a:extLst>
              <a:ext uri="{FF2B5EF4-FFF2-40B4-BE49-F238E27FC236}">
                <a16:creationId xmlns:a16="http://schemas.microsoft.com/office/drawing/2014/main" id="{D43B4419-4A04-8E57-2153-4F1F24009089}"/>
              </a:ext>
            </a:extLst>
          </p:cNvPr>
          <p:cNvPicPr>
            <a:picLocks noChangeAspect="1"/>
          </p:cNvPicPr>
          <p:nvPr/>
        </p:nvPicPr>
        <p:blipFill>
          <a:blip r:embed="rId5"/>
          <a:stretch>
            <a:fillRect/>
          </a:stretch>
        </p:blipFill>
        <p:spPr>
          <a:xfrm>
            <a:off x="4125595" y="220618"/>
            <a:ext cx="3081742" cy="1041416"/>
          </a:xfrm>
          <a:prstGeom prst="rect">
            <a:avLst/>
          </a:prstGeom>
          <a:ln>
            <a:noFill/>
          </a:ln>
          <a:effectLst>
            <a:outerShdw blurRad="292100" dist="139700" dir="2700000" algn="tl" rotWithShape="0">
              <a:srgbClr val="333333">
                <a:alpha val="65000"/>
              </a:srgbClr>
            </a:outerShdw>
          </a:effectLst>
        </p:spPr>
      </p:pic>
      <p:sp>
        <p:nvSpPr>
          <p:cNvPr id="18" name="四角形: 角を丸くする 17">
            <a:extLst>
              <a:ext uri="{FF2B5EF4-FFF2-40B4-BE49-F238E27FC236}">
                <a16:creationId xmlns:a16="http://schemas.microsoft.com/office/drawing/2014/main" id="{C58A5179-3D98-706B-626D-0EEA0B71D818}"/>
              </a:ext>
            </a:extLst>
          </p:cNvPr>
          <p:cNvSpPr/>
          <p:nvPr/>
        </p:nvSpPr>
        <p:spPr>
          <a:xfrm>
            <a:off x="4830588" y="220618"/>
            <a:ext cx="2151956" cy="1041416"/>
          </a:xfrm>
          <a:prstGeom prst="roundRect">
            <a:avLst>
              <a:gd name="adj" fmla="val 5692"/>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C59DD2EA-7441-329A-3304-1A9A2908239A}"/>
              </a:ext>
            </a:extLst>
          </p:cNvPr>
          <p:cNvSpPr/>
          <p:nvPr/>
        </p:nvSpPr>
        <p:spPr>
          <a:xfrm>
            <a:off x="8395560" y="4557733"/>
            <a:ext cx="1596514" cy="502948"/>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9C12250-BAF3-53B9-1CA9-644ACE12CB65}"/>
              </a:ext>
            </a:extLst>
          </p:cNvPr>
          <p:cNvSpPr/>
          <p:nvPr/>
        </p:nvSpPr>
        <p:spPr>
          <a:xfrm>
            <a:off x="7816850" y="5962650"/>
            <a:ext cx="2051049" cy="444500"/>
          </a:xfrm>
          <a:prstGeom prst="roundRect">
            <a:avLst>
              <a:gd name="adj" fmla="val 7491"/>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矢印: 右 20">
            <a:extLst>
              <a:ext uri="{FF2B5EF4-FFF2-40B4-BE49-F238E27FC236}">
                <a16:creationId xmlns:a16="http://schemas.microsoft.com/office/drawing/2014/main" id="{5A7980DE-96AC-41AE-D946-51F7B73363EA}"/>
              </a:ext>
            </a:extLst>
          </p:cNvPr>
          <p:cNvSpPr/>
          <p:nvPr/>
        </p:nvSpPr>
        <p:spPr>
          <a:xfrm rot="2303305" flipV="1">
            <a:off x="6889762" y="943846"/>
            <a:ext cx="934384" cy="2703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右 21">
            <a:extLst>
              <a:ext uri="{FF2B5EF4-FFF2-40B4-BE49-F238E27FC236}">
                <a16:creationId xmlns:a16="http://schemas.microsoft.com/office/drawing/2014/main" id="{C2139E9F-D721-3DCC-B594-5669DA5AFC53}"/>
              </a:ext>
            </a:extLst>
          </p:cNvPr>
          <p:cNvSpPr/>
          <p:nvPr/>
        </p:nvSpPr>
        <p:spPr>
          <a:xfrm rot="5400000" flipV="1">
            <a:off x="9335519" y="3194224"/>
            <a:ext cx="533399" cy="15915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右 22">
            <a:extLst>
              <a:ext uri="{FF2B5EF4-FFF2-40B4-BE49-F238E27FC236}">
                <a16:creationId xmlns:a16="http://schemas.microsoft.com/office/drawing/2014/main" id="{8DB18499-1C37-F7FA-0F01-B1379B24AA7F}"/>
              </a:ext>
            </a:extLst>
          </p:cNvPr>
          <p:cNvSpPr/>
          <p:nvPr/>
        </p:nvSpPr>
        <p:spPr>
          <a:xfrm rot="5400000" flipV="1">
            <a:off x="9217359" y="4746166"/>
            <a:ext cx="533399" cy="15915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吹き出し: 角を丸めた四角形 23">
            <a:extLst>
              <a:ext uri="{FF2B5EF4-FFF2-40B4-BE49-F238E27FC236}">
                <a16:creationId xmlns:a16="http://schemas.microsoft.com/office/drawing/2014/main" id="{3F554693-B7DC-F244-7BFC-5CCECAA97DDF}"/>
              </a:ext>
            </a:extLst>
          </p:cNvPr>
          <p:cNvSpPr/>
          <p:nvPr/>
        </p:nvSpPr>
        <p:spPr>
          <a:xfrm>
            <a:off x="3683823" y="4627165"/>
            <a:ext cx="1130199" cy="648072"/>
          </a:xfrm>
          <a:prstGeom prst="wedgeRoundRectCallout">
            <a:avLst>
              <a:gd name="adj1" fmla="val -44610"/>
              <a:gd name="adj2" fmla="val -11778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accent6">
                    <a:lumMod val="60000"/>
                    <a:lumOff val="40000"/>
                  </a:schemeClr>
                </a:solidFill>
              </a:rPr>
              <a:t>SAS</a:t>
            </a:r>
            <a:endParaRPr kumimoji="1" lang="ja-JP" altLang="en-US" dirty="0">
              <a:solidFill>
                <a:schemeClr val="accent6">
                  <a:lumMod val="60000"/>
                  <a:lumOff val="40000"/>
                </a:schemeClr>
              </a:solidFill>
            </a:endParaRPr>
          </a:p>
        </p:txBody>
      </p:sp>
      <p:sp>
        <p:nvSpPr>
          <p:cNvPr id="25" name="吹き出し: 角を丸めた四角形 24">
            <a:extLst>
              <a:ext uri="{FF2B5EF4-FFF2-40B4-BE49-F238E27FC236}">
                <a16:creationId xmlns:a16="http://schemas.microsoft.com/office/drawing/2014/main" id="{F77481A9-72A9-668B-60FF-07051F44DC47}"/>
              </a:ext>
            </a:extLst>
          </p:cNvPr>
          <p:cNvSpPr/>
          <p:nvPr/>
        </p:nvSpPr>
        <p:spPr>
          <a:xfrm>
            <a:off x="1644780" y="4606130"/>
            <a:ext cx="928268" cy="648072"/>
          </a:xfrm>
          <a:prstGeom prst="wedgeRoundRectCallout">
            <a:avLst>
              <a:gd name="adj1" fmla="val -11439"/>
              <a:gd name="adj2" fmla="val -10995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60000"/>
                    <a:lumOff val="40000"/>
                  </a:schemeClr>
                </a:solidFill>
              </a:rPr>
              <a:t>R</a:t>
            </a:r>
            <a:endParaRPr kumimoji="1" lang="ja-JP" altLang="en-US" dirty="0">
              <a:solidFill>
                <a:schemeClr val="accent6">
                  <a:lumMod val="60000"/>
                  <a:lumOff val="40000"/>
                </a:schemeClr>
              </a:solidFill>
            </a:endParaRPr>
          </a:p>
        </p:txBody>
      </p:sp>
      <p:sp>
        <p:nvSpPr>
          <p:cNvPr id="26" name="矢印: 右 25">
            <a:extLst>
              <a:ext uri="{FF2B5EF4-FFF2-40B4-BE49-F238E27FC236}">
                <a16:creationId xmlns:a16="http://schemas.microsoft.com/office/drawing/2014/main" id="{A0083EB9-5781-1AA1-D65E-A7A6C6DBE1C5}"/>
              </a:ext>
            </a:extLst>
          </p:cNvPr>
          <p:cNvSpPr/>
          <p:nvPr/>
        </p:nvSpPr>
        <p:spPr>
          <a:xfrm>
            <a:off x="1741418" y="3803708"/>
            <a:ext cx="754182"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DAEB9535-F5B0-AA4F-B2A1-5DD0688DFA23}"/>
              </a:ext>
            </a:extLst>
          </p:cNvPr>
          <p:cNvSpPr/>
          <p:nvPr/>
        </p:nvSpPr>
        <p:spPr>
          <a:xfrm>
            <a:off x="3507529" y="3803708"/>
            <a:ext cx="754182"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65496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B14B7F-9793-6E50-ECF2-2CF41656E88F}"/>
              </a:ext>
            </a:extLst>
          </p:cNvPr>
          <p:cNvSpPr>
            <a:spLocks noGrp="1"/>
          </p:cNvSpPr>
          <p:nvPr>
            <p:ph type="title"/>
          </p:nvPr>
        </p:nvSpPr>
        <p:spPr/>
        <p:txBody>
          <a:bodyPr/>
          <a:lstStyle/>
          <a:p>
            <a:r>
              <a:rPr lang="en-US" altLang="ja-JP" dirty="0"/>
              <a:t>Agenda</a:t>
            </a:r>
            <a:endParaRPr kumimoji="1" lang="ja-JP" altLang="en-US" dirty="0"/>
          </a:p>
        </p:txBody>
      </p:sp>
      <p:sp>
        <p:nvSpPr>
          <p:cNvPr id="3" name="コンテンツ プレースホルダー 2">
            <a:extLst>
              <a:ext uri="{FF2B5EF4-FFF2-40B4-BE49-F238E27FC236}">
                <a16:creationId xmlns:a16="http://schemas.microsoft.com/office/drawing/2014/main" id="{DA8DAFCE-6C75-6783-DF81-141E8EC284CA}"/>
              </a:ext>
            </a:extLst>
          </p:cNvPr>
          <p:cNvSpPr>
            <a:spLocks noGrp="1"/>
          </p:cNvSpPr>
          <p:nvPr>
            <p:ph idx="1"/>
          </p:nvPr>
        </p:nvSpPr>
        <p:spPr/>
        <p:txBody>
          <a:bodyPr/>
          <a:lstStyle/>
          <a:p>
            <a:pPr marL="457200" indent="-457200">
              <a:buFont typeface="Arial" panose="020B0604020202020204" pitchFamily="34" charset="0"/>
              <a:buChar char="•"/>
            </a:pPr>
            <a:r>
              <a:rPr kumimoji="1" lang="ja-JP" altLang="en-US" dirty="0"/>
              <a:t>背景と課題</a:t>
            </a:r>
            <a:endParaRPr kumimoji="1" lang="en-US" altLang="ja-JP" dirty="0"/>
          </a:p>
          <a:p>
            <a:pPr marL="457200" indent="-457200">
              <a:buFont typeface="Arial" panose="020B0604020202020204" pitchFamily="34" charset="0"/>
              <a:buChar char="•"/>
            </a:pPr>
            <a:r>
              <a:rPr lang="en-US" altLang="ja-JP" dirty="0"/>
              <a:t>Analysis Result Data </a:t>
            </a:r>
            <a:r>
              <a:rPr kumimoji="1" lang="en-US" altLang="ja-JP" dirty="0"/>
              <a:t>(ARD)</a:t>
            </a:r>
            <a:endParaRPr lang="en-US" altLang="ja-JP" dirty="0"/>
          </a:p>
          <a:p>
            <a:pPr marL="457200" indent="-457200">
              <a:buFont typeface="Arial" panose="020B0604020202020204" pitchFamily="34" charset="0"/>
              <a:buChar char="•"/>
            </a:pPr>
            <a:r>
              <a:rPr kumimoji="1" lang="en-US" altLang="ja-JP" dirty="0"/>
              <a:t>Table</a:t>
            </a:r>
            <a:r>
              <a:rPr kumimoji="1" lang="ja-JP" altLang="en-US" dirty="0"/>
              <a:t>化</a:t>
            </a:r>
            <a:endParaRPr lang="en-US" altLang="ja-JP" dirty="0"/>
          </a:p>
          <a:p>
            <a:pPr marL="457200" indent="-457200">
              <a:buFont typeface="Arial" panose="020B0604020202020204" pitchFamily="34" charset="0"/>
              <a:buChar char="•"/>
            </a:pPr>
            <a:r>
              <a:rPr kumimoji="1" lang="ja-JP" altLang="en-US" b="1" u="sng" dirty="0">
                <a:solidFill>
                  <a:srgbClr val="FF0000"/>
                </a:solidFill>
              </a:rPr>
              <a:t>まとめ</a:t>
            </a:r>
          </a:p>
        </p:txBody>
      </p:sp>
      <p:sp>
        <p:nvSpPr>
          <p:cNvPr id="4" name="スライド番号プレースホルダー 3">
            <a:extLst>
              <a:ext uri="{FF2B5EF4-FFF2-40B4-BE49-F238E27FC236}">
                <a16:creationId xmlns:a16="http://schemas.microsoft.com/office/drawing/2014/main" id="{A06F826F-809B-D0DA-F205-C3087D90B3BB}"/>
              </a:ext>
            </a:extLst>
          </p:cNvPr>
          <p:cNvSpPr>
            <a:spLocks noGrp="1"/>
          </p:cNvSpPr>
          <p:nvPr>
            <p:ph type="sldNum" sz="quarter" idx="11"/>
          </p:nvPr>
        </p:nvSpPr>
        <p:spPr/>
        <p:txBody>
          <a:bodyPr/>
          <a:lstStyle/>
          <a:p>
            <a:fld id="{23B20E4E-3F95-4221-AFE5-FD1FD9CC3448}" type="slidenum">
              <a:rPr lang="en-US" altLang="ja-JP" smtClean="0"/>
              <a:pPr/>
              <a:t>20</a:t>
            </a:fld>
            <a:endParaRPr lang="en-US" altLang="ja-JP"/>
          </a:p>
        </p:txBody>
      </p:sp>
    </p:spTree>
    <p:extLst>
      <p:ext uri="{BB962C8B-B14F-4D97-AF65-F5344CB8AC3E}">
        <p14:creationId xmlns:p14="http://schemas.microsoft.com/office/powerpoint/2010/main" val="2685621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lang="ja-JP" altLang="en-US" dirty="0"/>
              <a:t>まとめ</a:t>
            </a:r>
            <a:endParaRPr kumimoji="1" lang="ja-JP" altLang="en-US" dirty="0"/>
          </a:p>
        </p:txBody>
      </p:sp>
      <p:sp>
        <p:nvSpPr>
          <p:cNvPr id="3" name="コンテンツ プレースホルダー 2">
            <a:extLst>
              <a:ext uri="{FF2B5EF4-FFF2-40B4-BE49-F238E27FC236}">
                <a16:creationId xmlns:a16="http://schemas.microsoft.com/office/drawing/2014/main" id="{82CD85ED-B265-E8C3-C117-6EC105D03DE7}"/>
              </a:ext>
            </a:extLst>
          </p:cNvPr>
          <p:cNvSpPr>
            <a:spLocks noGrp="1"/>
          </p:cNvSpPr>
          <p:nvPr>
            <p:ph idx="1"/>
          </p:nvPr>
        </p:nvSpPr>
        <p:spPr/>
        <p:txBody>
          <a:bodyPr/>
          <a:lstStyle/>
          <a:p>
            <a:pPr marL="0" indent="0"/>
            <a:r>
              <a:rPr lang="ja-JP" altLang="en-US" dirty="0"/>
              <a:t>分離</a:t>
            </a:r>
            <a:r>
              <a:rPr lang="en-US" altLang="ja-JP" dirty="0"/>
              <a:t>: </a:t>
            </a:r>
            <a:r>
              <a:rPr lang="ja-JP" altLang="en-US" dirty="0"/>
              <a:t>解析結果（</a:t>
            </a:r>
            <a:r>
              <a:rPr lang="en-US" altLang="ja-JP" dirty="0"/>
              <a:t>ARD</a:t>
            </a:r>
            <a:r>
              <a:rPr lang="ja-JP" altLang="en-US" dirty="0"/>
              <a:t>）と視覚化（</a:t>
            </a:r>
            <a:r>
              <a:rPr lang="en-US" altLang="ja-JP" dirty="0"/>
              <a:t>Display</a:t>
            </a:r>
            <a:r>
              <a:rPr lang="ja-JP" altLang="en-US" dirty="0"/>
              <a:t>）を分離し、データ構造を標準化。</a:t>
            </a:r>
            <a:endParaRPr lang="en-US" altLang="ja-JP" dirty="0"/>
          </a:p>
          <a:p>
            <a:pPr marL="457200" indent="-457200">
              <a:buFont typeface="Arial" panose="020B0604020202020204" pitchFamily="34" charset="0"/>
              <a:buChar char="•"/>
            </a:pPr>
            <a:endParaRPr lang="en-US" altLang="ja-JP" dirty="0"/>
          </a:p>
          <a:p>
            <a:pPr marL="0" indent="0"/>
            <a:r>
              <a:rPr lang="ja-JP" altLang="en-US" dirty="0"/>
              <a:t>利点</a:t>
            </a:r>
            <a:r>
              <a:rPr lang="en-US" altLang="ja-JP" dirty="0"/>
              <a:t>: </a:t>
            </a:r>
            <a:r>
              <a:rPr lang="ja-JP" altLang="en-US" dirty="0"/>
              <a:t>検証の迅速化と、表示形式に対する柔軟な対応を両立。</a:t>
            </a:r>
            <a:endParaRPr lang="en-US" altLang="ja-JP" dirty="0"/>
          </a:p>
          <a:p>
            <a:pPr marL="457200" indent="-457200">
              <a:buFont typeface="Arial" panose="020B0604020202020204" pitchFamily="34" charset="0"/>
              <a:buChar char="•"/>
            </a:pPr>
            <a:endParaRPr lang="en-US" altLang="ja-JP" dirty="0"/>
          </a:p>
          <a:p>
            <a:pPr marL="0" indent="0"/>
            <a:r>
              <a:rPr lang="ja-JP" altLang="en-US" dirty="0"/>
              <a:t>最適化</a:t>
            </a:r>
            <a:r>
              <a:rPr lang="en-US" altLang="ja-JP" dirty="0"/>
              <a:t>: R</a:t>
            </a:r>
            <a:r>
              <a:rPr lang="ja-JP" altLang="en-US" dirty="0"/>
              <a:t>パッケージの機能特性に合致した、効率的な役割分担を実現。</a:t>
            </a:r>
            <a:endParaRPr kumimoji="1" lang="ja-JP" altLang="en-US" dirty="0"/>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21</a:t>
            </a:fld>
            <a:endParaRPr lang="en-US" altLang="ja-JP"/>
          </a:p>
        </p:txBody>
      </p:sp>
    </p:spTree>
    <p:extLst>
      <p:ext uri="{BB962C8B-B14F-4D97-AF65-F5344CB8AC3E}">
        <p14:creationId xmlns:p14="http://schemas.microsoft.com/office/powerpoint/2010/main" val="1999284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FB45E-7992-B88D-9430-2E5B453C54E9}"/>
              </a:ext>
            </a:extLst>
          </p:cNvPr>
          <p:cNvSpPr>
            <a:spLocks noGrp="1"/>
          </p:cNvSpPr>
          <p:nvPr>
            <p:ph type="title"/>
          </p:nvPr>
        </p:nvSpPr>
        <p:spPr/>
        <p:txBody>
          <a:bodyPr/>
          <a:lstStyle/>
          <a:p>
            <a:r>
              <a:rPr kumimoji="1" lang="ja-JP" altLang="en-US" dirty="0"/>
              <a:t>参考資料</a:t>
            </a:r>
          </a:p>
        </p:txBody>
      </p:sp>
      <p:sp>
        <p:nvSpPr>
          <p:cNvPr id="4" name="スライド番号プレースホルダー 3">
            <a:extLst>
              <a:ext uri="{FF2B5EF4-FFF2-40B4-BE49-F238E27FC236}">
                <a16:creationId xmlns:a16="http://schemas.microsoft.com/office/drawing/2014/main" id="{0B677CBD-D4BC-526D-2072-3D330FC129CA}"/>
              </a:ext>
            </a:extLst>
          </p:cNvPr>
          <p:cNvSpPr>
            <a:spLocks noGrp="1"/>
          </p:cNvSpPr>
          <p:nvPr>
            <p:ph type="sldNum" sz="quarter" idx="11"/>
          </p:nvPr>
        </p:nvSpPr>
        <p:spPr/>
        <p:txBody>
          <a:bodyPr/>
          <a:lstStyle/>
          <a:p>
            <a:fld id="{23B20E4E-3F95-4221-AFE5-FD1FD9CC3448}" type="slidenum">
              <a:rPr lang="en-US" altLang="ja-JP" smtClean="0"/>
              <a:pPr/>
              <a:t>22</a:t>
            </a:fld>
            <a:endParaRPr lang="en-US" altLang="ja-JP"/>
          </a:p>
        </p:txBody>
      </p:sp>
      <p:sp>
        <p:nvSpPr>
          <p:cNvPr id="5" name="コンテンツ プレースホルダー 2">
            <a:extLst>
              <a:ext uri="{FF2B5EF4-FFF2-40B4-BE49-F238E27FC236}">
                <a16:creationId xmlns:a16="http://schemas.microsoft.com/office/drawing/2014/main" id="{7C1697D4-FC15-D6AD-04BF-2C2E5F13A470}"/>
              </a:ext>
            </a:extLst>
          </p:cNvPr>
          <p:cNvSpPr>
            <a:spLocks noGrp="1"/>
          </p:cNvSpPr>
          <p:nvPr>
            <p:ph idx="1"/>
          </p:nvPr>
        </p:nvSpPr>
        <p:spPr>
          <a:xfrm>
            <a:off x="509588" y="1219200"/>
            <a:ext cx="11172825" cy="5181600"/>
          </a:xfrm>
        </p:spPr>
        <p:txBody>
          <a:bodyPr>
            <a:normAutofit/>
          </a:bodyPr>
          <a:lstStyle/>
          <a:p>
            <a:r>
              <a:rPr lang="en-US" altLang="ja-JP" sz="1200" dirty="0"/>
              <a:t>Analysis Results Standard Workshop</a:t>
            </a:r>
            <a:r>
              <a:rPr lang="ja-JP" altLang="en-US" sz="1200" dirty="0"/>
              <a:t> </a:t>
            </a:r>
            <a:r>
              <a:rPr lang="en-US" altLang="ja-JP" sz="1200" dirty="0"/>
              <a:t>(2023 US INTERCHANGE)</a:t>
            </a:r>
          </a:p>
          <a:p>
            <a:r>
              <a:rPr lang="ja-JP" altLang="en-US" sz="1200" dirty="0">
                <a:hlinkClick r:id="rId2"/>
              </a:rPr>
              <a:t>https://www.cdisc.org/sites/default/files/2023-10/ars_workshop_us_interchange_2023-10-18.pdf</a:t>
            </a:r>
            <a:endParaRPr lang="en-US" altLang="ja-JP" sz="1200" dirty="0"/>
          </a:p>
          <a:p>
            <a:pPr marL="0" indent="0">
              <a:buNone/>
            </a:pPr>
            <a:endParaRPr kumimoji="1" lang="en-US" altLang="ja-JP" sz="1200" dirty="0"/>
          </a:p>
          <a:p>
            <a:pPr marL="0" indent="0">
              <a:buNone/>
            </a:pPr>
            <a:r>
              <a:rPr lang="en-US" altLang="ja-JP" sz="1200" dirty="0"/>
              <a:t>CDISC</a:t>
            </a:r>
            <a:endParaRPr kumimoji="1" lang="en-US" altLang="ja-JP" sz="1200" dirty="0"/>
          </a:p>
          <a:p>
            <a:pPr marL="0" indent="0"/>
            <a:r>
              <a:rPr lang="ja-JP" altLang="en-US" sz="1200" dirty="0">
                <a:hlinkClick r:id="rId3"/>
              </a:rPr>
              <a:t>https://www.cdisc.org/</a:t>
            </a:r>
            <a:endParaRPr lang="en-US" altLang="ja-JP" sz="1200" dirty="0"/>
          </a:p>
          <a:p>
            <a:pPr marL="0" indent="0">
              <a:buNone/>
            </a:pPr>
            <a:endParaRPr kumimoji="1" lang="en-US" altLang="ja-JP" sz="1200" dirty="0"/>
          </a:p>
          <a:p>
            <a:pPr marL="0" indent="0">
              <a:buNone/>
            </a:pPr>
            <a:r>
              <a:rPr lang="en-US" altLang="ja-JP" sz="1200" dirty="0"/>
              <a:t>t</a:t>
            </a:r>
            <a:r>
              <a:rPr lang="ja-JP" altLang="en-US" sz="1200" dirty="0"/>
              <a:t>ｆｔｍｔ</a:t>
            </a:r>
            <a:endParaRPr kumimoji="1" lang="en-US" altLang="ja-JP" sz="1200" dirty="0"/>
          </a:p>
          <a:p>
            <a:pPr marL="0" indent="0"/>
            <a:r>
              <a:rPr lang="ja-JP" altLang="en-US" sz="1200" dirty="0">
                <a:hlinkClick r:id="rId4"/>
              </a:rPr>
              <a:t>https://gsk-biostatistics.github.io/tfrmt/</a:t>
            </a:r>
            <a:endParaRPr lang="en-US" altLang="ja-JP" sz="1200" dirty="0"/>
          </a:p>
          <a:p>
            <a:pPr marL="0" indent="0">
              <a:buNone/>
            </a:pPr>
            <a:endParaRPr lang="en-US" altLang="ja-JP" sz="1200" dirty="0"/>
          </a:p>
          <a:p>
            <a:pPr marL="0" indent="0">
              <a:buNone/>
            </a:pPr>
            <a:r>
              <a:rPr lang="en-US" altLang="ja-JP" sz="1200" dirty="0" err="1"/>
              <a:t>cartds</a:t>
            </a:r>
            <a:endParaRPr lang="en-US" altLang="ja-JP" sz="1200" dirty="0"/>
          </a:p>
          <a:p>
            <a:pPr marL="0" indent="0"/>
            <a:r>
              <a:rPr lang="ja-JP" altLang="en-US" sz="1200" dirty="0">
                <a:hlinkClick r:id="rId5"/>
              </a:rPr>
              <a:t>https://insightsengineering.github.io/cards/latest-tag/</a:t>
            </a:r>
            <a:endParaRPr lang="en-US" altLang="ja-JP" sz="1200" dirty="0"/>
          </a:p>
          <a:p>
            <a:pPr marL="0" indent="0"/>
            <a:endParaRPr lang="en-US" altLang="ja-JP" sz="1200" dirty="0"/>
          </a:p>
          <a:p>
            <a:pPr marL="0" indent="0"/>
            <a:r>
              <a:rPr lang="en-US" altLang="ja-JP" sz="1200" dirty="0"/>
              <a:t>ARS</a:t>
            </a:r>
          </a:p>
          <a:p>
            <a:pPr marL="0" indent="0"/>
            <a:r>
              <a:rPr lang="ja-JP" altLang="en-US" sz="1200" dirty="0">
                <a:hlinkClick r:id="rId6"/>
              </a:rPr>
              <a:t>https://wiki.cdisc.org/pages/viewpage.action?pageId=222298985</a:t>
            </a:r>
            <a:endParaRPr lang="en-US" altLang="ja-JP" sz="1200" dirty="0"/>
          </a:p>
          <a:p>
            <a:pPr marL="0" indent="0"/>
            <a:endParaRPr lang="ja-JP" altLang="en-US" sz="1200" dirty="0"/>
          </a:p>
          <a:p>
            <a:pPr marL="0" indent="0"/>
            <a:r>
              <a:rPr lang="en-US" altLang="ja-JP" sz="1200" dirty="0" err="1"/>
              <a:t>tfmrt</a:t>
            </a:r>
            <a:r>
              <a:rPr lang="en-US" altLang="ja-JP" sz="1200" dirty="0"/>
              <a:t> Efficacy</a:t>
            </a:r>
            <a:br>
              <a:rPr lang="en-US" altLang="ja-JP" sz="1200" dirty="0"/>
            </a:br>
            <a:r>
              <a:rPr lang="ja-JP" altLang="en-US" sz="1200" dirty="0">
                <a:hlinkClick r:id="rId7"/>
              </a:rPr>
              <a:t>https://gsk-biostatistics.github.io/tfrmt/articles/examples.html</a:t>
            </a:r>
            <a:endParaRPr lang="en-US" altLang="ja-JP" sz="1200" dirty="0"/>
          </a:p>
          <a:p>
            <a:pPr marL="0" indent="0"/>
            <a:endParaRPr lang="en-US" altLang="ja-JP" sz="1200" dirty="0"/>
          </a:p>
          <a:p>
            <a:pPr marL="0" indent="0"/>
            <a:endParaRPr lang="ja-JP" altLang="en-US" sz="1200" dirty="0"/>
          </a:p>
          <a:p>
            <a:pPr marL="0" indent="0">
              <a:buNone/>
            </a:pPr>
            <a:endParaRPr lang="en-US" altLang="ja-JP" sz="1200" dirty="0"/>
          </a:p>
          <a:p>
            <a:pPr marL="0" indent="0">
              <a:buNone/>
            </a:pPr>
            <a:endParaRPr lang="en-US" altLang="ja-JP" sz="1200" dirty="0"/>
          </a:p>
          <a:p>
            <a:pPr marL="0" indent="0">
              <a:buNone/>
            </a:pPr>
            <a:endParaRPr kumimoji="1" lang="ja-JP" altLang="en-US" sz="1200" dirty="0"/>
          </a:p>
        </p:txBody>
      </p:sp>
    </p:spTree>
    <p:extLst>
      <p:ext uri="{BB962C8B-B14F-4D97-AF65-F5344CB8AC3E}">
        <p14:creationId xmlns:p14="http://schemas.microsoft.com/office/powerpoint/2010/main" val="2860830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サブタイトル 5"/>
          <p:cNvSpPr>
            <a:spLocks noGrp="1"/>
          </p:cNvSpPr>
          <p:nvPr>
            <p:ph type="subTitle" sz="quarter" idx="1"/>
          </p:nvPr>
        </p:nvSpPr>
        <p:spPr>
          <a:xfrm>
            <a:off x="2895600" y="5691336"/>
            <a:ext cx="6400800" cy="762000"/>
          </a:xfrm>
        </p:spPr>
        <p:txBody>
          <a:bodyPr/>
          <a:lstStyle/>
          <a:p>
            <a:r>
              <a:rPr lang="en-US" altLang="ja-JP" dirty="0"/>
              <a:t>- End of File -</a:t>
            </a:r>
            <a:endParaRPr kumimoji="1" lang="ja-JP" altLang="en-US" dirty="0"/>
          </a:p>
        </p:txBody>
      </p:sp>
      <p:sp>
        <p:nvSpPr>
          <p:cNvPr id="7" name="正方形/長方形 6"/>
          <p:cNvSpPr/>
          <p:nvPr/>
        </p:nvSpPr>
        <p:spPr>
          <a:xfrm>
            <a:off x="8508840" y="9192"/>
            <a:ext cx="2160240"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四角形: 角を丸くする 1">
            <a:extLst>
              <a:ext uri="{FF2B5EF4-FFF2-40B4-BE49-F238E27FC236}">
                <a16:creationId xmlns:a16="http://schemas.microsoft.com/office/drawing/2014/main" id="{D15EE175-EA86-709D-458D-ABAB670F4FED}"/>
              </a:ext>
            </a:extLst>
          </p:cNvPr>
          <p:cNvSpPr/>
          <p:nvPr/>
        </p:nvSpPr>
        <p:spPr>
          <a:xfrm>
            <a:off x="3791744" y="2420888"/>
            <a:ext cx="5040560" cy="18722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ご清聴ありがとうございました</a:t>
            </a:r>
            <a:endParaRPr kumimoji="1" lang="ja-JP" altLang="en-US" dirty="0"/>
          </a:p>
        </p:txBody>
      </p:sp>
    </p:spTree>
    <p:extLst>
      <p:ext uri="{BB962C8B-B14F-4D97-AF65-F5344CB8AC3E}">
        <p14:creationId xmlns:p14="http://schemas.microsoft.com/office/powerpoint/2010/main" val="3626368105"/>
      </p:ext>
    </p:extLst>
  </p:cSld>
  <p:clrMapOvr>
    <a:masterClrMapping/>
  </p:clrMapOvr>
</p:sld>
</file>

<file path=ppt/theme/theme1.xml><?xml version="1.0" encoding="utf-8"?>
<a:theme xmlns:a="http://schemas.openxmlformats.org/drawingml/2006/main" name="スライド雛形4">
  <a:themeElements>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テーマ">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テーマ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テーマ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テーマ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テーマ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テーマ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テーマ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テーマ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テーマ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lide template 1.potx" id="{129D60C9-D70C-4C2A-995F-CBE4331F23B4}" vid="{DFCE9F6C-A473-472A-8CC9-D716626C6024}"/>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yamanobe</Template>
  <TotalTime>313</TotalTime>
  <Words>1645</Words>
  <Application>Microsoft Office PowerPoint</Application>
  <PresentationFormat>ワイド画面</PresentationFormat>
  <Paragraphs>219</Paragraphs>
  <Slides>23</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23</vt:i4>
      </vt:variant>
    </vt:vector>
  </HeadingPairs>
  <TitlesOfParts>
    <vt:vector size="32" baseType="lpstr">
      <vt:lpstr>ＭＳ Ｐゴシック</vt:lpstr>
      <vt:lpstr>メイリオ</vt:lpstr>
      <vt:lpstr>Arial</vt:lpstr>
      <vt:lpstr>Century Gothic</vt:lpstr>
      <vt:lpstr>Times</vt:lpstr>
      <vt:lpstr>Times New Roman</vt:lpstr>
      <vt:lpstr>Trebuchet MS</vt:lpstr>
      <vt:lpstr>Wingdings</vt:lpstr>
      <vt:lpstr>スライド雛形4</vt:lpstr>
      <vt:lpstr> CDISC ARD (Analysis Result Data)</vt:lpstr>
      <vt:lpstr>免責事項 </vt:lpstr>
      <vt:lpstr>Agenda</vt:lpstr>
      <vt:lpstr>Agenda</vt:lpstr>
      <vt:lpstr>背景と課題</vt:lpstr>
      <vt:lpstr>背景と課題</vt:lpstr>
      <vt:lpstr>Agenda</vt:lpstr>
      <vt:lpstr>Analysis Result Data (ARD)</vt:lpstr>
      <vt:lpstr>Analysis Result Data (ARD)</vt:lpstr>
      <vt:lpstr>Analysis Result Data (ARD)</vt:lpstr>
      <vt:lpstr>Analysis Result Data (ARD)</vt:lpstr>
      <vt:lpstr>Analysis Result Data (ARD)</vt:lpstr>
      <vt:lpstr>Analysis Result Data (ARD)</vt:lpstr>
      <vt:lpstr>Analysis Result Data (ARD)</vt:lpstr>
      <vt:lpstr>Agenda</vt:lpstr>
      <vt:lpstr>Table化</vt:lpstr>
      <vt:lpstr>Table化</vt:lpstr>
      <vt:lpstr>Table化</vt:lpstr>
      <vt:lpstr>Table化</vt:lpstr>
      <vt:lpstr>Agenda</vt:lpstr>
      <vt:lpstr>まとめ</vt:lpstr>
      <vt:lpstr>参考資料</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山野辺　浩己/Yamanobe Hiroki</dc:creator>
  <cp:lastModifiedBy>山野辺　浩己/Yamanobe Hiroki</cp:lastModifiedBy>
  <cp:revision>73</cp:revision>
  <dcterms:created xsi:type="dcterms:W3CDTF">2026-04-03T07:14:26Z</dcterms:created>
  <dcterms:modified xsi:type="dcterms:W3CDTF">2026-04-03T12:27:48Z</dcterms:modified>
</cp:coreProperties>
</file>