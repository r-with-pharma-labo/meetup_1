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1" r:id="rId4"/>
  </p:sldMasterIdLst>
  <p:notesMasterIdLst>
    <p:notesMasterId r:id="rId23"/>
  </p:notesMasterIdLst>
  <p:sldIdLst>
    <p:sldId id="257" r:id="rId5"/>
    <p:sldId id="289" r:id="rId6"/>
    <p:sldId id="288" r:id="rId7"/>
    <p:sldId id="290" r:id="rId8"/>
    <p:sldId id="291" r:id="rId9"/>
    <p:sldId id="282" r:id="rId10"/>
    <p:sldId id="278" r:id="rId11"/>
    <p:sldId id="280" r:id="rId12"/>
    <p:sldId id="284" r:id="rId13"/>
    <p:sldId id="283" r:id="rId14"/>
    <p:sldId id="285" r:id="rId15"/>
    <p:sldId id="286" r:id="rId16"/>
    <p:sldId id="287" r:id="rId17"/>
    <p:sldId id="294" r:id="rId18"/>
    <p:sldId id="295" r:id="rId19"/>
    <p:sldId id="296" r:id="rId20"/>
    <p:sldId id="281" r:id="rId21"/>
    <p:sldId id="307" r:id="rId22"/>
  </p:sldIdLst>
  <p:sldSz cx="12192000" cy="6858000"/>
  <p:notesSz cx="6858000" cy="9144000"/>
  <p:defaultTextStyle>
    <a:defPPr>
      <a:defRPr lang="ja-JP"/>
    </a:defPPr>
    <a:lvl1pPr algn="l" rtl="0" fontAlgn="base">
      <a:spcBef>
        <a:spcPct val="0"/>
      </a:spcBef>
      <a:spcAft>
        <a:spcPct val="0"/>
      </a:spcAft>
      <a:defRPr kumimoji="1" sz="2400" kern="1200">
        <a:solidFill>
          <a:schemeClr val="tx1"/>
        </a:solidFill>
        <a:latin typeface="Times" charset="0"/>
        <a:ea typeface="Osaka" charset="-128"/>
        <a:cs typeface="+mn-cs"/>
      </a:defRPr>
    </a:lvl1pPr>
    <a:lvl2pPr marL="457200" algn="l" rtl="0" fontAlgn="base">
      <a:spcBef>
        <a:spcPct val="0"/>
      </a:spcBef>
      <a:spcAft>
        <a:spcPct val="0"/>
      </a:spcAft>
      <a:defRPr kumimoji="1" sz="2400" kern="1200">
        <a:solidFill>
          <a:schemeClr val="tx1"/>
        </a:solidFill>
        <a:latin typeface="Times" charset="0"/>
        <a:ea typeface="Osaka" charset="-128"/>
        <a:cs typeface="+mn-cs"/>
      </a:defRPr>
    </a:lvl2pPr>
    <a:lvl3pPr marL="914400" algn="l" rtl="0" fontAlgn="base">
      <a:spcBef>
        <a:spcPct val="0"/>
      </a:spcBef>
      <a:spcAft>
        <a:spcPct val="0"/>
      </a:spcAft>
      <a:defRPr kumimoji="1" sz="2400" kern="1200">
        <a:solidFill>
          <a:schemeClr val="tx1"/>
        </a:solidFill>
        <a:latin typeface="Times" charset="0"/>
        <a:ea typeface="Osaka" charset="-128"/>
        <a:cs typeface="+mn-cs"/>
      </a:defRPr>
    </a:lvl3pPr>
    <a:lvl4pPr marL="1371600" algn="l" rtl="0" fontAlgn="base">
      <a:spcBef>
        <a:spcPct val="0"/>
      </a:spcBef>
      <a:spcAft>
        <a:spcPct val="0"/>
      </a:spcAft>
      <a:defRPr kumimoji="1" sz="2400" kern="1200">
        <a:solidFill>
          <a:schemeClr val="tx1"/>
        </a:solidFill>
        <a:latin typeface="Times" charset="0"/>
        <a:ea typeface="Osaka" charset="-128"/>
        <a:cs typeface="+mn-cs"/>
      </a:defRPr>
    </a:lvl4pPr>
    <a:lvl5pPr marL="1828800" algn="l" rtl="0" fontAlgn="base">
      <a:spcBef>
        <a:spcPct val="0"/>
      </a:spcBef>
      <a:spcAft>
        <a:spcPct val="0"/>
      </a:spcAft>
      <a:defRPr kumimoji="1" sz="2400" kern="1200">
        <a:solidFill>
          <a:schemeClr val="tx1"/>
        </a:solidFill>
        <a:latin typeface="Times" charset="0"/>
        <a:ea typeface="Osaka" charset="-128"/>
        <a:cs typeface="+mn-cs"/>
      </a:defRPr>
    </a:lvl5pPr>
    <a:lvl6pPr marL="2286000" algn="l" defTabSz="914400" rtl="0" eaLnBrk="1" latinLnBrk="0" hangingPunct="1">
      <a:defRPr kumimoji="1" sz="2400" kern="1200">
        <a:solidFill>
          <a:schemeClr val="tx1"/>
        </a:solidFill>
        <a:latin typeface="Times" charset="0"/>
        <a:ea typeface="Osaka" charset="-128"/>
        <a:cs typeface="+mn-cs"/>
      </a:defRPr>
    </a:lvl6pPr>
    <a:lvl7pPr marL="2743200" algn="l" defTabSz="914400" rtl="0" eaLnBrk="1" latinLnBrk="0" hangingPunct="1">
      <a:defRPr kumimoji="1" sz="2400" kern="1200">
        <a:solidFill>
          <a:schemeClr val="tx1"/>
        </a:solidFill>
        <a:latin typeface="Times" charset="0"/>
        <a:ea typeface="Osaka" charset="-128"/>
        <a:cs typeface="+mn-cs"/>
      </a:defRPr>
    </a:lvl7pPr>
    <a:lvl8pPr marL="3200400" algn="l" defTabSz="914400" rtl="0" eaLnBrk="1" latinLnBrk="0" hangingPunct="1">
      <a:defRPr kumimoji="1" sz="2400" kern="1200">
        <a:solidFill>
          <a:schemeClr val="tx1"/>
        </a:solidFill>
        <a:latin typeface="Times" charset="0"/>
        <a:ea typeface="Osaka" charset="-128"/>
        <a:cs typeface="+mn-cs"/>
      </a:defRPr>
    </a:lvl8pPr>
    <a:lvl9pPr marL="3657600" algn="l" defTabSz="914400" rtl="0" eaLnBrk="1" latinLnBrk="0" hangingPunct="1">
      <a:defRPr kumimoji="1" sz="2400" kern="1200">
        <a:solidFill>
          <a:schemeClr val="tx1"/>
        </a:solidFill>
        <a:latin typeface="Times" charset="0"/>
        <a:ea typeface="Osaka"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99FF99"/>
    <a:srgbClr val="FF6699"/>
    <a:srgbClr val="FF6600"/>
    <a:srgbClr val="008000"/>
    <a:srgbClr val="0000FF"/>
    <a:srgbClr val="3366FF"/>
    <a:srgbClr val="0066FF"/>
    <a:srgbClr val="3366CC"/>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59" autoAdjust="0"/>
    <p:restoredTop sz="90929"/>
  </p:normalViewPr>
  <p:slideViewPr>
    <p:cSldViewPr>
      <p:cViewPr varScale="1">
        <p:scale>
          <a:sx n="111" d="100"/>
          <a:sy n="111" d="100"/>
        </p:scale>
        <p:origin x="1092" y="3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2A1610-C3F6-4C03-90D0-A8153959AF90}"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kumimoji="1" lang="ja-JP" altLang="en-US"/>
        </a:p>
      </dgm:t>
    </dgm:pt>
    <dgm:pt modelId="{3ACFBCDE-C39D-41DD-B423-3F395191801F}">
      <dgm:prSet phldrT="[テキスト]" custT="1"/>
      <dgm:spPr/>
      <dgm:t>
        <a:bodyPr/>
        <a:lstStyle/>
        <a:p>
          <a:pPr>
            <a:buFont typeface="Arial" panose="020B0604020202020204" pitchFamily="34" charset="0"/>
            <a:buChar char="•"/>
          </a:pPr>
          <a:r>
            <a:rPr lang="ja-JP" altLang="en-US" sz="3200" dirty="0"/>
            <a:t>関数の結果が正しいか確認する</a:t>
          </a:r>
          <a:endParaRPr kumimoji="1" lang="ja-JP" altLang="en-US" sz="3200" dirty="0"/>
        </a:p>
      </dgm:t>
    </dgm:pt>
    <dgm:pt modelId="{E39C9DE9-55DF-49A0-9E33-CE6C58B15086}" type="parTrans" cxnId="{DC74D719-7B67-4912-87E9-1B151CC03743}">
      <dgm:prSet/>
      <dgm:spPr/>
      <dgm:t>
        <a:bodyPr/>
        <a:lstStyle/>
        <a:p>
          <a:endParaRPr kumimoji="1" lang="ja-JP" altLang="en-US" sz="3200"/>
        </a:p>
      </dgm:t>
    </dgm:pt>
    <dgm:pt modelId="{69C3A097-627A-434F-88CA-551149FF4F59}" type="sibTrans" cxnId="{DC74D719-7B67-4912-87E9-1B151CC03743}">
      <dgm:prSet/>
      <dgm:spPr/>
      <dgm:t>
        <a:bodyPr/>
        <a:lstStyle/>
        <a:p>
          <a:endParaRPr kumimoji="1" lang="ja-JP" altLang="en-US" sz="3200"/>
        </a:p>
      </dgm:t>
    </dgm:pt>
    <dgm:pt modelId="{0CE4F54C-BC25-4D74-B6D2-22BF8184B617}">
      <dgm:prSet phldrT="[テキスト]" custT="1"/>
      <dgm:spPr/>
      <dgm:t>
        <a:bodyPr/>
        <a:lstStyle/>
        <a:p>
          <a:pPr>
            <a:buFont typeface="Arial" panose="020B0604020202020204" pitchFamily="34" charset="0"/>
            <a:buChar char="•"/>
          </a:pPr>
          <a:r>
            <a:rPr lang="ja-JP" altLang="en-US" sz="3200" dirty="0"/>
            <a:t>エラーや警告の挙動を確認する</a:t>
          </a:r>
          <a:endParaRPr kumimoji="1" lang="ja-JP" altLang="en-US" sz="3200" dirty="0"/>
        </a:p>
      </dgm:t>
    </dgm:pt>
    <dgm:pt modelId="{23412ED8-4F96-4058-A0DE-29F828931C50}" type="parTrans" cxnId="{BA8A6588-70A7-4957-84C4-18F22B80B5BD}">
      <dgm:prSet/>
      <dgm:spPr/>
      <dgm:t>
        <a:bodyPr/>
        <a:lstStyle/>
        <a:p>
          <a:endParaRPr kumimoji="1" lang="ja-JP" altLang="en-US" sz="3200"/>
        </a:p>
      </dgm:t>
    </dgm:pt>
    <dgm:pt modelId="{6B4E3E6C-1198-41C2-86BE-360F3F42DFC1}" type="sibTrans" cxnId="{BA8A6588-70A7-4957-84C4-18F22B80B5BD}">
      <dgm:prSet/>
      <dgm:spPr/>
      <dgm:t>
        <a:bodyPr/>
        <a:lstStyle/>
        <a:p>
          <a:endParaRPr kumimoji="1" lang="ja-JP" altLang="en-US" sz="3200"/>
        </a:p>
      </dgm:t>
    </dgm:pt>
    <dgm:pt modelId="{F97404D4-8061-413C-94D5-6F4538776E68}">
      <dgm:prSet phldrT="[テキスト]" custT="1"/>
      <dgm:spPr/>
      <dgm:t>
        <a:bodyPr/>
        <a:lstStyle/>
        <a:p>
          <a:pPr>
            <a:buFont typeface="Arial" panose="020B0604020202020204" pitchFamily="34" charset="0"/>
            <a:buChar char="•"/>
          </a:pPr>
          <a:r>
            <a:rPr lang="ja-JP" altLang="en-US" sz="3200" dirty="0"/>
            <a:t>コード変更・修正後に壊れていないか確認する</a:t>
          </a:r>
          <a:endParaRPr kumimoji="1" lang="ja-JP" altLang="en-US" sz="3200" dirty="0"/>
        </a:p>
      </dgm:t>
    </dgm:pt>
    <dgm:pt modelId="{D77CD352-A59E-41B3-89D8-ECA79A1B5A3D}" type="parTrans" cxnId="{1A986B6A-03C0-4EC4-92D6-28F1A4FE9F4D}">
      <dgm:prSet/>
      <dgm:spPr/>
      <dgm:t>
        <a:bodyPr/>
        <a:lstStyle/>
        <a:p>
          <a:endParaRPr kumimoji="1" lang="ja-JP" altLang="en-US" sz="3200"/>
        </a:p>
      </dgm:t>
    </dgm:pt>
    <dgm:pt modelId="{CE5CCCEE-3DA2-4A8E-A9E9-C42C13EF5067}" type="sibTrans" cxnId="{1A986B6A-03C0-4EC4-92D6-28F1A4FE9F4D}">
      <dgm:prSet/>
      <dgm:spPr/>
      <dgm:t>
        <a:bodyPr/>
        <a:lstStyle/>
        <a:p>
          <a:endParaRPr kumimoji="1" lang="ja-JP" altLang="en-US" sz="3200"/>
        </a:p>
      </dgm:t>
    </dgm:pt>
    <dgm:pt modelId="{72390874-AF17-45CA-8238-90C38A8046F4}">
      <dgm:prSet phldrT="[テキスト]" custT="1">
        <dgm:style>
          <a:lnRef idx="1">
            <a:schemeClr val="accent2"/>
          </a:lnRef>
          <a:fillRef idx="2">
            <a:schemeClr val="accent2"/>
          </a:fillRef>
          <a:effectRef idx="1">
            <a:schemeClr val="accent2"/>
          </a:effectRef>
          <a:fontRef idx="minor">
            <a:schemeClr val="dk1"/>
          </a:fontRef>
        </dgm:style>
      </dgm:prSet>
      <dgm:spPr/>
      <dgm:t>
        <a:bodyPr/>
        <a:lstStyle/>
        <a:p>
          <a:pPr>
            <a:buFont typeface="Arial" panose="020B0604020202020204" pitchFamily="34" charset="0"/>
            <a:buChar char="•"/>
          </a:pPr>
          <a:r>
            <a:rPr lang="en-US" altLang="ja-JP" sz="3200" dirty="0">
              <a:solidFill>
                <a:schemeClr val="tx1"/>
              </a:solidFill>
            </a:rPr>
            <a:t>R</a:t>
          </a:r>
          <a:r>
            <a:rPr lang="ja-JP" altLang="en-US" sz="3200" dirty="0">
              <a:solidFill>
                <a:schemeClr val="tx1"/>
              </a:solidFill>
            </a:rPr>
            <a:t>パッケージ開発で品質管理に使う</a:t>
          </a:r>
          <a:endParaRPr kumimoji="1" lang="ja-JP" altLang="en-US" sz="3200" dirty="0">
            <a:solidFill>
              <a:schemeClr val="tx1"/>
            </a:solidFill>
          </a:endParaRPr>
        </a:p>
      </dgm:t>
    </dgm:pt>
    <dgm:pt modelId="{6FD25FFE-9903-4D27-91A1-84897C4DE14A}" type="parTrans" cxnId="{90F73156-A333-4AF9-BC79-6B8C224A170A}">
      <dgm:prSet/>
      <dgm:spPr/>
      <dgm:t>
        <a:bodyPr/>
        <a:lstStyle/>
        <a:p>
          <a:endParaRPr kumimoji="1" lang="ja-JP" altLang="en-US" sz="3200"/>
        </a:p>
      </dgm:t>
    </dgm:pt>
    <dgm:pt modelId="{67C5F2AE-4D63-4A4C-AE19-CC53EAE93897}" type="sibTrans" cxnId="{90F73156-A333-4AF9-BC79-6B8C224A170A}">
      <dgm:prSet/>
      <dgm:spPr/>
      <dgm:t>
        <a:bodyPr/>
        <a:lstStyle/>
        <a:p>
          <a:endParaRPr kumimoji="1" lang="ja-JP" altLang="en-US" sz="3200"/>
        </a:p>
      </dgm:t>
    </dgm:pt>
    <dgm:pt modelId="{5C13DB5C-D486-405E-8B35-F9FD6DBE9AF5}" type="pres">
      <dgm:prSet presAssocID="{D02A1610-C3F6-4C03-90D0-A8153959AF90}" presName="diagram" presStyleCnt="0">
        <dgm:presLayoutVars>
          <dgm:dir/>
          <dgm:resizeHandles val="exact"/>
        </dgm:presLayoutVars>
      </dgm:prSet>
      <dgm:spPr/>
    </dgm:pt>
    <dgm:pt modelId="{447F1C3C-1967-4CFE-80A0-D9C0882A5DFA}" type="pres">
      <dgm:prSet presAssocID="{3ACFBCDE-C39D-41DD-B423-3F395191801F}" presName="node" presStyleLbl="node1" presStyleIdx="0" presStyleCnt="4" custLinFactX="9767" custLinFactNeighborX="100000" custLinFactNeighborY="702">
        <dgm:presLayoutVars>
          <dgm:bulletEnabled val="1"/>
        </dgm:presLayoutVars>
      </dgm:prSet>
      <dgm:spPr/>
    </dgm:pt>
    <dgm:pt modelId="{1DA6ECDF-8E97-4182-8803-BB2D67A003DD}" type="pres">
      <dgm:prSet presAssocID="{69C3A097-627A-434F-88CA-551149FF4F59}" presName="sibTrans" presStyleCnt="0"/>
      <dgm:spPr/>
    </dgm:pt>
    <dgm:pt modelId="{C436F386-E2DA-49A9-8BE0-7D5BAD7322E2}" type="pres">
      <dgm:prSet presAssocID="{0CE4F54C-BC25-4D74-B6D2-22BF8184B617}" presName="node" presStyleLbl="node1" presStyleIdx="1" presStyleCnt="4" custLinFactX="-10026" custLinFactY="21660" custLinFactNeighborX="-100000" custLinFactNeighborY="100000">
        <dgm:presLayoutVars>
          <dgm:bulletEnabled val="1"/>
        </dgm:presLayoutVars>
      </dgm:prSet>
      <dgm:spPr/>
    </dgm:pt>
    <dgm:pt modelId="{CBF5108A-EA60-4AF7-8E5D-CAF383E3FCCC}" type="pres">
      <dgm:prSet presAssocID="{6B4E3E6C-1198-41C2-86BE-360F3F42DFC1}" presName="sibTrans" presStyleCnt="0"/>
      <dgm:spPr/>
    </dgm:pt>
    <dgm:pt modelId="{5EC6CC0B-D770-4700-9B01-A3DAAE845A3C}" type="pres">
      <dgm:prSet presAssocID="{F97404D4-8061-413C-94D5-6F4538776E68}" presName="node" presStyleLbl="node1" presStyleIdx="2" presStyleCnt="4" custLinFactX="10026" custLinFactNeighborX="100000" custLinFactNeighborY="4241">
        <dgm:presLayoutVars>
          <dgm:bulletEnabled val="1"/>
        </dgm:presLayoutVars>
      </dgm:prSet>
      <dgm:spPr/>
    </dgm:pt>
    <dgm:pt modelId="{793002DB-EB84-483D-9B70-D606689E2A4A}" type="pres">
      <dgm:prSet presAssocID="{CE5CCCEE-3DA2-4A8E-A9E9-C42C13EF5067}" presName="sibTrans" presStyleCnt="0"/>
      <dgm:spPr/>
    </dgm:pt>
    <dgm:pt modelId="{4181FCF7-13A9-4660-8F6F-0A24B7CD8DF2}" type="pres">
      <dgm:prSet presAssocID="{72390874-AF17-45CA-8238-90C38A8046F4}" presName="node" presStyleLbl="node1" presStyleIdx="3" presStyleCnt="4" custLinFactX="-11887" custLinFactY="-15965" custLinFactNeighborX="-100000" custLinFactNeighborY="-100000">
        <dgm:presLayoutVars>
          <dgm:bulletEnabled val="1"/>
        </dgm:presLayoutVars>
      </dgm:prSet>
      <dgm:spPr/>
    </dgm:pt>
  </dgm:ptLst>
  <dgm:cxnLst>
    <dgm:cxn modelId="{0279AB0F-C8C5-411A-9100-708FD84D5874}" type="presOf" srcId="{72390874-AF17-45CA-8238-90C38A8046F4}" destId="{4181FCF7-13A9-4660-8F6F-0A24B7CD8DF2}" srcOrd="0" destOrd="0" presId="urn:microsoft.com/office/officeart/2005/8/layout/default"/>
    <dgm:cxn modelId="{DC74D719-7B67-4912-87E9-1B151CC03743}" srcId="{D02A1610-C3F6-4C03-90D0-A8153959AF90}" destId="{3ACFBCDE-C39D-41DD-B423-3F395191801F}" srcOrd="0" destOrd="0" parTransId="{E39C9DE9-55DF-49A0-9E33-CE6C58B15086}" sibTransId="{69C3A097-627A-434F-88CA-551149FF4F59}"/>
    <dgm:cxn modelId="{1A986B6A-03C0-4EC4-92D6-28F1A4FE9F4D}" srcId="{D02A1610-C3F6-4C03-90D0-A8153959AF90}" destId="{F97404D4-8061-413C-94D5-6F4538776E68}" srcOrd="2" destOrd="0" parTransId="{D77CD352-A59E-41B3-89D8-ECA79A1B5A3D}" sibTransId="{CE5CCCEE-3DA2-4A8E-A9E9-C42C13EF5067}"/>
    <dgm:cxn modelId="{52E6094E-610C-42EB-A807-89632A4E1494}" type="presOf" srcId="{3ACFBCDE-C39D-41DD-B423-3F395191801F}" destId="{447F1C3C-1967-4CFE-80A0-D9C0882A5DFA}" srcOrd="0" destOrd="0" presId="urn:microsoft.com/office/officeart/2005/8/layout/default"/>
    <dgm:cxn modelId="{90F73156-A333-4AF9-BC79-6B8C224A170A}" srcId="{D02A1610-C3F6-4C03-90D0-A8153959AF90}" destId="{72390874-AF17-45CA-8238-90C38A8046F4}" srcOrd="3" destOrd="0" parTransId="{6FD25FFE-9903-4D27-91A1-84897C4DE14A}" sibTransId="{67C5F2AE-4D63-4A4C-AE19-CC53EAE93897}"/>
    <dgm:cxn modelId="{F4CB2E81-FBB1-4941-BF51-AF94AED54883}" type="presOf" srcId="{F97404D4-8061-413C-94D5-6F4538776E68}" destId="{5EC6CC0B-D770-4700-9B01-A3DAAE845A3C}" srcOrd="0" destOrd="0" presId="urn:microsoft.com/office/officeart/2005/8/layout/default"/>
    <dgm:cxn modelId="{BA8A6588-70A7-4957-84C4-18F22B80B5BD}" srcId="{D02A1610-C3F6-4C03-90D0-A8153959AF90}" destId="{0CE4F54C-BC25-4D74-B6D2-22BF8184B617}" srcOrd="1" destOrd="0" parTransId="{23412ED8-4F96-4058-A0DE-29F828931C50}" sibTransId="{6B4E3E6C-1198-41C2-86BE-360F3F42DFC1}"/>
    <dgm:cxn modelId="{30F165A0-8035-45B0-967B-713ED0D03771}" type="presOf" srcId="{D02A1610-C3F6-4C03-90D0-A8153959AF90}" destId="{5C13DB5C-D486-405E-8B35-F9FD6DBE9AF5}" srcOrd="0" destOrd="0" presId="urn:microsoft.com/office/officeart/2005/8/layout/default"/>
    <dgm:cxn modelId="{C7151FCE-20EB-4136-94AB-32D42D9AD195}" type="presOf" srcId="{0CE4F54C-BC25-4D74-B6D2-22BF8184B617}" destId="{C436F386-E2DA-49A9-8BE0-7D5BAD7322E2}" srcOrd="0" destOrd="0" presId="urn:microsoft.com/office/officeart/2005/8/layout/default"/>
    <dgm:cxn modelId="{5F79984E-C337-43F3-8F03-54B435EC7DAD}" type="presParOf" srcId="{5C13DB5C-D486-405E-8B35-F9FD6DBE9AF5}" destId="{447F1C3C-1967-4CFE-80A0-D9C0882A5DFA}" srcOrd="0" destOrd="0" presId="urn:microsoft.com/office/officeart/2005/8/layout/default"/>
    <dgm:cxn modelId="{E52C4C4C-5F0C-475D-B8D3-483A3AC05E5D}" type="presParOf" srcId="{5C13DB5C-D486-405E-8B35-F9FD6DBE9AF5}" destId="{1DA6ECDF-8E97-4182-8803-BB2D67A003DD}" srcOrd="1" destOrd="0" presId="urn:microsoft.com/office/officeart/2005/8/layout/default"/>
    <dgm:cxn modelId="{5757D68E-4FFE-4263-9546-6CFFC4321772}" type="presParOf" srcId="{5C13DB5C-D486-405E-8B35-F9FD6DBE9AF5}" destId="{C436F386-E2DA-49A9-8BE0-7D5BAD7322E2}" srcOrd="2" destOrd="0" presId="urn:microsoft.com/office/officeart/2005/8/layout/default"/>
    <dgm:cxn modelId="{76F6E9AB-2827-490C-A7C4-0F0CA822CB24}" type="presParOf" srcId="{5C13DB5C-D486-405E-8B35-F9FD6DBE9AF5}" destId="{CBF5108A-EA60-4AF7-8E5D-CAF383E3FCCC}" srcOrd="3" destOrd="0" presId="urn:microsoft.com/office/officeart/2005/8/layout/default"/>
    <dgm:cxn modelId="{C05D3D08-13A6-4F7C-8A4F-BCC15BB8E5CF}" type="presParOf" srcId="{5C13DB5C-D486-405E-8B35-F9FD6DBE9AF5}" destId="{5EC6CC0B-D770-4700-9B01-A3DAAE845A3C}" srcOrd="4" destOrd="0" presId="urn:microsoft.com/office/officeart/2005/8/layout/default"/>
    <dgm:cxn modelId="{FBE42028-81E7-4840-9550-E71DC180B88A}" type="presParOf" srcId="{5C13DB5C-D486-405E-8B35-F9FD6DBE9AF5}" destId="{793002DB-EB84-483D-9B70-D606689E2A4A}" srcOrd="5" destOrd="0" presId="urn:microsoft.com/office/officeart/2005/8/layout/default"/>
    <dgm:cxn modelId="{B36C5081-2ADC-4D4B-B7F6-7BF70CEABE0A}" type="presParOf" srcId="{5C13DB5C-D486-405E-8B35-F9FD6DBE9AF5}" destId="{4181FCF7-13A9-4660-8F6F-0A24B7CD8DF2}"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7F1C3C-1967-4CFE-80A0-D9C0882A5DFA}">
      <dsp:nvSpPr>
        <dsp:cNvPr id="0" name=""/>
        <dsp:cNvSpPr/>
      </dsp:nvSpPr>
      <dsp:spPr>
        <a:xfrm>
          <a:off x="4248460" y="210436"/>
          <a:ext cx="3869531" cy="232171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Font typeface="Arial" panose="020B0604020202020204" pitchFamily="34" charset="0"/>
            <a:buNone/>
          </a:pPr>
          <a:r>
            <a:rPr lang="ja-JP" altLang="en-US" sz="3200" kern="1200" dirty="0"/>
            <a:t>関数の結果が正しいか確認する</a:t>
          </a:r>
          <a:endParaRPr kumimoji="1" lang="ja-JP" altLang="en-US" sz="3200" kern="1200" dirty="0"/>
        </a:p>
      </dsp:txBody>
      <dsp:txXfrm>
        <a:off x="4248460" y="210436"/>
        <a:ext cx="3869531" cy="2321718"/>
      </dsp:txXfrm>
    </dsp:sp>
    <dsp:sp modelId="{C436F386-E2DA-49A9-8BE0-7D5BAD7322E2}">
      <dsp:nvSpPr>
        <dsp:cNvPr id="0" name=""/>
        <dsp:cNvSpPr/>
      </dsp:nvSpPr>
      <dsp:spPr>
        <a:xfrm>
          <a:off x="0" y="3018741"/>
          <a:ext cx="3869531" cy="2321718"/>
        </a:xfrm>
        <a:prstGeom prst="rect">
          <a:avLst/>
        </a:prstGeom>
        <a:solidFill>
          <a:schemeClr val="accent2">
            <a:hueOff val="-4800000"/>
            <a:satOff val="-16668"/>
            <a:lumOff val="2000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Font typeface="Arial" panose="020B0604020202020204" pitchFamily="34" charset="0"/>
            <a:buNone/>
          </a:pPr>
          <a:r>
            <a:rPr lang="ja-JP" altLang="en-US" sz="3200" kern="1200" dirty="0"/>
            <a:t>エラーや警告の挙動を確認する</a:t>
          </a:r>
          <a:endParaRPr kumimoji="1" lang="ja-JP" altLang="en-US" sz="3200" kern="1200" dirty="0"/>
        </a:p>
      </dsp:txBody>
      <dsp:txXfrm>
        <a:off x="0" y="3018741"/>
        <a:ext cx="3869531" cy="2321718"/>
      </dsp:txXfrm>
    </dsp:sp>
    <dsp:sp modelId="{5EC6CC0B-D770-4700-9B01-A3DAAE845A3C}">
      <dsp:nvSpPr>
        <dsp:cNvPr id="0" name=""/>
        <dsp:cNvSpPr/>
      </dsp:nvSpPr>
      <dsp:spPr>
        <a:xfrm>
          <a:off x="4258468" y="3001274"/>
          <a:ext cx="3869531" cy="2321718"/>
        </a:xfrm>
        <a:prstGeom prst="rect">
          <a:avLst/>
        </a:prstGeom>
        <a:solidFill>
          <a:schemeClr val="accent2">
            <a:hueOff val="-9600000"/>
            <a:satOff val="-33335"/>
            <a:lumOff val="400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Font typeface="Arial" panose="020B0604020202020204" pitchFamily="34" charset="0"/>
            <a:buNone/>
          </a:pPr>
          <a:r>
            <a:rPr lang="ja-JP" altLang="en-US" sz="3200" kern="1200" dirty="0"/>
            <a:t>コード変更・修正後に壊れていないか確認する</a:t>
          </a:r>
          <a:endParaRPr kumimoji="1" lang="ja-JP" altLang="en-US" sz="3200" kern="1200" dirty="0"/>
        </a:p>
      </dsp:txBody>
      <dsp:txXfrm>
        <a:off x="4258468" y="3001274"/>
        <a:ext cx="3869531" cy="2321718"/>
      </dsp:txXfrm>
    </dsp:sp>
    <dsp:sp modelId="{4181FCF7-13A9-4660-8F6F-0A24B7CD8DF2}">
      <dsp:nvSpPr>
        <dsp:cNvPr id="0" name=""/>
        <dsp:cNvSpPr/>
      </dsp:nvSpPr>
      <dsp:spPr>
        <a:xfrm>
          <a:off x="0" y="210428"/>
          <a:ext cx="3869531" cy="2321718"/>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Font typeface="Arial" panose="020B0604020202020204" pitchFamily="34" charset="0"/>
            <a:buNone/>
          </a:pPr>
          <a:r>
            <a:rPr lang="en-US" altLang="ja-JP" sz="3200" kern="1200" dirty="0">
              <a:solidFill>
                <a:schemeClr val="tx1"/>
              </a:solidFill>
            </a:rPr>
            <a:t>R</a:t>
          </a:r>
          <a:r>
            <a:rPr lang="ja-JP" altLang="en-US" sz="3200" kern="1200" dirty="0">
              <a:solidFill>
                <a:schemeClr val="tx1"/>
              </a:solidFill>
            </a:rPr>
            <a:t>パッケージ開発で品質管理に使う</a:t>
          </a:r>
          <a:endParaRPr kumimoji="1" lang="ja-JP" altLang="en-US" sz="3200" kern="1200" dirty="0">
            <a:solidFill>
              <a:schemeClr val="tx1"/>
            </a:solidFill>
          </a:endParaRPr>
        </a:p>
      </dsp:txBody>
      <dsp:txXfrm>
        <a:off x="0" y="210428"/>
        <a:ext cx="3869531" cy="232171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ＭＳ Ｐゴシック" pitchFamily="50" charset="-128"/>
              </a:defRPr>
            </a:lvl1pPr>
          </a:lstStyle>
          <a:p>
            <a:endParaRPr lang="en-US" altLang="ja-JP"/>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ＭＳ Ｐゴシック" pitchFamily="50" charset="-128"/>
              </a:defRPr>
            </a:lvl1pPr>
          </a:lstStyle>
          <a:p>
            <a:fld id="{442BAA3F-557D-4B17-AE9E-1755FE9972DC}" type="slidenum">
              <a:rPr lang="en-US" altLang="ja-JP"/>
              <a:pPr/>
              <a:t>‹#›</a:t>
            </a:fld>
            <a:endParaRPr lang="en-US" altLang="ja-JP"/>
          </a:p>
        </p:txBody>
      </p:sp>
    </p:spTree>
    <p:extLst>
      <p:ext uri="{BB962C8B-B14F-4D97-AF65-F5344CB8AC3E}">
        <p14:creationId xmlns:p14="http://schemas.microsoft.com/office/powerpoint/2010/main" val="19764086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8223" name="AutoShape 31"/>
          <p:cNvSpPr>
            <a:spLocks noChangeArrowheads="1"/>
          </p:cNvSpPr>
          <p:nvPr/>
        </p:nvSpPr>
        <p:spPr bwMode="auto">
          <a:xfrm rot="5400000">
            <a:off x="506414" y="2305580"/>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4" name="AutoShape 32"/>
          <p:cNvSpPr>
            <a:spLocks noChangeArrowheads="1"/>
          </p:cNvSpPr>
          <p:nvPr/>
        </p:nvSpPr>
        <p:spPr bwMode="auto">
          <a:xfrm rot="5400000">
            <a:off x="511704" y="3349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5" name="AutoShape 33"/>
          <p:cNvSpPr>
            <a:spLocks noChangeArrowheads="1"/>
          </p:cNvSpPr>
          <p:nvPr/>
        </p:nvSpPr>
        <p:spPr bwMode="auto">
          <a:xfrm rot="5400000">
            <a:off x="289455" y="47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6" name="AutoShape 34"/>
          <p:cNvSpPr>
            <a:spLocks noChangeArrowheads="1"/>
          </p:cNvSpPr>
          <p:nvPr/>
        </p:nvSpPr>
        <p:spPr bwMode="auto">
          <a:xfrm rot="5400000">
            <a:off x="216430" y="665693"/>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7" name="AutoShape 35"/>
          <p:cNvSpPr>
            <a:spLocks noChangeArrowheads="1"/>
          </p:cNvSpPr>
          <p:nvPr/>
        </p:nvSpPr>
        <p:spPr bwMode="auto">
          <a:xfrm rot="5400000">
            <a:off x="511704" y="9985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8" name="AutoShape 36"/>
          <p:cNvSpPr>
            <a:spLocks noChangeArrowheads="1"/>
          </p:cNvSpPr>
          <p:nvPr/>
        </p:nvSpPr>
        <p:spPr bwMode="auto">
          <a:xfrm rot="5400000">
            <a:off x="804069" y="1328474"/>
            <a:ext cx="442913" cy="510117"/>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9" name="AutoShape 37"/>
          <p:cNvSpPr>
            <a:spLocks noChangeArrowheads="1"/>
          </p:cNvSpPr>
          <p:nvPr/>
        </p:nvSpPr>
        <p:spPr bwMode="auto">
          <a:xfrm rot="5400000">
            <a:off x="511704" y="1660526"/>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1" name="AutoShape 39"/>
          <p:cNvSpPr>
            <a:spLocks noChangeArrowheads="1"/>
          </p:cNvSpPr>
          <p:nvPr/>
        </p:nvSpPr>
        <p:spPr bwMode="auto">
          <a:xfrm rot="5400000">
            <a:off x="234422" y="1968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2" name="AutoShape 40"/>
          <p:cNvSpPr>
            <a:spLocks noChangeArrowheads="1"/>
          </p:cNvSpPr>
          <p:nvPr/>
        </p:nvSpPr>
        <p:spPr bwMode="auto">
          <a:xfrm rot="5400000">
            <a:off x="776288" y="26463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3" name="AutoShape 41"/>
          <p:cNvSpPr>
            <a:spLocks noChangeArrowheads="1"/>
          </p:cNvSpPr>
          <p:nvPr/>
        </p:nvSpPr>
        <p:spPr bwMode="auto">
          <a:xfrm rot="5400000">
            <a:off x="505355" y="2984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4" name="AutoShape 42"/>
          <p:cNvSpPr>
            <a:spLocks noChangeArrowheads="1"/>
          </p:cNvSpPr>
          <p:nvPr/>
        </p:nvSpPr>
        <p:spPr bwMode="auto">
          <a:xfrm rot="5400000">
            <a:off x="234422" y="3322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5" name="AutoShape 43"/>
          <p:cNvSpPr>
            <a:spLocks noChangeArrowheads="1"/>
          </p:cNvSpPr>
          <p:nvPr/>
        </p:nvSpPr>
        <p:spPr bwMode="auto">
          <a:xfrm rot="5400000">
            <a:off x="505620" y="3660511"/>
            <a:ext cx="442912" cy="510116"/>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6" name="AutoShape 44"/>
          <p:cNvSpPr>
            <a:spLocks noChangeArrowheads="1"/>
          </p:cNvSpPr>
          <p:nvPr/>
        </p:nvSpPr>
        <p:spPr bwMode="auto">
          <a:xfrm rot="5400000">
            <a:off x="234422" y="4000501"/>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7" name="AutoShape 45"/>
          <p:cNvSpPr>
            <a:spLocks noChangeArrowheads="1"/>
          </p:cNvSpPr>
          <p:nvPr/>
        </p:nvSpPr>
        <p:spPr bwMode="auto">
          <a:xfrm rot="5400000">
            <a:off x="505355" y="4338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9" name="AutoShape 47"/>
          <p:cNvSpPr>
            <a:spLocks noChangeArrowheads="1"/>
          </p:cNvSpPr>
          <p:nvPr/>
        </p:nvSpPr>
        <p:spPr bwMode="auto">
          <a:xfrm rot="5400000">
            <a:off x="234422" y="4676776"/>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0" name="AutoShape 48"/>
          <p:cNvSpPr>
            <a:spLocks noChangeArrowheads="1"/>
          </p:cNvSpPr>
          <p:nvPr/>
        </p:nvSpPr>
        <p:spPr bwMode="auto">
          <a:xfrm rot="5400000">
            <a:off x="506414" y="5015443"/>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1" name="AutoShape 49"/>
          <p:cNvSpPr>
            <a:spLocks noChangeArrowheads="1"/>
          </p:cNvSpPr>
          <p:nvPr/>
        </p:nvSpPr>
        <p:spPr bwMode="auto">
          <a:xfrm rot="5400000">
            <a:off x="777347" y="5353580"/>
            <a:ext cx="441325" cy="510116"/>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3" name="AutoShape 51"/>
          <p:cNvSpPr>
            <a:spLocks noChangeArrowheads="1"/>
          </p:cNvSpPr>
          <p:nvPr/>
        </p:nvSpPr>
        <p:spPr bwMode="auto">
          <a:xfrm rot="5400000">
            <a:off x="236538" y="53387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4" name="AutoShape 52"/>
          <p:cNvSpPr>
            <a:spLocks noChangeArrowheads="1"/>
          </p:cNvSpPr>
          <p:nvPr/>
        </p:nvSpPr>
        <p:spPr bwMode="auto">
          <a:xfrm rot="5400000">
            <a:off x="490538" y="5694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5" name="AutoShape 53"/>
          <p:cNvSpPr>
            <a:spLocks noChangeArrowheads="1"/>
          </p:cNvSpPr>
          <p:nvPr/>
        </p:nvSpPr>
        <p:spPr bwMode="auto">
          <a:xfrm rot="5400000">
            <a:off x="236538" y="60372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6" name="AutoShape 54"/>
          <p:cNvSpPr>
            <a:spLocks noChangeArrowheads="1"/>
          </p:cNvSpPr>
          <p:nvPr/>
        </p:nvSpPr>
        <p:spPr bwMode="auto">
          <a:xfrm rot="5400000">
            <a:off x="542396" y="6369580"/>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196" name="Rectangle 4"/>
          <p:cNvSpPr>
            <a:spLocks noGrp="1" noChangeArrowheads="1"/>
          </p:cNvSpPr>
          <p:nvPr>
            <p:ph type="dt" sz="half" idx="2"/>
          </p:nvPr>
        </p:nvSpPr>
        <p:spPr>
          <a:xfrm>
            <a:off x="1930400" y="6553200"/>
            <a:ext cx="2336800" cy="457200"/>
          </a:xfrm>
        </p:spPr>
        <p:txBody>
          <a:bodyPr/>
          <a:lstStyle>
            <a:lvl1pPr algn="ctr">
              <a:defRPr kumimoji="1" b="0">
                <a:solidFill>
                  <a:schemeClr val="tx1"/>
                </a:solidFill>
                <a:effectLst/>
                <a:latin typeface="+mn-lt"/>
                <a:ea typeface="+mn-ea"/>
              </a:defRPr>
            </a:lvl1pPr>
          </a:lstStyle>
          <a:p>
            <a:endParaRPr lang="en-US" altLang="ja-JP"/>
          </a:p>
        </p:txBody>
      </p:sp>
      <p:sp>
        <p:nvSpPr>
          <p:cNvPr id="8197" name="Rectangle 5"/>
          <p:cNvSpPr>
            <a:spLocks noGrp="1" noChangeArrowheads="1"/>
          </p:cNvSpPr>
          <p:nvPr>
            <p:ph type="ftr" sz="quarter" idx="3"/>
          </p:nvPr>
        </p:nvSpPr>
        <p:spPr bwMode="auto">
          <a:xfrm>
            <a:off x="4320118" y="6553200"/>
            <a:ext cx="3551767"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endParaRPr lang="en-US" altLang="ja-JP"/>
          </a:p>
        </p:txBody>
      </p:sp>
      <p:sp>
        <p:nvSpPr>
          <p:cNvPr id="8221" name="Rectangle 29"/>
          <p:cNvSpPr>
            <a:spLocks noGrp="1" noChangeArrowheads="1"/>
          </p:cNvSpPr>
          <p:nvPr>
            <p:ph type="ctrTitle" sz="quarter"/>
          </p:nvPr>
        </p:nvSpPr>
        <p:spPr>
          <a:xfrm>
            <a:off x="1274236" y="1752600"/>
            <a:ext cx="9681630" cy="1143000"/>
          </a:xfrm>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lvl1pPr algn="ctr">
              <a:defRPr sz="4400" i="0"/>
            </a:lvl1pPr>
          </a:lstStyle>
          <a:p>
            <a:pPr lvl="0"/>
            <a:r>
              <a:rPr lang="ja-JP" altLang="en-US" noProof="0" dirty="0"/>
              <a:t>マスター タイトルの書式設定</a:t>
            </a:r>
          </a:p>
        </p:txBody>
      </p:sp>
      <p:sp>
        <p:nvSpPr>
          <p:cNvPr id="8222" name="Rectangle 30"/>
          <p:cNvSpPr>
            <a:spLocks noGrp="1" noChangeArrowheads="1"/>
          </p:cNvSpPr>
          <p:nvPr>
            <p:ph type="subTitle" sz="quarter" idx="1"/>
          </p:nvPr>
        </p:nvSpPr>
        <p:spPr>
          <a:xfrm>
            <a:off x="1274235" y="4038600"/>
            <a:ext cx="9679513" cy="762000"/>
          </a:xfrm>
        </p:spPr>
        <p:txBody>
          <a:bodyPr/>
          <a:lstStyle>
            <a:lvl1pPr marL="0" indent="0" algn="ctr">
              <a:defRPr/>
            </a:lvl1pPr>
          </a:lstStyle>
          <a:p>
            <a:pPr lvl="0"/>
            <a:r>
              <a:rPr lang="ja-JP" altLang="en-US" noProof="0" dirty="0"/>
              <a:t>マスター サブタイトルの書式設定</a:t>
            </a:r>
          </a:p>
        </p:txBody>
      </p:sp>
      <p:sp>
        <p:nvSpPr>
          <p:cNvPr id="8248" name="AutoShape 56"/>
          <p:cNvSpPr>
            <a:spLocks noChangeArrowheads="1"/>
          </p:cNvSpPr>
          <p:nvPr/>
        </p:nvSpPr>
        <p:spPr bwMode="auto">
          <a:xfrm rot="5400000">
            <a:off x="11295063" y="6369580"/>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9" name="AutoShape 57"/>
          <p:cNvSpPr>
            <a:spLocks noChangeArrowheads="1"/>
          </p:cNvSpPr>
          <p:nvPr/>
        </p:nvSpPr>
        <p:spPr bwMode="auto">
          <a:xfrm rot="5400000">
            <a:off x="11024130"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0" name="AutoShape 58"/>
          <p:cNvSpPr>
            <a:spLocks noChangeArrowheads="1"/>
          </p:cNvSpPr>
          <p:nvPr/>
        </p:nvSpPr>
        <p:spPr bwMode="auto">
          <a:xfrm rot="5400000">
            <a:off x="11294004" y="56816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1" name="AutoShape 59"/>
          <p:cNvSpPr>
            <a:spLocks noChangeArrowheads="1"/>
          </p:cNvSpPr>
          <p:nvPr/>
        </p:nvSpPr>
        <p:spPr bwMode="auto">
          <a:xfrm rot="5400000">
            <a:off x="11006138" y="5329238"/>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2" name="AutoShape 60"/>
          <p:cNvSpPr>
            <a:spLocks noChangeArrowheads="1"/>
          </p:cNvSpPr>
          <p:nvPr/>
        </p:nvSpPr>
        <p:spPr bwMode="auto">
          <a:xfrm rot="5400000">
            <a:off x="11260138" y="4970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3" name="AutoShape 61"/>
          <p:cNvSpPr>
            <a:spLocks noChangeArrowheads="1"/>
          </p:cNvSpPr>
          <p:nvPr/>
        </p:nvSpPr>
        <p:spPr bwMode="auto">
          <a:xfrm rot="5400000">
            <a:off x="10989204" y="46275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4" name="AutoShape 62"/>
          <p:cNvSpPr>
            <a:spLocks noChangeArrowheads="1"/>
          </p:cNvSpPr>
          <p:nvPr/>
        </p:nvSpPr>
        <p:spPr bwMode="auto">
          <a:xfrm rot="5400000">
            <a:off x="11277071" y="4297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5" name="AutoShape 63"/>
          <p:cNvSpPr>
            <a:spLocks noChangeArrowheads="1"/>
          </p:cNvSpPr>
          <p:nvPr/>
        </p:nvSpPr>
        <p:spPr bwMode="auto">
          <a:xfrm rot="5400000">
            <a:off x="11564938" y="3954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6" name="AutoShape 64"/>
          <p:cNvSpPr>
            <a:spLocks noChangeArrowheads="1"/>
          </p:cNvSpPr>
          <p:nvPr/>
        </p:nvSpPr>
        <p:spPr bwMode="auto">
          <a:xfrm rot="5400000">
            <a:off x="11278130" y="3610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7" name="AutoShape 65"/>
          <p:cNvSpPr>
            <a:spLocks noChangeArrowheads="1"/>
          </p:cNvSpPr>
          <p:nvPr/>
        </p:nvSpPr>
        <p:spPr bwMode="auto">
          <a:xfrm rot="5400000">
            <a:off x="11565996"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23B20E4E-3F95-4221-AFE5-FD1FD9CC3448}" type="slidenum">
              <a:rPr lang="en-US" altLang="ja-JP"/>
              <a:pPr/>
              <a:t>‹#›</a:t>
            </a:fld>
            <a:endParaRPr lang="en-US" altLang="ja-JP"/>
          </a:p>
        </p:txBody>
      </p:sp>
    </p:spTree>
    <p:extLst>
      <p:ext uri="{BB962C8B-B14F-4D97-AF65-F5344CB8AC3E}">
        <p14:creationId xmlns:p14="http://schemas.microsoft.com/office/powerpoint/2010/main" val="67354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59B327E7-9605-4B1F-A86B-23630CCB1D76}" type="slidenum">
              <a:rPr lang="en-US" altLang="ja-JP"/>
              <a:pPr/>
              <a:t>‹#›</a:t>
            </a:fld>
            <a:endParaRPr lang="en-US" altLang="ja-JP"/>
          </a:p>
        </p:txBody>
      </p:sp>
    </p:spTree>
    <p:extLst>
      <p:ext uri="{BB962C8B-B14F-4D97-AF65-F5344CB8AC3E}">
        <p14:creationId xmlns:p14="http://schemas.microsoft.com/office/powerpoint/2010/main" val="279562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510117" y="1219200"/>
            <a:ext cx="5484283"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1" y="1219200"/>
            <a:ext cx="5484284"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80724435-5351-4F85-AB21-E011B281C3F4}" type="slidenum">
              <a:rPr lang="en-US" altLang="ja-JP"/>
              <a:pPr/>
              <a:t>‹#›</a:t>
            </a:fld>
            <a:endParaRPr lang="en-US" altLang="ja-JP"/>
          </a:p>
        </p:txBody>
      </p:sp>
    </p:spTree>
    <p:extLst>
      <p:ext uri="{BB962C8B-B14F-4D97-AF65-F5344CB8AC3E}">
        <p14:creationId xmlns:p14="http://schemas.microsoft.com/office/powerpoint/2010/main" val="311713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91942" y="0"/>
            <a:ext cx="10400602" cy="908720"/>
          </a:xfrm>
        </p:spPr>
        <p:txBody>
          <a:bodyPr/>
          <a:lstStyle>
            <a:lvl1pPr>
              <a:defRPr/>
            </a:lvl1pPr>
          </a:lstStyle>
          <a:p>
            <a:r>
              <a:rPr lang="ja-JP" altLang="en-US" dirty="0"/>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p:cNvSpPr>
            <a:spLocks noGrp="1"/>
          </p:cNvSpPr>
          <p:nvPr>
            <p:ph type="dt" sz="half" idx="10"/>
          </p:nvPr>
        </p:nvSpPr>
        <p:spPr/>
        <p:txBody>
          <a:bodyPr/>
          <a:lstStyle>
            <a:lvl1pPr>
              <a:defRPr/>
            </a:lvl1pPr>
          </a:lstStyle>
          <a:p>
            <a:endParaRPr lang="en-US" altLang="ja-JP"/>
          </a:p>
        </p:txBody>
      </p:sp>
      <p:sp>
        <p:nvSpPr>
          <p:cNvPr id="8" name="スライド番号プレースホルダー 7"/>
          <p:cNvSpPr>
            <a:spLocks noGrp="1"/>
          </p:cNvSpPr>
          <p:nvPr>
            <p:ph type="sldNum" sz="quarter" idx="11"/>
          </p:nvPr>
        </p:nvSpPr>
        <p:spPr/>
        <p:txBody>
          <a:bodyPr/>
          <a:lstStyle>
            <a:lvl1pPr>
              <a:defRPr/>
            </a:lvl1pPr>
          </a:lstStyle>
          <a:p>
            <a:fld id="{5FBBB600-0FC1-4824-A895-1F4A3020CA10}" type="slidenum">
              <a:rPr lang="en-US" altLang="ja-JP"/>
              <a:pPr/>
              <a:t>‹#›</a:t>
            </a:fld>
            <a:endParaRPr lang="en-US" altLang="ja-JP"/>
          </a:p>
        </p:txBody>
      </p:sp>
    </p:spTree>
    <p:extLst>
      <p:ext uri="{BB962C8B-B14F-4D97-AF65-F5344CB8AC3E}">
        <p14:creationId xmlns:p14="http://schemas.microsoft.com/office/powerpoint/2010/main" val="366198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2"/>
          <p:cNvSpPr>
            <a:spLocks noGrp="1"/>
          </p:cNvSpPr>
          <p:nvPr>
            <p:ph type="dt" sz="half" idx="10"/>
          </p:nvPr>
        </p:nvSpPr>
        <p:spPr/>
        <p:txBody>
          <a:bodyPr/>
          <a:lstStyle>
            <a:lvl1pPr>
              <a:defRPr/>
            </a:lvl1pPr>
          </a:lstStyle>
          <a:p>
            <a:endParaRPr lang="en-US" altLang="ja-JP"/>
          </a:p>
        </p:txBody>
      </p:sp>
      <p:sp>
        <p:nvSpPr>
          <p:cNvPr id="4" name="スライド番号プレースホルダー 3"/>
          <p:cNvSpPr>
            <a:spLocks noGrp="1"/>
          </p:cNvSpPr>
          <p:nvPr>
            <p:ph type="sldNum" sz="quarter" idx="11"/>
          </p:nvPr>
        </p:nvSpPr>
        <p:spPr/>
        <p:txBody>
          <a:bodyPr/>
          <a:lstStyle>
            <a:lvl1pPr>
              <a:defRPr/>
            </a:lvl1pPr>
          </a:lstStyle>
          <a:p>
            <a:fld id="{8AB6CAD0-26EA-44DC-A34E-525D1C843D86}" type="slidenum">
              <a:rPr lang="en-US" altLang="ja-JP"/>
              <a:pPr/>
              <a:t>‹#›</a:t>
            </a:fld>
            <a:endParaRPr lang="en-US" altLang="ja-JP"/>
          </a:p>
        </p:txBody>
      </p:sp>
    </p:spTree>
    <p:extLst>
      <p:ext uri="{BB962C8B-B14F-4D97-AF65-F5344CB8AC3E}">
        <p14:creationId xmlns:p14="http://schemas.microsoft.com/office/powerpoint/2010/main" val="82003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lvl1pPr>
              <a:defRPr/>
            </a:lvl1pPr>
          </a:lstStyle>
          <a:p>
            <a:endParaRPr lang="en-US" altLang="ja-JP"/>
          </a:p>
        </p:txBody>
      </p:sp>
      <p:sp>
        <p:nvSpPr>
          <p:cNvPr id="3" name="スライド番号プレースホルダー 2"/>
          <p:cNvSpPr>
            <a:spLocks noGrp="1"/>
          </p:cNvSpPr>
          <p:nvPr>
            <p:ph type="sldNum" sz="quarter" idx="11"/>
          </p:nvPr>
        </p:nvSpPr>
        <p:spPr/>
        <p:txBody>
          <a:bodyPr/>
          <a:lstStyle>
            <a:lvl1pPr>
              <a:defRPr/>
            </a:lvl1pPr>
          </a:lstStyle>
          <a:p>
            <a:fld id="{57B969C8-B00C-423B-B7C2-865033CB3CDB}" type="slidenum">
              <a:rPr lang="en-US" altLang="ja-JP"/>
              <a:pPr/>
              <a:t>‹#›</a:t>
            </a:fld>
            <a:endParaRPr lang="en-US" altLang="ja-JP"/>
          </a:p>
        </p:txBody>
      </p:sp>
    </p:spTree>
    <p:extLst>
      <p:ext uri="{BB962C8B-B14F-4D97-AF65-F5344CB8AC3E}">
        <p14:creationId xmlns:p14="http://schemas.microsoft.com/office/powerpoint/2010/main" val="42492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970866"/>
            <a:ext cx="4011084" cy="526380"/>
          </a:xfrm>
        </p:spPr>
        <p:txBody>
          <a:bodyPr anchor="b"/>
          <a:lstStyle>
            <a:lvl1pPr algn="l">
              <a:defRPr sz="2000" b="1"/>
            </a:lvl1pPr>
          </a:lstStyle>
          <a:p>
            <a:r>
              <a:rPr lang="ja-JP" altLang="en-US" dirty="0"/>
              <a:t>マスター タイトルの書式設定</a:t>
            </a:r>
          </a:p>
        </p:txBody>
      </p:sp>
      <p:sp>
        <p:nvSpPr>
          <p:cNvPr id="3" name="コンテンツ プレースホルダー 2"/>
          <p:cNvSpPr>
            <a:spLocks noGrp="1"/>
          </p:cNvSpPr>
          <p:nvPr>
            <p:ph idx="1"/>
          </p:nvPr>
        </p:nvSpPr>
        <p:spPr>
          <a:xfrm>
            <a:off x="4766733" y="970866"/>
            <a:ext cx="6815667" cy="52174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テキスト プレースホルダー 3"/>
          <p:cNvSpPr>
            <a:spLocks noGrp="1"/>
          </p:cNvSpPr>
          <p:nvPr>
            <p:ph type="body" sz="half" idx="2"/>
          </p:nvPr>
        </p:nvSpPr>
        <p:spPr>
          <a:xfrm>
            <a:off x="609601" y="1497247"/>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27517061-3919-4886-BB04-892603DCDF1C}" type="slidenum">
              <a:rPr lang="en-US" altLang="ja-JP"/>
              <a:pPr/>
              <a:t>‹#›</a:t>
            </a:fld>
            <a:endParaRPr lang="en-US" altLang="ja-JP"/>
          </a:p>
        </p:txBody>
      </p:sp>
    </p:spTree>
    <p:extLst>
      <p:ext uri="{BB962C8B-B14F-4D97-AF65-F5344CB8AC3E}">
        <p14:creationId xmlns:p14="http://schemas.microsoft.com/office/powerpoint/2010/main" val="1322185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1052735"/>
            <a:ext cx="73152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3675D8CF-DD1E-4EAB-BC58-2A87F58CC84A}" type="slidenum">
              <a:rPr lang="en-US" altLang="ja-JP"/>
              <a:pPr/>
              <a:t>‹#›</a:t>
            </a:fld>
            <a:endParaRPr lang="en-US" altLang="ja-JP"/>
          </a:p>
        </p:txBody>
      </p:sp>
    </p:spTree>
    <p:extLst>
      <p:ext uri="{BB962C8B-B14F-4D97-AF65-F5344CB8AC3E}">
        <p14:creationId xmlns:p14="http://schemas.microsoft.com/office/powerpoint/2010/main" val="407430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39210B1D-38D9-4389-8774-02EB9DE2EE2A}" type="slidenum">
              <a:rPr lang="en-US" altLang="ja-JP"/>
              <a:pPr/>
              <a:t>‹#›</a:t>
            </a:fld>
            <a:endParaRPr lang="en-US" altLang="ja-JP"/>
          </a:p>
        </p:txBody>
      </p:sp>
    </p:spTree>
    <p:extLst>
      <p:ext uri="{BB962C8B-B14F-4D97-AF65-F5344CB8AC3E}">
        <p14:creationId xmlns:p14="http://schemas.microsoft.com/office/powerpoint/2010/main" val="89055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40800" y="980728"/>
            <a:ext cx="2844800" cy="5420072"/>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06400" y="980728"/>
            <a:ext cx="8331200" cy="542007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EEB424A9-2B98-46EE-806E-1DC4FA4740DF}" type="slidenum">
              <a:rPr lang="en-US" altLang="ja-JP"/>
              <a:pPr/>
              <a:t>‹#›</a:t>
            </a:fld>
            <a:endParaRPr lang="en-US" altLang="ja-JP"/>
          </a:p>
        </p:txBody>
      </p:sp>
    </p:spTree>
    <p:extLst>
      <p:ext uri="{BB962C8B-B14F-4D97-AF65-F5344CB8AC3E}">
        <p14:creationId xmlns:p14="http://schemas.microsoft.com/office/powerpoint/2010/main" val="157424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dt" sz="half" idx="2"/>
          </p:nvPr>
        </p:nvSpPr>
        <p:spPr bwMode="auto">
          <a:xfrm>
            <a:off x="0" y="64770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endParaRPr lang="en-US" altLang="ja-JP"/>
          </a:p>
        </p:txBody>
      </p:sp>
      <p:sp>
        <p:nvSpPr>
          <p:cNvPr id="7171" name="Rectangle 3"/>
          <p:cNvSpPr>
            <a:spLocks noGrp="1" noChangeArrowheads="1"/>
          </p:cNvSpPr>
          <p:nvPr>
            <p:ph type="sldNum" sz="quarter" idx="4"/>
          </p:nvPr>
        </p:nvSpPr>
        <p:spPr bwMode="auto">
          <a:xfrm>
            <a:off x="11564742" y="6477401"/>
            <a:ext cx="547044" cy="28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lvl1pPr algn="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fld id="{9E14BAE2-246D-40C8-99B9-BF4FC5F3B658}" type="slidenum">
              <a:rPr lang="en-US" altLang="ja-JP"/>
              <a:pPr/>
              <a:t>‹#›</a:t>
            </a:fld>
            <a:endParaRPr lang="en-US" altLang="ja-JP" dirty="0"/>
          </a:p>
        </p:txBody>
      </p:sp>
      <p:sp>
        <p:nvSpPr>
          <p:cNvPr id="7172" name="Rectangle 4"/>
          <p:cNvSpPr>
            <a:spLocks noGrp="1" noChangeArrowheads="1"/>
          </p:cNvSpPr>
          <p:nvPr>
            <p:ph type="title"/>
          </p:nvPr>
        </p:nvSpPr>
        <p:spPr bwMode="auto">
          <a:xfrm>
            <a:off x="406400" y="381000"/>
            <a:ext cx="106644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7174" name="Rectangle 6"/>
          <p:cNvSpPr>
            <a:spLocks noGrp="1" noChangeArrowheads="1"/>
          </p:cNvSpPr>
          <p:nvPr>
            <p:ph type="body" idx="1"/>
          </p:nvPr>
        </p:nvSpPr>
        <p:spPr bwMode="auto">
          <a:xfrm>
            <a:off x="510118" y="1219200"/>
            <a:ext cx="11171767"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第</a:t>
            </a:r>
            <a:r>
              <a:rPr lang="en-US" altLang="ja-JP"/>
              <a:t>1</a:t>
            </a:r>
            <a:r>
              <a:rPr lang="ja-JP" altLang="en-US"/>
              <a:t>レベル</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195" name="AutoShape 27"/>
          <p:cNvSpPr>
            <a:spLocks noChangeArrowheads="1"/>
          </p:cNvSpPr>
          <p:nvPr/>
        </p:nvSpPr>
        <p:spPr bwMode="auto">
          <a:xfrm rot="5400000">
            <a:off x="11664034" y="5675919"/>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8" name="AutoShape 30"/>
          <p:cNvSpPr>
            <a:spLocks noChangeArrowheads="1"/>
          </p:cNvSpPr>
          <p:nvPr/>
        </p:nvSpPr>
        <p:spPr bwMode="auto">
          <a:xfrm rot="5400000">
            <a:off x="11376167" y="60188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9" name="AutoShape 31"/>
          <p:cNvSpPr>
            <a:spLocks noChangeArrowheads="1"/>
          </p:cNvSpPr>
          <p:nvPr/>
        </p:nvSpPr>
        <p:spPr bwMode="auto">
          <a:xfrm rot="5400000">
            <a:off x="11647100" y="63617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200" name="Line 32"/>
          <p:cNvSpPr>
            <a:spLocks noChangeShapeType="1"/>
          </p:cNvSpPr>
          <p:nvPr/>
        </p:nvSpPr>
        <p:spPr bwMode="auto">
          <a:xfrm>
            <a:off x="0" y="914400"/>
            <a:ext cx="10972800" cy="0"/>
          </a:xfrm>
          <a:prstGeom prst="line">
            <a:avLst/>
          </a:prstGeom>
          <a:noFill/>
          <a:ln w="571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2400"/>
          </a:p>
        </p:txBody>
      </p:sp>
      <p:sp>
        <p:nvSpPr>
          <p:cNvPr id="7201" name="AutoShape 33"/>
          <p:cNvSpPr>
            <a:spLocks noChangeArrowheads="1"/>
          </p:cNvSpPr>
          <p:nvPr/>
        </p:nvSpPr>
        <p:spPr bwMode="auto">
          <a:xfrm rot="5400000">
            <a:off x="11105234" y="6361719"/>
            <a:ext cx="441325" cy="510117"/>
          </a:xfrm>
          <a:prstGeom prst="hexagon">
            <a:avLst>
              <a:gd name="adj" fmla="val 2883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pic>
        <p:nvPicPr>
          <p:cNvPr id="2050" name="Picture 2">
            <a:extLst>
              <a:ext uri="{FF2B5EF4-FFF2-40B4-BE49-F238E27FC236}">
                <a16:creationId xmlns:a16="http://schemas.microsoft.com/office/drawing/2014/main" id="{9AF9AB08-E6F9-EC98-86B3-C6C5EA0F0233}"/>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637262" y="11934"/>
            <a:ext cx="1539323" cy="86436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p:titleStyle>
    <p:body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testthat.r-lib.org/" TargetMode="External"/><Relationship Id="rId2" Type="http://schemas.openxmlformats.org/officeDocument/2006/relationships/hyperlink" Target="https://vita.had.co.nz/papers/testthat.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FF1A2DC-A995-7304-8C6C-3596ADBE66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09584" y="-12154"/>
            <a:ext cx="2582416" cy="145008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E2FEE0B9-216D-10FD-BDFF-7AC26870F037}"/>
              </a:ext>
            </a:extLst>
          </p:cNvPr>
          <p:cNvSpPr txBox="1"/>
          <p:nvPr/>
        </p:nvSpPr>
        <p:spPr>
          <a:xfrm>
            <a:off x="2135560" y="1437933"/>
            <a:ext cx="8880648" cy="1107996"/>
          </a:xfrm>
          <a:prstGeom prst="rect">
            <a:avLst/>
          </a:prstGeom>
          <a:noFill/>
        </p:spPr>
        <p:txBody>
          <a:bodyPr wrap="square">
            <a:spAutoFit/>
          </a:bodyPr>
          <a:lstStyle/>
          <a:p>
            <a:r>
              <a:rPr lang="en-US" altLang="ja-JP" sz="6600" dirty="0" err="1">
                <a:latin typeface="+mn-ea"/>
                <a:ea typeface="+mn-ea"/>
              </a:rPr>
              <a:t>testthat</a:t>
            </a:r>
            <a:r>
              <a:rPr lang="ja-JP" altLang="en-US" sz="6600" dirty="0">
                <a:latin typeface="+mn-ea"/>
                <a:ea typeface="+mn-ea"/>
              </a:rPr>
              <a:t>の紹介</a:t>
            </a:r>
          </a:p>
        </p:txBody>
      </p:sp>
      <p:sp>
        <p:nvSpPr>
          <p:cNvPr id="5" name="テキスト ボックス 4">
            <a:extLst>
              <a:ext uri="{FF2B5EF4-FFF2-40B4-BE49-F238E27FC236}">
                <a16:creationId xmlns:a16="http://schemas.microsoft.com/office/drawing/2014/main" id="{942FA9C5-A524-4A92-A667-F73F6D733184}"/>
              </a:ext>
            </a:extLst>
          </p:cNvPr>
          <p:cNvSpPr txBox="1"/>
          <p:nvPr/>
        </p:nvSpPr>
        <p:spPr>
          <a:xfrm>
            <a:off x="7464152" y="4725144"/>
            <a:ext cx="3912096" cy="1569660"/>
          </a:xfrm>
          <a:prstGeom prst="rect">
            <a:avLst/>
          </a:prstGeom>
          <a:noFill/>
        </p:spPr>
        <p:txBody>
          <a:bodyPr wrap="square">
            <a:spAutoFit/>
          </a:bodyPr>
          <a:lstStyle/>
          <a:p>
            <a:r>
              <a:rPr lang="en-US" altLang="ja-JP" dirty="0">
                <a:latin typeface="+mn-ea"/>
                <a:ea typeface="+mn-ea"/>
              </a:rPr>
              <a:t>Takashi Uota</a:t>
            </a:r>
          </a:p>
          <a:p>
            <a:r>
              <a:rPr lang="en-US" altLang="ja-JP" dirty="0">
                <a:latin typeface="+mn-ea"/>
                <a:ea typeface="+mn-ea"/>
              </a:rPr>
              <a:t>EPS Corporation</a:t>
            </a:r>
          </a:p>
          <a:p>
            <a:endParaRPr lang="en-US" altLang="ja-JP" dirty="0">
              <a:latin typeface="+mn-ea"/>
              <a:ea typeface="+mn-ea"/>
            </a:endParaRPr>
          </a:p>
          <a:p>
            <a:r>
              <a:rPr lang="en-US" altLang="ja-JP" dirty="0">
                <a:latin typeface="+mn-ea"/>
                <a:ea typeface="+mn-ea"/>
              </a:rPr>
              <a:t>2026-04-08</a:t>
            </a:r>
            <a:endParaRPr lang="ja-JP" altLang="en-US" dirty="0">
              <a:latin typeface="+mn-ea"/>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4FED06-0B02-2236-24F4-B757B1321AD6}"/>
              </a:ext>
            </a:extLst>
          </p:cNvPr>
          <p:cNvSpPr>
            <a:spLocks noGrp="1"/>
          </p:cNvSpPr>
          <p:nvPr>
            <p:ph type="title"/>
          </p:nvPr>
        </p:nvSpPr>
        <p:spPr/>
        <p:txBody>
          <a:bodyPr/>
          <a:lstStyle/>
          <a:p>
            <a:r>
              <a:rPr kumimoji="1" lang="en-US" altLang="ja-JP" i="0" dirty="0"/>
              <a:t>Agenda</a:t>
            </a:r>
            <a:endParaRPr kumimoji="1" lang="ja-JP" altLang="en-US" i="0" dirty="0"/>
          </a:p>
        </p:txBody>
      </p:sp>
      <p:sp>
        <p:nvSpPr>
          <p:cNvPr id="3" name="コンテンツ プレースホルダー 2">
            <a:extLst>
              <a:ext uri="{FF2B5EF4-FFF2-40B4-BE49-F238E27FC236}">
                <a16:creationId xmlns:a16="http://schemas.microsoft.com/office/drawing/2014/main" id="{2B0C0BEF-640C-2A4D-BC6F-E20E09AEC9E5}"/>
              </a:ext>
            </a:extLst>
          </p:cNvPr>
          <p:cNvSpPr>
            <a:spLocks noGrp="1"/>
          </p:cNvSpPr>
          <p:nvPr>
            <p:ph idx="1"/>
          </p:nvPr>
        </p:nvSpPr>
        <p:spPr/>
        <p:txBody>
          <a:bodyPr/>
          <a:lstStyle/>
          <a:p>
            <a:pPr marL="514350" indent="-514350">
              <a:buFont typeface="+mj-lt"/>
              <a:buAutoNum type="arabicPeriod"/>
            </a:pPr>
            <a:r>
              <a:rPr lang="en-US" altLang="ja-JP" dirty="0" err="1"/>
              <a:t>t</a:t>
            </a:r>
            <a:r>
              <a:rPr kumimoji="1" lang="en-US" altLang="ja-JP" dirty="0" err="1"/>
              <a:t>estthat</a:t>
            </a:r>
            <a:r>
              <a:rPr kumimoji="1" lang="ja-JP" altLang="en-US" dirty="0"/>
              <a:t>とは何か</a:t>
            </a:r>
            <a:endParaRPr kumimoji="1" lang="en-US" altLang="ja-JP" dirty="0"/>
          </a:p>
          <a:p>
            <a:pPr marL="514350" indent="-514350">
              <a:buFont typeface="+mj-lt"/>
              <a:buAutoNum type="arabicPeriod"/>
            </a:pPr>
            <a:r>
              <a:rPr lang="en-US" altLang="ja-JP" dirty="0" err="1"/>
              <a:t>testthat</a:t>
            </a:r>
            <a:r>
              <a:rPr lang="ja-JP" altLang="en-US" dirty="0"/>
              <a:t>の利用でできること</a:t>
            </a:r>
            <a:endParaRPr lang="en-US" altLang="ja-JP" dirty="0"/>
          </a:p>
          <a:p>
            <a:pPr marL="514350" indent="-514350">
              <a:buFont typeface="+mj-lt"/>
              <a:buAutoNum type="arabicPeriod"/>
            </a:pPr>
            <a:r>
              <a:rPr lang="en-US" altLang="ja-JP" dirty="0" err="1"/>
              <a:t>t</a:t>
            </a:r>
            <a:r>
              <a:rPr kumimoji="1" lang="en-US" altLang="ja-JP" dirty="0" err="1"/>
              <a:t>estthat</a:t>
            </a:r>
            <a:r>
              <a:rPr kumimoji="1" lang="ja-JP" altLang="en-US" dirty="0"/>
              <a:t>の関数紹介</a:t>
            </a:r>
            <a:endParaRPr kumimoji="1" lang="en-US" altLang="ja-JP" dirty="0"/>
          </a:p>
          <a:p>
            <a:pPr marL="514350" indent="-514350">
              <a:buFont typeface="+mj-lt"/>
              <a:buAutoNum type="arabicPeriod"/>
            </a:pPr>
            <a:r>
              <a:rPr kumimoji="1" lang="en-US" altLang="ja-JP" dirty="0" err="1"/>
              <a:t>testthat</a:t>
            </a:r>
            <a:r>
              <a:rPr kumimoji="1" lang="ja-JP" altLang="en-US" dirty="0"/>
              <a:t>の利用方法</a:t>
            </a:r>
            <a:endParaRPr kumimoji="1" lang="en-US" altLang="ja-JP" dirty="0"/>
          </a:p>
          <a:p>
            <a:pPr marL="514350" indent="-514350">
              <a:buFont typeface="+mj-lt"/>
              <a:buAutoNum type="arabicPeriod"/>
            </a:pPr>
            <a:endParaRPr kumimoji="1" lang="ja-JP" altLang="en-US" dirty="0"/>
          </a:p>
        </p:txBody>
      </p:sp>
      <p:sp>
        <p:nvSpPr>
          <p:cNvPr id="4" name="スライド番号プレースホルダー 3">
            <a:extLst>
              <a:ext uri="{FF2B5EF4-FFF2-40B4-BE49-F238E27FC236}">
                <a16:creationId xmlns:a16="http://schemas.microsoft.com/office/drawing/2014/main" id="{EAFFF018-A5B4-1E8C-C80A-AD3F40CF1283}"/>
              </a:ext>
            </a:extLst>
          </p:cNvPr>
          <p:cNvSpPr>
            <a:spLocks noGrp="1"/>
          </p:cNvSpPr>
          <p:nvPr>
            <p:ph type="sldNum" sz="quarter" idx="11"/>
          </p:nvPr>
        </p:nvSpPr>
        <p:spPr/>
        <p:txBody>
          <a:bodyPr/>
          <a:lstStyle/>
          <a:p>
            <a:fld id="{23B20E4E-3F95-4221-AFE5-FD1FD9CC3448}" type="slidenum">
              <a:rPr lang="en-US" altLang="ja-JP" smtClean="0"/>
              <a:pPr/>
              <a:t>2</a:t>
            </a:fld>
            <a:endParaRPr lang="en-US" altLang="ja-JP"/>
          </a:p>
        </p:txBody>
      </p:sp>
    </p:spTree>
    <p:extLst>
      <p:ext uri="{BB962C8B-B14F-4D97-AF65-F5344CB8AC3E}">
        <p14:creationId xmlns:p14="http://schemas.microsoft.com/office/powerpoint/2010/main" val="2629903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CC05870-4A41-96D7-562A-154FADA30DD7}"/>
              </a:ext>
            </a:extLst>
          </p:cNvPr>
          <p:cNvSpPr>
            <a:spLocks noGrp="1"/>
          </p:cNvSpPr>
          <p:nvPr>
            <p:ph idx="1"/>
          </p:nvPr>
        </p:nvSpPr>
        <p:spPr>
          <a:xfrm>
            <a:off x="517855" y="1110362"/>
            <a:ext cx="5657890" cy="784591"/>
          </a:xfrm>
        </p:spPr>
        <p:style>
          <a:lnRef idx="3">
            <a:schemeClr val="lt1"/>
          </a:lnRef>
          <a:fillRef idx="1">
            <a:schemeClr val="accent2"/>
          </a:fillRef>
          <a:effectRef idx="1">
            <a:schemeClr val="accent2"/>
          </a:effectRef>
          <a:fontRef idx="minor">
            <a:schemeClr val="lt1"/>
          </a:fontRef>
        </p:style>
        <p:txBody>
          <a:bodyPr/>
          <a:lstStyle/>
          <a:p>
            <a:pPr>
              <a:lnSpc>
                <a:spcPct val="150000"/>
              </a:lnSpc>
            </a:pPr>
            <a:r>
              <a:rPr lang="en-US" altLang="ja-JP" dirty="0" err="1">
                <a:latin typeface="+mn-ea"/>
              </a:rPr>
              <a:t>testthat</a:t>
            </a:r>
            <a:r>
              <a:rPr lang="ja-JP" altLang="en-US" dirty="0">
                <a:latin typeface="+mn-ea"/>
              </a:rPr>
              <a:t>は</a:t>
            </a:r>
            <a:r>
              <a:rPr lang="en-US" altLang="ja-JP" dirty="0">
                <a:latin typeface="+mn-ea"/>
              </a:rPr>
              <a:t>R</a:t>
            </a:r>
            <a:r>
              <a:rPr lang="ja-JP" altLang="en-US" dirty="0">
                <a:latin typeface="+mn-ea"/>
              </a:rPr>
              <a:t>のテストフレームワーク</a:t>
            </a:r>
          </a:p>
          <a:p>
            <a:pPr>
              <a:lnSpc>
                <a:spcPct val="150000"/>
              </a:lnSpc>
            </a:pPr>
            <a:endParaRPr kumimoji="1" lang="ja-JP" altLang="en-US" dirty="0">
              <a:latin typeface="+mn-ea"/>
            </a:endParaRPr>
          </a:p>
        </p:txBody>
      </p:sp>
      <p:sp>
        <p:nvSpPr>
          <p:cNvPr id="4" name="スライド番号プレースホルダー 3">
            <a:extLst>
              <a:ext uri="{FF2B5EF4-FFF2-40B4-BE49-F238E27FC236}">
                <a16:creationId xmlns:a16="http://schemas.microsoft.com/office/drawing/2014/main" id="{3E66BF42-95FD-6284-7421-8A4F9EC7DF02}"/>
              </a:ext>
            </a:extLst>
          </p:cNvPr>
          <p:cNvSpPr>
            <a:spLocks noGrp="1"/>
          </p:cNvSpPr>
          <p:nvPr>
            <p:ph type="sldNum" sz="quarter" idx="11"/>
          </p:nvPr>
        </p:nvSpPr>
        <p:spPr/>
        <p:txBody>
          <a:bodyPr/>
          <a:lstStyle/>
          <a:p>
            <a:fld id="{23B20E4E-3F95-4221-AFE5-FD1FD9CC3448}" type="slidenum">
              <a:rPr lang="en-US" altLang="ja-JP" smtClean="0"/>
              <a:pPr/>
              <a:t>3</a:t>
            </a:fld>
            <a:endParaRPr lang="en-US" altLang="ja-JP"/>
          </a:p>
        </p:txBody>
      </p:sp>
      <p:sp>
        <p:nvSpPr>
          <p:cNvPr id="5" name="タイトル 1">
            <a:extLst>
              <a:ext uri="{FF2B5EF4-FFF2-40B4-BE49-F238E27FC236}">
                <a16:creationId xmlns:a16="http://schemas.microsoft.com/office/drawing/2014/main" id="{DE084316-03C9-9D21-4FA8-1FD1FA55E839}"/>
              </a:ext>
            </a:extLst>
          </p:cNvPr>
          <p:cNvSpPr>
            <a:spLocks noGrp="1"/>
          </p:cNvSpPr>
          <p:nvPr>
            <p:ph type="title"/>
          </p:nvPr>
        </p:nvSpPr>
        <p:spPr>
          <a:xfrm>
            <a:off x="406400" y="381000"/>
            <a:ext cx="10664825" cy="533400"/>
          </a:xfrm>
        </p:spPr>
        <p:txBody>
          <a:bodyPr/>
          <a:lstStyle/>
          <a:p>
            <a:r>
              <a:rPr lang="en-US" altLang="ja-JP" i="0" dirty="0" err="1"/>
              <a:t>t</a:t>
            </a:r>
            <a:r>
              <a:rPr kumimoji="1" lang="en-US" altLang="ja-JP" i="0" dirty="0" err="1"/>
              <a:t>estthat</a:t>
            </a:r>
            <a:r>
              <a:rPr lang="ja-JP" altLang="en-US" i="0" dirty="0"/>
              <a:t>とは何か</a:t>
            </a:r>
            <a:endParaRPr kumimoji="1" lang="ja-JP" altLang="en-US" i="0" dirty="0"/>
          </a:p>
        </p:txBody>
      </p:sp>
      <p:sp>
        <p:nvSpPr>
          <p:cNvPr id="8" name="テキスト ボックス 7">
            <a:extLst>
              <a:ext uri="{FF2B5EF4-FFF2-40B4-BE49-F238E27FC236}">
                <a16:creationId xmlns:a16="http://schemas.microsoft.com/office/drawing/2014/main" id="{EA7B04BD-112B-FBEB-91BE-673433A0ACDA}"/>
              </a:ext>
            </a:extLst>
          </p:cNvPr>
          <p:cNvSpPr txBox="1"/>
          <p:nvPr/>
        </p:nvSpPr>
        <p:spPr>
          <a:xfrm>
            <a:off x="767408" y="2194040"/>
            <a:ext cx="4307589" cy="461665"/>
          </a:xfrm>
          <a:prstGeom prst="rect">
            <a:avLst/>
          </a:prstGeom>
          <a:noFill/>
        </p:spPr>
        <p:txBody>
          <a:bodyPr wrap="none" rtlCol="0">
            <a:spAutoFit/>
          </a:bodyPr>
          <a:lstStyle/>
          <a:p>
            <a:r>
              <a:rPr lang="ja-JP" altLang="en-US" dirty="0">
                <a:latin typeface="+mn-ea"/>
                <a:ea typeface="+mn-ea"/>
              </a:rPr>
              <a:t>例：</a:t>
            </a:r>
            <a:r>
              <a:rPr lang="en-US" altLang="ja-JP" dirty="0">
                <a:latin typeface="+mn-ea"/>
                <a:ea typeface="+mn-ea"/>
              </a:rPr>
              <a:t>mean</a:t>
            </a:r>
            <a:r>
              <a:rPr lang="ja-JP" altLang="en-US" dirty="0">
                <a:latin typeface="+mn-ea"/>
                <a:ea typeface="+mn-ea"/>
              </a:rPr>
              <a:t>関数の挙動を確認する</a:t>
            </a:r>
            <a:endParaRPr kumimoji="1" lang="ja-JP" altLang="en-US" dirty="0">
              <a:latin typeface="+mn-ea"/>
              <a:ea typeface="+mn-ea"/>
            </a:endParaRPr>
          </a:p>
        </p:txBody>
      </p:sp>
      <p:pic>
        <p:nvPicPr>
          <p:cNvPr id="10" name="図 9" descr="テキスト&#10;&#10;AI 生成コンテンツは誤りを含む可能性があります。">
            <a:extLst>
              <a:ext uri="{FF2B5EF4-FFF2-40B4-BE49-F238E27FC236}">
                <a16:creationId xmlns:a16="http://schemas.microsoft.com/office/drawing/2014/main" id="{78F4DA6D-2F04-81CF-C40A-1F9E4964753B}"/>
              </a:ext>
            </a:extLst>
          </p:cNvPr>
          <p:cNvPicPr>
            <a:picLocks noChangeAspect="1"/>
          </p:cNvPicPr>
          <p:nvPr/>
        </p:nvPicPr>
        <p:blipFill>
          <a:blip r:embed="rId2"/>
          <a:stretch>
            <a:fillRect/>
          </a:stretch>
        </p:blipFill>
        <p:spPr>
          <a:xfrm>
            <a:off x="1631504" y="2770497"/>
            <a:ext cx="6079567" cy="1177257"/>
          </a:xfrm>
          <a:prstGeom prst="rect">
            <a:avLst/>
          </a:prstGeom>
          <a:ln>
            <a:solidFill>
              <a:schemeClr val="accent6">
                <a:lumMod val="60000"/>
                <a:lumOff val="40000"/>
              </a:schemeClr>
            </a:solidFill>
          </a:ln>
        </p:spPr>
      </p:pic>
      <p:sp>
        <p:nvSpPr>
          <p:cNvPr id="11" name="テキスト ボックス 10">
            <a:extLst>
              <a:ext uri="{FF2B5EF4-FFF2-40B4-BE49-F238E27FC236}">
                <a16:creationId xmlns:a16="http://schemas.microsoft.com/office/drawing/2014/main" id="{2ED986DE-3D97-C4A0-9D78-928D216841BC}"/>
              </a:ext>
            </a:extLst>
          </p:cNvPr>
          <p:cNvSpPr txBox="1"/>
          <p:nvPr/>
        </p:nvSpPr>
        <p:spPr>
          <a:xfrm>
            <a:off x="767408" y="4202295"/>
            <a:ext cx="9937104" cy="2123658"/>
          </a:xfrm>
          <a:prstGeom prst="rect">
            <a:avLst/>
          </a:prstGeom>
          <a:noFill/>
        </p:spPr>
        <p:txBody>
          <a:bodyPr wrap="square" rtlCol="0">
            <a:spAutoFit/>
          </a:bodyPr>
          <a:lstStyle/>
          <a:p>
            <a:r>
              <a:rPr lang="ja-JP" altLang="en-US" dirty="0">
                <a:latin typeface="+mn-ea"/>
                <a:ea typeface="+mn-ea"/>
              </a:rPr>
              <a:t>パッケージの開発において、よく利用される</a:t>
            </a:r>
            <a:endParaRPr lang="en-US" altLang="ja-JP" dirty="0">
              <a:latin typeface="+mn-ea"/>
              <a:ea typeface="+mn-ea"/>
            </a:endParaRPr>
          </a:p>
          <a:p>
            <a:r>
              <a:rPr lang="ja-JP" altLang="en-US" dirty="0">
                <a:latin typeface="+mn-ea"/>
                <a:ea typeface="+mn-ea"/>
              </a:rPr>
              <a:t>　⇒他のパッケージに比べて高い確率で</a:t>
            </a:r>
            <a:r>
              <a:rPr lang="en-US" altLang="ja-JP" dirty="0">
                <a:latin typeface="+mn-ea"/>
                <a:ea typeface="+mn-ea"/>
              </a:rPr>
              <a:t>Suggests</a:t>
            </a:r>
            <a:r>
              <a:rPr lang="ja-JP" altLang="en-US" dirty="0">
                <a:latin typeface="+mn-ea"/>
                <a:ea typeface="+mn-ea"/>
              </a:rPr>
              <a:t>に含まれている</a:t>
            </a:r>
            <a:endParaRPr lang="en-US" altLang="ja-JP" dirty="0">
              <a:latin typeface="+mn-ea"/>
              <a:ea typeface="+mn-ea"/>
            </a:endParaRPr>
          </a:p>
          <a:p>
            <a:endParaRPr kumimoji="1" lang="en-US" altLang="ja-JP" dirty="0">
              <a:latin typeface="+mn-ea"/>
              <a:ea typeface="+mn-ea"/>
            </a:endParaRPr>
          </a:p>
          <a:p>
            <a:r>
              <a:rPr lang="ja-JP" altLang="en-US" sz="2000" dirty="0">
                <a:solidFill>
                  <a:srgbClr val="FF6699"/>
                </a:solidFill>
                <a:latin typeface="+mn-ea"/>
                <a:ea typeface="+mn-ea"/>
              </a:rPr>
              <a:t>補足</a:t>
            </a:r>
            <a:endParaRPr lang="en-US" altLang="ja-JP" sz="2000" dirty="0">
              <a:solidFill>
                <a:srgbClr val="FF6699"/>
              </a:solidFill>
              <a:latin typeface="+mn-ea"/>
              <a:ea typeface="+mn-ea"/>
            </a:endParaRPr>
          </a:p>
          <a:p>
            <a:r>
              <a:rPr lang="ja-JP" altLang="en-US" sz="2000" dirty="0">
                <a:solidFill>
                  <a:srgbClr val="FF6699"/>
                </a:solidFill>
                <a:latin typeface="+mn-ea"/>
                <a:ea typeface="+mn-ea"/>
              </a:rPr>
              <a:t>　</a:t>
            </a:r>
            <a:r>
              <a:rPr lang="en-US" altLang="ja-JP" sz="2000" dirty="0">
                <a:solidFill>
                  <a:srgbClr val="FF6699"/>
                </a:solidFill>
                <a:latin typeface="+mn-ea"/>
                <a:ea typeface="+mn-ea"/>
              </a:rPr>
              <a:t>Suggests</a:t>
            </a:r>
            <a:r>
              <a:rPr lang="ja-JP" altLang="en-US" sz="2000" dirty="0">
                <a:solidFill>
                  <a:srgbClr val="FF6699"/>
                </a:solidFill>
                <a:latin typeface="+mn-ea"/>
                <a:ea typeface="+mn-ea"/>
              </a:rPr>
              <a:t>：利用の上でインストールは必須ではないが、あると便利</a:t>
            </a:r>
            <a:br>
              <a:rPr lang="en-US" altLang="ja-JP" sz="2000" dirty="0">
                <a:solidFill>
                  <a:srgbClr val="FF6699"/>
                </a:solidFill>
                <a:latin typeface="+mn-ea"/>
                <a:ea typeface="+mn-ea"/>
              </a:rPr>
            </a:br>
            <a:r>
              <a:rPr lang="ja-JP" altLang="en-US" sz="2000" dirty="0">
                <a:solidFill>
                  <a:srgbClr val="FF6699"/>
                </a:solidFill>
                <a:latin typeface="+mn-ea"/>
                <a:ea typeface="+mn-ea"/>
              </a:rPr>
              <a:t>　　　　　 </a:t>
            </a:r>
            <a:r>
              <a:rPr lang="ja-JP" altLang="en-US" sz="2000" b="1" dirty="0">
                <a:solidFill>
                  <a:srgbClr val="FF6699"/>
                </a:solidFill>
                <a:latin typeface="+mn-ea"/>
                <a:ea typeface="+mn-ea"/>
              </a:rPr>
              <a:t>テスト</a:t>
            </a:r>
            <a:r>
              <a:rPr lang="ja-JP" altLang="en-US" sz="2000" dirty="0">
                <a:solidFill>
                  <a:srgbClr val="FF6699"/>
                </a:solidFill>
                <a:latin typeface="+mn-ea"/>
                <a:ea typeface="+mn-ea"/>
              </a:rPr>
              <a:t>、</a:t>
            </a:r>
            <a:r>
              <a:rPr lang="en-US" altLang="ja-JP" sz="2000" dirty="0">
                <a:solidFill>
                  <a:srgbClr val="FF6699"/>
                </a:solidFill>
                <a:latin typeface="+mn-ea"/>
                <a:ea typeface="+mn-ea"/>
              </a:rPr>
              <a:t>vignette</a:t>
            </a:r>
            <a:r>
              <a:rPr lang="ja-JP" altLang="en-US" sz="2000" dirty="0">
                <a:solidFill>
                  <a:srgbClr val="FF6699"/>
                </a:solidFill>
                <a:latin typeface="+mn-ea"/>
                <a:ea typeface="+mn-ea"/>
              </a:rPr>
              <a:t>、拡張機能などで使用される。</a:t>
            </a:r>
            <a:endParaRPr kumimoji="1" lang="ja-JP" altLang="en-US" sz="2000" dirty="0">
              <a:solidFill>
                <a:srgbClr val="FF6699"/>
              </a:solidFill>
              <a:latin typeface="+mn-ea"/>
              <a:ea typeface="+mn-ea"/>
            </a:endParaRPr>
          </a:p>
        </p:txBody>
      </p:sp>
      <p:sp>
        <p:nvSpPr>
          <p:cNvPr id="15" name="テキスト ボックス 14">
            <a:extLst>
              <a:ext uri="{FF2B5EF4-FFF2-40B4-BE49-F238E27FC236}">
                <a16:creationId xmlns:a16="http://schemas.microsoft.com/office/drawing/2014/main" id="{39406970-0046-5F98-6B1C-542CF14548AD}"/>
              </a:ext>
            </a:extLst>
          </p:cNvPr>
          <p:cNvSpPr txBox="1"/>
          <p:nvPr/>
        </p:nvSpPr>
        <p:spPr>
          <a:xfrm>
            <a:off x="6423004" y="1172794"/>
            <a:ext cx="5381064" cy="584775"/>
          </a:xfrm>
          <a:prstGeom prst="rect">
            <a:avLst/>
          </a:prstGeom>
          <a:noFill/>
        </p:spPr>
        <p:txBody>
          <a:bodyPr wrap="square">
            <a:spAutoFit/>
          </a:bodyPr>
          <a:lstStyle/>
          <a:p>
            <a:r>
              <a:rPr lang="ja-JP" altLang="en-US" sz="1600" dirty="0">
                <a:latin typeface="+mn-ea"/>
                <a:ea typeface="+mn-ea"/>
              </a:rPr>
              <a:t>テストフレームワーク：</a:t>
            </a:r>
            <a:endParaRPr lang="en-US" altLang="ja-JP" sz="1600" dirty="0">
              <a:latin typeface="+mn-ea"/>
              <a:ea typeface="+mn-ea"/>
            </a:endParaRPr>
          </a:p>
          <a:p>
            <a:r>
              <a:rPr lang="ja-JP" altLang="en-US" sz="1600" dirty="0">
                <a:latin typeface="+mn-ea"/>
                <a:ea typeface="+mn-ea"/>
              </a:rPr>
              <a:t>プログラムが正しく動くかを効率よく確認するための仕組み</a:t>
            </a:r>
          </a:p>
        </p:txBody>
      </p:sp>
    </p:spTree>
    <p:extLst>
      <p:ext uri="{BB962C8B-B14F-4D97-AF65-F5344CB8AC3E}">
        <p14:creationId xmlns:p14="http://schemas.microsoft.com/office/powerpoint/2010/main" val="186961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D83A6D-6A01-1814-4A41-5AED69F64059}"/>
              </a:ext>
            </a:extLst>
          </p:cNvPr>
          <p:cNvSpPr>
            <a:spLocks noGrp="1"/>
          </p:cNvSpPr>
          <p:nvPr>
            <p:ph type="title"/>
          </p:nvPr>
        </p:nvSpPr>
        <p:spPr/>
        <p:txBody>
          <a:bodyPr/>
          <a:lstStyle/>
          <a:p>
            <a:r>
              <a:rPr kumimoji="1" lang="en-US" altLang="ja-JP" i="0" dirty="0" err="1"/>
              <a:t>testthat</a:t>
            </a:r>
            <a:r>
              <a:rPr kumimoji="1" lang="ja-JP" altLang="en-US" i="0" dirty="0"/>
              <a:t>はなぜ作られたのか</a:t>
            </a:r>
          </a:p>
        </p:txBody>
      </p:sp>
      <p:sp>
        <p:nvSpPr>
          <p:cNvPr id="3" name="コンテンツ プレースホルダー 2">
            <a:extLst>
              <a:ext uri="{FF2B5EF4-FFF2-40B4-BE49-F238E27FC236}">
                <a16:creationId xmlns:a16="http://schemas.microsoft.com/office/drawing/2014/main" id="{69EBDBC2-5F7F-F404-9F81-D97E9D4E72E4}"/>
              </a:ext>
            </a:extLst>
          </p:cNvPr>
          <p:cNvSpPr>
            <a:spLocks noGrp="1"/>
          </p:cNvSpPr>
          <p:nvPr>
            <p:ph idx="1"/>
          </p:nvPr>
        </p:nvSpPr>
        <p:spPr/>
        <p:txBody>
          <a:bodyPr/>
          <a:lstStyle/>
          <a:p>
            <a:r>
              <a:rPr lang="en-US" altLang="ja-JP" dirty="0" err="1"/>
              <a:t>testthat</a:t>
            </a:r>
            <a:r>
              <a:rPr lang="ja-JP" altLang="en-US" dirty="0"/>
              <a:t>登場までの</a:t>
            </a:r>
            <a:r>
              <a:rPr lang="en-US" altLang="ja-JP" dirty="0"/>
              <a:t>R</a:t>
            </a:r>
            <a:r>
              <a:rPr lang="ja-JP" altLang="en-US" dirty="0"/>
              <a:t>利用の背景</a:t>
            </a:r>
            <a:endParaRPr lang="en-US" altLang="ja-JP" dirty="0"/>
          </a:p>
          <a:p>
            <a:pPr marL="457200" indent="-457200">
              <a:buFont typeface="Arial" panose="020B0604020202020204" pitchFamily="34" charset="0"/>
              <a:buChar char="•"/>
            </a:pPr>
            <a:r>
              <a:rPr lang="ja-JP" altLang="en-US" sz="2000" dirty="0"/>
              <a:t>もともとは統計解析を行うための言語で、</a:t>
            </a:r>
            <a:r>
              <a:rPr lang="ja-JP" altLang="en-US" sz="2000" u="sng" dirty="0"/>
              <a:t>個人・研究用途が中心</a:t>
            </a:r>
            <a:br>
              <a:rPr lang="en-US" altLang="ja-JP" sz="2000" dirty="0"/>
            </a:br>
            <a:r>
              <a:rPr lang="ja-JP" altLang="en-US" sz="2000" dirty="0"/>
              <a:t>⇒ソフトウェア品質管理の文化があまりない。</a:t>
            </a:r>
            <a:endParaRPr lang="en-US" altLang="ja-JP" sz="2000" dirty="0"/>
          </a:p>
          <a:p>
            <a:pPr marL="457200" indent="-457200">
              <a:buFont typeface="Arial" panose="020B0604020202020204" pitchFamily="34" charset="0"/>
              <a:buChar char="•"/>
            </a:pPr>
            <a:endParaRPr lang="en-US" altLang="ja-JP" sz="1200" dirty="0"/>
          </a:p>
          <a:p>
            <a:pPr marL="457200" indent="-457200">
              <a:buFont typeface="Arial" panose="020B0604020202020204" pitchFamily="34" charset="0"/>
              <a:buChar char="•"/>
            </a:pPr>
            <a:r>
              <a:rPr lang="en-US" altLang="ja-JP" sz="2000" dirty="0"/>
              <a:t>2000</a:t>
            </a:r>
            <a:r>
              <a:rPr lang="ja-JP" altLang="en-US" sz="2000" dirty="0"/>
              <a:t>年代にパッケージが増えはじめ、利用上の</a:t>
            </a:r>
            <a:r>
              <a:rPr lang="ja-JP" altLang="en-US" sz="2000" u="sng" dirty="0"/>
              <a:t>問題が生じてきた</a:t>
            </a:r>
            <a:r>
              <a:rPr lang="ja-JP" altLang="en-US" sz="2000" dirty="0"/>
              <a:t>。</a:t>
            </a:r>
            <a:br>
              <a:rPr lang="en-US" altLang="ja-JP" sz="2000" dirty="0"/>
            </a:br>
            <a:r>
              <a:rPr lang="ja-JP" altLang="en-US" sz="2000" dirty="0"/>
              <a:t>⇒パッケージ更新で動かなくなる、依存関係で壊れる。</a:t>
            </a:r>
            <a:br>
              <a:rPr lang="en-US" altLang="ja-JP" sz="2000" dirty="0"/>
            </a:br>
            <a:r>
              <a:rPr lang="ja-JP" altLang="en-US" sz="2000" dirty="0"/>
              <a:t>⇒テストツールとして</a:t>
            </a:r>
            <a:r>
              <a:rPr lang="en-US" altLang="ja-JP" sz="2000" dirty="0"/>
              <a:t>Runit</a:t>
            </a:r>
            <a:r>
              <a:rPr lang="ja-JP" altLang="en-US" sz="2000" dirty="0"/>
              <a:t>、</a:t>
            </a:r>
            <a:r>
              <a:rPr lang="en-US" altLang="ja-JP" sz="2000" dirty="0" err="1"/>
              <a:t>svUnit</a:t>
            </a:r>
            <a:r>
              <a:rPr lang="ja-JP" altLang="en-US" sz="2000" dirty="0"/>
              <a:t>があったが使いづらくて普及しなかった。</a:t>
            </a:r>
            <a:endParaRPr lang="en-US" altLang="ja-JP" sz="2000" dirty="0"/>
          </a:p>
          <a:p>
            <a:pPr marL="457200" indent="-457200">
              <a:buFont typeface="Arial" panose="020B0604020202020204" pitchFamily="34" charset="0"/>
              <a:buChar char="•"/>
            </a:pPr>
            <a:endParaRPr lang="en-US" altLang="ja-JP" sz="1200" dirty="0"/>
          </a:p>
          <a:p>
            <a:pPr marL="457200" indent="-457200">
              <a:buFont typeface="Arial" panose="020B0604020202020204" pitchFamily="34" charset="0"/>
              <a:buChar char="•"/>
            </a:pPr>
            <a:r>
              <a:rPr lang="en-US" altLang="ja-JP" sz="2000" dirty="0"/>
              <a:t>2010</a:t>
            </a:r>
            <a:r>
              <a:rPr lang="ja-JP" altLang="en-US" sz="2000" dirty="0"/>
              <a:t>年前後にさまざまな変化があり</a:t>
            </a:r>
            <a:r>
              <a:rPr lang="ja-JP" altLang="en-US" sz="2000" u="sng" dirty="0"/>
              <a:t>テストフレームワークの重要性や普及につながる文化</a:t>
            </a:r>
            <a:r>
              <a:rPr lang="ja-JP" altLang="en-US" sz="2000" dirty="0"/>
              <a:t>が根付き始める。</a:t>
            </a:r>
            <a:endParaRPr lang="en-US" altLang="ja-JP" sz="2000" dirty="0"/>
          </a:p>
          <a:p>
            <a:pPr marL="857250" lvl="1" indent="-457200">
              <a:buFont typeface="Arial" panose="020B0604020202020204" pitchFamily="34" charset="0"/>
              <a:buChar char="•"/>
            </a:pPr>
            <a:r>
              <a:rPr lang="ja-JP" altLang="en-US" sz="1600" b="1" dirty="0"/>
              <a:t>ソフトウェアの大規模化に伴い、自動テストの必要性が高まる</a:t>
            </a:r>
            <a:endParaRPr lang="en-US" altLang="ja-JP" sz="1600" b="1" dirty="0"/>
          </a:p>
          <a:p>
            <a:pPr marL="857250" lvl="1" indent="-457200">
              <a:buFont typeface="Arial" panose="020B0604020202020204" pitchFamily="34" charset="0"/>
              <a:buChar char="•"/>
            </a:pPr>
            <a:r>
              <a:rPr lang="ja-JP" altLang="en-US" sz="1600" b="1" dirty="0"/>
              <a:t>他言語</a:t>
            </a:r>
            <a:r>
              <a:rPr lang="ja-JP" altLang="en-US" sz="1600" dirty="0"/>
              <a:t>で開発中に“テストを書くことが習慣化し、そのための方法論・ツールが確立</a:t>
            </a:r>
            <a:endParaRPr lang="en-US" altLang="ja-JP" sz="1600" dirty="0"/>
          </a:p>
          <a:p>
            <a:pPr marL="857250" lvl="1" indent="-457200">
              <a:buFont typeface="Arial" panose="020B0604020202020204" pitchFamily="34" charset="0"/>
              <a:buChar char="•"/>
            </a:pPr>
            <a:r>
              <a:rPr lang="en-US" altLang="ja-JP" sz="1600" dirty="0"/>
              <a:t>Git/GitHub</a:t>
            </a:r>
            <a:r>
              <a:rPr lang="ja-JP" altLang="en-US" sz="1600" dirty="0"/>
              <a:t>の普及</a:t>
            </a:r>
            <a:endParaRPr lang="en-US" altLang="ja-JP" sz="1600" dirty="0"/>
          </a:p>
          <a:p>
            <a:pPr marL="857250" lvl="1" indent="-457200">
              <a:buFont typeface="Arial" panose="020B0604020202020204" pitchFamily="34" charset="0"/>
              <a:buChar char="•"/>
            </a:pPr>
            <a:r>
              <a:rPr lang="ja-JP" altLang="en-US" sz="1600" dirty="0"/>
              <a:t>オープンソース開発の拡大</a:t>
            </a:r>
            <a:endParaRPr lang="en-US" altLang="ja-JP" sz="1600" dirty="0"/>
          </a:p>
          <a:p>
            <a:pPr marL="457200" indent="-457200">
              <a:buFont typeface="Arial" panose="020B0604020202020204" pitchFamily="34" charset="0"/>
              <a:buChar char="•"/>
            </a:pPr>
            <a:endParaRPr lang="en-US" altLang="ja-JP" sz="1600" dirty="0"/>
          </a:p>
          <a:p>
            <a:pPr marL="457200" indent="-457200">
              <a:buFont typeface="Arial" panose="020B0604020202020204" pitchFamily="34" charset="0"/>
              <a:buChar char="•"/>
            </a:pPr>
            <a:r>
              <a:rPr lang="en-US" altLang="ja-JP" sz="2000" dirty="0"/>
              <a:t>2011</a:t>
            </a:r>
            <a:r>
              <a:rPr lang="ja-JP" altLang="en-US" sz="2000" dirty="0"/>
              <a:t>年に</a:t>
            </a:r>
            <a:r>
              <a:rPr lang="en-US" altLang="ja-JP" sz="2000" u="sng" dirty="0" err="1"/>
              <a:t>testthat</a:t>
            </a:r>
            <a:r>
              <a:rPr lang="ja-JP" altLang="en-US" sz="2000" u="sng" dirty="0"/>
              <a:t>登場</a:t>
            </a:r>
            <a:r>
              <a:rPr lang="ja-JP" altLang="en-US" sz="2000" dirty="0"/>
              <a:t>！</a:t>
            </a:r>
            <a:endParaRPr lang="en-US" altLang="ja-JP" sz="2000" dirty="0"/>
          </a:p>
          <a:p>
            <a:pPr marL="457200" indent="-457200">
              <a:buFont typeface="Arial" panose="020B0604020202020204" pitchFamily="34" charset="0"/>
              <a:buChar char="•"/>
            </a:pPr>
            <a:endParaRPr lang="en-US" altLang="ja-JP" sz="2000" dirty="0"/>
          </a:p>
          <a:p>
            <a:pPr marL="0" indent="0"/>
            <a:endParaRPr kumimoji="1" lang="ja-JP" altLang="en-US" dirty="0"/>
          </a:p>
        </p:txBody>
      </p:sp>
      <p:sp>
        <p:nvSpPr>
          <p:cNvPr id="4" name="スライド番号プレースホルダー 3">
            <a:extLst>
              <a:ext uri="{FF2B5EF4-FFF2-40B4-BE49-F238E27FC236}">
                <a16:creationId xmlns:a16="http://schemas.microsoft.com/office/drawing/2014/main" id="{9E0C80DB-8429-8FE0-841C-32D4403AABAD}"/>
              </a:ext>
            </a:extLst>
          </p:cNvPr>
          <p:cNvSpPr>
            <a:spLocks noGrp="1"/>
          </p:cNvSpPr>
          <p:nvPr>
            <p:ph type="sldNum" sz="quarter" idx="11"/>
          </p:nvPr>
        </p:nvSpPr>
        <p:spPr/>
        <p:txBody>
          <a:bodyPr/>
          <a:lstStyle/>
          <a:p>
            <a:fld id="{23B20E4E-3F95-4221-AFE5-FD1FD9CC3448}" type="slidenum">
              <a:rPr lang="en-US" altLang="ja-JP" smtClean="0"/>
              <a:pPr/>
              <a:t>4</a:t>
            </a:fld>
            <a:endParaRPr lang="en-US" altLang="ja-JP"/>
          </a:p>
        </p:txBody>
      </p:sp>
    </p:spTree>
    <p:extLst>
      <p:ext uri="{BB962C8B-B14F-4D97-AF65-F5344CB8AC3E}">
        <p14:creationId xmlns:p14="http://schemas.microsoft.com/office/powerpoint/2010/main" val="526203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F6037-3140-EDFC-CF9B-0C26C374BD97}"/>
              </a:ext>
            </a:extLst>
          </p:cNvPr>
          <p:cNvSpPr>
            <a:spLocks noGrp="1"/>
          </p:cNvSpPr>
          <p:nvPr>
            <p:ph type="title"/>
          </p:nvPr>
        </p:nvSpPr>
        <p:spPr/>
        <p:txBody>
          <a:bodyPr/>
          <a:lstStyle/>
          <a:p>
            <a:r>
              <a:rPr kumimoji="1" lang="en-US" altLang="ja-JP" i="0" dirty="0" err="1"/>
              <a:t>testthat</a:t>
            </a:r>
            <a:r>
              <a:rPr kumimoji="1" lang="ja-JP" altLang="en-US" i="0" dirty="0"/>
              <a:t>普及の理由</a:t>
            </a:r>
          </a:p>
        </p:txBody>
      </p:sp>
      <p:sp>
        <p:nvSpPr>
          <p:cNvPr id="3" name="コンテンツ プレースホルダー 2">
            <a:extLst>
              <a:ext uri="{FF2B5EF4-FFF2-40B4-BE49-F238E27FC236}">
                <a16:creationId xmlns:a16="http://schemas.microsoft.com/office/drawing/2014/main" id="{7946984A-CE8E-077D-AABB-A10840162055}"/>
              </a:ext>
            </a:extLst>
          </p:cNvPr>
          <p:cNvSpPr>
            <a:spLocks noGrp="1"/>
          </p:cNvSpPr>
          <p:nvPr>
            <p:ph idx="1"/>
          </p:nvPr>
        </p:nvSpPr>
        <p:spPr/>
        <p:txBody>
          <a:bodyPr/>
          <a:lstStyle/>
          <a:p>
            <a:pPr marL="457200" indent="-457200">
              <a:buFont typeface="Arial" panose="020B0604020202020204" pitchFamily="34" charset="0"/>
              <a:buChar char="•"/>
            </a:pPr>
            <a:r>
              <a:rPr kumimoji="1" lang="en-US" altLang="ja-JP" dirty="0" err="1"/>
              <a:t>devtools</a:t>
            </a:r>
            <a:r>
              <a:rPr kumimoji="1" lang="ja-JP" altLang="en-US" dirty="0"/>
              <a:t>との統合</a:t>
            </a:r>
            <a:endParaRPr lang="en-US" altLang="ja-JP" dirty="0"/>
          </a:p>
          <a:p>
            <a:pPr marL="361950" indent="0"/>
            <a:r>
              <a:rPr lang="ja-JP" altLang="en-US" sz="2000" dirty="0"/>
              <a:t>一つのコマンドでテスト実行できることになりテストを習慣化</a:t>
            </a:r>
            <a:br>
              <a:rPr lang="en-US" altLang="ja-JP" sz="1050" dirty="0"/>
            </a:br>
            <a:endParaRPr lang="en-US" altLang="ja-JP" sz="1050" dirty="0"/>
          </a:p>
          <a:p>
            <a:pPr marL="457200" indent="-457200">
              <a:buFont typeface="Arial" panose="020B0604020202020204" pitchFamily="34" charset="0"/>
              <a:buChar char="•"/>
            </a:pPr>
            <a:r>
              <a:rPr kumimoji="1" lang="en-US" altLang="ja-JP" dirty="0" err="1"/>
              <a:t>tidyverse</a:t>
            </a:r>
            <a:r>
              <a:rPr kumimoji="1" lang="ja-JP" altLang="en-US" dirty="0"/>
              <a:t>との相乗効果</a:t>
            </a:r>
            <a:endParaRPr kumimoji="1" lang="en-US" altLang="ja-JP" dirty="0"/>
          </a:p>
          <a:p>
            <a:pPr marL="361950" indent="0"/>
            <a:r>
              <a:rPr kumimoji="1" lang="ja-JP" altLang="en-US" sz="2000" dirty="0"/>
              <a:t>読みやすく、一貫した文法、人間が理解しやすいという</a:t>
            </a:r>
            <a:r>
              <a:rPr kumimoji="1" lang="en-US" altLang="ja-JP" sz="2000" dirty="0" err="1"/>
              <a:t>tydyverse</a:t>
            </a:r>
            <a:r>
              <a:rPr kumimoji="1" lang="ja-JP" altLang="en-US" sz="2000" dirty="0"/>
              <a:t>の思想と同様</a:t>
            </a:r>
            <a:br>
              <a:rPr kumimoji="1" lang="en-US" altLang="ja-JP" sz="2000" dirty="0"/>
            </a:br>
            <a:endParaRPr lang="en-US" altLang="ja-JP" sz="1050" dirty="0"/>
          </a:p>
          <a:p>
            <a:pPr marL="457200" indent="-457200">
              <a:buFont typeface="Arial" panose="020B0604020202020204" pitchFamily="34" charset="0"/>
              <a:buChar char="•"/>
            </a:pPr>
            <a:r>
              <a:rPr kumimoji="1" lang="ja-JP" altLang="en-US" dirty="0"/>
              <a:t>学習コストの低さ</a:t>
            </a:r>
            <a:endParaRPr kumimoji="1" lang="en-US" altLang="ja-JP" dirty="0"/>
          </a:p>
          <a:p>
            <a:pPr marL="361950" indent="0">
              <a:tabLst>
                <a:tab pos="452438" algn="l"/>
              </a:tabLst>
            </a:pPr>
            <a:r>
              <a:rPr lang="ja-JP" altLang="en-US" sz="2000" dirty="0"/>
              <a:t>書き方がシンプルでとてもわかりやすい</a:t>
            </a:r>
            <a:endParaRPr kumimoji="1" lang="en-US" altLang="ja-JP" sz="2000" dirty="0"/>
          </a:p>
          <a:p>
            <a:pPr marL="457200" indent="-457200">
              <a:buFont typeface="Arial" panose="020B0604020202020204" pitchFamily="34" charset="0"/>
              <a:buChar char="•"/>
            </a:pPr>
            <a:endParaRPr lang="en-US" altLang="ja-JP" sz="1050" dirty="0"/>
          </a:p>
          <a:p>
            <a:pPr marL="457200" indent="-457200">
              <a:buFont typeface="Arial" panose="020B0604020202020204" pitchFamily="34" charset="0"/>
              <a:buChar char="•"/>
            </a:pPr>
            <a:r>
              <a:rPr kumimoji="1" lang="en-US" altLang="ja-JP" dirty="0"/>
              <a:t>CRAN</a:t>
            </a:r>
            <a:r>
              <a:rPr kumimoji="1" lang="ja-JP" altLang="en-US" dirty="0"/>
              <a:t>文化との相性</a:t>
            </a:r>
            <a:endParaRPr kumimoji="1" lang="en-US" altLang="ja-JP" dirty="0"/>
          </a:p>
          <a:p>
            <a:pPr indent="19050"/>
            <a:r>
              <a:rPr kumimoji="1" lang="en-US" altLang="ja-JP" sz="2000" dirty="0"/>
              <a:t>CRAN</a:t>
            </a:r>
            <a:r>
              <a:rPr kumimoji="1" lang="ja-JP" altLang="en-US" sz="2000" dirty="0"/>
              <a:t>の品質要求を満たすために最適である</a:t>
            </a:r>
          </a:p>
        </p:txBody>
      </p:sp>
      <p:sp>
        <p:nvSpPr>
          <p:cNvPr id="4" name="スライド番号プレースホルダー 3">
            <a:extLst>
              <a:ext uri="{FF2B5EF4-FFF2-40B4-BE49-F238E27FC236}">
                <a16:creationId xmlns:a16="http://schemas.microsoft.com/office/drawing/2014/main" id="{7429A2B7-884C-C707-0403-36E410C83BAA}"/>
              </a:ext>
            </a:extLst>
          </p:cNvPr>
          <p:cNvSpPr>
            <a:spLocks noGrp="1"/>
          </p:cNvSpPr>
          <p:nvPr>
            <p:ph type="sldNum" sz="quarter" idx="11"/>
          </p:nvPr>
        </p:nvSpPr>
        <p:spPr/>
        <p:txBody>
          <a:bodyPr/>
          <a:lstStyle/>
          <a:p>
            <a:fld id="{23B20E4E-3F95-4221-AFE5-FD1FD9CC3448}" type="slidenum">
              <a:rPr lang="en-US" altLang="ja-JP" smtClean="0"/>
              <a:pPr/>
              <a:t>5</a:t>
            </a:fld>
            <a:endParaRPr lang="en-US" altLang="ja-JP"/>
          </a:p>
        </p:txBody>
      </p:sp>
    </p:spTree>
    <p:extLst>
      <p:ext uri="{BB962C8B-B14F-4D97-AF65-F5344CB8AC3E}">
        <p14:creationId xmlns:p14="http://schemas.microsoft.com/office/powerpoint/2010/main" val="202061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4B46-7E4F-2A30-E79C-1F98B0EAC8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AD9813-72E6-F50C-848D-6D9EA44F29C7}"/>
              </a:ext>
            </a:extLst>
          </p:cNvPr>
          <p:cNvSpPr>
            <a:spLocks noGrp="1"/>
          </p:cNvSpPr>
          <p:nvPr>
            <p:ph type="title"/>
          </p:nvPr>
        </p:nvSpPr>
        <p:spPr/>
        <p:txBody>
          <a:bodyPr/>
          <a:lstStyle/>
          <a:p>
            <a:r>
              <a:rPr lang="ja-JP" altLang="en-US" i="0" dirty="0"/>
              <a:t>実際に</a:t>
            </a:r>
            <a:r>
              <a:rPr lang="en-US" altLang="ja-JP" i="0" dirty="0" err="1"/>
              <a:t>testthat</a:t>
            </a:r>
            <a:r>
              <a:rPr lang="ja-JP" altLang="en-US" i="0" dirty="0"/>
              <a:t>はどんなことに使えるのか？</a:t>
            </a:r>
            <a:endParaRPr kumimoji="1" lang="ja-JP" altLang="en-US" i="0" dirty="0"/>
          </a:p>
        </p:txBody>
      </p:sp>
      <p:sp>
        <p:nvSpPr>
          <p:cNvPr id="4" name="スライド番号プレースホルダー 3">
            <a:extLst>
              <a:ext uri="{FF2B5EF4-FFF2-40B4-BE49-F238E27FC236}">
                <a16:creationId xmlns:a16="http://schemas.microsoft.com/office/drawing/2014/main" id="{0BA3C19A-86D0-E52C-F3DF-C07392DF56CB}"/>
              </a:ext>
            </a:extLst>
          </p:cNvPr>
          <p:cNvSpPr>
            <a:spLocks noGrp="1"/>
          </p:cNvSpPr>
          <p:nvPr>
            <p:ph type="sldNum" sz="quarter" idx="11"/>
          </p:nvPr>
        </p:nvSpPr>
        <p:spPr/>
        <p:txBody>
          <a:bodyPr/>
          <a:lstStyle/>
          <a:p>
            <a:fld id="{23B20E4E-3F95-4221-AFE5-FD1FD9CC3448}" type="slidenum">
              <a:rPr lang="en-US" altLang="ja-JP" smtClean="0"/>
              <a:pPr/>
              <a:t>6</a:t>
            </a:fld>
            <a:endParaRPr lang="en-US" altLang="ja-JP"/>
          </a:p>
        </p:txBody>
      </p:sp>
      <p:graphicFrame>
        <p:nvGraphicFramePr>
          <p:cNvPr id="3" name="図表 2">
            <a:extLst>
              <a:ext uri="{FF2B5EF4-FFF2-40B4-BE49-F238E27FC236}">
                <a16:creationId xmlns:a16="http://schemas.microsoft.com/office/drawing/2014/main" id="{0477BCF0-9903-83E2-89B3-C69BF3399626}"/>
              </a:ext>
            </a:extLst>
          </p:cNvPr>
          <p:cNvGraphicFramePr/>
          <p:nvPr>
            <p:extLst>
              <p:ext uri="{D42A27DB-BD31-4B8C-83A1-F6EECF244321}">
                <p14:modId xmlns:p14="http://schemas.microsoft.com/office/powerpoint/2010/main" val="3186903159"/>
              </p:ext>
            </p:extLst>
          </p:nvPr>
        </p:nvGraphicFramePr>
        <p:xfrm>
          <a:off x="1775520" y="1058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8007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BA88CC-B09F-893F-C3E1-EFF90F360A52}"/>
              </a:ext>
            </a:extLst>
          </p:cNvPr>
          <p:cNvSpPr>
            <a:spLocks noGrp="1"/>
          </p:cNvSpPr>
          <p:nvPr>
            <p:ph type="title"/>
          </p:nvPr>
        </p:nvSpPr>
        <p:spPr/>
        <p:txBody>
          <a:bodyPr/>
          <a:lstStyle/>
          <a:p>
            <a:r>
              <a:rPr lang="en-US" altLang="ja-JP" i="0" dirty="0" err="1"/>
              <a:t>testthat</a:t>
            </a:r>
            <a:r>
              <a:rPr lang="ja-JP" altLang="en-US" i="0" dirty="0"/>
              <a:t>の関数</a:t>
            </a:r>
            <a:endParaRPr kumimoji="1" lang="ja-JP" altLang="en-US" i="0" dirty="0"/>
          </a:p>
        </p:txBody>
      </p:sp>
      <p:sp>
        <p:nvSpPr>
          <p:cNvPr id="3" name="コンテンツ プレースホルダー 2">
            <a:extLst>
              <a:ext uri="{FF2B5EF4-FFF2-40B4-BE49-F238E27FC236}">
                <a16:creationId xmlns:a16="http://schemas.microsoft.com/office/drawing/2014/main" id="{8353B2C7-A765-9E8F-039C-4DEDAB36B228}"/>
              </a:ext>
            </a:extLst>
          </p:cNvPr>
          <p:cNvSpPr>
            <a:spLocks noGrp="1"/>
          </p:cNvSpPr>
          <p:nvPr>
            <p:ph idx="1"/>
          </p:nvPr>
        </p:nvSpPr>
        <p:spPr>
          <a:xfrm>
            <a:off x="406400" y="1121317"/>
            <a:ext cx="11171767" cy="5181600"/>
          </a:xfrm>
        </p:spPr>
        <p:txBody>
          <a:bodyPr/>
          <a:lstStyle/>
          <a:p>
            <a:r>
              <a:rPr lang="en-US" altLang="ja-JP" dirty="0"/>
              <a:t>Version 3.3.2 document</a:t>
            </a:r>
            <a:r>
              <a:rPr lang="ja-JP" altLang="en-US" dirty="0"/>
              <a:t>参照</a:t>
            </a:r>
            <a:endParaRPr kumimoji="1" lang="ja-JP" altLang="en-US" dirty="0"/>
          </a:p>
        </p:txBody>
      </p:sp>
      <p:sp>
        <p:nvSpPr>
          <p:cNvPr id="4" name="スライド番号プレースホルダー 3">
            <a:extLst>
              <a:ext uri="{FF2B5EF4-FFF2-40B4-BE49-F238E27FC236}">
                <a16:creationId xmlns:a16="http://schemas.microsoft.com/office/drawing/2014/main" id="{CB362A08-A74B-B5AE-BBE8-EC334056F81C}"/>
              </a:ext>
            </a:extLst>
          </p:cNvPr>
          <p:cNvSpPr>
            <a:spLocks noGrp="1"/>
          </p:cNvSpPr>
          <p:nvPr>
            <p:ph type="sldNum" sz="quarter" idx="11"/>
          </p:nvPr>
        </p:nvSpPr>
        <p:spPr/>
        <p:txBody>
          <a:bodyPr/>
          <a:lstStyle/>
          <a:p>
            <a:fld id="{23B20E4E-3F95-4221-AFE5-FD1FD9CC3448}" type="slidenum">
              <a:rPr lang="en-US" altLang="ja-JP" smtClean="0"/>
              <a:pPr/>
              <a:t>7</a:t>
            </a:fld>
            <a:endParaRPr lang="en-US" altLang="ja-JP"/>
          </a:p>
        </p:txBody>
      </p:sp>
      <p:sp>
        <p:nvSpPr>
          <p:cNvPr id="6" name="テキスト ボックス 5">
            <a:extLst>
              <a:ext uri="{FF2B5EF4-FFF2-40B4-BE49-F238E27FC236}">
                <a16:creationId xmlns:a16="http://schemas.microsoft.com/office/drawing/2014/main" id="{EA32AFE3-539A-608C-9041-0C51C1E6D82F}"/>
              </a:ext>
            </a:extLst>
          </p:cNvPr>
          <p:cNvSpPr txBox="1"/>
          <p:nvPr/>
        </p:nvSpPr>
        <p:spPr>
          <a:xfrm>
            <a:off x="7392144" y="1678032"/>
            <a:ext cx="6094324" cy="4524315"/>
          </a:xfrm>
          <a:prstGeom prst="rect">
            <a:avLst/>
          </a:prstGeom>
          <a:noFill/>
        </p:spPr>
        <p:txBody>
          <a:bodyPr wrap="square">
            <a:spAutoFit/>
          </a:bodyPr>
          <a:lstStyle/>
          <a:p>
            <a:r>
              <a:rPr lang="ja-JP" altLang="en-US" sz="1600" dirty="0"/>
              <a:t>set_state_inspector </a:t>
            </a:r>
          </a:p>
          <a:p>
            <a:r>
              <a:rPr lang="ja-JP" altLang="en-US" sz="1600" dirty="0"/>
              <a:t>SilentReporter </a:t>
            </a:r>
          </a:p>
          <a:p>
            <a:r>
              <a:rPr lang="ja-JP" altLang="en-US" sz="1600" dirty="0"/>
              <a:t>skip </a:t>
            </a:r>
          </a:p>
          <a:p>
            <a:r>
              <a:rPr lang="ja-JP" altLang="en-US" sz="1600" dirty="0"/>
              <a:t>SlowReporter </a:t>
            </a:r>
          </a:p>
          <a:p>
            <a:r>
              <a:rPr lang="ja-JP" altLang="en-US" sz="1600" dirty="0"/>
              <a:t>snapshot_accept </a:t>
            </a:r>
          </a:p>
          <a:p>
            <a:r>
              <a:rPr lang="ja-JP" altLang="en-US" sz="1600" dirty="0"/>
              <a:t>snapshot_download_gh </a:t>
            </a:r>
          </a:p>
          <a:p>
            <a:r>
              <a:rPr lang="ja-JP" altLang="en-US" sz="1600" dirty="0"/>
              <a:t>StopReporter </a:t>
            </a:r>
          </a:p>
          <a:p>
            <a:r>
              <a:rPr lang="ja-JP" altLang="en-US" sz="1600" dirty="0"/>
              <a:t>SummaryReporter </a:t>
            </a:r>
          </a:p>
          <a:p>
            <a:r>
              <a:rPr lang="ja-JP" altLang="en-US" sz="1600" dirty="0"/>
              <a:t>TapReporter </a:t>
            </a:r>
          </a:p>
          <a:p>
            <a:r>
              <a:rPr lang="ja-JP" altLang="en-US" sz="1600" dirty="0"/>
              <a:t>TeamcityReporter </a:t>
            </a:r>
          </a:p>
          <a:p>
            <a:r>
              <a:rPr lang="ja-JP" altLang="en-US" sz="1600" dirty="0"/>
              <a:t>teardown_env </a:t>
            </a:r>
          </a:p>
          <a:p>
            <a:r>
              <a:rPr lang="ja-JP" altLang="en-US" sz="1600" dirty="0"/>
              <a:t>test_dir </a:t>
            </a:r>
          </a:p>
          <a:p>
            <a:r>
              <a:rPr lang="ja-JP" altLang="en-US" sz="1600" dirty="0"/>
              <a:t>test_file </a:t>
            </a:r>
          </a:p>
          <a:p>
            <a:r>
              <a:rPr lang="ja-JP" altLang="en-US" sz="1600" dirty="0"/>
              <a:t>test_package </a:t>
            </a:r>
          </a:p>
          <a:p>
            <a:r>
              <a:rPr lang="ja-JP" altLang="en-US" sz="1600" dirty="0"/>
              <a:t>test_path </a:t>
            </a:r>
          </a:p>
          <a:p>
            <a:r>
              <a:rPr lang="ja-JP" altLang="en-US" sz="1600" dirty="0"/>
              <a:t>test_that </a:t>
            </a:r>
          </a:p>
          <a:p>
            <a:r>
              <a:rPr lang="ja-JP" altLang="en-US" sz="1600" dirty="0"/>
              <a:t>try_again </a:t>
            </a:r>
          </a:p>
          <a:p>
            <a:r>
              <a:rPr lang="ja-JP" altLang="en-US" sz="1600" dirty="0"/>
              <a:t>use_catch </a:t>
            </a:r>
          </a:p>
        </p:txBody>
      </p:sp>
      <p:sp>
        <p:nvSpPr>
          <p:cNvPr id="8" name="テキスト ボックス 7">
            <a:extLst>
              <a:ext uri="{FF2B5EF4-FFF2-40B4-BE49-F238E27FC236}">
                <a16:creationId xmlns:a16="http://schemas.microsoft.com/office/drawing/2014/main" id="{F4BA6C98-B911-F40D-0B43-1E6E0CD57415}"/>
              </a:ext>
            </a:extLst>
          </p:cNvPr>
          <p:cNvSpPr txBox="1"/>
          <p:nvPr/>
        </p:nvSpPr>
        <p:spPr>
          <a:xfrm>
            <a:off x="730824" y="1678032"/>
            <a:ext cx="6094324" cy="5016758"/>
          </a:xfrm>
          <a:prstGeom prst="rect">
            <a:avLst/>
          </a:prstGeom>
          <a:noFill/>
        </p:spPr>
        <p:txBody>
          <a:bodyPr wrap="square">
            <a:spAutoFit/>
          </a:bodyPr>
          <a:lstStyle/>
          <a:p>
            <a:r>
              <a:rPr lang="ja-JP" altLang="en-US" sz="1600" dirty="0"/>
              <a:t>CheckReporter </a:t>
            </a:r>
          </a:p>
          <a:p>
            <a:r>
              <a:rPr lang="ja-JP" altLang="en-US" sz="1600" dirty="0"/>
              <a:t>comparison-expectations </a:t>
            </a:r>
          </a:p>
          <a:p>
            <a:r>
              <a:rPr lang="ja-JP" altLang="en-US" sz="1600" dirty="0"/>
              <a:t>DebugReporter </a:t>
            </a:r>
          </a:p>
          <a:p>
            <a:r>
              <a:rPr lang="ja-JP" altLang="en-US" sz="1600" dirty="0"/>
              <a:t>equality-expectations </a:t>
            </a:r>
          </a:p>
          <a:p>
            <a:r>
              <a:rPr lang="ja-JP" altLang="en-US" sz="1600" dirty="0"/>
              <a:t>expect_all_equal </a:t>
            </a:r>
          </a:p>
          <a:p>
            <a:r>
              <a:rPr lang="ja-JP" altLang="en-US" sz="1600" dirty="0"/>
              <a:t>expect_error </a:t>
            </a:r>
          </a:p>
          <a:p>
            <a:r>
              <a:rPr lang="ja-JP" altLang="en-US" sz="1600" dirty="0"/>
              <a:t>expect_invisible </a:t>
            </a:r>
          </a:p>
          <a:p>
            <a:r>
              <a:rPr lang="ja-JP" altLang="en-US" sz="1600" dirty="0"/>
              <a:t>expect_length </a:t>
            </a:r>
          </a:p>
          <a:p>
            <a:r>
              <a:rPr lang="ja-JP" altLang="en-US" sz="1600" dirty="0"/>
              <a:t>expect_match </a:t>
            </a:r>
          </a:p>
          <a:p>
            <a:r>
              <a:rPr lang="ja-JP" altLang="en-US" sz="1600" dirty="0"/>
              <a:t>expect_named </a:t>
            </a:r>
          </a:p>
          <a:p>
            <a:r>
              <a:rPr lang="ja-JP" altLang="en-US" sz="1600" dirty="0"/>
              <a:t>expect_no_error </a:t>
            </a:r>
          </a:p>
          <a:p>
            <a:r>
              <a:rPr lang="ja-JP" altLang="en-US" sz="1600" dirty="0"/>
              <a:t>expect_null </a:t>
            </a:r>
          </a:p>
          <a:p>
            <a:r>
              <a:rPr lang="ja-JP" altLang="en-US" sz="1600" dirty="0"/>
              <a:t>expect_output </a:t>
            </a:r>
          </a:p>
          <a:p>
            <a:r>
              <a:rPr lang="ja-JP" altLang="en-US" sz="1600" dirty="0"/>
              <a:t>expect_setequal </a:t>
            </a:r>
          </a:p>
          <a:p>
            <a:r>
              <a:rPr lang="ja-JP" altLang="en-US" sz="1600" dirty="0"/>
              <a:t>expect_silent </a:t>
            </a:r>
          </a:p>
          <a:p>
            <a:r>
              <a:rPr lang="ja-JP" altLang="en-US" sz="1600" dirty="0"/>
              <a:t>expect_snapshot </a:t>
            </a:r>
          </a:p>
          <a:p>
            <a:r>
              <a:rPr lang="ja-JP" altLang="en-US" sz="1600" dirty="0"/>
              <a:t>expect_snapshot_file </a:t>
            </a:r>
          </a:p>
          <a:p>
            <a:r>
              <a:rPr lang="ja-JP" altLang="en-US" sz="1600" dirty="0"/>
              <a:t>expect_snapshot_value </a:t>
            </a:r>
          </a:p>
          <a:p>
            <a:r>
              <a:rPr lang="ja-JP" altLang="en-US" sz="1600" dirty="0"/>
              <a:t>expect_success </a:t>
            </a:r>
          </a:p>
          <a:p>
            <a:r>
              <a:rPr lang="ja-JP" altLang="en-US" sz="1600" dirty="0"/>
              <a:t>expect_vector </a:t>
            </a:r>
          </a:p>
        </p:txBody>
      </p:sp>
      <p:sp>
        <p:nvSpPr>
          <p:cNvPr id="10" name="テキスト ボックス 9">
            <a:extLst>
              <a:ext uri="{FF2B5EF4-FFF2-40B4-BE49-F238E27FC236}">
                <a16:creationId xmlns:a16="http://schemas.microsoft.com/office/drawing/2014/main" id="{00AAA31C-B4AC-AC89-FEE6-249ABB8A5DEB}"/>
              </a:ext>
            </a:extLst>
          </p:cNvPr>
          <p:cNvSpPr txBox="1"/>
          <p:nvPr/>
        </p:nvSpPr>
        <p:spPr>
          <a:xfrm>
            <a:off x="4227991" y="1668005"/>
            <a:ext cx="3736018" cy="5016758"/>
          </a:xfrm>
          <a:prstGeom prst="rect">
            <a:avLst/>
          </a:prstGeom>
          <a:noFill/>
        </p:spPr>
        <p:txBody>
          <a:bodyPr wrap="square">
            <a:spAutoFit/>
          </a:bodyPr>
          <a:lstStyle/>
          <a:p>
            <a:r>
              <a:rPr lang="ja-JP" altLang="en-US" sz="1600" dirty="0"/>
              <a:t>extract_test </a:t>
            </a:r>
          </a:p>
          <a:p>
            <a:r>
              <a:rPr lang="ja-JP" altLang="en-US" sz="1600" dirty="0"/>
              <a:t>fail </a:t>
            </a:r>
          </a:p>
          <a:p>
            <a:r>
              <a:rPr lang="ja-JP" altLang="en-US" sz="1600" dirty="0"/>
              <a:t>FailReporter </a:t>
            </a:r>
          </a:p>
          <a:p>
            <a:r>
              <a:rPr lang="ja-JP" altLang="en-US" sz="1600" dirty="0"/>
              <a:t>inheritance-expectations </a:t>
            </a:r>
          </a:p>
          <a:p>
            <a:r>
              <a:rPr lang="ja-JP" altLang="en-US" sz="1600" dirty="0"/>
              <a:t>is_testing </a:t>
            </a:r>
          </a:p>
          <a:p>
            <a:r>
              <a:rPr lang="ja-JP" altLang="en-US" sz="1600" dirty="0"/>
              <a:t>JunitReporter </a:t>
            </a:r>
          </a:p>
          <a:p>
            <a:r>
              <a:rPr lang="ja-JP" altLang="en-US" sz="1600" dirty="0"/>
              <a:t>ListReporter </a:t>
            </a:r>
          </a:p>
          <a:p>
            <a:r>
              <a:rPr lang="ja-JP" altLang="en-US" sz="1600" dirty="0"/>
              <a:t>LlmReporter </a:t>
            </a:r>
          </a:p>
          <a:p>
            <a:r>
              <a:rPr lang="ja-JP" altLang="en-US" sz="1600" dirty="0"/>
              <a:t>local_edition </a:t>
            </a:r>
          </a:p>
          <a:p>
            <a:r>
              <a:rPr lang="ja-JP" altLang="en-US" sz="1600" dirty="0"/>
              <a:t>local_mocked_bindings </a:t>
            </a:r>
          </a:p>
          <a:p>
            <a:r>
              <a:rPr lang="ja-JP" altLang="en-US" sz="1600" dirty="0"/>
              <a:t>local_mocked_r6_class </a:t>
            </a:r>
          </a:p>
          <a:p>
            <a:r>
              <a:rPr lang="ja-JP" altLang="en-US" sz="1600" dirty="0"/>
              <a:t>local_mocked_s3_method </a:t>
            </a:r>
          </a:p>
          <a:p>
            <a:r>
              <a:rPr lang="ja-JP" altLang="en-US" sz="1600" dirty="0"/>
              <a:t>local_test_context </a:t>
            </a:r>
          </a:p>
          <a:p>
            <a:r>
              <a:rPr lang="ja-JP" altLang="en-US" sz="1600" dirty="0"/>
              <a:t>LocationReporter </a:t>
            </a:r>
          </a:p>
          <a:p>
            <a:r>
              <a:rPr lang="ja-JP" altLang="en-US" sz="1600" dirty="0"/>
              <a:t>logical-expectations </a:t>
            </a:r>
          </a:p>
          <a:p>
            <a:r>
              <a:rPr lang="ja-JP" altLang="en-US" sz="1600" dirty="0"/>
              <a:t>MinimalReporter </a:t>
            </a:r>
          </a:p>
          <a:p>
            <a:r>
              <a:rPr lang="ja-JP" altLang="en-US" sz="1600" dirty="0"/>
              <a:t>mock_output_sequence </a:t>
            </a:r>
          </a:p>
          <a:p>
            <a:r>
              <a:rPr lang="ja-JP" altLang="en-US" sz="1600" dirty="0"/>
              <a:t>MultiReporter </a:t>
            </a:r>
          </a:p>
          <a:p>
            <a:r>
              <a:rPr lang="ja-JP" altLang="en-US" sz="1600" dirty="0"/>
              <a:t>ProgressReporter </a:t>
            </a:r>
          </a:p>
          <a:p>
            <a:r>
              <a:rPr lang="ja-JP" altLang="en-US" sz="1600" dirty="0"/>
              <a:t>RStudioReporter </a:t>
            </a:r>
          </a:p>
        </p:txBody>
      </p:sp>
    </p:spTree>
    <p:extLst>
      <p:ext uri="{BB962C8B-B14F-4D97-AF65-F5344CB8AC3E}">
        <p14:creationId xmlns:p14="http://schemas.microsoft.com/office/powerpoint/2010/main" val="1422585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480620-0C72-C3B3-47C1-C19BC0D8968F}"/>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a:t>
            </a:r>
            <a:r>
              <a:rPr lang="ja-JP" altLang="en-US" i="0" dirty="0"/>
              <a:t>カテゴライズ </a:t>
            </a:r>
            <a:r>
              <a:rPr lang="en-US" altLang="ja-JP" i="0" dirty="0"/>
              <a:t>- </a:t>
            </a:r>
            <a:endParaRPr kumimoji="1" lang="ja-JP" altLang="en-US" i="0" dirty="0"/>
          </a:p>
        </p:txBody>
      </p:sp>
      <p:sp>
        <p:nvSpPr>
          <p:cNvPr id="3" name="コンテンツ プレースホルダー 2">
            <a:extLst>
              <a:ext uri="{FF2B5EF4-FFF2-40B4-BE49-F238E27FC236}">
                <a16:creationId xmlns:a16="http://schemas.microsoft.com/office/drawing/2014/main" id="{B34B6BBB-0981-65B3-1C95-0E46942FFA0F}"/>
              </a:ext>
            </a:extLst>
          </p:cNvPr>
          <p:cNvSpPr>
            <a:spLocks noGrp="1"/>
          </p:cNvSpPr>
          <p:nvPr>
            <p:ph idx="1"/>
          </p:nvPr>
        </p:nvSpPr>
        <p:spPr/>
        <p:txBody>
          <a:bodyPr/>
          <a:lstStyle/>
          <a:p>
            <a:r>
              <a:rPr lang="en-US" altLang="ja-JP" dirty="0" err="1"/>
              <a:t>testthat</a:t>
            </a:r>
            <a:r>
              <a:rPr lang="ja-JP" altLang="en-US" dirty="0"/>
              <a:t>パッケージの関数は概ね以下のようにカテゴライズが可能</a:t>
            </a:r>
            <a:endParaRPr lang="en-US" altLang="ja-JP" dirty="0"/>
          </a:p>
          <a:p>
            <a:pPr marL="457200" indent="-457200">
              <a:buFont typeface="Arial" panose="020B0604020202020204" pitchFamily="34" charset="0"/>
              <a:buChar char="•"/>
            </a:pPr>
            <a:r>
              <a:rPr lang="ja-JP" altLang="en-US" dirty="0"/>
              <a:t>テストを書く・実行する機能</a:t>
            </a:r>
            <a:endParaRPr lang="en-US" altLang="ja-JP" dirty="0"/>
          </a:p>
          <a:p>
            <a:pPr marL="857250" lvl="1" indent="-457200">
              <a:buFont typeface="Arial" panose="020B0604020202020204" pitchFamily="34" charset="0"/>
              <a:buChar char="•"/>
            </a:pPr>
            <a:r>
              <a:rPr lang="ja-JP" altLang="en-US" dirty="0"/>
              <a:t>テストの枠組みを作る関数</a:t>
            </a:r>
            <a:endParaRPr lang="en-US" altLang="ja-JP" dirty="0"/>
          </a:p>
          <a:p>
            <a:pPr marL="857250" lvl="1" indent="-457200">
              <a:buFont typeface="Arial" panose="020B0604020202020204" pitchFamily="34" charset="0"/>
              <a:buChar char="•"/>
            </a:pPr>
            <a:r>
              <a:rPr lang="ja-JP" altLang="en-US" dirty="0"/>
              <a:t>期待値をチェックする関数（</a:t>
            </a:r>
            <a:r>
              <a:rPr lang="en-US" altLang="ja-JP" dirty="0"/>
              <a:t>Expectation</a:t>
            </a:r>
            <a:r>
              <a:rPr lang="ja-JP" altLang="en-US" dirty="0"/>
              <a:t>）</a:t>
            </a:r>
            <a:endParaRPr lang="en-US" altLang="ja-JP" dirty="0"/>
          </a:p>
          <a:p>
            <a:pPr marL="857250" lvl="1" indent="-457200">
              <a:buFont typeface="Arial" panose="020B0604020202020204" pitchFamily="34" charset="0"/>
              <a:buChar char="•"/>
            </a:pPr>
            <a:r>
              <a:rPr lang="ja-JP" altLang="en-US" dirty="0"/>
              <a:t>エラー・警告を確認する関数</a:t>
            </a:r>
            <a:endParaRPr lang="en-US" altLang="ja-JP" dirty="0"/>
          </a:p>
          <a:p>
            <a:pPr marL="857250" lvl="1" indent="-457200">
              <a:buFont typeface="Arial" panose="020B0604020202020204" pitchFamily="34" charset="0"/>
              <a:buChar char="•"/>
            </a:pPr>
            <a:r>
              <a:rPr lang="ja-JP" altLang="en-US" dirty="0"/>
              <a:t>テスト実行・管理の関数</a:t>
            </a:r>
            <a:endParaRPr lang="en-US" altLang="ja-JP" dirty="0"/>
          </a:p>
          <a:p>
            <a:pPr marL="857250" lvl="1" indent="-457200">
              <a:buFont typeface="Arial" panose="020B0604020202020204" pitchFamily="34" charset="0"/>
              <a:buChar char="•"/>
            </a:pPr>
            <a:r>
              <a:rPr lang="ja-JP" altLang="en-US" dirty="0"/>
              <a:t>テスト補助関数（セットアップなど）</a:t>
            </a:r>
            <a:endParaRPr lang="en-US" altLang="ja-JP" dirty="0"/>
          </a:p>
          <a:p>
            <a:pPr marL="400050" lvl="1" indent="0"/>
            <a:endParaRPr lang="en-US" altLang="ja-JP" dirty="0"/>
          </a:p>
          <a:p>
            <a:pPr marL="457200" indent="-457200">
              <a:buFont typeface="Arial" panose="020B0604020202020204" pitchFamily="34" charset="0"/>
              <a:buChar char="•"/>
            </a:pPr>
            <a:r>
              <a:rPr lang="ja-JP" altLang="en-US" dirty="0"/>
              <a:t>テスト結果を表示する機能</a:t>
            </a:r>
            <a:endParaRPr lang="en-US" altLang="ja-JP" dirty="0"/>
          </a:p>
          <a:p>
            <a:pPr marL="857250" lvl="1" indent="-457200">
              <a:buFont typeface="Arial" panose="020B0604020202020204" pitchFamily="34" charset="0"/>
              <a:buChar char="•"/>
            </a:pPr>
            <a:r>
              <a:rPr kumimoji="1" lang="ja-JP" altLang="en-US" dirty="0"/>
              <a:t>テストの結果を見せ方を決める関数</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D4A649E8-5E22-A9E3-BF4A-FC92FDD8B78C}"/>
              </a:ext>
            </a:extLst>
          </p:cNvPr>
          <p:cNvSpPr>
            <a:spLocks noGrp="1"/>
          </p:cNvSpPr>
          <p:nvPr>
            <p:ph type="sldNum" sz="quarter" idx="11"/>
          </p:nvPr>
        </p:nvSpPr>
        <p:spPr/>
        <p:txBody>
          <a:bodyPr/>
          <a:lstStyle/>
          <a:p>
            <a:fld id="{23B20E4E-3F95-4221-AFE5-FD1FD9CC3448}" type="slidenum">
              <a:rPr lang="en-US" altLang="ja-JP" smtClean="0"/>
              <a:pPr/>
              <a:t>8</a:t>
            </a:fld>
            <a:endParaRPr lang="en-US" altLang="ja-JP"/>
          </a:p>
        </p:txBody>
      </p:sp>
    </p:spTree>
    <p:extLst>
      <p:ext uri="{BB962C8B-B14F-4D97-AF65-F5344CB8AC3E}">
        <p14:creationId xmlns:p14="http://schemas.microsoft.com/office/powerpoint/2010/main" val="3038616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973C3-56AF-4DC5-728B-300F2D62B379}"/>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test</a:t>
            </a:r>
            <a:r>
              <a:rPr lang="ja-JP" altLang="en-US" i="0" dirty="0"/>
              <a:t>の枠組みを作る</a:t>
            </a:r>
            <a:r>
              <a:rPr lang="en-US" altLang="ja-JP" i="0" dirty="0"/>
              <a:t>-</a:t>
            </a:r>
            <a:endParaRPr kumimoji="1" lang="ja-JP" altLang="en-US" i="0" dirty="0"/>
          </a:p>
        </p:txBody>
      </p:sp>
      <p:sp>
        <p:nvSpPr>
          <p:cNvPr id="3" name="コンテンツ プレースホルダー 2">
            <a:extLst>
              <a:ext uri="{FF2B5EF4-FFF2-40B4-BE49-F238E27FC236}">
                <a16:creationId xmlns:a16="http://schemas.microsoft.com/office/drawing/2014/main" id="{C4E4D960-26EB-17D2-AD2F-A9A12B066C48}"/>
              </a:ext>
            </a:extLst>
          </p:cNvPr>
          <p:cNvSpPr>
            <a:spLocks noGrp="1"/>
          </p:cNvSpPr>
          <p:nvPr>
            <p:ph idx="1"/>
          </p:nvPr>
        </p:nvSpPr>
        <p:spPr/>
        <p:txBody>
          <a:bodyPr/>
          <a:lstStyle/>
          <a:p>
            <a:pPr marL="457200" indent="-457200">
              <a:buFont typeface="Wingdings" panose="05000000000000000000" pitchFamily="2" charset="2"/>
              <a:buChar char="l"/>
            </a:pPr>
            <a:r>
              <a:rPr lang="en-US" altLang="ja-JP" b="1" dirty="0" err="1"/>
              <a:t>t</a:t>
            </a:r>
            <a:r>
              <a:rPr kumimoji="1" lang="en-US" altLang="ja-JP" b="1" dirty="0" err="1"/>
              <a:t>est_that</a:t>
            </a:r>
            <a:endParaRPr kumimoji="1" lang="en-US" altLang="ja-JP" b="1" dirty="0"/>
          </a:p>
          <a:p>
            <a:pPr marL="457200" indent="-457200">
              <a:buFont typeface="Wingdings" panose="05000000000000000000" pitchFamily="2" charset="2"/>
              <a:buChar char="l"/>
            </a:pPr>
            <a:endParaRPr lang="en-US" altLang="ja-JP" dirty="0"/>
          </a:p>
          <a:p>
            <a:pPr marL="0" indent="0"/>
            <a:r>
              <a:rPr lang="en-US" altLang="ja-JP" sz="2000" b="1" dirty="0"/>
              <a:t>  Usage </a:t>
            </a:r>
          </a:p>
          <a:p>
            <a:pPr marL="0" indent="0"/>
            <a:r>
              <a:rPr lang="en-US" altLang="ja-JP" dirty="0"/>
              <a:t>  </a:t>
            </a:r>
            <a:r>
              <a:rPr lang="en-US" altLang="ja-JP" sz="1800" dirty="0" err="1"/>
              <a:t>test_that</a:t>
            </a:r>
            <a:r>
              <a:rPr lang="en-US" altLang="ja-JP" sz="1800" dirty="0"/>
              <a:t>(desc, code)</a:t>
            </a:r>
          </a:p>
          <a:p>
            <a:pPr marL="0" indent="0"/>
            <a:endParaRPr kumimoji="1" lang="en-US" altLang="ja-JP" sz="1800" dirty="0"/>
          </a:p>
          <a:p>
            <a:pPr marL="0" indent="0"/>
            <a:r>
              <a:rPr lang="en-US" altLang="ja-JP" sz="2000" b="1" dirty="0"/>
              <a:t>  Arguments </a:t>
            </a:r>
          </a:p>
          <a:p>
            <a:pPr marL="0" indent="0"/>
            <a:r>
              <a:rPr lang="en-US" altLang="ja-JP" sz="2000" b="1" dirty="0"/>
              <a:t>   desc</a:t>
            </a:r>
          </a:p>
          <a:p>
            <a:pPr marL="361950" indent="-95250"/>
            <a:r>
              <a:rPr lang="en-US" altLang="ja-JP" sz="2000" b="1" dirty="0"/>
              <a:t> </a:t>
            </a:r>
            <a:r>
              <a:rPr lang="en-US" altLang="ja-JP" sz="2000" dirty="0"/>
              <a:t>Test name. Names should be brief, but evocative. It’s common to write the description so that it reads like a natural sentence, e.g. </a:t>
            </a:r>
            <a:r>
              <a:rPr lang="en-US" altLang="ja-JP" sz="2000" dirty="0" err="1"/>
              <a:t>test_that</a:t>
            </a:r>
            <a:r>
              <a:rPr lang="en-US" altLang="ja-JP" sz="2000" dirty="0"/>
              <a:t>("multiplication works", { ... }). </a:t>
            </a:r>
          </a:p>
          <a:p>
            <a:pPr marL="0" indent="0"/>
            <a:r>
              <a:rPr lang="en-US" altLang="ja-JP" sz="2000" b="1" dirty="0"/>
              <a:t>   code</a:t>
            </a:r>
          </a:p>
          <a:p>
            <a:pPr marL="361950" indent="0"/>
            <a:r>
              <a:rPr lang="en-US" altLang="ja-JP" sz="2000" b="1" dirty="0"/>
              <a:t> </a:t>
            </a:r>
            <a:r>
              <a:rPr lang="en-US" altLang="ja-JP" sz="2000" dirty="0"/>
              <a:t>Test code containing expectations. Braces ({}) should always be used in order to get accurate location data for test failures</a:t>
            </a:r>
            <a:endParaRPr kumimoji="1" lang="ja-JP" altLang="en-US" sz="2000" dirty="0"/>
          </a:p>
        </p:txBody>
      </p:sp>
      <p:sp>
        <p:nvSpPr>
          <p:cNvPr id="4" name="スライド番号プレースホルダー 3">
            <a:extLst>
              <a:ext uri="{FF2B5EF4-FFF2-40B4-BE49-F238E27FC236}">
                <a16:creationId xmlns:a16="http://schemas.microsoft.com/office/drawing/2014/main" id="{5B7A1ABE-FB24-8198-4B9A-788AA26D56E1}"/>
              </a:ext>
            </a:extLst>
          </p:cNvPr>
          <p:cNvSpPr>
            <a:spLocks noGrp="1"/>
          </p:cNvSpPr>
          <p:nvPr>
            <p:ph type="sldNum" sz="quarter" idx="11"/>
          </p:nvPr>
        </p:nvSpPr>
        <p:spPr/>
        <p:txBody>
          <a:bodyPr/>
          <a:lstStyle/>
          <a:p>
            <a:fld id="{23B20E4E-3F95-4221-AFE5-FD1FD9CC3448}" type="slidenum">
              <a:rPr lang="en-US" altLang="ja-JP" smtClean="0"/>
              <a:pPr/>
              <a:t>9</a:t>
            </a:fld>
            <a:endParaRPr lang="en-US" altLang="ja-JP"/>
          </a:p>
        </p:txBody>
      </p:sp>
      <p:pic>
        <p:nvPicPr>
          <p:cNvPr id="6" name="図 5" descr="テキスト, 手紙&#10;&#10;AI 生成コンテンツは誤りを含む可能性があります。">
            <a:extLst>
              <a:ext uri="{FF2B5EF4-FFF2-40B4-BE49-F238E27FC236}">
                <a16:creationId xmlns:a16="http://schemas.microsoft.com/office/drawing/2014/main" id="{84E9D000-8850-A444-24BB-0137D3764B0F}"/>
              </a:ext>
            </a:extLst>
          </p:cNvPr>
          <p:cNvPicPr>
            <a:picLocks noChangeAspect="1"/>
          </p:cNvPicPr>
          <p:nvPr/>
        </p:nvPicPr>
        <p:blipFill>
          <a:blip r:embed="rId2"/>
          <a:stretch>
            <a:fillRect/>
          </a:stretch>
        </p:blipFill>
        <p:spPr>
          <a:xfrm>
            <a:off x="6600056" y="1133411"/>
            <a:ext cx="4384017" cy="911802"/>
          </a:xfrm>
          <a:prstGeom prst="rect">
            <a:avLst/>
          </a:prstGeom>
          <a:ln>
            <a:solidFill>
              <a:schemeClr val="accent1"/>
            </a:solidFill>
          </a:ln>
        </p:spPr>
      </p:pic>
      <p:pic>
        <p:nvPicPr>
          <p:cNvPr id="8" name="図 7" descr="テキスト, 手紙&#10;&#10;AI 生成コンテンツは誤りを含む可能性があります。">
            <a:extLst>
              <a:ext uri="{FF2B5EF4-FFF2-40B4-BE49-F238E27FC236}">
                <a16:creationId xmlns:a16="http://schemas.microsoft.com/office/drawing/2014/main" id="{93970E66-77A4-2655-29F6-D71065DEC8E1}"/>
              </a:ext>
            </a:extLst>
          </p:cNvPr>
          <p:cNvPicPr>
            <a:picLocks noChangeAspect="1"/>
          </p:cNvPicPr>
          <p:nvPr/>
        </p:nvPicPr>
        <p:blipFill>
          <a:blip r:embed="rId3"/>
          <a:stretch>
            <a:fillRect/>
          </a:stretch>
        </p:blipFill>
        <p:spPr>
          <a:xfrm>
            <a:off x="6600056" y="2138645"/>
            <a:ext cx="4801270" cy="2000529"/>
          </a:xfrm>
          <a:prstGeom prst="rect">
            <a:avLst/>
          </a:prstGeom>
          <a:ln>
            <a:solidFill>
              <a:schemeClr val="accent1"/>
            </a:solidFill>
          </a:ln>
        </p:spPr>
      </p:pic>
      <p:sp>
        <p:nvSpPr>
          <p:cNvPr id="5" name="テキスト ボックス 4">
            <a:extLst>
              <a:ext uri="{FF2B5EF4-FFF2-40B4-BE49-F238E27FC236}">
                <a16:creationId xmlns:a16="http://schemas.microsoft.com/office/drawing/2014/main" id="{AD1A4C17-94BD-DC4A-DCB3-BF004A57F805}"/>
              </a:ext>
            </a:extLst>
          </p:cNvPr>
          <p:cNvSpPr txBox="1"/>
          <p:nvPr/>
        </p:nvSpPr>
        <p:spPr>
          <a:xfrm>
            <a:off x="8757181" y="5977435"/>
            <a:ext cx="2226892" cy="307777"/>
          </a:xfrm>
          <a:prstGeom prst="rect">
            <a:avLst/>
          </a:prstGeom>
          <a:noFill/>
        </p:spPr>
        <p:txBody>
          <a:bodyPr wrap="none" rtlCol="0">
            <a:spAutoFit/>
          </a:bodyPr>
          <a:lstStyle/>
          <a:p>
            <a:r>
              <a:rPr lang="en-US" altLang="ja-JP" sz="1400" dirty="0">
                <a:latin typeface="+mn-ea"/>
                <a:ea typeface="+mn-ea"/>
              </a:rPr>
              <a:t>Reference Manual</a:t>
            </a:r>
            <a:r>
              <a:rPr lang="ja-JP" altLang="en-US" sz="1400" dirty="0">
                <a:latin typeface="+mn-ea"/>
                <a:ea typeface="+mn-ea"/>
              </a:rPr>
              <a:t>より抜粋</a:t>
            </a:r>
            <a:endParaRPr kumimoji="1" lang="ja-JP" altLang="en-US" sz="1400" dirty="0">
              <a:latin typeface="+mn-ea"/>
              <a:ea typeface="+mn-ea"/>
            </a:endParaRPr>
          </a:p>
        </p:txBody>
      </p:sp>
      <p:sp>
        <p:nvSpPr>
          <p:cNvPr id="7" name="吹き出し: 角を丸めた四角形 6">
            <a:extLst>
              <a:ext uri="{FF2B5EF4-FFF2-40B4-BE49-F238E27FC236}">
                <a16:creationId xmlns:a16="http://schemas.microsoft.com/office/drawing/2014/main" id="{61CAC203-C4E1-8DED-ED42-B9155E2E10E0}"/>
              </a:ext>
            </a:extLst>
          </p:cNvPr>
          <p:cNvSpPr/>
          <p:nvPr/>
        </p:nvSpPr>
        <p:spPr>
          <a:xfrm>
            <a:off x="3287687" y="2924944"/>
            <a:ext cx="2304257" cy="1296144"/>
          </a:xfrm>
          <a:prstGeom prst="wedgeRoundRectCallout">
            <a:avLst>
              <a:gd name="adj1" fmla="val -114452"/>
              <a:gd name="adj2" fmla="val 41164"/>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sz="1800" dirty="0"/>
              <a:t>どのようなテストを</a:t>
            </a:r>
            <a:endParaRPr lang="en-US" altLang="ja-JP" sz="1800" dirty="0"/>
          </a:p>
          <a:p>
            <a:pPr algn="ctr"/>
            <a:r>
              <a:rPr lang="ja-JP" altLang="en-US" sz="1800" dirty="0"/>
              <a:t>実施するのか</a:t>
            </a:r>
            <a:br>
              <a:rPr lang="en-US" altLang="ja-JP" sz="1800" dirty="0"/>
            </a:br>
            <a:r>
              <a:rPr lang="ja-JP" altLang="en-US" sz="1800" dirty="0"/>
              <a:t>明確にしておくことで</a:t>
            </a:r>
            <a:br>
              <a:rPr lang="en-US" altLang="ja-JP" sz="1800" dirty="0"/>
            </a:br>
            <a:r>
              <a:rPr lang="ja-JP" altLang="en-US" sz="1800" dirty="0"/>
              <a:t>管理しやすくなる。</a:t>
            </a:r>
            <a:endParaRPr kumimoji="1" lang="ja-JP" altLang="en-US" sz="1800" dirty="0"/>
          </a:p>
        </p:txBody>
      </p:sp>
      <p:sp>
        <p:nvSpPr>
          <p:cNvPr id="9" name="テキスト ボックス 8">
            <a:extLst>
              <a:ext uri="{FF2B5EF4-FFF2-40B4-BE49-F238E27FC236}">
                <a16:creationId xmlns:a16="http://schemas.microsoft.com/office/drawing/2014/main" id="{D87BF26C-5C00-E081-1B5D-474E00CFB525}"/>
              </a:ext>
            </a:extLst>
          </p:cNvPr>
          <p:cNvSpPr txBox="1"/>
          <p:nvPr/>
        </p:nvSpPr>
        <p:spPr>
          <a:xfrm>
            <a:off x="5259624" y="1111767"/>
            <a:ext cx="1340432"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kumimoji="1" lang="en-US" altLang="ja-JP" sz="1800" dirty="0">
                <a:latin typeface="+mn-ea"/>
                <a:ea typeface="+mn-ea"/>
              </a:rPr>
              <a:t>Passed</a:t>
            </a:r>
            <a:r>
              <a:rPr kumimoji="1" lang="ja-JP" altLang="en-US" sz="1800" dirty="0">
                <a:latin typeface="+mn-ea"/>
                <a:ea typeface="+mn-ea"/>
              </a:rPr>
              <a:t>の例</a:t>
            </a:r>
          </a:p>
        </p:txBody>
      </p:sp>
      <p:sp>
        <p:nvSpPr>
          <p:cNvPr id="10" name="テキスト ボックス 9">
            <a:extLst>
              <a:ext uri="{FF2B5EF4-FFF2-40B4-BE49-F238E27FC236}">
                <a16:creationId xmlns:a16="http://schemas.microsoft.com/office/drawing/2014/main" id="{25F9F0E2-76ED-56FB-855A-4628ED929AEE}"/>
              </a:ext>
            </a:extLst>
          </p:cNvPr>
          <p:cNvSpPr txBox="1"/>
          <p:nvPr/>
        </p:nvSpPr>
        <p:spPr>
          <a:xfrm>
            <a:off x="5284471" y="2115180"/>
            <a:ext cx="1290738"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kumimoji="1" lang="en-US" altLang="ja-JP" sz="1800" dirty="0">
                <a:latin typeface="+mn-ea"/>
                <a:ea typeface="+mn-ea"/>
              </a:rPr>
              <a:t>Failure</a:t>
            </a:r>
            <a:r>
              <a:rPr kumimoji="1" lang="ja-JP" altLang="en-US" sz="1800" dirty="0">
                <a:latin typeface="+mn-ea"/>
                <a:ea typeface="+mn-ea"/>
              </a:rPr>
              <a:t>の例</a:t>
            </a:r>
          </a:p>
        </p:txBody>
      </p:sp>
    </p:spTree>
    <p:extLst>
      <p:ext uri="{BB962C8B-B14F-4D97-AF65-F5344CB8AC3E}">
        <p14:creationId xmlns:p14="http://schemas.microsoft.com/office/powerpoint/2010/main" val="4042686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C9FBC3-43F4-C70D-4DCB-880AB7FE253C}"/>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a:t>
            </a:r>
            <a:r>
              <a:rPr lang="ja-JP" altLang="en-US" i="0" dirty="0"/>
              <a:t> 期待値をチェックする関数（</a:t>
            </a:r>
            <a:r>
              <a:rPr lang="en-US" altLang="ja-JP" i="0" dirty="0"/>
              <a:t>Expectation</a:t>
            </a:r>
            <a:r>
              <a:rPr lang="ja-JP" altLang="en-US" i="0" dirty="0"/>
              <a:t>） </a:t>
            </a:r>
            <a:r>
              <a:rPr lang="en-US" altLang="ja-JP" i="0" dirty="0"/>
              <a:t>-</a:t>
            </a:r>
            <a:endParaRPr kumimoji="1" lang="ja-JP" altLang="en-US" i="0" dirty="0"/>
          </a:p>
        </p:txBody>
      </p:sp>
      <p:graphicFrame>
        <p:nvGraphicFramePr>
          <p:cNvPr id="5" name="コンテンツ プレースホルダー 4">
            <a:extLst>
              <a:ext uri="{FF2B5EF4-FFF2-40B4-BE49-F238E27FC236}">
                <a16:creationId xmlns:a16="http://schemas.microsoft.com/office/drawing/2014/main" id="{736B3EE6-98C1-2CC8-ACB0-F346E28D8DE2}"/>
              </a:ext>
            </a:extLst>
          </p:cNvPr>
          <p:cNvGraphicFramePr>
            <a:graphicFrameLocks noGrp="1"/>
          </p:cNvGraphicFramePr>
          <p:nvPr>
            <p:ph idx="1"/>
            <p:extLst>
              <p:ext uri="{D42A27DB-BD31-4B8C-83A1-F6EECF244321}">
                <p14:modId xmlns:p14="http://schemas.microsoft.com/office/powerpoint/2010/main" val="3333194198"/>
              </p:ext>
            </p:extLst>
          </p:nvPr>
        </p:nvGraphicFramePr>
        <p:xfrm>
          <a:off x="551384" y="1588716"/>
          <a:ext cx="8136904" cy="4370248"/>
        </p:xfrm>
        <a:graphic>
          <a:graphicData uri="http://schemas.openxmlformats.org/drawingml/2006/table">
            <a:tbl>
              <a:tblPr firstRow="1" bandRow="1">
                <a:tableStyleId>{5C22544A-7EE6-4342-B048-85BDC9FD1C3A}</a:tableStyleId>
              </a:tblPr>
              <a:tblGrid>
                <a:gridCol w="3161315">
                  <a:extLst>
                    <a:ext uri="{9D8B030D-6E8A-4147-A177-3AD203B41FA5}">
                      <a16:colId xmlns:a16="http://schemas.microsoft.com/office/drawing/2014/main" val="3895044230"/>
                    </a:ext>
                  </a:extLst>
                </a:gridCol>
                <a:gridCol w="4975589">
                  <a:extLst>
                    <a:ext uri="{9D8B030D-6E8A-4147-A177-3AD203B41FA5}">
                      <a16:colId xmlns:a16="http://schemas.microsoft.com/office/drawing/2014/main" val="3059289745"/>
                    </a:ext>
                  </a:extLst>
                </a:gridCol>
              </a:tblGrid>
              <a:tr h="370840">
                <a:tc>
                  <a:txBody>
                    <a:bodyPr/>
                    <a:lstStyle/>
                    <a:p>
                      <a:r>
                        <a:rPr kumimoji="1" lang="ja-JP" altLang="en-US" dirty="0">
                          <a:solidFill>
                            <a:schemeClr val="tx1"/>
                          </a:solidFill>
                        </a:rPr>
                        <a:t>関数</a:t>
                      </a:r>
                    </a:p>
                  </a:txBody>
                  <a:tcPr/>
                </a:tc>
                <a:tc>
                  <a:txBody>
                    <a:bodyPr/>
                    <a:lstStyle/>
                    <a:p>
                      <a:r>
                        <a:rPr kumimoji="1" lang="ja-JP" altLang="en-US" dirty="0">
                          <a:solidFill>
                            <a:schemeClr val="tx1"/>
                          </a:solidFill>
                        </a:rPr>
                        <a:t>用途</a:t>
                      </a:r>
                    </a:p>
                  </a:txBody>
                  <a:tcPr/>
                </a:tc>
                <a:extLst>
                  <a:ext uri="{0D108BD9-81ED-4DB2-BD59-A6C34878D82A}">
                    <a16:rowId xmlns:a16="http://schemas.microsoft.com/office/drawing/2014/main" val="10790397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dirty="0"/>
                        <a:t>equality-expectations </a:t>
                      </a:r>
                    </a:p>
                  </a:txBody>
                  <a:tcPr/>
                </a:tc>
                <a:tc>
                  <a:txBody>
                    <a:bodyPr/>
                    <a:lstStyle/>
                    <a:p>
                      <a:r>
                        <a:rPr kumimoji="1" lang="ja-JP" altLang="en-US" dirty="0"/>
                        <a:t>値の一致</a:t>
                      </a:r>
                    </a:p>
                  </a:txBody>
                  <a:tcPr/>
                </a:tc>
                <a:extLst>
                  <a:ext uri="{0D108BD9-81ED-4DB2-BD59-A6C34878D82A}">
                    <a16:rowId xmlns:a16="http://schemas.microsoft.com/office/drawing/2014/main" val="2492146840"/>
                  </a:ext>
                </a:extLst>
              </a:tr>
              <a:tr h="370840">
                <a:tc>
                  <a:txBody>
                    <a:bodyPr/>
                    <a:lstStyle/>
                    <a:p>
                      <a:r>
                        <a:rPr kumimoji="1" lang="en-US" altLang="ja-JP" dirty="0" err="1"/>
                        <a:t>expect_all_equal</a:t>
                      </a:r>
                      <a:r>
                        <a:rPr kumimoji="1" lang="en-US" altLang="ja-JP" dirty="0"/>
                        <a:t> </a:t>
                      </a:r>
                      <a:endParaRPr kumimoji="1" lang="ja-JP" altLang="en-US" dirty="0"/>
                    </a:p>
                  </a:txBody>
                  <a:tcPr/>
                </a:tc>
                <a:tc>
                  <a:txBody>
                    <a:bodyPr/>
                    <a:lstStyle/>
                    <a:p>
                      <a:r>
                        <a:rPr lang="ja-JP" altLang="en-US" dirty="0"/>
                        <a:t>すべての要素が同じ値か</a:t>
                      </a:r>
                      <a:endParaRPr kumimoji="1" lang="ja-JP" altLang="en-US" dirty="0"/>
                    </a:p>
                  </a:txBody>
                  <a:tcPr/>
                </a:tc>
                <a:extLst>
                  <a:ext uri="{0D108BD9-81ED-4DB2-BD59-A6C34878D82A}">
                    <a16:rowId xmlns:a16="http://schemas.microsoft.com/office/drawing/2014/main" val="928490538"/>
                  </a:ext>
                </a:extLst>
              </a:tr>
              <a:tr h="370840">
                <a:tc>
                  <a:txBody>
                    <a:bodyPr/>
                    <a:lstStyle/>
                    <a:p>
                      <a:r>
                        <a:rPr kumimoji="1" lang="en-US" altLang="ja-JP" dirty="0" err="1"/>
                        <a:t>expect_length</a:t>
                      </a:r>
                      <a:endParaRPr kumimoji="1" lang="ja-JP" altLang="en-US" dirty="0"/>
                    </a:p>
                  </a:txBody>
                  <a:tcPr/>
                </a:tc>
                <a:tc>
                  <a:txBody>
                    <a:bodyPr/>
                    <a:lstStyle/>
                    <a:p>
                      <a:r>
                        <a:rPr kumimoji="1" lang="ja-JP" altLang="en-US" dirty="0"/>
                        <a:t>レコード数の確認</a:t>
                      </a:r>
                    </a:p>
                  </a:txBody>
                  <a:tcPr/>
                </a:tc>
                <a:extLst>
                  <a:ext uri="{0D108BD9-81ED-4DB2-BD59-A6C34878D82A}">
                    <a16:rowId xmlns:a16="http://schemas.microsoft.com/office/drawing/2014/main" val="2531419434"/>
                  </a:ext>
                </a:extLst>
              </a:tr>
              <a:tr h="370840">
                <a:tc>
                  <a:txBody>
                    <a:bodyPr/>
                    <a:lstStyle/>
                    <a:p>
                      <a:r>
                        <a:rPr lang="en-US" altLang="ja-JP" dirty="0" err="1"/>
                        <a:t>expect_named</a:t>
                      </a:r>
                      <a:endParaRPr kumimoji="1" lang="ja-JP" altLang="en-US" dirty="0"/>
                    </a:p>
                  </a:txBody>
                  <a:tcPr/>
                </a:tc>
                <a:tc>
                  <a:txBody>
                    <a:bodyPr/>
                    <a:lstStyle/>
                    <a:p>
                      <a:r>
                        <a:rPr lang="ja-JP" altLang="en-US" dirty="0"/>
                        <a:t>名前（列名・</a:t>
                      </a:r>
                      <a:r>
                        <a:rPr lang="en-US" altLang="ja-JP" dirty="0"/>
                        <a:t>names</a:t>
                      </a:r>
                      <a:r>
                        <a:rPr lang="ja-JP" altLang="en-US" dirty="0"/>
                        <a:t>）が正しいか</a:t>
                      </a:r>
                      <a:endParaRPr kumimoji="1" lang="ja-JP" altLang="en-US" dirty="0"/>
                    </a:p>
                  </a:txBody>
                  <a:tcPr/>
                </a:tc>
                <a:extLst>
                  <a:ext uri="{0D108BD9-81ED-4DB2-BD59-A6C34878D82A}">
                    <a16:rowId xmlns:a16="http://schemas.microsoft.com/office/drawing/2014/main" val="1606480449"/>
                  </a:ext>
                </a:extLst>
              </a:tr>
              <a:tr h="370840">
                <a:tc>
                  <a:txBody>
                    <a:bodyPr/>
                    <a:lstStyle/>
                    <a:p>
                      <a:r>
                        <a:rPr lang="en-US" altLang="ja-JP" dirty="0" err="1"/>
                        <a:t>expect_null</a:t>
                      </a:r>
                      <a:endParaRPr kumimoji="1" lang="ja-JP" altLang="en-US" dirty="0"/>
                    </a:p>
                  </a:txBody>
                  <a:tcPr/>
                </a:tc>
                <a:tc>
                  <a:txBody>
                    <a:bodyPr/>
                    <a:lstStyle/>
                    <a:p>
                      <a:r>
                        <a:rPr lang="ja-JP" altLang="en-US" dirty="0"/>
                        <a:t>結果が存在しないことの確認</a:t>
                      </a:r>
                      <a:endParaRPr kumimoji="1" lang="ja-JP" altLang="en-US" dirty="0"/>
                    </a:p>
                  </a:txBody>
                  <a:tcPr/>
                </a:tc>
                <a:extLst>
                  <a:ext uri="{0D108BD9-81ED-4DB2-BD59-A6C34878D82A}">
                    <a16:rowId xmlns:a16="http://schemas.microsoft.com/office/drawing/2014/main" val="274614039"/>
                  </a:ext>
                </a:extLst>
              </a:tr>
              <a:tr h="370840">
                <a:tc>
                  <a:txBody>
                    <a:bodyPr/>
                    <a:lstStyle/>
                    <a:p>
                      <a:r>
                        <a:rPr lang="en-US" altLang="ja-JP" dirty="0" err="1"/>
                        <a:t>expect_vector</a:t>
                      </a:r>
                      <a:endParaRPr kumimoji="1" lang="ja-JP" altLang="en-US" dirty="0"/>
                    </a:p>
                  </a:txBody>
                  <a:tcPr/>
                </a:tc>
                <a:tc>
                  <a:txBody>
                    <a:bodyPr/>
                    <a:lstStyle/>
                    <a:p>
                      <a:r>
                        <a:rPr lang="ja-JP" altLang="en-US" dirty="0"/>
                        <a:t>ベクトルの型と構造</a:t>
                      </a:r>
                      <a:endParaRPr kumimoji="1" lang="ja-JP" altLang="en-US" dirty="0"/>
                    </a:p>
                  </a:txBody>
                  <a:tcPr/>
                </a:tc>
                <a:extLst>
                  <a:ext uri="{0D108BD9-81ED-4DB2-BD59-A6C34878D82A}">
                    <a16:rowId xmlns:a16="http://schemas.microsoft.com/office/drawing/2014/main" val="967802882"/>
                  </a:ext>
                </a:extLst>
              </a:tr>
              <a:tr h="443592">
                <a:tc>
                  <a:txBody>
                    <a:bodyPr/>
                    <a:lstStyle/>
                    <a:p>
                      <a:r>
                        <a:rPr lang="en-US" altLang="ja-JP" dirty="0" err="1"/>
                        <a:t>expect_setequal</a:t>
                      </a:r>
                      <a:endParaRPr kumimoji="1" lang="ja-JP" altLang="en-US" dirty="0"/>
                    </a:p>
                  </a:txBody>
                  <a:tcPr/>
                </a:tc>
                <a:tc>
                  <a:txBody>
                    <a:bodyPr/>
                    <a:lstStyle/>
                    <a:p>
                      <a:r>
                        <a:rPr lang="ja-JP" altLang="en-US" dirty="0"/>
                        <a:t>順序を無視して同じ集合か</a:t>
                      </a:r>
                      <a:endParaRPr kumimoji="1" lang="ja-JP" altLang="en-US" dirty="0"/>
                    </a:p>
                  </a:txBody>
                  <a:tcPr/>
                </a:tc>
                <a:extLst>
                  <a:ext uri="{0D108BD9-81ED-4DB2-BD59-A6C34878D82A}">
                    <a16:rowId xmlns:a16="http://schemas.microsoft.com/office/drawing/2014/main" val="245588351"/>
                  </a:ext>
                </a:extLst>
              </a:tr>
              <a:tr h="443592">
                <a:tc>
                  <a:txBody>
                    <a:bodyPr/>
                    <a:lstStyle/>
                    <a:p>
                      <a:r>
                        <a:rPr lang="en-US" altLang="ja-JP" dirty="0" err="1"/>
                        <a:t>expect_match</a:t>
                      </a:r>
                      <a:endParaRPr kumimoji="1" lang="ja-JP" altLang="en-US" dirty="0"/>
                    </a:p>
                  </a:txBody>
                  <a:tcPr/>
                </a:tc>
                <a:tc>
                  <a:txBody>
                    <a:bodyPr/>
                    <a:lstStyle/>
                    <a:p>
                      <a:r>
                        <a:rPr lang="ja-JP" altLang="en-US" dirty="0"/>
                        <a:t>文字列がパターンに一致するか</a:t>
                      </a:r>
                      <a:endParaRPr kumimoji="1" lang="ja-JP" altLang="en-US" dirty="0"/>
                    </a:p>
                  </a:txBody>
                  <a:tcPr/>
                </a:tc>
                <a:extLst>
                  <a:ext uri="{0D108BD9-81ED-4DB2-BD59-A6C34878D82A}">
                    <a16:rowId xmlns:a16="http://schemas.microsoft.com/office/drawing/2014/main" val="182761538"/>
                  </a:ext>
                </a:extLst>
              </a:tr>
              <a:tr h="443592">
                <a:tc>
                  <a:txBody>
                    <a:bodyPr/>
                    <a:lstStyle/>
                    <a:p>
                      <a:r>
                        <a:rPr kumimoji="1" lang="en-US" altLang="ja-JP" dirty="0" err="1"/>
                        <a:t>expect_idential</a:t>
                      </a:r>
                      <a:endParaRPr kumimoji="1" lang="ja-JP" altLang="en-US" dirty="0"/>
                    </a:p>
                  </a:txBody>
                  <a:tcPr/>
                </a:tc>
                <a:tc>
                  <a:txBody>
                    <a:bodyPr/>
                    <a:lstStyle/>
                    <a:p>
                      <a:r>
                        <a:rPr kumimoji="1" lang="ja-JP" altLang="en-US" dirty="0"/>
                        <a:t>値以外に型・属性・順序まで完全一致するか</a:t>
                      </a:r>
                    </a:p>
                  </a:txBody>
                  <a:tcPr/>
                </a:tc>
                <a:extLst>
                  <a:ext uri="{0D108BD9-81ED-4DB2-BD59-A6C34878D82A}">
                    <a16:rowId xmlns:a16="http://schemas.microsoft.com/office/drawing/2014/main" val="37065047"/>
                  </a:ext>
                </a:extLst>
              </a:tr>
              <a:tr h="443592">
                <a:tc>
                  <a:txBody>
                    <a:bodyPr/>
                    <a:lstStyle/>
                    <a:p>
                      <a:r>
                        <a:rPr kumimoji="1" lang="en-US" altLang="ja-JP" dirty="0" err="1"/>
                        <a:t>expect_snapshot_file</a:t>
                      </a:r>
                      <a:endParaRPr kumimoji="1" lang="ja-JP" altLang="en-US" dirty="0"/>
                    </a:p>
                  </a:txBody>
                  <a:tcPr/>
                </a:tc>
                <a:tc>
                  <a:txBody>
                    <a:bodyPr/>
                    <a:lstStyle/>
                    <a:p>
                      <a:r>
                        <a:rPr kumimoji="1" lang="ja-JP" altLang="en-US" dirty="0"/>
                        <a:t>過去に保存した結果と一致するか</a:t>
                      </a:r>
                    </a:p>
                  </a:txBody>
                  <a:tcPr/>
                </a:tc>
                <a:extLst>
                  <a:ext uri="{0D108BD9-81ED-4DB2-BD59-A6C34878D82A}">
                    <a16:rowId xmlns:a16="http://schemas.microsoft.com/office/drawing/2014/main" val="770057728"/>
                  </a:ext>
                </a:extLst>
              </a:tr>
            </a:tbl>
          </a:graphicData>
        </a:graphic>
      </p:graphicFrame>
      <p:sp>
        <p:nvSpPr>
          <p:cNvPr id="4" name="スライド番号プレースホルダー 3">
            <a:extLst>
              <a:ext uri="{FF2B5EF4-FFF2-40B4-BE49-F238E27FC236}">
                <a16:creationId xmlns:a16="http://schemas.microsoft.com/office/drawing/2014/main" id="{F0337C1C-6DDC-F4BF-25A0-C997B5D0E0AC}"/>
              </a:ext>
            </a:extLst>
          </p:cNvPr>
          <p:cNvSpPr>
            <a:spLocks noGrp="1"/>
          </p:cNvSpPr>
          <p:nvPr>
            <p:ph type="sldNum" sz="quarter" idx="11"/>
          </p:nvPr>
        </p:nvSpPr>
        <p:spPr/>
        <p:txBody>
          <a:bodyPr/>
          <a:lstStyle/>
          <a:p>
            <a:fld id="{23B20E4E-3F95-4221-AFE5-FD1FD9CC3448}" type="slidenum">
              <a:rPr lang="en-US" altLang="ja-JP" smtClean="0"/>
              <a:pPr/>
              <a:t>10</a:t>
            </a:fld>
            <a:endParaRPr lang="en-US" altLang="ja-JP"/>
          </a:p>
        </p:txBody>
      </p:sp>
      <p:sp>
        <p:nvSpPr>
          <p:cNvPr id="7" name="テキスト ボックス 6">
            <a:extLst>
              <a:ext uri="{FF2B5EF4-FFF2-40B4-BE49-F238E27FC236}">
                <a16:creationId xmlns:a16="http://schemas.microsoft.com/office/drawing/2014/main" id="{7219F64F-E666-A2A1-6EFE-A4DA8969D48B}"/>
              </a:ext>
            </a:extLst>
          </p:cNvPr>
          <p:cNvSpPr txBox="1"/>
          <p:nvPr/>
        </p:nvSpPr>
        <p:spPr>
          <a:xfrm>
            <a:off x="551384" y="6091699"/>
            <a:ext cx="8136904" cy="338554"/>
          </a:xfrm>
          <a:prstGeom prst="rect">
            <a:avLst/>
          </a:prstGeom>
          <a:noFill/>
        </p:spPr>
        <p:txBody>
          <a:bodyPr wrap="square">
            <a:spAutoFit/>
          </a:bodyPr>
          <a:lstStyle/>
          <a:p>
            <a:r>
              <a:rPr lang="en-US" altLang="ja-JP" sz="1600" i="0" dirty="0">
                <a:latin typeface="+mn-ea"/>
                <a:ea typeface="+mn-ea"/>
              </a:rPr>
              <a:t>※</a:t>
            </a:r>
            <a:r>
              <a:rPr lang="ja-JP" altLang="en-US" sz="1600" i="0" dirty="0">
                <a:latin typeface="+mn-ea"/>
                <a:ea typeface="+mn-ea"/>
              </a:rPr>
              <a:t>エラー・警告系の</a:t>
            </a:r>
            <a:r>
              <a:rPr lang="en-US" altLang="ja-JP" sz="1600" i="0" dirty="0">
                <a:latin typeface="+mn-ea"/>
                <a:ea typeface="+mn-ea"/>
              </a:rPr>
              <a:t>Expectation</a:t>
            </a:r>
            <a:r>
              <a:rPr lang="ja-JP" altLang="en-US" sz="1600" i="0" dirty="0">
                <a:latin typeface="+mn-ea"/>
                <a:ea typeface="+mn-ea"/>
              </a:rPr>
              <a:t>関数は別の分類として次のページに記載しています。</a:t>
            </a:r>
            <a:endParaRPr lang="ja-JP" altLang="en-US" sz="1600" dirty="0">
              <a:latin typeface="+mn-ea"/>
              <a:ea typeface="+mn-ea"/>
            </a:endParaRPr>
          </a:p>
        </p:txBody>
      </p:sp>
      <p:sp>
        <p:nvSpPr>
          <p:cNvPr id="6" name="テキスト ボックス 5">
            <a:extLst>
              <a:ext uri="{FF2B5EF4-FFF2-40B4-BE49-F238E27FC236}">
                <a16:creationId xmlns:a16="http://schemas.microsoft.com/office/drawing/2014/main" id="{4B4B2D7E-4B28-2023-B87F-B685CD1DAC15}"/>
              </a:ext>
            </a:extLst>
          </p:cNvPr>
          <p:cNvSpPr txBox="1"/>
          <p:nvPr/>
        </p:nvSpPr>
        <p:spPr>
          <a:xfrm>
            <a:off x="505843" y="980728"/>
            <a:ext cx="1107996" cy="461665"/>
          </a:xfrm>
          <a:prstGeom prst="rect">
            <a:avLst/>
          </a:prstGeom>
          <a:noFill/>
        </p:spPr>
        <p:txBody>
          <a:bodyPr wrap="none" rtlCol="0">
            <a:spAutoFit/>
          </a:bodyPr>
          <a:lstStyle/>
          <a:p>
            <a:r>
              <a:rPr kumimoji="1" lang="ja-JP" altLang="en-US" dirty="0">
                <a:latin typeface="+mn-ea"/>
                <a:ea typeface="+mn-ea"/>
              </a:rPr>
              <a:t>代表例</a:t>
            </a:r>
          </a:p>
        </p:txBody>
      </p:sp>
    </p:spTree>
    <p:extLst>
      <p:ext uri="{BB962C8B-B14F-4D97-AF65-F5344CB8AC3E}">
        <p14:creationId xmlns:p14="http://schemas.microsoft.com/office/powerpoint/2010/main" val="1683753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9FB3ED-22F6-9668-9B3F-1D211123D22E}"/>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a:t>
            </a:r>
            <a:r>
              <a:rPr lang="ja-JP" altLang="en-US" i="0" dirty="0"/>
              <a:t>エラー・警告を確認する関数 </a:t>
            </a:r>
            <a:r>
              <a:rPr lang="en-US" altLang="ja-JP" i="0" dirty="0"/>
              <a:t>-</a:t>
            </a:r>
            <a:endParaRPr kumimoji="1" lang="ja-JP" altLang="en-US" i="0" dirty="0"/>
          </a:p>
        </p:txBody>
      </p:sp>
      <p:sp>
        <p:nvSpPr>
          <p:cNvPr id="4" name="スライド番号プレースホルダー 3">
            <a:extLst>
              <a:ext uri="{FF2B5EF4-FFF2-40B4-BE49-F238E27FC236}">
                <a16:creationId xmlns:a16="http://schemas.microsoft.com/office/drawing/2014/main" id="{763F8C49-03C9-A7F5-9040-A34B245B2905}"/>
              </a:ext>
            </a:extLst>
          </p:cNvPr>
          <p:cNvSpPr>
            <a:spLocks noGrp="1"/>
          </p:cNvSpPr>
          <p:nvPr>
            <p:ph type="sldNum" sz="quarter" idx="11"/>
          </p:nvPr>
        </p:nvSpPr>
        <p:spPr/>
        <p:txBody>
          <a:bodyPr/>
          <a:lstStyle/>
          <a:p>
            <a:fld id="{23B20E4E-3F95-4221-AFE5-FD1FD9CC3448}" type="slidenum">
              <a:rPr lang="en-US" altLang="ja-JP" smtClean="0"/>
              <a:pPr/>
              <a:t>11</a:t>
            </a:fld>
            <a:endParaRPr lang="en-US" altLang="ja-JP"/>
          </a:p>
        </p:txBody>
      </p:sp>
      <p:graphicFrame>
        <p:nvGraphicFramePr>
          <p:cNvPr id="7" name="コンテンツ プレースホルダー 4">
            <a:extLst>
              <a:ext uri="{FF2B5EF4-FFF2-40B4-BE49-F238E27FC236}">
                <a16:creationId xmlns:a16="http://schemas.microsoft.com/office/drawing/2014/main" id="{9BEB0271-CB9F-51BC-7969-BBAB562F3BF4}"/>
              </a:ext>
            </a:extLst>
          </p:cNvPr>
          <p:cNvGraphicFramePr>
            <a:graphicFrameLocks/>
          </p:cNvGraphicFramePr>
          <p:nvPr>
            <p:extLst>
              <p:ext uri="{D42A27DB-BD31-4B8C-83A1-F6EECF244321}">
                <p14:modId xmlns:p14="http://schemas.microsoft.com/office/powerpoint/2010/main" val="1873546938"/>
              </p:ext>
            </p:extLst>
          </p:nvPr>
        </p:nvGraphicFramePr>
        <p:xfrm>
          <a:off x="551384" y="1588716"/>
          <a:ext cx="8136904" cy="3039472"/>
        </p:xfrm>
        <a:graphic>
          <a:graphicData uri="http://schemas.openxmlformats.org/drawingml/2006/table">
            <a:tbl>
              <a:tblPr firstRow="1" bandRow="1">
                <a:tableStyleId>{21E4AEA4-8DFA-4A89-87EB-49C32662AFE0}</a:tableStyleId>
              </a:tblPr>
              <a:tblGrid>
                <a:gridCol w="3161315">
                  <a:extLst>
                    <a:ext uri="{9D8B030D-6E8A-4147-A177-3AD203B41FA5}">
                      <a16:colId xmlns:a16="http://schemas.microsoft.com/office/drawing/2014/main" val="3895044230"/>
                    </a:ext>
                  </a:extLst>
                </a:gridCol>
                <a:gridCol w="4975589">
                  <a:extLst>
                    <a:ext uri="{9D8B030D-6E8A-4147-A177-3AD203B41FA5}">
                      <a16:colId xmlns:a16="http://schemas.microsoft.com/office/drawing/2014/main" val="3059289745"/>
                    </a:ext>
                  </a:extLst>
                </a:gridCol>
              </a:tblGrid>
              <a:tr h="370840">
                <a:tc>
                  <a:txBody>
                    <a:bodyPr/>
                    <a:lstStyle/>
                    <a:p>
                      <a:r>
                        <a:rPr kumimoji="1" lang="ja-JP" altLang="en-US" dirty="0">
                          <a:solidFill>
                            <a:schemeClr val="bg1"/>
                          </a:solidFill>
                        </a:rPr>
                        <a:t>関数</a:t>
                      </a:r>
                    </a:p>
                  </a:txBody>
                  <a:tcPr/>
                </a:tc>
                <a:tc>
                  <a:txBody>
                    <a:bodyPr/>
                    <a:lstStyle/>
                    <a:p>
                      <a:r>
                        <a:rPr kumimoji="1" lang="ja-JP" altLang="en-US" dirty="0">
                          <a:solidFill>
                            <a:schemeClr val="bg1"/>
                          </a:solidFill>
                        </a:rPr>
                        <a:t>用途</a:t>
                      </a:r>
                    </a:p>
                  </a:txBody>
                  <a:tcPr/>
                </a:tc>
                <a:extLst>
                  <a:ext uri="{0D108BD9-81ED-4DB2-BD59-A6C34878D82A}">
                    <a16:rowId xmlns:a16="http://schemas.microsoft.com/office/drawing/2014/main" val="1079039793"/>
                  </a:ext>
                </a:extLst>
              </a:tr>
              <a:tr h="3708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rPr>
                        <a:t>expect_error </a:t>
                      </a:r>
                      <a:endParaRPr kumimoji="0" lang="ja-JP" altLang="ja-JP" sz="1800" b="0" i="0" u="none" strike="noStrike" cap="none" normalizeH="0" baseline="0" dirty="0">
                        <a:ln>
                          <a:noFill/>
                        </a:ln>
                        <a:solidFill>
                          <a:schemeClr val="tx1"/>
                        </a:solidFill>
                        <a:effectLst/>
                        <a:latin typeface="Arial" panose="020B0604020202020204" pitchFamily="34" charset="0"/>
                      </a:endParaRPr>
                    </a:p>
                  </a:txBody>
                  <a:tcPr/>
                </a:tc>
                <a:tc>
                  <a:txBody>
                    <a:bodyPr/>
                    <a:lstStyle/>
                    <a:p>
                      <a:r>
                        <a:rPr lang="en-US" altLang="ja-JP" dirty="0"/>
                        <a:t>Error</a:t>
                      </a:r>
                      <a:r>
                        <a:rPr lang="ja-JP" altLang="en-US" dirty="0"/>
                        <a:t>が出ることを確認</a:t>
                      </a:r>
                      <a:endParaRPr kumimoji="1" lang="ja-JP" altLang="en-US" dirty="0"/>
                    </a:p>
                  </a:txBody>
                  <a:tcPr/>
                </a:tc>
                <a:extLst>
                  <a:ext uri="{0D108BD9-81ED-4DB2-BD59-A6C34878D82A}">
                    <a16:rowId xmlns:a16="http://schemas.microsoft.com/office/drawing/2014/main" val="2492146840"/>
                  </a:ext>
                </a:extLst>
              </a:tr>
              <a:tr h="370840">
                <a:tc>
                  <a:txBody>
                    <a:bodyPr/>
                    <a:lstStyle/>
                    <a:p>
                      <a:r>
                        <a:rPr kumimoji="0" lang="ja-JP" altLang="ja-JP" sz="1800" b="0" i="0" u="none" strike="noStrike" cap="none" normalizeH="0" baseline="0">
                          <a:ln>
                            <a:noFill/>
                          </a:ln>
                          <a:solidFill>
                            <a:schemeClr val="tx1"/>
                          </a:solidFill>
                          <a:effectLst/>
                          <a:latin typeface="Arial" panose="020B0604020202020204" pitchFamily="34" charset="0"/>
                        </a:rPr>
                        <a:t>expect_no_error</a:t>
                      </a:r>
                      <a:endParaRPr kumimoji="1" lang="ja-JP" altLang="en-US" dirty="0"/>
                    </a:p>
                  </a:txBody>
                  <a:tcPr/>
                </a:tc>
                <a:tc>
                  <a:txBody>
                    <a:bodyPr/>
                    <a:lstStyle/>
                    <a:p>
                      <a:r>
                        <a:rPr lang="en-US" altLang="ja-JP" dirty="0"/>
                        <a:t>Error</a:t>
                      </a:r>
                      <a:r>
                        <a:rPr lang="ja-JP" altLang="en-US" dirty="0"/>
                        <a:t>が出ないことを確認</a:t>
                      </a:r>
                      <a:endParaRPr kumimoji="1" lang="ja-JP" altLang="en-US" dirty="0"/>
                    </a:p>
                  </a:txBody>
                  <a:tcPr/>
                </a:tc>
                <a:extLst>
                  <a:ext uri="{0D108BD9-81ED-4DB2-BD59-A6C34878D82A}">
                    <a16:rowId xmlns:a16="http://schemas.microsoft.com/office/drawing/2014/main" val="928490538"/>
                  </a:ext>
                </a:extLst>
              </a:tr>
              <a:tr h="3708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dirty="0">
                          <a:ln>
                            <a:noFill/>
                          </a:ln>
                          <a:solidFill>
                            <a:schemeClr val="tx1"/>
                          </a:solidFill>
                          <a:effectLst/>
                          <a:latin typeface="Arial" panose="020B0604020202020204" pitchFamily="34" charset="0"/>
                        </a:rPr>
                        <a:t>expect_warning </a:t>
                      </a:r>
                    </a:p>
                  </a:txBody>
                  <a:tcPr/>
                </a:tc>
                <a:tc>
                  <a:txBody>
                    <a:bodyPr/>
                    <a:lstStyle/>
                    <a:p>
                      <a:r>
                        <a:rPr lang="en-US" altLang="ja-JP" dirty="0"/>
                        <a:t>Warning</a:t>
                      </a:r>
                      <a:r>
                        <a:rPr lang="ja-JP" altLang="en-US" dirty="0"/>
                        <a:t>が出ることを確認</a:t>
                      </a:r>
                      <a:endParaRPr kumimoji="1" lang="ja-JP" altLang="en-US" dirty="0"/>
                    </a:p>
                  </a:txBody>
                  <a:tcPr/>
                </a:tc>
                <a:extLst>
                  <a:ext uri="{0D108BD9-81ED-4DB2-BD59-A6C34878D82A}">
                    <a16:rowId xmlns:a16="http://schemas.microsoft.com/office/drawing/2014/main" val="2531419434"/>
                  </a:ext>
                </a:extLst>
              </a:tr>
              <a:tr h="370840">
                <a:tc>
                  <a:txBody>
                    <a:bodyPr/>
                    <a:lstStyle/>
                    <a:p>
                      <a:r>
                        <a:rPr kumimoji="0" lang="ja-JP" altLang="ja-JP" sz="1800" b="0" i="0" u="none" strike="noStrike" cap="none" normalizeH="0" baseline="0">
                          <a:ln>
                            <a:noFill/>
                          </a:ln>
                          <a:solidFill>
                            <a:schemeClr val="tx1"/>
                          </a:solidFill>
                          <a:effectLst/>
                          <a:latin typeface="Arial" panose="020B0604020202020204" pitchFamily="34" charset="0"/>
                        </a:rPr>
                        <a:t>expect_no_warning</a:t>
                      </a:r>
                      <a:endParaRPr kumimoji="1" lang="ja-JP" altLang="en-US" dirty="0"/>
                    </a:p>
                  </a:txBody>
                  <a:tcPr/>
                </a:tc>
                <a:tc>
                  <a:txBody>
                    <a:bodyPr/>
                    <a:lstStyle/>
                    <a:p>
                      <a:r>
                        <a:rPr lang="en-US" altLang="ja-JP" dirty="0"/>
                        <a:t>Warning</a:t>
                      </a:r>
                      <a:r>
                        <a:rPr lang="ja-JP" altLang="en-US" dirty="0"/>
                        <a:t>が出ないことを確認</a:t>
                      </a:r>
                      <a:endParaRPr kumimoji="1" lang="ja-JP" altLang="en-US" dirty="0"/>
                    </a:p>
                  </a:txBody>
                  <a:tcPr/>
                </a:tc>
                <a:extLst>
                  <a:ext uri="{0D108BD9-81ED-4DB2-BD59-A6C34878D82A}">
                    <a16:rowId xmlns:a16="http://schemas.microsoft.com/office/drawing/2014/main" val="1606480449"/>
                  </a:ext>
                </a:extLst>
              </a:tr>
              <a:tr h="370840">
                <a:tc>
                  <a:txBody>
                    <a:bodyPr/>
                    <a:lstStyle/>
                    <a:p>
                      <a:r>
                        <a:rPr kumimoji="0" lang="ja-JP" altLang="ja-JP" sz="1800" b="0" i="0" u="none" strike="noStrike" cap="none" normalizeH="0" baseline="0">
                          <a:ln>
                            <a:noFill/>
                          </a:ln>
                          <a:solidFill>
                            <a:schemeClr val="tx1"/>
                          </a:solidFill>
                          <a:effectLst/>
                          <a:latin typeface="Arial" panose="020B0604020202020204" pitchFamily="34" charset="0"/>
                        </a:rPr>
                        <a:t>expect_message</a:t>
                      </a:r>
                      <a:endParaRPr kumimoji="1" lang="ja-JP" altLang="en-US" dirty="0"/>
                    </a:p>
                  </a:txBody>
                  <a:tcPr/>
                </a:tc>
                <a:tc>
                  <a:txBody>
                    <a:bodyPr/>
                    <a:lstStyle/>
                    <a:p>
                      <a:r>
                        <a:rPr lang="ja-JP" altLang="en-US" dirty="0"/>
                        <a:t>メッセージが出ることを確認</a:t>
                      </a:r>
                      <a:endParaRPr kumimoji="1" lang="ja-JP" altLang="en-US" dirty="0"/>
                    </a:p>
                  </a:txBody>
                  <a:tcPr/>
                </a:tc>
                <a:extLst>
                  <a:ext uri="{0D108BD9-81ED-4DB2-BD59-A6C34878D82A}">
                    <a16:rowId xmlns:a16="http://schemas.microsoft.com/office/drawing/2014/main" val="274614039"/>
                  </a:ext>
                </a:extLst>
              </a:tr>
              <a:tr h="370840">
                <a:tc>
                  <a:txBody>
                    <a:bodyPr/>
                    <a:lstStyle/>
                    <a:p>
                      <a:r>
                        <a:rPr kumimoji="0" lang="ja-JP" altLang="ja-JP" sz="1800" b="0" i="0" u="none" strike="noStrike" cap="none" normalizeH="0" baseline="0">
                          <a:ln>
                            <a:noFill/>
                          </a:ln>
                          <a:solidFill>
                            <a:schemeClr val="tx1"/>
                          </a:solidFill>
                          <a:effectLst/>
                          <a:latin typeface="Arial" panose="020B0604020202020204" pitchFamily="34" charset="0"/>
                        </a:rPr>
                        <a:t>expect_no_message</a:t>
                      </a:r>
                      <a:endParaRPr kumimoji="1" lang="ja-JP" altLang="en-US" dirty="0"/>
                    </a:p>
                  </a:txBody>
                  <a:tcPr/>
                </a:tc>
                <a:tc>
                  <a:txBody>
                    <a:bodyPr/>
                    <a:lstStyle/>
                    <a:p>
                      <a:r>
                        <a:rPr lang="ja-JP" altLang="en-US" dirty="0"/>
                        <a:t>メッセージが出ないことを確認</a:t>
                      </a:r>
                      <a:endParaRPr kumimoji="1" lang="ja-JP" altLang="en-US" dirty="0"/>
                    </a:p>
                  </a:txBody>
                  <a:tcPr/>
                </a:tc>
                <a:extLst>
                  <a:ext uri="{0D108BD9-81ED-4DB2-BD59-A6C34878D82A}">
                    <a16:rowId xmlns:a16="http://schemas.microsoft.com/office/drawing/2014/main" val="967802882"/>
                  </a:ext>
                </a:extLst>
              </a:tr>
              <a:tr h="443592">
                <a:tc>
                  <a:txBody>
                    <a:bodyPr/>
                    <a:lstStyle/>
                    <a:p>
                      <a:r>
                        <a:rPr kumimoji="0" lang="ja-JP" altLang="ja-JP" sz="1800" b="0" i="0" u="none" strike="noStrike" cap="none" normalizeH="0" baseline="0" dirty="0">
                          <a:ln>
                            <a:noFill/>
                          </a:ln>
                          <a:solidFill>
                            <a:schemeClr val="tx1"/>
                          </a:solidFill>
                          <a:effectLst/>
                          <a:latin typeface="Arial" panose="020B0604020202020204" pitchFamily="34" charset="0"/>
                        </a:rPr>
                        <a:t>expect_success</a:t>
                      </a:r>
                      <a:endParaRPr kumimoji="1" lang="ja-JP" altLang="en-US" dirty="0"/>
                    </a:p>
                  </a:txBody>
                  <a:tcPr/>
                </a:tc>
                <a:tc>
                  <a:txBody>
                    <a:bodyPr/>
                    <a:lstStyle/>
                    <a:p>
                      <a:r>
                        <a:rPr lang="en-US" altLang="ja-JP" dirty="0"/>
                        <a:t>Error</a:t>
                      </a:r>
                      <a:r>
                        <a:rPr lang="ja-JP" altLang="en-US" dirty="0"/>
                        <a:t>も</a:t>
                      </a:r>
                      <a:r>
                        <a:rPr lang="en-US" altLang="ja-JP" dirty="0"/>
                        <a:t>Warning</a:t>
                      </a:r>
                      <a:r>
                        <a:rPr lang="ja-JP" altLang="en-US" dirty="0"/>
                        <a:t>も出ないことを確認</a:t>
                      </a:r>
                      <a:endParaRPr kumimoji="1" lang="ja-JP" altLang="en-US" dirty="0"/>
                    </a:p>
                  </a:txBody>
                  <a:tcPr/>
                </a:tc>
                <a:extLst>
                  <a:ext uri="{0D108BD9-81ED-4DB2-BD59-A6C34878D82A}">
                    <a16:rowId xmlns:a16="http://schemas.microsoft.com/office/drawing/2014/main" val="245588351"/>
                  </a:ext>
                </a:extLst>
              </a:tr>
            </a:tbl>
          </a:graphicData>
        </a:graphic>
      </p:graphicFrame>
      <p:sp>
        <p:nvSpPr>
          <p:cNvPr id="3" name="テキスト ボックス 2">
            <a:extLst>
              <a:ext uri="{FF2B5EF4-FFF2-40B4-BE49-F238E27FC236}">
                <a16:creationId xmlns:a16="http://schemas.microsoft.com/office/drawing/2014/main" id="{EF79B945-78F5-AB5B-D5A4-6BC18057D452}"/>
              </a:ext>
            </a:extLst>
          </p:cNvPr>
          <p:cNvSpPr txBox="1"/>
          <p:nvPr/>
        </p:nvSpPr>
        <p:spPr>
          <a:xfrm>
            <a:off x="505843" y="980728"/>
            <a:ext cx="1107996" cy="461665"/>
          </a:xfrm>
          <a:prstGeom prst="rect">
            <a:avLst/>
          </a:prstGeom>
          <a:noFill/>
        </p:spPr>
        <p:txBody>
          <a:bodyPr wrap="none" rtlCol="0">
            <a:spAutoFit/>
          </a:bodyPr>
          <a:lstStyle/>
          <a:p>
            <a:r>
              <a:rPr kumimoji="1" lang="ja-JP" altLang="en-US" dirty="0">
                <a:latin typeface="+mn-ea"/>
                <a:ea typeface="+mn-ea"/>
              </a:rPr>
              <a:t>代表例</a:t>
            </a:r>
          </a:p>
        </p:txBody>
      </p:sp>
    </p:spTree>
    <p:extLst>
      <p:ext uri="{BB962C8B-B14F-4D97-AF65-F5344CB8AC3E}">
        <p14:creationId xmlns:p14="http://schemas.microsoft.com/office/powerpoint/2010/main" val="35480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67E8B599-8664-DDFF-93C0-0287049FFCF6}"/>
              </a:ext>
            </a:extLst>
          </p:cNvPr>
          <p:cNvSpPr/>
          <p:nvPr/>
        </p:nvSpPr>
        <p:spPr>
          <a:xfrm>
            <a:off x="6106359" y="4266260"/>
            <a:ext cx="2417533" cy="223019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400">
              <a:latin typeface="+mn-ea"/>
            </a:endParaRPr>
          </a:p>
        </p:txBody>
      </p:sp>
      <p:sp>
        <p:nvSpPr>
          <p:cNvPr id="16" name="正方形/長方形 15">
            <a:extLst>
              <a:ext uri="{FF2B5EF4-FFF2-40B4-BE49-F238E27FC236}">
                <a16:creationId xmlns:a16="http://schemas.microsoft.com/office/drawing/2014/main" id="{63809FDD-E8D1-C48D-597E-985C1957F707}"/>
              </a:ext>
            </a:extLst>
          </p:cNvPr>
          <p:cNvSpPr/>
          <p:nvPr/>
        </p:nvSpPr>
        <p:spPr>
          <a:xfrm>
            <a:off x="640826" y="1549448"/>
            <a:ext cx="2417533" cy="223019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400">
              <a:latin typeface="+mn-ea"/>
            </a:endParaRPr>
          </a:p>
        </p:txBody>
      </p:sp>
      <p:sp>
        <p:nvSpPr>
          <p:cNvPr id="2" name="タイトル 1">
            <a:extLst>
              <a:ext uri="{FF2B5EF4-FFF2-40B4-BE49-F238E27FC236}">
                <a16:creationId xmlns:a16="http://schemas.microsoft.com/office/drawing/2014/main" id="{F0CD140E-9B8E-F7C6-4220-85986D883863}"/>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a:t>
            </a:r>
            <a:r>
              <a:rPr lang="ja-JP" altLang="en-US" i="0" dirty="0"/>
              <a:t>テスト実行・管理の関数 </a:t>
            </a:r>
            <a:r>
              <a:rPr lang="en-US" altLang="ja-JP" i="0" dirty="0"/>
              <a:t>-</a:t>
            </a:r>
            <a:endParaRPr kumimoji="1" lang="ja-JP" altLang="en-US" i="0" dirty="0"/>
          </a:p>
        </p:txBody>
      </p:sp>
      <p:sp>
        <p:nvSpPr>
          <p:cNvPr id="3" name="コンテンツ プレースホルダー 2">
            <a:extLst>
              <a:ext uri="{FF2B5EF4-FFF2-40B4-BE49-F238E27FC236}">
                <a16:creationId xmlns:a16="http://schemas.microsoft.com/office/drawing/2014/main" id="{F20848C6-448B-990A-101C-A260D806061A}"/>
              </a:ext>
            </a:extLst>
          </p:cNvPr>
          <p:cNvSpPr>
            <a:spLocks noGrp="1"/>
          </p:cNvSpPr>
          <p:nvPr>
            <p:ph idx="1"/>
          </p:nvPr>
        </p:nvSpPr>
        <p:spPr>
          <a:xfrm>
            <a:off x="8719788" y="4205728"/>
            <a:ext cx="3136852" cy="1807843"/>
          </a:xfrm>
        </p:spPr>
        <p:txBody>
          <a:bodyPr/>
          <a:lstStyle/>
          <a:p>
            <a:r>
              <a:rPr lang="ja-JP" altLang="en-US" sz="2000" dirty="0">
                <a:latin typeface="+mn-ea"/>
              </a:rPr>
              <a:t>● </a:t>
            </a:r>
            <a:r>
              <a:rPr lang="en-US" altLang="ja-JP" sz="2000" dirty="0" err="1">
                <a:latin typeface="+mn-ea"/>
              </a:rPr>
              <a:t>devtools</a:t>
            </a:r>
            <a:r>
              <a:rPr lang="en-US" altLang="ja-JP" sz="2000" dirty="0">
                <a:latin typeface="+mn-ea"/>
              </a:rPr>
              <a:t>::test</a:t>
            </a:r>
            <a:br>
              <a:rPr lang="en-US" altLang="ja-JP" sz="2000" dirty="0">
                <a:latin typeface="+mn-ea"/>
              </a:rPr>
            </a:br>
            <a:r>
              <a:rPr lang="ja-JP" altLang="en-US" sz="2000" dirty="0">
                <a:latin typeface="+mn-ea"/>
              </a:rPr>
              <a:t>作業ディレクトリ内の開発中のパッケージのテストを実行する</a:t>
            </a:r>
            <a:endParaRPr lang="en-US" altLang="ja-JP" sz="2000" dirty="0">
              <a:latin typeface="+mn-ea"/>
            </a:endParaRPr>
          </a:p>
          <a:p>
            <a:r>
              <a:rPr lang="en-US" altLang="ja-JP" sz="2000" i="1" dirty="0" err="1">
                <a:highlight>
                  <a:srgbClr val="99FF99"/>
                </a:highlight>
                <a:latin typeface="+mn-ea"/>
              </a:rPr>
              <a:t>devtools</a:t>
            </a:r>
            <a:r>
              <a:rPr lang="en-US" altLang="ja-JP" sz="2000" i="1" dirty="0">
                <a:highlight>
                  <a:srgbClr val="99FF99"/>
                </a:highlight>
                <a:latin typeface="+mn-ea"/>
              </a:rPr>
              <a:t>::test()</a:t>
            </a:r>
            <a:endParaRPr kumimoji="1" lang="ja-JP" altLang="en-US" sz="2000" i="1" dirty="0">
              <a:highlight>
                <a:srgbClr val="99FF99"/>
              </a:highlight>
              <a:latin typeface="+mn-ea"/>
            </a:endParaRPr>
          </a:p>
        </p:txBody>
      </p:sp>
      <p:sp>
        <p:nvSpPr>
          <p:cNvPr id="4" name="スライド番号プレースホルダー 3">
            <a:extLst>
              <a:ext uri="{FF2B5EF4-FFF2-40B4-BE49-F238E27FC236}">
                <a16:creationId xmlns:a16="http://schemas.microsoft.com/office/drawing/2014/main" id="{AE484562-02F8-5759-1C22-06CEF8696C3E}"/>
              </a:ext>
            </a:extLst>
          </p:cNvPr>
          <p:cNvSpPr>
            <a:spLocks noGrp="1"/>
          </p:cNvSpPr>
          <p:nvPr>
            <p:ph type="sldNum" sz="quarter" idx="11"/>
          </p:nvPr>
        </p:nvSpPr>
        <p:spPr/>
        <p:txBody>
          <a:bodyPr/>
          <a:lstStyle/>
          <a:p>
            <a:fld id="{23B20E4E-3F95-4221-AFE5-FD1FD9CC3448}" type="slidenum">
              <a:rPr lang="en-US" altLang="ja-JP" smtClean="0"/>
              <a:pPr/>
              <a:t>12</a:t>
            </a:fld>
            <a:endParaRPr lang="en-US" altLang="ja-JP"/>
          </a:p>
        </p:txBody>
      </p:sp>
      <p:sp>
        <p:nvSpPr>
          <p:cNvPr id="5" name="テキスト ボックス 4">
            <a:extLst>
              <a:ext uri="{FF2B5EF4-FFF2-40B4-BE49-F238E27FC236}">
                <a16:creationId xmlns:a16="http://schemas.microsoft.com/office/drawing/2014/main" id="{ED95BAAB-165C-922F-9B04-ADCC539D24AF}"/>
              </a:ext>
            </a:extLst>
          </p:cNvPr>
          <p:cNvSpPr txBox="1"/>
          <p:nvPr/>
        </p:nvSpPr>
        <p:spPr>
          <a:xfrm>
            <a:off x="510115" y="1182381"/>
            <a:ext cx="1604927" cy="400110"/>
          </a:xfrm>
          <a:prstGeom prst="rect">
            <a:avLst/>
          </a:prstGeom>
          <a:noFill/>
        </p:spPr>
        <p:txBody>
          <a:bodyPr wrap="none" rtlCol="0">
            <a:spAutoFit/>
          </a:bodyPr>
          <a:lstStyle/>
          <a:p>
            <a:r>
              <a:rPr kumimoji="1" lang="ja-JP" altLang="en-US" sz="2000" dirty="0">
                <a:latin typeface="+mn-ea"/>
                <a:ea typeface="+mn-ea"/>
              </a:rPr>
              <a:t>フォルダ構成</a:t>
            </a:r>
          </a:p>
        </p:txBody>
      </p:sp>
      <p:sp>
        <p:nvSpPr>
          <p:cNvPr id="6" name="テキスト ボックス 5">
            <a:extLst>
              <a:ext uri="{FF2B5EF4-FFF2-40B4-BE49-F238E27FC236}">
                <a16:creationId xmlns:a16="http://schemas.microsoft.com/office/drawing/2014/main" id="{B1876AFD-C692-3370-3B59-EED9AC2354DF}"/>
              </a:ext>
            </a:extLst>
          </p:cNvPr>
          <p:cNvSpPr txBox="1"/>
          <p:nvPr/>
        </p:nvSpPr>
        <p:spPr>
          <a:xfrm>
            <a:off x="685842" y="1563838"/>
            <a:ext cx="720080" cy="307777"/>
          </a:xfrm>
          <a:prstGeom prst="rect">
            <a:avLst/>
          </a:prstGeom>
          <a:noFill/>
        </p:spPr>
        <p:txBody>
          <a:bodyPr wrap="square" rtlCol="0">
            <a:spAutoFit/>
          </a:bodyPr>
          <a:lstStyle/>
          <a:p>
            <a:r>
              <a:rPr lang="en-US" altLang="ja-JP" sz="1400" dirty="0">
                <a:latin typeface="+mn-ea"/>
                <a:ea typeface="+mn-ea"/>
              </a:rPr>
              <a:t>t</a:t>
            </a:r>
            <a:r>
              <a:rPr kumimoji="1" lang="en-US" altLang="ja-JP" sz="1400" dirty="0">
                <a:latin typeface="+mn-ea"/>
                <a:ea typeface="+mn-ea"/>
              </a:rPr>
              <a:t>ests</a:t>
            </a:r>
            <a:endParaRPr kumimoji="1" lang="ja-JP" altLang="en-US" sz="1400" dirty="0">
              <a:latin typeface="+mn-ea"/>
              <a:ea typeface="+mn-ea"/>
            </a:endParaRPr>
          </a:p>
        </p:txBody>
      </p:sp>
      <p:sp>
        <p:nvSpPr>
          <p:cNvPr id="7" name="テキスト ボックス 6">
            <a:extLst>
              <a:ext uri="{FF2B5EF4-FFF2-40B4-BE49-F238E27FC236}">
                <a16:creationId xmlns:a16="http://schemas.microsoft.com/office/drawing/2014/main" id="{DF30C9E8-141D-9399-9FBE-9BA4C6E15699}"/>
              </a:ext>
            </a:extLst>
          </p:cNvPr>
          <p:cNvSpPr txBox="1"/>
          <p:nvPr/>
        </p:nvSpPr>
        <p:spPr>
          <a:xfrm>
            <a:off x="839416" y="1825079"/>
            <a:ext cx="1723549" cy="2246769"/>
          </a:xfrm>
          <a:prstGeom prst="rect">
            <a:avLst/>
          </a:prstGeom>
          <a:noFill/>
        </p:spPr>
        <p:txBody>
          <a:bodyPr wrap="square" rtlCol="0">
            <a:spAutoFit/>
          </a:bodyPr>
          <a:lstStyle/>
          <a:p>
            <a:r>
              <a:rPr lang="ja-JP" altLang="en-US" sz="1400" dirty="0">
                <a:latin typeface="+mn-ea"/>
                <a:ea typeface="+mn-ea"/>
              </a:rPr>
              <a:t>├ </a:t>
            </a:r>
            <a:r>
              <a:rPr lang="en-US" altLang="ja-JP" sz="1400" dirty="0">
                <a:latin typeface="+mn-ea"/>
                <a:ea typeface="+mn-ea"/>
              </a:rPr>
              <a:t>source</a:t>
            </a:r>
          </a:p>
          <a:p>
            <a:r>
              <a:rPr lang="ja-JP" altLang="en-US" sz="1400" dirty="0">
                <a:latin typeface="+mn-ea"/>
                <a:ea typeface="+mn-ea"/>
              </a:rPr>
              <a:t>│├ </a:t>
            </a:r>
            <a:r>
              <a:rPr lang="en-US" altLang="ja-JP" sz="1400" dirty="0">
                <a:latin typeface="+mn-ea"/>
                <a:ea typeface="+mn-ea"/>
              </a:rPr>
              <a:t>01_xxxx.R</a:t>
            </a:r>
          </a:p>
          <a:p>
            <a:r>
              <a:rPr lang="ja-JP" altLang="en-US" sz="1400" dirty="0">
                <a:latin typeface="+mn-ea"/>
                <a:ea typeface="+mn-ea"/>
              </a:rPr>
              <a:t>│├ </a:t>
            </a:r>
            <a:r>
              <a:rPr lang="en-US" altLang="ja-JP" sz="1400" dirty="0">
                <a:latin typeface="+mn-ea"/>
                <a:ea typeface="+mn-ea"/>
              </a:rPr>
              <a:t>02_xxxx.R</a:t>
            </a:r>
          </a:p>
          <a:p>
            <a:r>
              <a:rPr lang="ja-JP" altLang="en-US" sz="1400" dirty="0">
                <a:latin typeface="+mn-ea"/>
                <a:ea typeface="+mn-ea"/>
              </a:rPr>
              <a:t>│├ 　：</a:t>
            </a:r>
            <a:endParaRPr lang="en-US" altLang="ja-JP" sz="1400" dirty="0">
              <a:latin typeface="+mn-ea"/>
              <a:ea typeface="+mn-ea"/>
            </a:endParaRPr>
          </a:p>
          <a:p>
            <a:r>
              <a:rPr lang="ja-JP" altLang="en-US" sz="1400" dirty="0">
                <a:latin typeface="+mn-ea"/>
                <a:ea typeface="+mn-ea"/>
              </a:rPr>
              <a:t>└ </a:t>
            </a:r>
            <a:r>
              <a:rPr lang="en-US" altLang="ja-JP" sz="1400" dirty="0" err="1">
                <a:latin typeface="+mn-ea"/>
                <a:ea typeface="+mn-ea"/>
              </a:rPr>
              <a:t>testthat</a:t>
            </a:r>
            <a:endParaRPr lang="en-US" altLang="ja-JP" sz="1400" dirty="0">
              <a:latin typeface="+mn-ea"/>
              <a:ea typeface="+mn-ea"/>
            </a:endParaRPr>
          </a:p>
          <a:p>
            <a:r>
              <a:rPr lang="ja-JP" altLang="en-US" sz="1400" dirty="0">
                <a:latin typeface="+mn-ea"/>
                <a:ea typeface="+mn-ea"/>
              </a:rPr>
              <a:t>　 ├</a:t>
            </a:r>
            <a:r>
              <a:rPr lang="en-US" altLang="ja-JP" sz="1400" dirty="0">
                <a:latin typeface="+mn-ea"/>
                <a:ea typeface="+mn-ea"/>
              </a:rPr>
              <a:t> test_01_xxxx.R</a:t>
            </a:r>
          </a:p>
          <a:p>
            <a:r>
              <a:rPr lang="ja-JP" altLang="en-US" sz="1400" dirty="0">
                <a:latin typeface="+mn-ea"/>
                <a:ea typeface="+mn-ea"/>
              </a:rPr>
              <a:t>　 ├</a:t>
            </a:r>
            <a:r>
              <a:rPr lang="en-US" altLang="ja-JP" sz="1400" dirty="0">
                <a:latin typeface="+mn-ea"/>
                <a:ea typeface="+mn-ea"/>
              </a:rPr>
              <a:t> test_02_xxxx.R</a:t>
            </a:r>
          </a:p>
          <a:p>
            <a:r>
              <a:rPr lang="ja-JP" altLang="en-US" sz="1400" dirty="0">
                <a:latin typeface="+mn-ea"/>
                <a:ea typeface="+mn-ea"/>
              </a:rPr>
              <a:t>　 ├</a:t>
            </a:r>
            <a:r>
              <a:rPr lang="en-US" altLang="ja-JP" sz="1400" dirty="0">
                <a:latin typeface="+mn-ea"/>
                <a:ea typeface="+mn-ea"/>
              </a:rPr>
              <a:t> </a:t>
            </a:r>
            <a:r>
              <a:rPr lang="ja-JP" altLang="en-US" sz="1400" dirty="0">
                <a:latin typeface="+mn-ea"/>
                <a:ea typeface="+mn-ea"/>
              </a:rPr>
              <a:t>：</a:t>
            </a:r>
          </a:p>
          <a:p>
            <a:endParaRPr lang="ja-JP" altLang="en-US" sz="1400" dirty="0">
              <a:latin typeface="+mn-ea"/>
              <a:ea typeface="+mn-ea"/>
            </a:endParaRPr>
          </a:p>
          <a:p>
            <a:endParaRPr kumimoji="1" lang="ja-JP" altLang="en-US" sz="1400" dirty="0">
              <a:latin typeface="+mn-ea"/>
              <a:ea typeface="+mn-ea"/>
            </a:endParaRPr>
          </a:p>
        </p:txBody>
      </p:sp>
      <p:sp>
        <p:nvSpPr>
          <p:cNvPr id="13" name="テキスト ボックス 12">
            <a:extLst>
              <a:ext uri="{FF2B5EF4-FFF2-40B4-BE49-F238E27FC236}">
                <a16:creationId xmlns:a16="http://schemas.microsoft.com/office/drawing/2014/main" id="{9EE5D7BF-218C-8A99-71BA-09AB0819B3FC}"/>
              </a:ext>
            </a:extLst>
          </p:cNvPr>
          <p:cNvSpPr txBox="1"/>
          <p:nvPr/>
        </p:nvSpPr>
        <p:spPr>
          <a:xfrm>
            <a:off x="3256136" y="1567969"/>
            <a:ext cx="4928096" cy="1015663"/>
          </a:xfrm>
          <a:prstGeom prst="rect">
            <a:avLst/>
          </a:prstGeom>
          <a:noFill/>
        </p:spPr>
        <p:txBody>
          <a:bodyPr wrap="square">
            <a:spAutoFit/>
          </a:bodyPr>
          <a:lstStyle/>
          <a:p>
            <a:r>
              <a:rPr lang="ja-JP" altLang="en-US" sz="2000" dirty="0">
                <a:latin typeface="+mn-ea"/>
                <a:ea typeface="+mn-ea"/>
              </a:rPr>
              <a:t>●</a:t>
            </a:r>
            <a:r>
              <a:rPr lang="en-US" altLang="ja-JP" sz="2000" dirty="0" err="1">
                <a:latin typeface="+mn-ea"/>
                <a:ea typeface="+mn-ea"/>
              </a:rPr>
              <a:t>test_file</a:t>
            </a:r>
            <a:r>
              <a:rPr lang="ja-JP" altLang="en-US" sz="2000" dirty="0">
                <a:latin typeface="+mn-ea"/>
                <a:ea typeface="+mn-ea"/>
              </a:rPr>
              <a:t>　</a:t>
            </a:r>
            <a:endParaRPr lang="en-US" altLang="ja-JP" sz="2000" dirty="0">
              <a:latin typeface="+mn-ea"/>
              <a:ea typeface="+mn-ea"/>
            </a:endParaRPr>
          </a:p>
          <a:p>
            <a:r>
              <a:rPr lang="en-US" altLang="ja-JP" sz="2000" dirty="0">
                <a:latin typeface="+mn-ea"/>
                <a:ea typeface="+mn-ea"/>
              </a:rPr>
              <a:t>   1</a:t>
            </a:r>
            <a:r>
              <a:rPr lang="ja-JP" altLang="en-US" sz="2000" dirty="0">
                <a:latin typeface="+mn-ea"/>
                <a:ea typeface="+mn-ea"/>
              </a:rPr>
              <a:t>つのテストファイルだけ実行する</a:t>
            </a:r>
          </a:p>
          <a:p>
            <a:r>
              <a:rPr lang="en-US" altLang="ja-JP" sz="2000" i="1" dirty="0" err="1">
                <a:highlight>
                  <a:srgbClr val="99FF99"/>
                </a:highlight>
                <a:latin typeface="+mn-ea"/>
                <a:ea typeface="+mn-ea"/>
              </a:rPr>
              <a:t>test_file</a:t>
            </a:r>
            <a:r>
              <a:rPr lang="en-US" altLang="ja-JP" sz="2000" i="1" dirty="0">
                <a:highlight>
                  <a:srgbClr val="99FF99"/>
                </a:highlight>
                <a:latin typeface="+mn-ea"/>
                <a:ea typeface="+mn-ea"/>
              </a:rPr>
              <a:t>("tests/</a:t>
            </a:r>
            <a:r>
              <a:rPr lang="en-US" altLang="ja-JP" sz="2000" i="1" dirty="0" err="1">
                <a:highlight>
                  <a:srgbClr val="99FF99"/>
                </a:highlight>
                <a:latin typeface="+mn-ea"/>
                <a:ea typeface="+mn-ea"/>
              </a:rPr>
              <a:t>testthat</a:t>
            </a:r>
            <a:r>
              <a:rPr lang="en-US" altLang="ja-JP" sz="2000" i="1" dirty="0">
                <a:highlight>
                  <a:srgbClr val="99FF99"/>
                </a:highlight>
                <a:latin typeface="+mn-ea"/>
                <a:ea typeface="+mn-ea"/>
              </a:rPr>
              <a:t>/test_01_xxxx.R")</a:t>
            </a:r>
          </a:p>
        </p:txBody>
      </p:sp>
      <p:sp>
        <p:nvSpPr>
          <p:cNvPr id="15" name="テキスト ボックス 14">
            <a:extLst>
              <a:ext uri="{FF2B5EF4-FFF2-40B4-BE49-F238E27FC236}">
                <a16:creationId xmlns:a16="http://schemas.microsoft.com/office/drawing/2014/main" id="{74BA530D-968C-8C49-3691-AE75BDC46F10}"/>
              </a:ext>
            </a:extLst>
          </p:cNvPr>
          <p:cNvSpPr txBox="1"/>
          <p:nvPr/>
        </p:nvSpPr>
        <p:spPr>
          <a:xfrm>
            <a:off x="3256136" y="2613749"/>
            <a:ext cx="4928096" cy="1323439"/>
          </a:xfrm>
          <a:prstGeom prst="rect">
            <a:avLst/>
          </a:prstGeom>
          <a:noFill/>
        </p:spPr>
        <p:txBody>
          <a:bodyPr wrap="square">
            <a:spAutoFit/>
          </a:bodyPr>
          <a:lstStyle/>
          <a:p>
            <a:r>
              <a:rPr lang="ja-JP" altLang="en-US" sz="2000" dirty="0">
                <a:latin typeface="+mn-ea"/>
                <a:ea typeface="+mn-ea"/>
              </a:rPr>
              <a:t>● </a:t>
            </a:r>
            <a:r>
              <a:rPr lang="en-US" altLang="ja-JP" sz="2000" dirty="0" err="1">
                <a:latin typeface="+mn-ea"/>
                <a:ea typeface="+mn-ea"/>
              </a:rPr>
              <a:t>test_dir</a:t>
            </a:r>
            <a:r>
              <a:rPr lang="ja-JP" altLang="en-US" sz="2000" dirty="0">
                <a:latin typeface="+mn-ea"/>
                <a:ea typeface="+mn-ea"/>
              </a:rPr>
              <a:t>　</a:t>
            </a:r>
            <a:endParaRPr lang="en-US" altLang="ja-JP" sz="2000" dirty="0">
              <a:latin typeface="+mn-ea"/>
              <a:ea typeface="+mn-ea"/>
            </a:endParaRPr>
          </a:p>
          <a:p>
            <a:r>
              <a:rPr lang="en-US" altLang="ja-JP" sz="2000" dirty="0">
                <a:latin typeface="+mn-ea"/>
                <a:ea typeface="+mn-ea"/>
              </a:rPr>
              <a:t>   </a:t>
            </a:r>
            <a:r>
              <a:rPr lang="ja-JP" altLang="en-US" sz="2000" dirty="0">
                <a:latin typeface="+mn-ea"/>
                <a:ea typeface="+mn-ea"/>
              </a:rPr>
              <a:t>ディレクトリ内のテストをまとめて実行する</a:t>
            </a:r>
            <a:endParaRPr lang="en-US" altLang="ja-JP" sz="2000" dirty="0">
              <a:latin typeface="+mn-ea"/>
              <a:ea typeface="+mn-ea"/>
            </a:endParaRPr>
          </a:p>
          <a:p>
            <a:r>
              <a:rPr lang="en-US" altLang="ja-JP" sz="2000" i="1" dirty="0" err="1">
                <a:highlight>
                  <a:srgbClr val="99FF99"/>
                </a:highlight>
                <a:latin typeface="+mn-ea"/>
                <a:ea typeface="+mn-ea"/>
              </a:rPr>
              <a:t>test_dir</a:t>
            </a:r>
            <a:r>
              <a:rPr lang="en-US" altLang="ja-JP" sz="2000" i="1" dirty="0">
                <a:highlight>
                  <a:srgbClr val="99FF99"/>
                </a:highlight>
                <a:latin typeface="+mn-ea"/>
                <a:ea typeface="+mn-ea"/>
              </a:rPr>
              <a:t>("tests/</a:t>
            </a:r>
            <a:r>
              <a:rPr lang="en-US" altLang="ja-JP" sz="2000" i="1" dirty="0" err="1">
                <a:highlight>
                  <a:srgbClr val="99FF99"/>
                </a:highlight>
                <a:latin typeface="+mn-ea"/>
                <a:ea typeface="+mn-ea"/>
              </a:rPr>
              <a:t>testthat</a:t>
            </a:r>
            <a:r>
              <a:rPr lang="en-US" altLang="ja-JP" sz="2000" i="1" dirty="0">
                <a:highlight>
                  <a:srgbClr val="99FF99"/>
                </a:highlight>
                <a:latin typeface="+mn-ea"/>
                <a:ea typeface="+mn-ea"/>
              </a:rPr>
              <a:t>")</a:t>
            </a:r>
          </a:p>
          <a:p>
            <a:endParaRPr lang="en-US" altLang="ja-JP" sz="2000" dirty="0">
              <a:latin typeface="+mn-ea"/>
              <a:ea typeface="+mn-ea"/>
            </a:endParaRPr>
          </a:p>
        </p:txBody>
      </p:sp>
      <p:sp>
        <p:nvSpPr>
          <p:cNvPr id="17" name="テキスト ボックス 16">
            <a:extLst>
              <a:ext uri="{FF2B5EF4-FFF2-40B4-BE49-F238E27FC236}">
                <a16:creationId xmlns:a16="http://schemas.microsoft.com/office/drawing/2014/main" id="{669BD439-4DA5-D551-3A59-851C78450992}"/>
              </a:ext>
            </a:extLst>
          </p:cNvPr>
          <p:cNvSpPr txBox="1"/>
          <p:nvPr/>
        </p:nvSpPr>
        <p:spPr>
          <a:xfrm>
            <a:off x="560436" y="3855214"/>
            <a:ext cx="1859805" cy="400110"/>
          </a:xfrm>
          <a:prstGeom prst="rect">
            <a:avLst/>
          </a:prstGeom>
          <a:noFill/>
        </p:spPr>
        <p:txBody>
          <a:bodyPr wrap="none" rtlCol="0">
            <a:spAutoFit/>
          </a:bodyPr>
          <a:lstStyle/>
          <a:p>
            <a:r>
              <a:rPr kumimoji="1" lang="ja-JP" altLang="en-US" sz="2000" dirty="0">
                <a:latin typeface="+mn-ea"/>
                <a:ea typeface="+mn-ea"/>
              </a:rPr>
              <a:t>パッケージ構成</a:t>
            </a:r>
          </a:p>
        </p:txBody>
      </p:sp>
      <p:sp>
        <p:nvSpPr>
          <p:cNvPr id="18" name="テキスト ボックス 17">
            <a:extLst>
              <a:ext uri="{FF2B5EF4-FFF2-40B4-BE49-F238E27FC236}">
                <a16:creationId xmlns:a16="http://schemas.microsoft.com/office/drawing/2014/main" id="{FB4334DF-D77D-9168-A306-EB8CED6407C5}"/>
              </a:ext>
            </a:extLst>
          </p:cNvPr>
          <p:cNvSpPr txBox="1"/>
          <p:nvPr/>
        </p:nvSpPr>
        <p:spPr>
          <a:xfrm>
            <a:off x="6146703" y="4240364"/>
            <a:ext cx="2240379" cy="307777"/>
          </a:xfrm>
          <a:prstGeom prst="rect">
            <a:avLst/>
          </a:prstGeom>
          <a:noFill/>
        </p:spPr>
        <p:txBody>
          <a:bodyPr wrap="square" rtlCol="0">
            <a:spAutoFit/>
          </a:bodyPr>
          <a:lstStyle/>
          <a:p>
            <a:r>
              <a:rPr lang="ja-JP" altLang="en-US" sz="1400" dirty="0">
                <a:latin typeface="+mn-ea"/>
                <a:ea typeface="+mn-ea"/>
              </a:rPr>
              <a:t>作業ディレクトリ</a:t>
            </a:r>
            <a:endParaRPr kumimoji="1" lang="ja-JP" altLang="en-US" sz="1400" dirty="0">
              <a:latin typeface="+mn-ea"/>
              <a:ea typeface="+mn-ea"/>
            </a:endParaRPr>
          </a:p>
        </p:txBody>
      </p:sp>
      <p:sp>
        <p:nvSpPr>
          <p:cNvPr id="20" name="テキスト ボックス 19">
            <a:extLst>
              <a:ext uri="{FF2B5EF4-FFF2-40B4-BE49-F238E27FC236}">
                <a16:creationId xmlns:a16="http://schemas.microsoft.com/office/drawing/2014/main" id="{64656EAC-5C60-9A6F-6DB8-66CFE8AF4672}"/>
              </a:ext>
            </a:extLst>
          </p:cNvPr>
          <p:cNvSpPr txBox="1"/>
          <p:nvPr/>
        </p:nvSpPr>
        <p:spPr>
          <a:xfrm>
            <a:off x="3256136" y="4198705"/>
            <a:ext cx="2417533" cy="1631216"/>
          </a:xfrm>
          <a:prstGeom prst="rect">
            <a:avLst/>
          </a:prstGeom>
          <a:noFill/>
        </p:spPr>
        <p:txBody>
          <a:bodyPr wrap="square">
            <a:spAutoFit/>
          </a:bodyPr>
          <a:lstStyle/>
          <a:p>
            <a:pPr marL="180975" indent="-180975"/>
            <a:r>
              <a:rPr lang="ja-JP" altLang="en-US" sz="2000" dirty="0">
                <a:latin typeface="+mn-ea"/>
                <a:ea typeface="+mn-ea"/>
              </a:rPr>
              <a:t>● </a:t>
            </a:r>
            <a:r>
              <a:rPr lang="en-US" altLang="ja-JP" sz="2000" dirty="0" err="1">
                <a:latin typeface="+mn-ea"/>
                <a:ea typeface="+mn-ea"/>
              </a:rPr>
              <a:t>test_package</a:t>
            </a:r>
            <a:br>
              <a:rPr lang="en-US" altLang="ja-JP" sz="2000" dirty="0">
                <a:latin typeface="+mn-ea"/>
                <a:ea typeface="+mn-ea"/>
              </a:rPr>
            </a:br>
            <a:r>
              <a:rPr lang="en-US" altLang="ja-JP" sz="2000" dirty="0">
                <a:latin typeface="+mn-ea"/>
                <a:ea typeface="+mn-ea"/>
              </a:rPr>
              <a:t>R</a:t>
            </a:r>
            <a:r>
              <a:rPr lang="ja-JP" altLang="en-US" sz="2000" dirty="0">
                <a:latin typeface="+mn-ea"/>
                <a:ea typeface="+mn-ea"/>
              </a:rPr>
              <a:t>パッケージ内のテストを実行する</a:t>
            </a:r>
            <a:endParaRPr lang="en-US" altLang="ja-JP" sz="2000" dirty="0">
              <a:latin typeface="+mn-ea"/>
              <a:ea typeface="+mn-ea"/>
            </a:endParaRPr>
          </a:p>
          <a:p>
            <a:r>
              <a:rPr lang="en-US" altLang="ja-JP" sz="2000" i="1" dirty="0" err="1">
                <a:highlight>
                  <a:srgbClr val="99FF99"/>
                </a:highlight>
                <a:latin typeface="+mn-ea"/>
                <a:ea typeface="+mn-ea"/>
              </a:rPr>
              <a:t>test_package</a:t>
            </a:r>
            <a:r>
              <a:rPr lang="en-US" altLang="ja-JP" sz="2000" i="1" dirty="0">
                <a:highlight>
                  <a:srgbClr val="99FF99"/>
                </a:highlight>
                <a:latin typeface="+mn-ea"/>
                <a:ea typeface="+mn-ea"/>
              </a:rPr>
              <a:t>("packagename1")</a:t>
            </a:r>
          </a:p>
        </p:txBody>
      </p:sp>
      <p:sp>
        <p:nvSpPr>
          <p:cNvPr id="21" name="テキスト ボックス 20">
            <a:extLst>
              <a:ext uri="{FF2B5EF4-FFF2-40B4-BE49-F238E27FC236}">
                <a16:creationId xmlns:a16="http://schemas.microsoft.com/office/drawing/2014/main" id="{2EABFEA3-08C3-2AFB-9FBB-3630A1868BA8}"/>
              </a:ext>
            </a:extLst>
          </p:cNvPr>
          <p:cNvSpPr txBox="1"/>
          <p:nvPr/>
        </p:nvSpPr>
        <p:spPr>
          <a:xfrm>
            <a:off x="6257580" y="4512481"/>
            <a:ext cx="2240379" cy="2031325"/>
          </a:xfrm>
          <a:prstGeom prst="rect">
            <a:avLst/>
          </a:prstGeom>
          <a:noFill/>
        </p:spPr>
        <p:txBody>
          <a:bodyPr wrap="square" rtlCol="0">
            <a:spAutoFit/>
          </a:bodyPr>
          <a:lstStyle/>
          <a:p>
            <a:r>
              <a:rPr lang="ja-JP" altLang="en-US" sz="1400" dirty="0">
                <a:latin typeface="+mn-ea"/>
                <a:ea typeface="+mn-ea"/>
              </a:rPr>
              <a:t>├ </a:t>
            </a:r>
            <a:r>
              <a:rPr lang="en-US" altLang="ja-JP" sz="1400" dirty="0">
                <a:latin typeface="+mn-ea"/>
                <a:ea typeface="+mn-ea"/>
              </a:rPr>
              <a:t>Packagename1</a:t>
            </a: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a:t>
            </a:r>
            <a:endParaRPr lang="en-US" altLang="ja-JP" sz="1400" dirty="0">
              <a:latin typeface="+mn-ea"/>
              <a:ea typeface="+mn-ea"/>
            </a:endParaRPr>
          </a:p>
          <a:p>
            <a:r>
              <a:rPr lang="ja-JP" altLang="en-US" sz="1400" dirty="0">
                <a:latin typeface="+mn-ea"/>
                <a:ea typeface="+mn-ea"/>
              </a:rPr>
              <a:t>└ </a:t>
            </a:r>
            <a:r>
              <a:rPr lang="en-US" altLang="ja-JP" sz="1400" dirty="0">
                <a:latin typeface="+mn-ea"/>
                <a:ea typeface="+mn-ea"/>
              </a:rPr>
              <a:t>Packagename2</a:t>
            </a:r>
            <a:endParaRPr lang="ja-JP" altLang="en-US" sz="1400" dirty="0">
              <a:latin typeface="+mn-ea"/>
              <a:ea typeface="+mn-ea"/>
            </a:endParaRPr>
          </a:p>
          <a:p>
            <a:endParaRPr kumimoji="1" lang="ja-JP" altLang="en-US" sz="1400" dirty="0">
              <a:latin typeface="+mn-ea"/>
              <a:ea typeface="+mn-ea"/>
            </a:endParaRPr>
          </a:p>
        </p:txBody>
      </p:sp>
      <p:sp>
        <p:nvSpPr>
          <p:cNvPr id="23" name="テキスト ボックス 22">
            <a:extLst>
              <a:ext uri="{FF2B5EF4-FFF2-40B4-BE49-F238E27FC236}">
                <a16:creationId xmlns:a16="http://schemas.microsoft.com/office/drawing/2014/main" id="{20C4ABA7-0F5F-2464-D413-DC4984D0BA8E}"/>
              </a:ext>
            </a:extLst>
          </p:cNvPr>
          <p:cNvSpPr txBox="1"/>
          <p:nvPr/>
        </p:nvSpPr>
        <p:spPr>
          <a:xfrm>
            <a:off x="6479409" y="4706559"/>
            <a:ext cx="2240379" cy="1384995"/>
          </a:xfrm>
          <a:prstGeom prst="rect">
            <a:avLst/>
          </a:prstGeom>
          <a:noFill/>
        </p:spPr>
        <p:txBody>
          <a:bodyPr wrap="square" rtlCol="0">
            <a:spAutoFit/>
          </a:bodyPr>
          <a:lstStyle/>
          <a:p>
            <a:r>
              <a:rPr lang="ja-JP" altLang="en-US" sz="1400" dirty="0">
                <a:latin typeface="+mn-ea"/>
              </a:rPr>
              <a:t>├ </a:t>
            </a:r>
            <a:r>
              <a:rPr kumimoji="1" lang="en-US" altLang="ja-JP" sz="1400" dirty="0">
                <a:latin typeface="+mn-ea"/>
                <a:ea typeface="+mn-ea"/>
              </a:rPr>
              <a:t>DESCRIPTION</a:t>
            </a:r>
          </a:p>
          <a:p>
            <a:r>
              <a:rPr lang="ja-JP" altLang="en-US" sz="1400" dirty="0">
                <a:latin typeface="+mn-ea"/>
                <a:ea typeface="+mn-ea"/>
              </a:rPr>
              <a:t>├ </a:t>
            </a:r>
            <a:r>
              <a:rPr lang="en-US" altLang="ja-JP" sz="1400" dirty="0">
                <a:latin typeface="+mn-ea"/>
                <a:ea typeface="+mn-ea"/>
              </a:rPr>
              <a:t>NAMESPACE</a:t>
            </a:r>
          </a:p>
          <a:p>
            <a:r>
              <a:rPr lang="ja-JP" altLang="en-US" sz="1400" dirty="0">
                <a:latin typeface="+mn-ea"/>
                <a:ea typeface="+mn-ea"/>
              </a:rPr>
              <a:t>├ </a:t>
            </a:r>
            <a:r>
              <a:rPr kumimoji="1" lang="en-US" altLang="ja-JP" sz="1400" dirty="0">
                <a:latin typeface="+mn-ea"/>
                <a:ea typeface="+mn-ea"/>
              </a:rPr>
              <a:t>R</a:t>
            </a:r>
          </a:p>
          <a:p>
            <a:r>
              <a:rPr lang="ja-JP" altLang="en-US" sz="1400" dirty="0">
                <a:latin typeface="+mn-ea"/>
                <a:ea typeface="+mn-ea"/>
              </a:rPr>
              <a:t>│ └ </a:t>
            </a:r>
            <a:r>
              <a:rPr lang="en-US" altLang="ja-JP" sz="1400" dirty="0" err="1">
                <a:latin typeface="+mn-ea"/>
                <a:ea typeface="+mn-ea"/>
              </a:rPr>
              <a:t>Program.R</a:t>
            </a:r>
            <a:endParaRPr kumimoji="1" lang="en-US" altLang="ja-JP" sz="1400" dirty="0">
              <a:latin typeface="+mn-ea"/>
              <a:ea typeface="+mn-ea"/>
            </a:endParaRPr>
          </a:p>
          <a:p>
            <a:r>
              <a:rPr lang="ja-JP" altLang="en-US" sz="1400" dirty="0">
                <a:latin typeface="+mn-ea"/>
                <a:ea typeface="+mn-ea"/>
              </a:rPr>
              <a:t>└ </a:t>
            </a:r>
            <a:r>
              <a:rPr lang="en-US" altLang="ja-JP" sz="1400" dirty="0">
                <a:latin typeface="+mn-ea"/>
                <a:ea typeface="+mn-ea"/>
              </a:rPr>
              <a:t>tests</a:t>
            </a:r>
          </a:p>
          <a:p>
            <a:r>
              <a:rPr lang="ja-JP" altLang="en-US" sz="1400" dirty="0">
                <a:latin typeface="+mn-ea"/>
                <a:ea typeface="+mn-ea"/>
              </a:rPr>
              <a:t>　　└ </a:t>
            </a:r>
            <a:r>
              <a:rPr lang="en-US" altLang="ja-JP" sz="1400" dirty="0" err="1">
                <a:latin typeface="+mn-ea"/>
                <a:ea typeface="+mn-ea"/>
              </a:rPr>
              <a:t>testthat</a:t>
            </a:r>
            <a:endParaRPr kumimoji="1" lang="ja-JP" altLang="en-US" sz="1400" dirty="0">
              <a:latin typeface="+mn-ea"/>
              <a:ea typeface="+mn-ea"/>
            </a:endParaRPr>
          </a:p>
        </p:txBody>
      </p:sp>
      <p:sp>
        <p:nvSpPr>
          <p:cNvPr id="25" name="テキスト ボックス 24">
            <a:extLst>
              <a:ext uri="{FF2B5EF4-FFF2-40B4-BE49-F238E27FC236}">
                <a16:creationId xmlns:a16="http://schemas.microsoft.com/office/drawing/2014/main" id="{E283E52E-8045-DC5F-6075-6B3D5ACA16F9}"/>
              </a:ext>
            </a:extLst>
          </p:cNvPr>
          <p:cNvSpPr txBox="1"/>
          <p:nvPr/>
        </p:nvSpPr>
        <p:spPr>
          <a:xfrm>
            <a:off x="6043750" y="3874698"/>
            <a:ext cx="1859805" cy="400110"/>
          </a:xfrm>
          <a:prstGeom prst="rect">
            <a:avLst/>
          </a:prstGeom>
          <a:noFill/>
        </p:spPr>
        <p:txBody>
          <a:bodyPr wrap="none" rtlCol="0">
            <a:spAutoFit/>
          </a:bodyPr>
          <a:lstStyle/>
          <a:p>
            <a:r>
              <a:rPr kumimoji="1" lang="ja-JP" altLang="en-US" sz="2000" dirty="0">
                <a:latin typeface="+mn-ea"/>
                <a:ea typeface="+mn-ea"/>
              </a:rPr>
              <a:t>パッケージ構成</a:t>
            </a:r>
          </a:p>
        </p:txBody>
      </p:sp>
      <p:sp>
        <p:nvSpPr>
          <p:cNvPr id="26" name="正方形/長方形 25">
            <a:extLst>
              <a:ext uri="{FF2B5EF4-FFF2-40B4-BE49-F238E27FC236}">
                <a16:creationId xmlns:a16="http://schemas.microsoft.com/office/drawing/2014/main" id="{0D54FA4A-E46E-0B81-302D-D0C7ED160CA9}"/>
              </a:ext>
            </a:extLst>
          </p:cNvPr>
          <p:cNvSpPr/>
          <p:nvPr/>
        </p:nvSpPr>
        <p:spPr>
          <a:xfrm>
            <a:off x="633916" y="4283962"/>
            <a:ext cx="2417533" cy="223019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400">
              <a:latin typeface="+mn-ea"/>
            </a:endParaRPr>
          </a:p>
        </p:txBody>
      </p:sp>
      <p:sp>
        <p:nvSpPr>
          <p:cNvPr id="28" name="テキスト ボックス 27">
            <a:extLst>
              <a:ext uri="{FF2B5EF4-FFF2-40B4-BE49-F238E27FC236}">
                <a16:creationId xmlns:a16="http://schemas.microsoft.com/office/drawing/2014/main" id="{80E7CCDA-F37A-4FB7-4FCE-9825DE30CA7D}"/>
              </a:ext>
            </a:extLst>
          </p:cNvPr>
          <p:cNvSpPr txBox="1"/>
          <p:nvPr/>
        </p:nvSpPr>
        <p:spPr>
          <a:xfrm>
            <a:off x="663382" y="4349296"/>
            <a:ext cx="2240379" cy="2246769"/>
          </a:xfrm>
          <a:prstGeom prst="rect">
            <a:avLst/>
          </a:prstGeom>
          <a:noFill/>
        </p:spPr>
        <p:txBody>
          <a:bodyPr wrap="square" rtlCol="0">
            <a:spAutoFit/>
          </a:bodyPr>
          <a:lstStyle/>
          <a:p>
            <a:r>
              <a:rPr lang="en-US" altLang="ja-JP" sz="1400" dirty="0">
                <a:latin typeface="+mn-ea"/>
                <a:ea typeface="+mn-ea"/>
              </a:rPr>
              <a:t>Packagename1</a:t>
            </a:r>
          </a:p>
          <a:p>
            <a:r>
              <a:rPr lang="ja-JP" altLang="en-US" sz="1400" dirty="0">
                <a:latin typeface="+mn-ea"/>
              </a:rPr>
              <a:t>├ </a:t>
            </a:r>
            <a:r>
              <a:rPr lang="en-US" altLang="ja-JP" sz="1400" dirty="0">
                <a:latin typeface="+mn-ea"/>
              </a:rPr>
              <a:t>DESCRIPTION</a:t>
            </a:r>
          </a:p>
          <a:p>
            <a:r>
              <a:rPr lang="ja-JP" altLang="en-US" sz="1400" dirty="0">
                <a:latin typeface="+mn-ea"/>
              </a:rPr>
              <a:t>├ </a:t>
            </a:r>
            <a:r>
              <a:rPr lang="en-US" altLang="ja-JP" sz="1400" dirty="0">
                <a:latin typeface="+mn-ea"/>
              </a:rPr>
              <a:t>NAMESPACE</a:t>
            </a:r>
          </a:p>
          <a:p>
            <a:r>
              <a:rPr lang="ja-JP" altLang="en-US" sz="1400" dirty="0">
                <a:latin typeface="+mn-ea"/>
              </a:rPr>
              <a:t>├ </a:t>
            </a:r>
            <a:r>
              <a:rPr lang="en-US" altLang="ja-JP" sz="1400" dirty="0">
                <a:latin typeface="+mn-ea"/>
              </a:rPr>
              <a:t>R</a:t>
            </a:r>
          </a:p>
          <a:p>
            <a:r>
              <a:rPr lang="ja-JP" altLang="en-US" sz="1400" dirty="0">
                <a:latin typeface="+mn-ea"/>
              </a:rPr>
              <a:t>│ └ </a:t>
            </a:r>
            <a:r>
              <a:rPr lang="en-US" altLang="ja-JP" sz="1400" dirty="0" err="1">
                <a:latin typeface="+mn-ea"/>
              </a:rPr>
              <a:t>Program.R</a:t>
            </a:r>
            <a:endParaRPr lang="en-US" altLang="ja-JP" sz="1400" dirty="0">
              <a:latin typeface="+mn-ea"/>
            </a:endParaRPr>
          </a:p>
          <a:p>
            <a:r>
              <a:rPr lang="ja-JP" altLang="en-US" sz="1400" dirty="0">
                <a:latin typeface="+mn-ea"/>
              </a:rPr>
              <a:t>└ </a:t>
            </a:r>
            <a:r>
              <a:rPr lang="en-US" altLang="ja-JP" sz="1400" dirty="0">
                <a:latin typeface="+mn-ea"/>
              </a:rPr>
              <a:t>tests</a:t>
            </a:r>
          </a:p>
          <a:p>
            <a:r>
              <a:rPr lang="ja-JP" altLang="en-US" sz="1400" dirty="0">
                <a:latin typeface="+mn-ea"/>
              </a:rPr>
              <a:t>　 └ </a:t>
            </a:r>
            <a:r>
              <a:rPr lang="en-US" altLang="ja-JP" sz="1400" dirty="0" err="1">
                <a:latin typeface="+mn-ea"/>
              </a:rPr>
              <a:t>testthat</a:t>
            </a:r>
            <a:endParaRPr lang="en-US" altLang="ja-JP" sz="1400" dirty="0">
              <a:latin typeface="+mn-ea"/>
            </a:endParaRPr>
          </a:p>
          <a:p>
            <a:r>
              <a:rPr lang="ja-JP" altLang="en-US" sz="1400" dirty="0">
                <a:latin typeface="+mn-ea"/>
              </a:rPr>
              <a:t>　 　 └ </a:t>
            </a:r>
            <a:r>
              <a:rPr lang="en-US" altLang="ja-JP" sz="1400" dirty="0">
                <a:latin typeface="+mn-ea"/>
              </a:rPr>
              <a:t>test_Program01.R</a:t>
            </a:r>
          </a:p>
          <a:p>
            <a:endParaRPr lang="ja-JP" altLang="en-US" sz="1400" dirty="0">
              <a:latin typeface="+mn-ea"/>
            </a:endParaRPr>
          </a:p>
          <a:p>
            <a:endParaRPr kumimoji="1" lang="ja-JP" altLang="en-US" sz="1400" dirty="0">
              <a:latin typeface="+mn-ea"/>
              <a:ea typeface="+mn-ea"/>
            </a:endParaRPr>
          </a:p>
        </p:txBody>
      </p:sp>
      <p:sp>
        <p:nvSpPr>
          <p:cNvPr id="31" name="テキスト ボックス 30">
            <a:extLst>
              <a:ext uri="{FF2B5EF4-FFF2-40B4-BE49-F238E27FC236}">
                <a16:creationId xmlns:a16="http://schemas.microsoft.com/office/drawing/2014/main" id="{6E57772D-7FD0-8DC1-3149-A89ACACAA6FD}"/>
              </a:ext>
            </a:extLst>
          </p:cNvPr>
          <p:cNvSpPr txBox="1"/>
          <p:nvPr/>
        </p:nvSpPr>
        <p:spPr>
          <a:xfrm>
            <a:off x="640826" y="6098759"/>
            <a:ext cx="5168659" cy="461665"/>
          </a:xfrm>
          <a:prstGeom prst="rect">
            <a:avLst/>
          </a:prstGeom>
          <a:solidFill>
            <a:srgbClr val="FF6699"/>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ja-JP" sz="1200" dirty="0">
                <a:latin typeface="+mn-ea"/>
              </a:rPr>
              <a:t>CRAN</a:t>
            </a:r>
            <a:r>
              <a:rPr lang="ja-JP" altLang="en-US" sz="1200" dirty="0">
                <a:latin typeface="+mn-ea"/>
              </a:rPr>
              <a:t>からのインストールの場合、</a:t>
            </a:r>
            <a:r>
              <a:rPr lang="en-US" altLang="ja-JP" sz="1200" dirty="0">
                <a:latin typeface="+mn-ea"/>
              </a:rPr>
              <a:t>tests</a:t>
            </a:r>
            <a:r>
              <a:rPr lang="ja-JP" altLang="en-US" sz="1200" dirty="0">
                <a:latin typeface="+mn-ea"/>
              </a:rPr>
              <a:t>のフォルダ以下は含まれない。</a:t>
            </a:r>
            <a:endParaRPr lang="en-US" altLang="ja-JP" sz="1200" dirty="0">
              <a:latin typeface="+mn-ea"/>
            </a:endParaRPr>
          </a:p>
          <a:p>
            <a:r>
              <a:rPr lang="en-US" altLang="ja-JP" sz="1200" dirty="0">
                <a:latin typeface="+mn-ea"/>
              </a:rPr>
              <a:t>GitHub</a:t>
            </a:r>
            <a:r>
              <a:rPr lang="ja-JP" altLang="en-US" sz="1200" dirty="0">
                <a:latin typeface="+mn-ea"/>
              </a:rPr>
              <a:t>からのインストールの場合、準備されていれば保持されている。</a:t>
            </a:r>
            <a:endParaRPr lang="en-US" altLang="ja-JP" sz="1200" dirty="0">
              <a:latin typeface="+mn-ea"/>
            </a:endParaRPr>
          </a:p>
        </p:txBody>
      </p:sp>
      <p:sp>
        <p:nvSpPr>
          <p:cNvPr id="8" name="テキスト ボックス 7">
            <a:extLst>
              <a:ext uri="{FF2B5EF4-FFF2-40B4-BE49-F238E27FC236}">
                <a16:creationId xmlns:a16="http://schemas.microsoft.com/office/drawing/2014/main" id="{3EC9E548-6329-544E-CB5C-DB8E6FE3CB57}"/>
              </a:ext>
            </a:extLst>
          </p:cNvPr>
          <p:cNvSpPr txBox="1"/>
          <p:nvPr/>
        </p:nvSpPr>
        <p:spPr>
          <a:xfrm>
            <a:off x="8408852" y="1072818"/>
            <a:ext cx="3669829" cy="1692771"/>
          </a:xfrm>
          <a:prstGeom prst="rect">
            <a:avLst/>
          </a:prstGeom>
          <a:pattFill prst="pct30">
            <a:fgClr>
              <a:schemeClr val="accent6">
                <a:lumMod val="20000"/>
                <a:lumOff val="80000"/>
              </a:schemeClr>
            </a:fgClr>
            <a:bgClr>
              <a:schemeClr val="bg1"/>
            </a:bgClr>
          </a:pattFill>
        </p:spPr>
        <p:txBody>
          <a:bodyPr wrap="square" rtlCol="0">
            <a:spAutoFit/>
          </a:bodyPr>
          <a:lstStyle/>
          <a:p>
            <a:r>
              <a:rPr lang="ja-JP" altLang="en-US" sz="2000" b="1" dirty="0">
                <a:ln w="6600">
                  <a:solidFill>
                    <a:schemeClr val="accent2"/>
                  </a:solidFill>
                  <a:prstDash val="solid"/>
                </a:ln>
                <a:solidFill>
                  <a:srgbClr val="FFFFFF"/>
                </a:solidFill>
                <a:effectLst>
                  <a:outerShdw dist="38100" dir="2700000" algn="tl" rotWithShape="0">
                    <a:schemeClr val="accent2"/>
                  </a:outerShdw>
                </a:effectLst>
                <a:latin typeface="+mn-ea"/>
                <a:ea typeface="+mn-ea"/>
              </a:rPr>
              <a:t>基本ルール</a:t>
            </a:r>
            <a:endParaRPr lang="en-US" altLang="ja-JP" sz="2000" b="1" dirty="0">
              <a:ln w="6600">
                <a:solidFill>
                  <a:schemeClr val="accent2"/>
                </a:solidFill>
                <a:prstDash val="solid"/>
              </a:ln>
              <a:solidFill>
                <a:srgbClr val="FFFFFF"/>
              </a:solidFill>
              <a:effectLst>
                <a:outerShdw dist="38100" dir="2700000" algn="tl" rotWithShape="0">
                  <a:schemeClr val="accent2"/>
                </a:outerShdw>
              </a:effectLst>
              <a:latin typeface="+mn-ea"/>
              <a:ea typeface="+mn-ea"/>
            </a:endParaRPr>
          </a:p>
          <a:p>
            <a:pPr marL="342900" indent="-342900">
              <a:buFont typeface="Arial" panose="020B0604020202020204" pitchFamily="34" charset="0"/>
              <a:buChar char="•"/>
            </a:pPr>
            <a:r>
              <a:rPr kumimoji="1" lang="ja-JP" altLang="en-US" sz="2000" dirty="0">
                <a:latin typeface="+mn-ea"/>
                <a:ea typeface="+mn-ea"/>
              </a:rPr>
              <a:t>テストファイルは</a:t>
            </a:r>
            <a:r>
              <a:rPr lang="en-US" altLang="ja-JP" sz="2000" dirty="0">
                <a:latin typeface="+mn-ea"/>
                <a:ea typeface="+mn-ea"/>
              </a:rPr>
              <a:t>”</a:t>
            </a:r>
            <a:r>
              <a:rPr kumimoji="1" lang="en-US" altLang="ja-JP" sz="2000" dirty="0">
                <a:latin typeface="+mn-ea"/>
                <a:ea typeface="+mn-ea"/>
              </a:rPr>
              <a:t>test-”</a:t>
            </a:r>
            <a:r>
              <a:rPr kumimoji="1" lang="ja-JP" altLang="en-US" sz="2000" dirty="0">
                <a:latin typeface="+mn-ea"/>
                <a:ea typeface="+mn-ea"/>
              </a:rPr>
              <a:t>または</a:t>
            </a:r>
            <a:r>
              <a:rPr kumimoji="1" lang="en-US" altLang="ja-JP" sz="2000" dirty="0">
                <a:latin typeface="+mn-ea"/>
                <a:ea typeface="+mn-ea"/>
              </a:rPr>
              <a:t>”test_”</a:t>
            </a:r>
            <a:r>
              <a:rPr kumimoji="1" lang="ja-JP" altLang="en-US" sz="2000" dirty="0">
                <a:latin typeface="+mn-ea"/>
                <a:ea typeface="+mn-ea"/>
              </a:rPr>
              <a:t>で始めること</a:t>
            </a:r>
            <a:endParaRPr kumimoji="1" lang="en-US" altLang="ja-JP" sz="2000" dirty="0">
              <a:latin typeface="+mn-ea"/>
              <a:ea typeface="+mn-ea"/>
            </a:endParaRPr>
          </a:p>
          <a:p>
            <a:pPr marL="342900" indent="-342900">
              <a:buFont typeface="Arial" panose="020B0604020202020204" pitchFamily="34" charset="0"/>
              <a:buChar char="•"/>
            </a:pPr>
            <a:r>
              <a:rPr lang="ja-JP" altLang="en-US" sz="2000" dirty="0">
                <a:latin typeface="+mn-ea"/>
                <a:ea typeface="+mn-ea"/>
              </a:rPr>
              <a:t>テストファイルは </a:t>
            </a:r>
            <a:r>
              <a:rPr lang="en-US" altLang="ja-JP" sz="2000" dirty="0">
                <a:latin typeface="+mn-ea"/>
                <a:ea typeface="+mn-ea"/>
              </a:rPr>
              <a:t>tests/</a:t>
            </a:r>
            <a:r>
              <a:rPr lang="en-US" altLang="ja-JP" sz="2000" dirty="0" err="1">
                <a:latin typeface="+mn-ea"/>
                <a:ea typeface="+mn-ea"/>
              </a:rPr>
              <a:t>testthat</a:t>
            </a:r>
            <a:r>
              <a:rPr lang="en-US" altLang="ja-JP" sz="2000" dirty="0">
                <a:latin typeface="+mn-ea"/>
                <a:ea typeface="+mn-ea"/>
              </a:rPr>
              <a:t>/</a:t>
            </a:r>
            <a:r>
              <a:rPr lang="ja-JP" altLang="en-US" sz="2000" dirty="0">
                <a:latin typeface="+mn-ea"/>
                <a:ea typeface="+mn-ea"/>
              </a:rPr>
              <a:t> に置くこと</a:t>
            </a:r>
            <a:endParaRPr kumimoji="1" lang="ja-JP" altLang="en-US" sz="2000" dirty="0">
              <a:latin typeface="+mn-ea"/>
              <a:ea typeface="+mn-ea"/>
            </a:endParaRPr>
          </a:p>
        </p:txBody>
      </p:sp>
    </p:spTree>
    <p:extLst>
      <p:ext uri="{BB962C8B-B14F-4D97-AF65-F5344CB8AC3E}">
        <p14:creationId xmlns:p14="http://schemas.microsoft.com/office/powerpoint/2010/main" val="168468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95698-96D0-3609-C52F-12DBBE28D779}"/>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a:t>
            </a:r>
            <a:r>
              <a:rPr lang="ja-JP" altLang="en-US" i="0" dirty="0"/>
              <a:t>テスト補助関数（セットアップなど） </a:t>
            </a:r>
            <a:r>
              <a:rPr lang="en-US" altLang="ja-JP" i="0" dirty="0"/>
              <a:t>-</a:t>
            </a:r>
            <a:endParaRPr kumimoji="1" lang="ja-JP" altLang="en-US" i="0" dirty="0"/>
          </a:p>
        </p:txBody>
      </p:sp>
      <p:sp>
        <p:nvSpPr>
          <p:cNvPr id="4" name="スライド番号プレースホルダー 3">
            <a:extLst>
              <a:ext uri="{FF2B5EF4-FFF2-40B4-BE49-F238E27FC236}">
                <a16:creationId xmlns:a16="http://schemas.microsoft.com/office/drawing/2014/main" id="{D9D10D7E-7FB7-89E9-E2EC-FE6803B2AA55}"/>
              </a:ext>
            </a:extLst>
          </p:cNvPr>
          <p:cNvSpPr>
            <a:spLocks noGrp="1"/>
          </p:cNvSpPr>
          <p:nvPr>
            <p:ph type="sldNum" sz="quarter" idx="11"/>
          </p:nvPr>
        </p:nvSpPr>
        <p:spPr/>
        <p:txBody>
          <a:bodyPr/>
          <a:lstStyle/>
          <a:p>
            <a:fld id="{23B20E4E-3F95-4221-AFE5-FD1FD9CC3448}" type="slidenum">
              <a:rPr lang="en-US" altLang="ja-JP" smtClean="0"/>
              <a:pPr/>
              <a:t>13</a:t>
            </a:fld>
            <a:endParaRPr lang="en-US" altLang="ja-JP"/>
          </a:p>
        </p:txBody>
      </p:sp>
      <p:graphicFrame>
        <p:nvGraphicFramePr>
          <p:cNvPr id="6" name="コンテンツ プレースホルダー 5">
            <a:extLst>
              <a:ext uri="{FF2B5EF4-FFF2-40B4-BE49-F238E27FC236}">
                <a16:creationId xmlns:a16="http://schemas.microsoft.com/office/drawing/2014/main" id="{E4D54BB9-52C2-9801-7C16-0A04DCD6C965}"/>
              </a:ext>
            </a:extLst>
          </p:cNvPr>
          <p:cNvGraphicFramePr>
            <a:graphicFrameLocks noGrp="1"/>
          </p:cNvGraphicFramePr>
          <p:nvPr>
            <p:ph idx="1"/>
            <p:extLst>
              <p:ext uri="{D42A27DB-BD31-4B8C-83A1-F6EECF244321}">
                <p14:modId xmlns:p14="http://schemas.microsoft.com/office/powerpoint/2010/main" val="3447152932"/>
              </p:ext>
            </p:extLst>
          </p:nvPr>
        </p:nvGraphicFramePr>
        <p:xfrm>
          <a:off x="509588" y="1219200"/>
          <a:ext cx="11172825" cy="1651000"/>
        </p:xfrm>
        <a:graphic>
          <a:graphicData uri="http://schemas.openxmlformats.org/drawingml/2006/table">
            <a:tbl>
              <a:tblPr firstRow="1" bandRow="1">
                <a:tableStyleId>{00A15C55-8517-42AA-B614-E9B94910E393}</a:tableStyleId>
              </a:tblPr>
              <a:tblGrid>
                <a:gridCol w="1914004">
                  <a:extLst>
                    <a:ext uri="{9D8B030D-6E8A-4147-A177-3AD203B41FA5}">
                      <a16:colId xmlns:a16="http://schemas.microsoft.com/office/drawing/2014/main" val="3225956574"/>
                    </a:ext>
                  </a:extLst>
                </a:gridCol>
                <a:gridCol w="3672408">
                  <a:extLst>
                    <a:ext uri="{9D8B030D-6E8A-4147-A177-3AD203B41FA5}">
                      <a16:colId xmlns:a16="http://schemas.microsoft.com/office/drawing/2014/main" val="1563380246"/>
                    </a:ext>
                  </a:extLst>
                </a:gridCol>
                <a:gridCol w="5586413">
                  <a:extLst>
                    <a:ext uri="{9D8B030D-6E8A-4147-A177-3AD203B41FA5}">
                      <a16:colId xmlns:a16="http://schemas.microsoft.com/office/drawing/2014/main" val="1838246349"/>
                    </a:ext>
                  </a:extLst>
                </a:gridCol>
              </a:tblGrid>
              <a:tr h="370840">
                <a:tc>
                  <a:txBody>
                    <a:bodyPr/>
                    <a:lstStyle/>
                    <a:p>
                      <a:r>
                        <a:rPr kumimoji="1" lang="ja-JP" altLang="en-US" dirty="0">
                          <a:solidFill>
                            <a:schemeClr val="bg1"/>
                          </a:solidFill>
                        </a:rPr>
                        <a:t>カテゴリ</a:t>
                      </a:r>
                    </a:p>
                  </a:txBody>
                  <a:tcPr/>
                </a:tc>
                <a:tc>
                  <a:txBody>
                    <a:bodyPr/>
                    <a:lstStyle/>
                    <a:p>
                      <a:r>
                        <a:rPr kumimoji="1" lang="ja-JP" altLang="en-US" dirty="0">
                          <a:solidFill>
                            <a:schemeClr val="bg1"/>
                          </a:solidFill>
                        </a:rPr>
                        <a:t>関数</a:t>
                      </a:r>
                    </a:p>
                  </a:txBody>
                  <a:tcPr/>
                </a:tc>
                <a:tc>
                  <a:txBody>
                    <a:bodyPr/>
                    <a:lstStyle/>
                    <a:p>
                      <a:r>
                        <a:rPr kumimoji="1" lang="ja-JP" altLang="en-US" dirty="0">
                          <a:solidFill>
                            <a:schemeClr val="bg1"/>
                          </a:solidFill>
                        </a:rPr>
                        <a:t>用途</a:t>
                      </a:r>
                    </a:p>
                  </a:txBody>
                  <a:tcPr/>
                </a:tc>
                <a:extLst>
                  <a:ext uri="{0D108BD9-81ED-4DB2-BD59-A6C34878D82A}">
                    <a16:rowId xmlns:a16="http://schemas.microsoft.com/office/drawing/2014/main" val="130315473"/>
                  </a:ext>
                </a:extLst>
              </a:tr>
              <a:tr h="326792">
                <a:tc>
                  <a:txBody>
                    <a:bodyPr/>
                    <a:lstStyle/>
                    <a:p>
                      <a:r>
                        <a:rPr kumimoji="1" lang="en-US" altLang="ja-JP" dirty="0">
                          <a:solidFill>
                            <a:schemeClr val="tx1"/>
                          </a:solidFill>
                        </a:rPr>
                        <a:t>Skip</a:t>
                      </a:r>
                      <a:r>
                        <a:rPr kumimoji="1" lang="ja-JP" altLang="en-US" dirty="0">
                          <a:solidFill>
                            <a:schemeClr val="tx1"/>
                          </a:solidFill>
                        </a:rPr>
                        <a:t>系</a:t>
                      </a:r>
                    </a:p>
                  </a:txBody>
                  <a:tcPr/>
                </a:tc>
                <a:tc>
                  <a:txBody>
                    <a:bodyPr/>
                    <a:lstStyle/>
                    <a:p>
                      <a:r>
                        <a:rPr lang="en-US" altLang="ja-JP" dirty="0">
                          <a:solidFill>
                            <a:schemeClr val="tx1"/>
                          </a:solidFill>
                        </a:rPr>
                        <a:t>skip, </a:t>
                      </a:r>
                      <a:r>
                        <a:rPr lang="en-US" altLang="ja-JP" dirty="0" err="1">
                          <a:solidFill>
                            <a:schemeClr val="tx1"/>
                          </a:solidFill>
                        </a:rPr>
                        <a:t>skip_if</a:t>
                      </a:r>
                      <a:r>
                        <a:rPr lang="en-US" altLang="ja-JP" dirty="0">
                          <a:solidFill>
                            <a:schemeClr val="tx1"/>
                          </a:solidFill>
                        </a:rPr>
                        <a:t>, </a:t>
                      </a:r>
                      <a:r>
                        <a:rPr lang="en-US" altLang="ja-JP" dirty="0" err="1">
                          <a:solidFill>
                            <a:schemeClr val="tx1"/>
                          </a:solidFill>
                        </a:rPr>
                        <a:t>skip_if_not_installed</a:t>
                      </a:r>
                      <a:r>
                        <a:rPr lang="en-US" altLang="ja-JP" dirty="0">
                          <a:solidFill>
                            <a:schemeClr val="tx1"/>
                          </a:solidFill>
                        </a:rPr>
                        <a:t>, </a:t>
                      </a:r>
                      <a:r>
                        <a:rPr lang="en-US" altLang="ja-JP" dirty="0" err="1">
                          <a:solidFill>
                            <a:schemeClr val="tx1"/>
                          </a:solidFill>
                        </a:rPr>
                        <a:t>skip_on_cran</a:t>
                      </a:r>
                      <a:endParaRPr kumimoji="1" lang="ja-JP" altLang="en-US" dirty="0">
                        <a:solidFill>
                          <a:schemeClr val="tx1"/>
                        </a:solidFill>
                      </a:endParaRPr>
                    </a:p>
                  </a:txBody>
                  <a:tcPr/>
                </a:tc>
                <a:tc>
                  <a:txBody>
                    <a:bodyPr/>
                    <a:lstStyle/>
                    <a:p>
                      <a:r>
                        <a:rPr kumimoji="1" lang="ja-JP" altLang="en-US" dirty="0">
                          <a:solidFill>
                            <a:schemeClr val="tx1"/>
                          </a:solidFill>
                        </a:rPr>
                        <a:t>未実装部分や条件に応じてスキップ</a:t>
                      </a:r>
                    </a:p>
                  </a:txBody>
                  <a:tcPr/>
                </a:tc>
                <a:extLst>
                  <a:ext uri="{0D108BD9-81ED-4DB2-BD59-A6C34878D82A}">
                    <a16:rowId xmlns:a16="http://schemas.microsoft.com/office/drawing/2014/main" val="2864946009"/>
                  </a:ext>
                </a:extLst>
              </a:tr>
              <a:tr h="370840">
                <a:tc>
                  <a:txBody>
                    <a:bodyPr/>
                    <a:lstStyle/>
                    <a:p>
                      <a:r>
                        <a:rPr kumimoji="1" lang="en-US" altLang="ja-JP" dirty="0">
                          <a:solidFill>
                            <a:schemeClr val="tx1"/>
                          </a:solidFill>
                        </a:rPr>
                        <a:t>Loca</a:t>
                      </a:r>
                      <a:r>
                        <a:rPr kumimoji="1" lang="ja-JP" altLang="en-US" dirty="0">
                          <a:solidFill>
                            <a:schemeClr val="tx1"/>
                          </a:solidFill>
                        </a:rPr>
                        <a:t>ｌ系</a:t>
                      </a:r>
                      <a:endParaRPr kumimoji="1" lang="en-US" altLang="ja-JP" dirty="0">
                        <a:solidFill>
                          <a:schemeClr val="tx1"/>
                        </a:solidFill>
                      </a:endParaRPr>
                    </a:p>
                    <a:p>
                      <a:endParaRPr kumimoji="1" lang="en-US" altLang="ja-JP" dirty="0">
                        <a:solidFill>
                          <a:schemeClr val="tx1"/>
                        </a:solidFill>
                      </a:endParaRPr>
                    </a:p>
                  </a:txBody>
                  <a:tcPr/>
                </a:tc>
                <a:tc>
                  <a:txBody>
                    <a:bodyPr/>
                    <a:lstStyle/>
                    <a:p>
                      <a:r>
                        <a:rPr lang="en-US" altLang="ja-JP" dirty="0" err="1">
                          <a:solidFill>
                            <a:schemeClr val="tx1"/>
                          </a:solidFill>
                        </a:rPr>
                        <a:t>local_options</a:t>
                      </a:r>
                      <a:r>
                        <a:rPr lang="en-US" altLang="ja-JP" dirty="0">
                          <a:solidFill>
                            <a:schemeClr val="tx1"/>
                          </a:solidFill>
                        </a:rPr>
                        <a:t>, </a:t>
                      </a:r>
                      <a:r>
                        <a:rPr lang="en-US" altLang="ja-JP" dirty="0" err="1">
                          <a:solidFill>
                            <a:schemeClr val="tx1"/>
                          </a:solidFill>
                        </a:rPr>
                        <a:t>local_envvar</a:t>
                      </a:r>
                      <a:r>
                        <a:rPr lang="en-US" altLang="ja-JP" dirty="0">
                          <a:solidFill>
                            <a:schemeClr val="tx1"/>
                          </a:solidFill>
                        </a:rPr>
                        <a:t>, </a:t>
                      </a:r>
                      <a:r>
                        <a:rPr lang="en-US" altLang="ja-JP" dirty="0" err="1">
                          <a:solidFill>
                            <a:schemeClr val="tx1"/>
                          </a:solidFill>
                        </a:rPr>
                        <a:t>local_tempdir</a:t>
                      </a:r>
                      <a:endParaRPr kumimoji="1" lang="ja-JP" altLang="en-US" dirty="0">
                        <a:solidFill>
                          <a:schemeClr val="tx1"/>
                        </a:solidFill>
                      </a:endParaRPr>
                    </a:p>
                  </a:txBody>
                  <a:tcPr/>
                </a:tc>
                <a:tc>
                  <a:txBody>
                    <a:bodyPr/>
                    <a:lstStyle/>
                    <a:p>
                      <a:r>
                        <a:rPr kumimoji="1" lang="ja-JP" altLang="en-US" dirty="0">
                          <a:solidFill>
                            <a:schemeClr val="tx1"/>
                          </a:solidFill>
                        </a:rPr>
                        <a:t>一時的にオプション、環境を変更して、テスト後に環境を元に戻す。</a:t>
                      </a:r>
                    </a:p>
                  </a:txBody>
                  <a:tcPr/>
                </a:tc>
                <a:extLst>
                  <a:ext uri="{0D108BD9-81ED-4DB2-BD59-A6C34878D82A}">
                    <a16:rowId xmlns:a16="http://schemas.microsoft.com/office/drawing/2014/main" val="4109439931"/>
                  </a:ext>
                </a:extLst>
              </a:tr>
            </a:tbl>
          </a:graphicData>
        </a:graphic>
      </p:graphicFrame>
      <p:sp>
        <p:nvSpPr>
          <p:cNvPr id="13" name="テキスト ボックス 12">
            <a:extLst>
              <a:ext uri="{FF2B5EF4-FFF2-40B4-BE49-F238E27FC236}">
                <a16:creationId xmlns:a16="http://schemas.microsoft.com/office/drawing/2014/main" id="{A8C0B083-EF8F-F819-E5B9-5A4EBFBC6636}"/>
              </a:ext>
            </a:extLst>
          </p:cNvPr>
          <p:cNvSpPr txBox="1"/>
          <p:nvPr/>
        </p:nvSpPr>
        <p:spPr>
          <a:xfrm>
            <a:off x="509588" y="2977788"/>
            <a:ext cx="3278508" cy="523220"/>
          </a:xfrm>
          <a:prstGeom prst="rect">
            <a:avLst/>
          </a:prstGeom>
          <a:noFill/>
        </p:spPr>
        <p:txBody>
          <a:bodyPr wrap="square" rtlCol="0">
            <a:spAutoFit/>
          </a:bodyPr>
          <a:lstStyle/>
          <a:p>
            <a:r>
              <a:rPr kumimoji="1" lang="ja-JP" altLang="en-US" sz="1600" dirty="0">
                <a:latin typeface="+mn-ea"/>
                <a:ea typeface="+mn-ea"/>
              </a:rPr>
              <a:t>参考 </a:t>
            </a:r>
            <a:endParaRPr kumimoji="1" lang="en-US" altLang="ja-JP" sz="1600" dirty="0">
              <a:latin typeface="+mn-ea"/>
              <a:ea typeface="+mn-ea"/>
            </a:endParaRPr>
          </a:p>
          <a:p>
            <a:r>
              <a:rPr kumimoji="1" lang="ja-JP" altLang="en-US" sz="1200" dirty="0">
                <a:latin typeface="+mn-ea"/>
                <a:ea typeface="+mn-ea"/>
              </a:rPr>
              <a:t>オプション</a:t>
            </a:r>
            <a:r>
              <a:rPr lang="ja-JP" altLang="en-US" sz="1200" dirty="0">
                <a:latin typeface="+mn-ea"/>
                <a:ea typeface="+mn-ea"/>
              </a:rPr>
              <a:t>にはどんなものがあるのか（例）</a:t>
            </a:r>
            <a:endParaRPr kumimoji="1" lang="ja-JP" altLang="en-US" sz="1200" dirty="0">
              <a:latin typeface="+mn-ea"/>
              <a:ea typeface="+mn-ea"/>
            </a:endParaRPr>
          </a:p>
        </p:txBody>
      </p:sp>
      <p:sp>
        <p:nvSpPr>
          <p:cNvPr id="14" name="テキスト ボックス 13">
            <a:extLst>
              <a:ext uri="{FF2B5EF4-FFF2-40B4-BE49-F238E27FC236}">
                <a16:creationId xmlns:a16="http://schemas.microsoft.com/office/drawing/2014/main" id="{B9E7B84D-7D56-C109-B9A8-AD3B3A833C12}"/>
              </a:ext>
            </a:extLst>
          </p:cNvPr>
          <p:cNvSpPr txBox="1"/>
          <p:nvPr/>
        </p:nvSpPr>
        <p:spPr>
          <a:xfrm>
            <a:off x="3766600" y="3228945"/>
            <a:ext cx="2845651" cy="276999"/>
          </a:xfrm>
          <a:prstGeom prst="rect">
            <a:avLst/>
          </a:prstGeom>
          <a:noFill/>
        </p:spPr>
        <p:txBody>
          <a:bodyPr wrap="none" rtlCol="0">
            <a:spAutoFit/>
          </a:bodyPr>
          <a:lstStyle/>
          <a:p>
            <a:r>
              <a:rPr lang="ja-JP" altLang="en-US" sz="1200" dirty="0">
                <a:latin typeface="+mn-ea"/>
                <a:ea typeface="+mn-ea"/>
              </a:rPr>
              <a:t>環境変数にはどんなものがあるのか（例）</a:t>
            </a:r>
            <a:endParaRPr kumimoji="1" lang="ja-JP" altLang="en-US" sz="1200" dirty="0">
              <a:latin typeface="+mn-ea"/>
              <a:ea typeface="+mn-ea"/>
            </a:endParaRPr>
          </a:p>
        </p:txBody>
      </p:sp>
      <p:graphicFrame>
        <p:nvGraphicFramePr>
          <p:cNvPr id="15" name="表 14">
            <a:extLst>
              <a:ext uri="{FF2B5EF4-FFF2-40B4-BE49-F238E27FC236}">
                <a16:creationId xmlns:a16="http://schemas.microsoft.com/office/drawing/2014/main" id="{9239C0C6-1F51-26BD-633F-63C3B54F7349}"/>
              </a:ext>
            </a:extLst>
          </p:cNvPr>
          <p:cNvGraphicFramePr>
            <a:graphicFrameLocks noGrp="1"/>
          </p:cNvGraphicFramePr>
          <p:nvPr>
            <p:extLst>
              <p:ext uri="{D42A27DB-BD31-4B8C-83A1-F6EECF244321}">
                <p14:modId xmlns:p14="http://schemas.microsoft.com/office/powerpoint/2010/main" val="2018801994"/>
              </p:ext>
            </p:extLst>
          </p:nvPr>
        </p:nvGraphicFramePr>
        <p:xfrm>
          <a:off x="585826" y="3552110"/>
          <a:ext cx="3126032" cy="2651760"/>
        </p:xfrm>
        <a:graphic>
          <a:graphicData uri="http://schemas.openxmlformats.org/drawingml/2006/table">
            <a:tbl>
              <a:tblPr firstRow="1" bandRow="1">
                <a:tableStyleId>{69CF1AB2-1976-4502-BF36-3FF5EA218861}</a:tableStyleId>
              </a:tblPr>
              <a:tblGrid>
                <a:gridCol w="1127539">
                  <a:extLst>
                    <a:ext uri="{9D8B030D-6E8A-4147-A177-3AD203B41FA5}">
                      <a16:colId xmlns:a16="http://schemas.microsoft.com/office/drawing/2014/main" val="1813204329"/>
                    </a:ext>
                  </a:extLst>
                </a:gridCol>
                <a:gridCol w="1998493">
                  <a:extLst>
                    <a:ext uri="{9D8B030D-6E8A-4147-A177-3AD203B41FA5}">
                      <a16:colId xmlns:a16="http://schemas.microsoft.com/office/drawing/2014/main" val="3294670045"/>
                    </a:ext>
                  </a:extLst>
                </a:gridCol>
              </a:tblGrid>
              <a:tr h="199760">
                <a:tc>
                  <a:txBody>
                    <a:bodyPr/>
                    <a:lstStyle/>
                    <a:p>
                      <a:r>
                        <a:rPr kumimoji="1" lang="en-US" altLang="ja-JP" sz="1200" b="0" dirty="0"/>
                        <a:t>digits</a:t>
                      </a:r>
                      <a:endParaRPr kumimoji="1" lang="ja-JP" altLang="en-US" sz="1200" b="0" dirty="0"/>
                    </a:p>
                  </a:txBody>
                  <a:tcPr/>
                </a:tc>
                <a:tc>
                  <a:txBody>
                    <a:bodyPr/>
                    <a:lstStyle/>
                    <a:p>
                      <a:r>
                        <a:rPr kumimoji="1" lang="ja-JP" altLang="en-US" sz="1200" b="0" dirty="0"/>
                        <a:t>小数点以下の表示桁数</a:t>
                      </a:r>
                    </a:p>
                  </a:txBody>
                  <a:tcPr/>
                </a:tc>
                <a:extLst>
                  <a:ext uri="{0D108BD9-81ED-4DB2-BD59-A6C34878D82A}">
                    <a16:rowId xmlns:a16="http://schemas.microsoft.com/office/drawing/2014/main" val="158831295"/>
                  </a:ext>
                </a:extLst>
              </a:tr>
              <a:tr h="142965">
                <a:tc>
                  <a:txBody>
                    <a:bodyPr/>
                    <a:lstStyle/>
                    <a:p>
                      <a:r>
                        <a:rPr kumimoji="1" lang="en-US" altLang="ja-JP" sz="1200" b="0" dirty="0" err="1"/>
                        <a:t>scipen</a:t>
                      </a:r>
                      <a:endParaRPr kumimoji="1" lang="ja-JP" altLang="en-US" sz="1200" b="0" dirty="0"/>
                    </a:p>
                  </a:txBody>
                  <a:tcPr/>
                </a:tc>
                <a:tc>
                  <a:txBody>
                    <a:bodyPr/>
                    <a:lstStyle/>
                    <a:p>
                      <a:r>
                        <a:rPr kumimoji="1" lang="ja-JP" altLang="en-US" sz="1200" b="0" dirty="0"/>
                        <a:t>科学表記抑制</a:t>
                      </a:r>
                    </a:p>
                  </a:txBody>
                  <a:tcPr/>
                </a:tc>
                <a:extLst>
                  <a:ext uri="{0D108BD9-81ED-4DB2-BD59-A6C34878D82A}">
                    <a16:rowId xmlns:a16="http://schemas.microsoft.com/office/drawing/2014/main" val="4179314734"/>
                  </a:ext>
                </a:extLst>
              </a:tr>
              <a:tr h="142965">
                <a:tc>
                  <a:txBody>
                    <a:bodyPr/>
                    <a:lstStyle/>
                    <a:p>
                      <a:r>
                        <a:rPr kumimoji="1" lang="en-US" altLang="ja-JP" sz="1200" b="0" dirty="0"/>
                        <a:t>width</a:t>
                      </a:r>
                      <a:endParaRPr kumimoji="1" lang="ja-JP" altLang="en-US" sz="1200" b="0" dirty="0"/>
                    </a:p>
                  </a:txBody>
                  <a:tcPr/>
                </a:tc>
                <a:tc>
                  <a:txBody>
                    <a:bodyPr/>
                    <a:lstStyle/>
                    <a:p>
                      <a:r>
                        <a:rPr kumimoji="1" lang="ja-JP" altLang="en-US" sz="1200" b="0" dirty="0"/>
                        <a:t>表示幅</a:t>
                      </a:r>
                    </a:p>
                  </a:txBody>
                  <a:tcPr/>
                </a:tc>
                <a:extLst>
                  <a:ext uri="{0D108BD9-81ED-4DB2-BD59-A6C34878D82A}">
                    <a16:rowId xmlns:a16="http://schemas.microsoft.com/office/drawing/2014/main" val="1545756184"/>
                  </a:ext>
                </a:extLst>
              </a:tr>
              <a:tr h="142965">
                <a:tc>
                  <a:txBody>
                    <a:bodyPr/>
                    <a:lstStyle/>
                    <a:p>
                      <a:r>
                        <a:rPr kumimoji="1" lang="en-US" altLang="ja-JP" sz="1200" b="0" dirty="0" err="1"/>
                        <a:t>max.print</a:t>
                      </a:r>
                      <a:endParaRPr kumimoji="1" lang="ja-JP" altLang="en-US" sz="1200" b="0" dirty="0"/>
                    </a:p>
                  </a:txBody>
                  <a:tcPr/>
                </a:tc>
                <a:tc>
                  <a:txBody>
                    <a:bodyPr/>
                    <a:lstStyle/>
                    <a:p>
                      <a:r>
                        <a:rPr kumimoji="1" lang="ja-JP" altLang="en-US" sz="1200" b="0" dirty="0"/>
                        <a:t>表示する最大要素数</a:t>
                      </a:r>
                    </a:p>
                  </a:txBody>
                  <a:tcPr/>
                </a:tc>
                <a:extLst>
                  <a:ext uri="{0D108BD9-81ED-4DB2-BD59-A6C34878D82A}">
                    <a16:rowId xmlns:a16="http://schemas.microsoft.com/office/drawing/2014/main" val="1483175412"/>
                  </a:ext>
                </a:extLst>
              </a:tr>
              <a:tr h="142965">
                <a:tc>
                  <a:txBody>
                    <a:bodyPr/>
                    <a:lstStyle/>
                    <a:p>
                      <a:r>
                        <a:rPr kumimoji="1" lang="en-US" altLang="ja-JP" sz="1200" b="0" dirty="0"/>
                        <a:t>warn</a:t>
                      </a:r>
                      <a:endParaRPr kumimoji="1" lang="ja-JP" altLang="en-US" sz="1200" b="0" dirty="0"/>
                    </a:p>
                  </a:txBody>
                  <a:tcPr/>
                </a:tc>
                <a:tc>
                  <a:txBody>
                    <a:bodyPr/>
                    <a:lstStyle/>
                    <a:p>
                      <a:r>
                        <a:rPr kumimoji="1" lang="en-US" altLang="ja-JP" sz="1200" b="0" dirty="0" err="1"/>
                        <a:t>Warnin</a:t>
                      </a:r>
                      <a:r>
                        <a:rPr kumimoji="1" lang="ja-JP" altLang="en-US" sz="1200" b="0" dirty="0"/>
                        <a:t>の扱い</a:t>
                      </a:r>
                    </a:p>
                  </a:txBody>
                  <a:tcPr/>
                </a:tc>
                <a:extLst>
                  <a:ext uri="{0D108BD9-81ED-4DB2-BD59-A6C34878D82A}">
                    <a16:rowId xmlns:a16="http://schemas.microsoft.com/office/drawing/2014/main" val="1776466124"/>
                  </a:ext>
                </a:extLst>
              </a:tr>
              <a:tr h="199760">
                <a:tc>
                  <a:txBody>
                    <a:bodyPr/>
                    <a:lstStyle/>
                    <a:p>
                      <a:r>
                        <a:rPr kumimoji="1" lang="en-US" altLang="ja-JP" sz="1200" b="0" dirty="0" err="1"/>
                        <a:t>stringAsFactors</a:t>
                      </a:r>
                      <a:endParaRPr kumimoji="1" lang="ja-JP" altLang="en-US" sz="1200" b="0" dirty="0"/>
                    </a:p>
                  </a:txBody>
                  <a:tcPr/>
                </a:tc>
                <a:tc>
                  <a:txBody>
                    <a:bodyPr/>
                    <a:lstStyle/>
                    <a:p>
                      <a:r>
                        <a:rPr kumimoji="1" lang="ja-JP" altLang="en-US" sz="1200" b="0" dirty="0"/>
                        <a:t>文字列を</a:t>
                      </a:r>
                      <a:r>
                        <a:rPr kumimoji="1" lang="en-US" altLang="ja-JP" sz="1200" b="0" dirty="0"/>
                        <a:t>factor</a:t>
                      </a:r>
                      <a:r>
                        <a:rPr kumimoji="1" lang="ja-JP" altLang="en-US" sz="1200" b="0" dirty="0"/>
                        <a:t>変数にするか否か</a:t>
                      </a:r>
                    </a:p>
                  </a:txBody>
                  <a:tcPr/>
                </a:tc>
                <a:extLst>
                  <a:ext uri="{0D108BD9-81ED-4DB2-BD59-A6C34878D82A}">
                    <a16:rowId xmlns:a16="http://schemas.microsoft.com/office/drawing/2014/main" val="3712030787"/>
                  </a:ext>
                </a:extLst>
              </a:tr>
              <a:tr h="199760">
                <a:tc>
                  <a:txBody>
                    <a:bodyPr/>
                    <a:lstStyle/>
                    <a:p>
                      <a:r>
                        <a:rPr kumimoji="1" lang="en-US" altLang="ja-JP" sz="1200" b="0" dirty="0" err="1"/>
                        <a:t>na.action</a:t>
                      </a:r>
                      <a:endParaRPr kumimoji="1" lang="ja-JP" altLang="en-US" sz="1200" b="0" dirty="0"/>
                    </a:p>
                  </a:txBody>
                  <a:tcPr/>
                </a:tc>
                <a:tc>
                  <a:txBody>
                    <a:bodyPr/>
                    <a:lstStyle/>
                    <a:p>
                      <a:r>
                        <a:rPr kumimoji="1" lang="ja-JP" altLang="en-US" sz="1200" b="0" dirty="0"/>
                        <a:t>欠損値の扱い</a:t>
                      </a:r>
                    </a:p>
                  </a:txBody>
                  <a:tcPr/>
                </a:tc>
                <a:extLst>
                  <a:ext uri="{0D108BD9-81ED-4DB2-BD59-A6C34878D82A}">
                    <a16:rowId xmlns:a16="http://schemas.microsoft.com/office/drawing/2014/main" val="3339332207"/>
                  </a:ext>
                </a:extLst>
              </a:tr>
              <a:tr h="199760">
                <a:tc>
                  <a:txBody>
                    <a:bodyPr/>
                    <a:lstStyle/>
                    <a:p>
                      <a:r>
                        <a:rPr kumimoji="1" lang="en-US" altLang="ja-JP" sz="1200" b="0" dirty="0"/>
                        <a:t>repos</a:t>
                      </a:r>
                      <a:endParaRPr kumimoji="1" lang="ja-JP" altLang="en-US" sz="1200" b="0" dirty="0"/>
                    </a:p>
                  </a:txBody>
                  <a:tcPr/>
                </a:tc>
                <a:tc>
                  <a:txBody>
                    <a:bodyPr/>
                    <a:lstStyle/>
                    <a:p>
                      <a:r>
                        <a:rPr kumimoji="1" lang="en-US" altLang="ja-JP" sz="1200" b="0" dirty="0"/>
                        <a:t>CRAN</a:t>
                      </a:r>
                      <a:r>
                        <a:rPr kumimoji="1" lang="ja-JP" altLang="en-US" sz="1200" b="0" dirty="0"/>
                        <a:t>ミラー</a:t>
                      </a:r>
                    </a:p>
                  </a:txBody>
                  <a:tcPr/>
                </a:tc>
                <a:extLst>
                  <a:ext uri="{0D108BD9-81ED-4DB2-BD59-A6C34878D82A}">
                    <a16:rowId xmlns:a16="http://schemas.microsoft.com/office/drawing/2014/main" val="1089065433"/>
                  </a:ext>
                </a:extLst>
              </a:tr>
              <a:tr h="199760">
                <a:tc>
                  <a:txBody>
                    <a:bodyPr/>
                    <a:lstStyle/>
                    <a:p>
                      <a:r>
                        <a:rPr kumimoji="1" lang="en-US" altLang="ja-JP" sz="1200" b="0" dirty="0"/>
                        <a:t>encoding</a:t>
                      </a:r>
                      <a:endParaRPr kumimoji="1" lang="ja-JP" altLang="en-US" sz="1200" b="0" dirty="0"/>
                    </a:p>
                  </a:txBody>
                  <a:tcPr/>
                </a:tc>
                <a:tc>
                  <a:txBody>
                    <a:bodyPr/>
                    <a:lstStyle/>
                    <a:p>
                      <a:r>
                        <a:rPr kumimoji="1" lang="ja-JP" altLang="en-US" sz="1200" b="0" dirty="0"/>
                        <a:t>文字コード</a:t>
                      </a:r>
                    </a:p>
                  </a:txBody>
                  <a:tcPr/>
                </a:tc>
                <a:extLst>
                  <a:ext uri="{0D108BD9-81ED-4DB2-BD59-A6C34878D82A}">
                    <a16:rowId xmlns:a16="http://schemas.microsoft.com/office/drawing/2014/main" val="1445234100"/>
                  </a:ext>
                </a:extLst>
              </a:tr>
            </a:tbl>
          </a:graphicData>
        </a:graphic>
      </p:graphicFrame>
      <p:graphicFrame>
        <p:nvGraphicFramePr>
          <p:cNvPr id="16" name="表 15">
            <a:extLst>
              <a:ext uri="{FF2B5EF4-FFF2-40B4-BE49-F238E27FC236}">
                <a16:creationId xmlns:a16="http://schemas.microsoft.com/office/drawing/2014/main" id="{6C9FC3AA-DEFD-D226-D6F0-B3CDAB8F0731}"/>
              </a:ext>
            </a:extLst>
          </p:cNvPr>
          <p:cNvGraphicFramePr>
            <a:graphicFrameLocks noGrp="1"/>
          </p:cNvGraphicFramePr>
          <p:nvPr>
            <p:extLst>
              <p:ext uri="{D42A27DB-BD31-4B8C-83A1-F6EECF244321}">
                <p14:modId xmlns:p14="http://schemas.microsoft.com/office/powerpoint/2010/main" val="2167655817"/>
              </p:ext>
            </p:extLst>
          </p:nvPr>
        </p:nvGraphicFramePr>
        <p:xfrm>
          <a:off x="3788096" y="3552110"/>
          <a:ext cx="2910008" cy="2651760"/>
        </p:xfrm>
        <a:graphic>
          <a:graphicData uri="http://schemas.openxmlformats.org/drawingml/2006/table">
            <a:tbl>
              <a:tblPr firstRow="1" bandRow="1">
                <a:tableStyleId>{69CF1AB2-1976-4502-BF36-3FF5EA218861}</a:tableStyleId>
              </a:tblPr>
              <a:tblGrid>
                <a:gridCol w="1049621">
                  <a:extLst>
                    <a:ext uri="{9D8B030D-6E8A-4147-A177-3AD203B41FA5}">
                      <a16:colId xmlns:a16="http://schemas.microsoft.com/office/drawing/2014/main" val="1813204329"/>
                    </a:ext>
                  </a:extLst>
                </a:gridCol>
                <a:gridCol w="1860387">
                  <a:extLst>
                    <a:ext uri="{9D8B030D-6E8A-4147-A177-3AD203B41FA5}">
                      <a16:colId xmlns:a16="http://schemas.microsoft.com/office/drawing/2014/main" val="3294670045"/>
                    </a:ext>
                  </a:extLst>
                </a:gridCol>
              </a:tblGrid>
              <a:tr h="0">
                <a:tc>
                  <a:txBody>
                    <a:bodyPr/>
                    <a:lstStyle/>
                    <a:p>
                      <a:r>
                        <a:rPr kumimoji="1" lang="en-US" altLang="ja-JP" sz="1200" b="0" dirty="0"/>
                        <a:t>API_KEY</a:t>
                      </a:r>
                      <a:endParaRPr kumimoji="1" lang="ja-JP" altLang="en-US" sz="1200" b="0" dirty="0"/>
                    </a:p>
                  </a:txBody>
                  <a:tcPr/>
                </a:tc>
                <a:tc>
                  <a:txBody>
                    <a:bodyPr/>
                    <a:lstStyle/>
                    <a:p>
                      <a:r>
                        <a:rPr kumimoji="1" lang="en-US" altLang="ja-JP" sz="1200" b="0" dirty="0"/>
                        <a:t>API</a:t>
                      </a:r>
                      <a:r>
                        <a:rPr kumimoji="1" lang="ja-JP" altLang="en-US" sz="1200" b="0" dirty="0"/>
                        <a:t>キー</a:t>
                      </a:r>
                    </a:p>
                  </a:txBody>
                  <a:tcPr/>
                </a:tc>
                <a:extLst>
                  <a:ext uri="{0D108BD9-81ED-4DB2-BD59-A6C34878D82A}">
                    <a16:rowId xmlns:a16="http://schemas.microsoft.com/office/drawing/2014/main" val="158831295"/>
                  </a:ext>
                </a:extLst>
              </a:tr>
              <a:tr h="0">
                <a:tc>
                  <a:txBody>
                    <a:bodyPr/>
                    <a:lstStyle/>
                    <a:p>
                      <a:r>
                        <a:rPr kumimoji="1" lang="en-US" altLang="ja-JP" sz="1200" b="0" dirty="0"/>
                        <a:t>PATH</a:t>
                      </a:r>
                      <a:endParaRPr kumimoji="1" lang="ja-JP" altLang="en-US" sz="1200" b="0" dirty="0"/>
                    </a:p>
                  </a:txBody>
                  <a:tcPr/>
                </a:tc>
                <a:tc>
                  <a:txBody>
                    <a:bodyPr/>
                    <a:lstStyle/>
                    <a:p>
                      <a:r>
                        <a:rPr kumimoji="1" lang="ja-JP" altLang="en-US" sz="1200" b="0" dirty="0"/>
                        <a:t>実行パス</a:t>
                      </a:r>
                    </a:p>
                  </a:txBody>
                  <a:tcPr/>
                </a:tc>
                <a:extLst>
                  <a:ext uri="{0D108BD9-81ED-4DB2-BD59-A6C34878D82A}">
                    <a16:rowId xmlns:a16="http://schemas.microsoft.com/office/drawing/2014/main" val="4179314734"/>
                  </a:ext>
                </a:extLst>
              </a:tr>
              <a:tr h="0">
                <a:tc>
                  <a:txBody>
                    <a:bodyPr/>
                    <a:lstStyle/>
                    <a:p>
                      <a:r>
                        <a:rPr kumimoji="1" lang="en-US" altLang="ja-JP" sz="1200" b="0" dirty="0"/>
                        <a:t>HOME</a:t>
                      </a:r>
                      <a:endParaRPr kumimoji="1" lang="ja-JP" altLang="en-US" sz="1200" b="0" dirty="0"/>
                    </a:p>
                  </a:txBody>
                  <a:tcPr/>
                </a:tc>
                <a:tc>
                  <a:txBody>
                    <a:bodyPr/>
                    <a:lstStyle/>
                    <a:p>
                      <a:r>
                        <a:rPr kumimoji="1" lang="ja-JP" altLang="en-US" sz="1200" b="0" dirty="0"/>
                        <a:t>ホームディレクトリ</a:t>
                      </a:r>
                    </a:p>
                  </a:txBody>
                  <a:tcPr/>
                </a:tc>
                <a:extLst>
                  <a:ext uri="{0D108BD9-81ED-4DB2-BD59-A6C34878D82A}">
                    <a16:rowId xmlns:a16="http://schemas.microsoft.com/office/drawing/2014/main" val="1545756184"/>
                  </a:ext>
                </a:extLst>
              </a:tr>
              <a:tr h="0">
                <a:tc>
                  <a:txBody>
                    <a:bodyPr/>
                    <a:lstStyle/>
                    <a:p>
                      <a:r>
                        <a:rPr kumimoji="1" lang="en-US" altLang="ja-JP" sz="1200" b="0" dirty="0"/>
                        <a:t>TMPDIR</a:t>
                      </a:r>
                      <a:endParaRPr kumimoji="1" lang="ja-JP" altLang="en-US" sz="1200" b="0" dirty="0"/>
                    </a:p>
                  </a:txBody>
                  <a:tcPr/>
                </a:tc>
                <a:tc>
                  <a:txBody>
                    <a:bodyPr/>
                    <a:lstStyle/>
                    <a:p>
                      <a:r>
                        <a:rPr kumimoji="1" lang="ja-JP" altLang="en-US" sz="1200" b="0" dirty="0"/>
                        <a:t>一時ディレクトリ</a:t>
                      </a:r>
                    </a:p>
                  </a:txBody>
                  <a:tcPr/>
                </a:tc>
                <a:extLst>
                  <a:ext uri="{0D108BD9-81ED-4DB2-BD59-A6C34878D82A}">
                    <a16:rowId xmlns:a16="http://schemas.microsoft.com/office/drawing/2014/main" val="1776466124"/>
                  </a:ext>
                </a:extLst>
              </a:tr>
              <a:tr h="0">
                <a:tc>
                  <a:txBody>
                    <a:bodyPr/>
                    <a:lstStyle/>
                    <a:p>
                      <a:r>
                        <a:rPr kumimoji="1" lang="en-US" altLang="ja-JP" sz="1200" b="0" dirty="0"/>
                        <a:t>LANG</a:t>
                      </a:r>
                      <a:endParaRPr kumimoji="1" lang="ja-JP" altLang="en-US" sz="1200" b="0" dirty="0"/>
                    </a:p>
                  </a:txBody>
                  <a:tcPr/>
                </a:tc>
                <a:tc>
                  <a:txBody>
                    <a:bodyPr/>
                    <a:lstStyle/>
                    <a:p>
                      <a:r>
                        <a:rPr kumimoji="1" lang="ja-JP" altLang="en-US" sz="1200" b="0" dirty="0"/>
                        <a:t>言語設定</a:t>
                      </a:r>
                    </a:p>
                  </a:txBody>
                  <a:tcPr/>
                </a:tc>
                <a:extLst>
                  <a:ext uri="{0D108BD9-81ED-4DB2-BD59-A6C34878D82A}">
                    <a16:rowId xmlns:a16="http://schemas.microsoft.com/office/drawing/2014/main" val="3712030787"/>
                  </a:ext>
                </a:extLst>
              </a:tr>
              <a:tr h="0">
                <a:tc>
                  <a:txBody>
                    <a:bodyPr/>
                    <a:lstStyle/>
                    <a:p>
                      <a:r>
                        <a:rPr kumimoji="1" lang="en-US" altLang="ja-JP" sz="1200" b="0" dirty="0"/>
                        <a:t>LC_ALL</a:t>
                      </a:r>
                      <a:endParaRPr kumimoji="1" lang="ja-JP" altLang="en-US" sz="1200" b="0" dirty="0"/>
                    </a:p>
                  </a:txBody>
                  <a:tcPr/>
                </a:tc>
                <a:tc>
                  <a:txBody>
                    <a:bodyPr/>
                    <a:lstStyle/>
                    <a:p>
                      <a:r>
                        <a:rPr kumimoji="1" lang="ja-JP" altLang="en-US" sz="1200" b="0" dirty="0"/>
                        <a:t>ロケール</a:t>
                      </a:r>
                    </a:p>
                  </a:txBody>
                  <a:tcPr/>
                </a:tc>
                <a:extLst>
                  <a:ext uri="{0D108BD9-81ED-4DB2-BD59-A6C34878D82A}">
                    <a16:rowId xmlns:a16="http://schemas.microsoft.com/office/drawing/2014/main" val="2215032453"/>
                  </a:ext>
                </a:extLst>
              </a:tr>
              <a:tr h="0">
                <a:tc>
                  <a:txBody>
                    <a:bodyPr/>
                    <a:lstStyle/>
                    <a:p>
                      <a:r>
                        <a:rPr kumimoji="1" lang="en-US" altLang="ja-JP" sz="1200" b="0" dirty="0"/>
                        <a:t>LC_TIME</a:t>
                      </a:r>
                      <a:endParaRPr kumimoji="1" lang="ja-JP" altLang="en-US" sz="1200" b="0" dirty="0"/>
                    </a:p>
                  </a:txBody>
                  <a:tcPr/>
                </a:tc>
                <a:tc>
                  <a:txBody>
                    <a:bodyPr/>
                    <a:lstStyle/>
                    <a:p>
                      <a:r>
                        <a:rPr kumimoji="1" lang="ja-JP" altLang="en-US" sz="1200" b="0" dirty="0"/>
                        <a:t>日付フォーマット</a:t>
                      </a:r>
                    </a:p>
                  </a:txBody>
                  <a:tcPr/>
                </a:tc>
                <a:extLst>
                  <a:ext uri="{0D108BD9-81ED-4DB2-BD59-A6C34878D82A}">
                    <a16:rowId xmlns:a16="http://schemas.microsoft.com/office/drawing/2014/main" val="1291321014"/>
                  </a:ext>
                </a:extLst>
              </a:tr>
              <a:tr h="0">
                <a:tc>
                  <a:txBody>
                    <a:bodyPr/>
                    <a:lstStyle/>
                    <a:p>
                      <a:r>
                        <a:rPr kumimoji="1" lang="en-US" altLang="ja-JP" sz="1200" b="0" dirty="0"/>
                        <a:t>DB_HOST/</a:t>
                      </a:r>
                      <a:br>
                        <a:rPr kumimoji="1" lang="en-US" altLang="ja-JP" sz="1200" b="0" dirty="0"/>
                      </a:br>
                      <a:r>
                        <a:rPr kumimoji="1" lang="en-US" altLang="ja-JP" sz="1200" b="0" dirty="0"/>
                        <a:t>DB_USER</a:t>
                      </a:r>
                      <a:endParaRPr kumimoji="1" lang="ja-JP" altLang="en-US" sz="1200" b="0" dirty="0"/>
                    </a:p>
                  </a:txBody>
                  <a:tcPr/>
                </a:tc>
                <a:tc>
                  <a:txBody>
                    <a:bodyPr/>
                    <a:lstStyle/>
                    <a:p>
                      <a:r>
                        <a:rPr kumimoji="1" lang="en-US" altLang="ja-JP" sz="1200" b="0" dirty="0"/>
                        <a:t>DB</a:t>
                      </a:r>
                      <a:r>
                        <a:rPr kumimoji="1" lang="ja-JP" altLang="en-US" sz="1200" b="0" dirty="0"/>
                        <a:t>接続関連</a:t>
                      </a:r>
                    </a:p>
                  </a:txBody>
                  <a:tcPr/>
                </a:tc>
                <a:extLst>
                  <a:ext uri="{0D108BD9-81ED-4DB2-BD59-A6C34878D82A}">
                    <a16:rowId xmlns:a16="http://schemas.microsoft.com/office/drawing/2014/main" val="1300227407"/>
                  </a:ext>
                </a:extLst>
              </a:tr>
              <a:tr h="0">
                <a:tc>
                  <a:txBody>
                    <a:bodyPr/>
                    <a:lstStyle/>
                    <a:p>
                      <a:r>
                        <a:rPr lang="en-US" altLang="ja-JP" sz="1200" dirty="0" err="1"/>
                        <a:t>https_proxy</a:t>
                      </a:r>
                      <a:endParaRPr kumimoji="1" lang="ja-JP" altLang="en-US" sz="1200" b="0" dirty="0"/>
                    </a:p>
                  </a:txBody>
                  <a:tcPr/>
                </a:tc>
                <a:tc>
                  <a:txBody>
                    <a:bodyPr/>
                    <a:lstStyle/>
                    <a:p>
                      <a:r>
                        <a:rPr kumimoji="1" lang="en-US" altLang="ja-JP" sz="1200" b="0" dirty="0"/>
                        <a:t>HTTPS</a:t>
                      </a:r>
                      <a:r>
                        <a:rPr kumimoji="1" lang="ja-JP" altLang="en-US" sz="1200" b="0" dirty="0"/>
                        <a:t>プロキシ</a:t>
                      </a:r>
                    </a:p>
                  </a:txBody>
                  <a:tcPr/>
                </a:tc>
                <a:extLst>
                  <a:ext uri="{0D108BD9-81ED-4DB2-BD59-A6C34878D82A}">
                    <a16:rowId xmlns:a16="http://schemas.microsoft.com/office/drawing/2014/main" val="4058815581"/>
                  </a:ext>
                </a:extLst>
              </a:tr>
            </a:tbl>
          </a:graphicData>
        </a:graphic>
      </p:graphicFrame>
      <p:sp>
        <p:nvSpPr>
          <p:cNvPr id="19" name="テキスト ボックス 18">
            <a:extLst>
              <a:ext uri="{FF2B5EF4-FFF2-40B4-BE49-F238E27FC236}">
                <a16:creationId xmlns:a16="http://schemas.microsoft.com/office/drawing/2014/main" id="{8393A2D2-95A4-CEFA-2069-D7657B618055}"/>
              </a:ext>
            </a:extLst>
          </p:cNvPr>
          <p:cNvSpPr txBox="1"/>
          <p:nvPr/>
        </p:nvSpPr>
        <p:spPr>
          <a:xfrm>
            <a:off x="7078147" y="3429000"/>
            <a:ext cx="4460630" cy="1477328"/>
          </a:xfrm>
          <a:prstGeom prst="rect">
            <a:avLst/>
          </a:prstGeom>
          <a:noFill/>
        </p:spPr>
        <p:txBody>
          <a:bodyPr wrap="square" rtlCol="0">
            <a:spAutoFit/>
          </a:bodyPr>
          <a:lstStyle/>
          <a:p>
            <a:pPr marL="266700" indent="-266700"/>
            <a:r>
              <a:rPr lang="en-US" altLang="ja-JP" sz="1800" dirty="0">
                <a:latin typeface="+mn-ea"/>
                <a:ea typeface="+mn-ea"/>
              </a:rPr>
              <a:t>Q. Local</a:t>
            </a:r>
            <a:r>
              <a:rPr lang="ja-JP" altLang="en-US" sz="1800" dirty="0">
                <a:latin typeface="+mn-ea"/>
                <a:ea typeface="+mn-ea"/>
              </a:rPr>
              <a:t>系の関数で変更したオプションや環境はいつ戻るのか？</a:t>
            </a:r>
            <a:endParaRPr lang="en-US" altLang="ja-JP" sz="1800" dirty="0">
              <a:latin typeface="+mn-ea"/>
              <a:ea typeface="+mn-ea"/>
            </a:endParaRPr>
          </a:p>
          <a:p>
            <a:pPr marL="266700" indent="-266700"/>
            <a:endParaRPr lang="en-US" altLang="ja-JP" sz="1800" dirty="0">
              <a:latin typeface="+mn-ea"/>
              <a:ea typeface="+mn-ea"/>
            </a:endParaRPr>
          </a:p>
          <a:p>
            <a:pPr marL="266700" indent="-266700"/>
            <a:r>
              <a:rPr lang="en-US" altLang="ja-JP" sz="1800" dirty="0">
                <a:latin typeface="+mn-ea"/>
                <a:ea typeface="+mn-ea"/>
              </a:rPr>
              <a:t>A. </a:t>
            </a:r>
            <a:r>
              <a:rPr lang="ja-JP" altLang="en-US" sz="1800" dirty="0">
                <a:latin typeface="+mn-ea"/>
                <a:ea typeface="+mn-ea"/>
              </a:rPr>
              <a:t>そのテスト、または、そのコードブロックが終わった時点で戻る</a:t>
            </a:r>
          </a:p>
        </p:txBody>
      </p:sp>
      <p:sp>
        <p:nvSpPr>
          <p:cNvPr id="21" name="テキスト ボックス 20">
            <a:extLst>
              <a:ext uri="{FF2B5EF4-FFF2-40B4-BE49-F238E27FC236}">
                <a16:creationId xmlns:a16="http://schemas.microsoft.com/office/drawing/2014/main" id="{B0186A10-13A5-EA06-F424-F025B1493C98}"/>
              </a:ext>
            </a:extLst>
          </p:cNvPr>
          <p:cNvSpPr txBox="1"/>
          <p:nvPr/>
        </p:nvSpPr>
        <p:spPr>
          <a:xfrm>
            <a:off x="7320136" y="5030390"/>
            <a:ext cx="2448272" cy="1323439"/>
          </a:xfrm>
          <a:prstGeom prst="rect">
            <a:avLst/>
          </a:prstGeom>
          <a:noFill/>
          <a:ln>
            <a:solidFill>
              <a:schemeClr val="accent6"/>
            </a:solidFill>
          </a:ln>
        </p:spPr>
        <p:txBody>
          <a:bodyPr wrap="square">
            <a:spAutoFit/>
          </a:bodyPr>
          <a:lstStyle/>
          <a:p>
            <a:r>
              <a:rPr lang="ja-JP" altLang="en-US" sz="1600" dirty="0">
                <a:latin typeface="+mn-ea"/>
                <a:ea typeface="+mn-ea"/>
              </a:rPr>
              <a:t>test_that("example", {</a:t>
            </a:r>
          </a:p>
          <a:p>
            <a:r>
              <a:rPr lang="ja-JP" altLang="en-US" sz="1600" dirty="0">
                <a:latin typeface="+mn-ea"/>
                <a:ea typeface="+mn-ea"/>
              </a:rPr>
              <a:t>  local_options(digits = 3)</a:t>
            </a:r>
          </a:p>
          <a:p>
            <a:r>
              <a:rPr lang="ja-JP" altLang="en-US" sz="1600" dirty="0">
                <a:latin typeface="+mn-ea"/>
                <a:ea typeface="+mn-ea"/>
              </a:rPr>
              <a:t>    </a:t>
            </a:r>
          </a:p>
          <a:p>
            <a:r>
              <a:rPr lang="ja-JP" altLang="en-US" sz="1600" dirty="0">
                <a:latin typeface="+mn-ea"/>
                <a:ea typeface="+mn-ea"/>
              </a:rPr>
              <a:t>})</a:t>
            </a:r>
            <a:endParaRPr lang="en-US" altLang="ja-JP" sz="1600" dirty="0">
              <a:latin typeface="+mn-ea"/>
              <a:ea typeface="+mn-ea"/>
            </a:endParaRPr>
          </a:p>
          <a:p>
            <a:endParaRPr lang="ja-JP" altLang="en-US" sz="1600" dirty="0">
              <a:latin typeface="+mn-ea"/>
              <a:ea typeface="+mn-ea"/>
            </a:endParaRPr>
          </a:p>
        </p:txBody>
      </p:sp>
      <p:sp>
        <p:nvSpPr>
          <p:cNvPr id="22" name="テキスト ボックス 21">
            <a:extLst>
              <a:ext uri="{FF2B5EF4-FFF2-40B4-BE49-F238E27FC236}">
                <a16:creationId xmlns:a16="http://schemas.microsoft.com/office/drawing/2014/main" id="{87BAC42E-B6C3-E4A6-AA1F-81FC6758AC33}"/>
              </a:ext>
            </a:extLst>
          </p:cNvPr>
          <p:cNvSpPr txBox="1"/>
          <p:nvPr/>
        </p:nvSpPr>
        <p:spPr>
          <a:xfrm>
            <a:off x="7608168" y="5594275"/>
            <a:ext cx="2232248" cy="307777"/>
          </a:xfrm>
          <a:prstGeom prst="rect">
            <a:avLst/>
          </a:prstGeom>
          <a:noFill/>
        </p:spPr>
        <p:txBody>
          <a:bodyPr wrap="square" rtlCol="0">
            <a:spAutoFit/>
          </a:bodyPr>
          <a:lstStyle/>
          <a:p>
            <a:r>
              <a:rPr lang="ja-JP" altLang="en-US" sz="1400" b="1" dirty="0">
                <a:solidFill>
                  <a:srgbClr val="FF6699"/>
                </a:solidFill>
                <a:latin typeface="+mn-ea"/>
                <a:ea typeface="+mn-ea"/>
              </a:rPr>
              <a:t>← 変更状態を保持</a:t>
            </a:r>
            <a:endParaRPr lang="en-US" altLang="ja-JP" sz="1400" b="1" dirty="0">
              <a:solidFill>
                <a:srgbClr val="FF6699"/>
              </a:solidFill>
              <a:latin typeface="+mn-ea"/>
              <a:ea typeface="+mn-ea"/>
            </a:endParaRPr>
          </a:p>
        </p:txBody>
      </p:sp>
      <p:sp>
        <p:nvSpPr>
          <p:cNvPr id="23" name="テキスト ボックス 22">
            <a:extLst>
              <a:ext uri="{FF2B5EF4-FFF2-40B4-BE49-F238E27FC236}">
                <a16:creationId xmlns:a16="http://schemas.microsoft.com/office/drawing/2014/main" id="{854A9A8C-8DA5-71CF-970A-D2F54BEA24CA}"/>
              </a:ext>
            </a:extLst>
          </p:cNvPr>
          <p:cNvSpPr txBox="1"/>
          <p:nvPr/>
        </p:nvSpPr>
        <p:spPr>
          <a:xfrm>
            <a:off x="7608168" y="6004074"/>
            <a:ext cx="2232248" cy="307777"/>
          </a:xfrm>
          <a:prstGeom prst="rect">
            <a:avLst/>
          </a:prstGeom>
          <a:noFill/>
        </p:spPr>
        <p:txBody>
          <a:bodyPr wrap="square" rtlCol="0">
            <a:spAutoFit/>
          </a:bodyPr>
          <a:lstStyle/>
          <a:p>
            <a:r>
              <a:rPr lang="ja-JP" altLang="en-US" sz="1400" b="1" dirty="0">
                <a:solidFill>
                  <a:srgbClr val="FF6699"/>
                </a:solidFill>
                <a:latin typeface="+mn-ea"/>
                <a:ea typeface="+mn-ea"/>
              </a:rPr>
              <a:t>← 関数の実行終了で戻る</a:t>
            </a:r>
            <a:endParaRPr lang="en-US" altLang="ja-JP" sz="1400" b="1" dirty="0">
              <a:solidFill>
                <a:srgbClr val="FF6699"/>
              </a:solidFill>
              <a:latin typeface="+mn-ea"/>
              <a:ea typeface="+mn-ea"/>
            </a:endParaRPr>
          </a:p>
        </p:txBody>
      </p:sp>
    </p:spTree>
    <p:extLst>
      <p:ext uri="{BB962C8B-B14F-4D97-AF65-F5344CB8AC3E}">
        <p14:creationId xmlns:p14="http://schemas.microsoft.com/office/powerpoint/2010/main" val="85731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8F5948-FE0D-2746-97FD-461488F7B607}"/>
              </a:ext>
            </a:extLst>
          </p:cNvPr>
          <p:cNvSpPr>
            <a:spLocks noGrp="1"/>
          </p:cNvSpPr>
          <p:nvPr>
            <p:ph type="title"/>
          </p:nvPr>
        </p:nvSpPr>
        <p:spPr/>
        <p:txBody>
          <a:bodyPr/>
          <a:lstStyle/>
          <a:p>
            <a:r>
              <a:rPr lang="en-US" altLang="ja-JP" i="0" dirty="0" err="1"/>
              <a:t>testthat</a:t>
            </a:r>
            <a:r>
              <a:rPr lang="ja-JP" altLang="en-US" i="0" dirty="0"/>
              <a:t>の関数 </a:t>
            </a:r>
            <a:r>
              <a:rPr lang="en-US" altLang="ja-JP" i="0" dirty="0"/>
              <a:t>– </a:t>
            </a:r>
            <a:r>
              <a:rPr lang="ja-JP" altLang="en-US" i="0" dirty="0"/>
              <a:t>テストの結果を見せ方を決める関数 </a:t>
            </a:r>
            <a:r>
              <a:rPr lang="en-US" altLang="ja-JP" i="0" dirty="0"/>
              <a:t>-</a:t>
            </a:r>
            <a:endParaRPr kumimoji="1" lang="ja-JP" altLang="en-US" i="0" dirty="0"/>
          </a:p>
        </p:txBody>
      </p:sp>
      <p:sp>
        <p:nvSpPr>
          <p:cNvPr id="4" name="スライド番号プレースホルダー 3">
            <a:extLst>
              <a:ext uri="{FF2B5EF4-FFF2-40B4-BE49-F238E27FC236}">
                <a16:creationId xmlns:a16="http://schemas.microsoft.com/office/drawing/2014/main" id="{E2A10ABF-7ED1-1C08-D019-C850B740BE54}"/>
              </a:ext>
            </a:extLst>
          </p:cNvPr>
          <p:cNvSpPr>
            <a:spLocks noGrp="1"/>
          </p:cNvSpPr>
          <p:nvPr>
            <p:ph type="sldNum" sz="quarter" idx="11"/>
          </p:nvPr>
        </p:nvSpPr>
        <p:spPr>
          <a:xfrm>
            <a:off x="11552162" y="6568213"/>
            <a:ext cx="547044" cy="280659"/>
          </a:xfrm>
        </p:spPr>
        <p:txBody>
          <a:bodyPr/>
          <a:lstStyle/>
          <a:p>
            <a:fld id="{23B20E4E-3F95-4221-AFE5-FD1FD9CC3448}" type="slidenum">
              <a:rPr lang="en-US" altLang="ja-JP" smtClean="0"/>
              <a:pPr/>
              <a:t>14</a:t>
            </a:fld>
            <a:endParaRPr lang="en-US" altLang="ja-JP"/>
          </a:p>
        </p:txBody>
      </p:sp>
      <p:sp>
        <p:nvSpPr>
          <p:cNvPr id="13" name="コンテンツ プレースホルダー 12">
            <a:extLst>
              <a:ext uri="{FF2B5EF4-FFF2-40B4-BE49-F238E27FC236}">
                <a16:creationId xmlns:a16="http://schemas.microsoft.com/office/drawing/2014/main" id="{9EE5D7BF-218C-8A99-71BA-09AB0819B3FC}"/>
              </a:ext>
            </a:extLst>
          </p:cNvPr>
          <p:cNvSpPr txBox="1">
            <a:spLocks noGrp="1"/>
          </p:cNvSpPr>
          <p:nvPr>
            <p:ph idx="1"/>
          </p:nvPr>
        </p:nvSpPr>
        <p:spPr>
          <a:xfrm>
            <a:off x="537916" y="1428662"/>
            <a:ext cx="11172825" cy="634020"/>
          </a:xfrm>
          <a:prstGeom prst="rect">
            <a:avLst/>
          </a:prstGeom>
          <a:noFill/>
        </p:spPr>
        <p:txBody>
          <a:bodyPr wrap="square">
            <a:spAutoFit/>
          </a:bodyPr>
          <a:lstStyle/>
          <a:p>
            <a:r>
              <a:rPr lang="ja-JP" altLang="en-US" sz="1600" b="1" dirty="0">
                <a:latin typeface="+mn-ea"/>
              </a:rPr>
              <a:t>● </a:t>
            </a:r>
            <a:r>
              <a:rPr lang="en-US" altLang="ja-JP" sz="1600" b="1" dirty="0" err="1">
                <a:latin typeface="+mn-ea"/>
              </a:rPr>
              <a:t>ProgressReporter</a:t>
            </a:r>
            <a:endParaRPr lang="en-US" altLang="ja-JP" sz="1600" b="1" dirty="0">
              <a:latin typeface="+mn-ea"/>
            </a:endParaRPr>
          </a:p>
          <a:p>
            <a:r>
              <a:rPr lang="en-US" altLang="ja-JP" sz="1600" i="1" dirty="0" err="1">
                <a:highlight>
                  <a:srgbClr val="99FF99"/>
                </a:highlight>
                <a:latin typeface="+mn-ea"/>
              </a:rPr>
              <a:t>testthat</a:t>
            </a:r>
            <a:r>
              <a:rPr lang="en-US" altLang="ja-JP" sz="1600" i="1" dirty="0">
                <a:highlight>
                  <a:srgbClr val="99FF99"/>
                </a:highlight>
                <a:latin typeface="+mn-ea"/>
              </a:rPr>
              <a:t>::</a:t>
            </a:r>
            <a:r>
              <a:rPr lang="en-US" altLang="ja-JP" sz="1600" i="1" dirty="0" err="1">
                <a:highlight>
                  <a:srgbClr val="99FF99"/>
                </a:highlight>
                <a:latin typeface="+mn-ea"/>
              </a:rPr>
              <a:t>ProgressReporter$new</a:t>
            </a:r>
            <a:r>
              <a:rPr lang="en-US" altLang="ja-JP" sz="1600" i="1" dirty="0">
                <a:highlight>
                  <a:srgbClr val="99FF99"/>
                </a:highlight>
                <a:latin typeface="+mn-ea"/>
              </a:rPr>
              <a:t>()</a:t>
            </a:r>
          </a:p>
        </p:txBody>
      </p:sp>
      <p:sp>
        <p:nvSpPr>
          <p:cNvPr id="10" name="テキスト ボックス 9">
            <a:extLst>
              <a:ext uri="{FF2B5EF4-FFF2-40B4-BE49-F238E27FC236}">
                <a16:creationId xmlns:a16="http://schemas.microsoft.com/office/drawing/2014/main" id="{9C3C8623-329F-3B82-05F2-27CB92B6DE8D}"/>
              </a:ext>
            </a:extLst>
          </p:cNvPr>
          <p:cNvSpPr txBox="1"/>
          <p:nvPr/>
        </p:nvSpPr>
        <p:spPr>
          <a:xfrm>
            <a:off x="4394816" y="1438705"/>
            <a:ext cx="6096000" cy="584775"/>
          </a:xfrm>
          <a:prstGeom prst="rect">
            <a:avLst/>
          </a:prstGeom>
          <a:noFill/>
        </p:spPr>
        <p:txBody>
          <a:bodyPr wrap="square">
            <a:spAutoFit/>
          </a:bodyPr>
          <a:lstStyle/>
          <a:p>
            <a:r>
              <a:rPr lang="ja-JP" altLang="en-US" sz="1600" b="1" dirty="0">
                <a:latin typeface="+mn-ea"/>
              </a:rPr>
              <a:t>● </a:t>
            </a:r>
            <a:r>
              <a:rPr lang="en-US" altLang="ja-JP" sz="1600" b="1" dirty="0" err="1">
                <a:latin typeface="+mn-ea"/>
                <a:ea typeface="+mn-ea"/>
              </a:rPr>
              <a:t>JunitReporter</a:t>
            </a:r>
            <a:endParaRPr lang="en-US" altLang="ja-JP" sz="1600" b="1" dirty="0">
              <a:latin typeface="+mn-ea"/>
              <a:ea typeface="+mn-ea"/>
            </a:endParaRPr>
          </a:p>
          <a:p>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a:t>
            </a:r>
            <a:r>
              <a:rPr lang="en-US" altLang="ja-JP" sz="1600" i="1" dirty="0" err="1">
                <a:highlight>
                  <a:srgbClr val="99FF99"/>
                </a:highlight>
                <a:latin typeface="+mn-ea"/>
                <a:ea typeface="+mn-ea"/>
              </a:rPr>
              <a:t>JunitReporter$new</a:t>
            </a:r>
            <a:r>
              <a:rPr lang="en-US" altLang="ja-JP" sz="1600" i="1" dirty="0">
                <a:highlight>
                  <a:srgbClr val="99FF99"/>
                </a:highlight>
                <a:latin typeface="+mn-ea"/>
                <a:ea typeface="+mn-ea"/>
              </a:rPr>
              <a:t>(file = “</a:t>
            </a:r>
            <a:r>
              <a:rPr lang="ja-JP" altLang="en-US" sz="1600" i="1" dirty="0">
                <a:highlight>
                  <a:srgbClr val="99FF99"/>
                </a:highlight>
                <a:latin typeface="+mn-ea"/>
                <a:ea typeface="+mn-ea"/>
              </a:rPr>
              <a:t>ファイル名</a:t>
            </a:r>
            <a:r>
              <a:rPr lang="en-US" altLang="ja-JP" sz="1600" i="1" dirty="0">
                <a:highlight>
                  <a:srgbClr val="99FF99"/>
                </a:highlight>
                <a:latin typeface="+mn-ea"/>
                <a:ea typeface="+mn-ea"/>
              </a:rPr>
              <a:t>”)</a:t>
            </a:r>
            <a:endParaRPr lang="ja-JP" altLang="en-US" sz="1600" i="1" dirty="0">
              <a:highlight>
                <a:srgbClr val="99FF99"/>
              </a:highlight>
              <a:latin typeface="+mn-ea"/>
              <a:ea typeface="+mn-ea"/>
            </a:endParaRPr>
          </a:p>
        </p:txBody>
      </p:sp>
      <p:pic>
        <p:nvPicPr>
          <p:cNvPr id="12" name="図 11" descr="テキスト&#10;&#10;AI 生成コンテンツは誤りを含む可能性があります。">
            <a:extLst>
              <a:ext uri="{FF2B5EF4-FFF2-40B4-BE49-F238E27FC236}">
                <a16:creationId xmlns:a16="http://schemas.microsoft.com/office/drawing/2014/main" id="{D5727423-3951-B319-DB48-01628CDE6DE3}"/>
              </a:ext>
            </a:extLst>
          </p:cNvPr>
          <p:cNvPicPr>
            <a:picLocks noChangeAspect="1"/>
          </p:cNvPicPr>
          <p:nvPr/>
        </p:nvPicPr>
        <p:blipFill>
          <a:blip r:embed="rId2"/>
          <a:stretch>
            <a:fillRect/>
          </a:stretch>
        </p:blipFill>
        <p:spPr>
          <a:xfrm>
            <a:off x="741531" y="2127733"/>
            <a:ext cx="2520280" cy="1567849"/>
          </a:xfrm>
          <a:prstGeom prst="rect">
            <a:avLst/>
          </a:prstGeom>
          <a:ln>
            <a:solidFill>
              <a:schemeClr val="accent6">
                <a:lumMod val="60000"/>
                <a:lumOff val="40000"/>
              </a:schemeClr>
            </a:solidFill>
          </a:ln>
        </p:spPr>
      </p:pic>
      <p:sp>
        <p:nvSpPr>
          <p:cNvPr id="16" name="コンテンツ プレースホルダー 12">
            <a:extLst>
              <a:ext uri="{FF2B5EF4-FFF2-40B4-BE49-F238E27FC236}">
                <a16:creationId xmlns:a16="http://schemas.microsoft.com/office/drawing/2014/main" id="{35C04729-F9F7-FFE8-C30A-B2262B2D94B0}"/>
              </a:ext>
            </a:extLst>
          </p:cNvPr>
          <p:cNvSpPr txBox="1">
            <a:spLocks/>
          </p:cNvSpPr>
          <p:nvPr/>
        </p:nvSpPr>
        <p:spPr bwMode="auto">
          <a:xfrm>
            <a:off x="537916" y="3664500"/>
            <a:ext cx="3909165" cy="63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r>
              <a:rPr lang="ja-JP" altLang="en-US" sz="1600" b="1" dirty="0">
                <a:latin typeface="+mn-ea"/>
              </a:rPr>
              <a:t>● </a:t>
            </a:r>
            <a:r>
              <a:rPr lang="en-US" altLang="ja-JP" sz="1600" b="1" kern="0" dirty="0">
                <a:latin typeface="+mn-ea"/>
              </a:rPr>
              <a:t>SummaryReporter</a:t>
            </a:r>
          </a:p>
          <a:p>
            <a:r>
              <a:rPr lang="en-US" altLang="ja-JP" sz="1600" i="1" kern="0" dirty="0" err="1">
                <a:highlight>
                  <a:srgbClr val="99FF99"/>
                </a:highlight>
                <a:latin typeface="+mn-ea"/>
              </a:rPr>
              <a:t>testthat</a:t>
            </a:r>
            <a:r>
              <a:rPr lang="en-US" altLang="ja-JP" sz="1600" i="1" kern="0" dirty="0">
                <a:highlight>
                  <a:srgbClr val="99FF99"/>
                </a:highlight>
                <a:latin typeface="+mn-ea"/>
              </a:rPr>
              <a:t>::</a:t>
            </a:r>
            <a:r>
              <a:rPr lang="en-US" altLang="ja-JP" sz="1600" i="1" kern="0" dirty="0" err="1">
                <a:highlight>
                  <a:srgbClr val="99FF99"/>
                </a:highlight>
                <a:latin typeface="+mn-ea"/>
              </a:rPr>
              <a:t>SummaryReporter$new</a:t>
            </a:r>
            <a:endParaRPr lang="en-US" altLang="ja-JP" sz="1600" i="1" kern="0" dirty="0">
              <a:highlight>
                <a:srgbClr val="99FF99"/>
              </a:highlight>
              <a:latin typeface="+mn-ea"/>
            </a:endParaRPr>
          </a:p>
        </p:txBody>
      </p:sp>
      <p:sp>
        <p:nvSpPr>
          <p:cNvPr id="18" name="テキスト ボックス 17">
            <a:extLst>
              <a:ext uri="{FF2B5EF4-FFF2-40B4-BE49-F238E27FC236}">
                <a16:creationId xmlns:a16="http://schemas.microsoft.com/office/drawing/2014/main" id="{1D42F76D-B056-4291-E747-193B64386615}"/>
              </a:ext>
            </a:extLst>
          </p:cNvPr>
          <p:cNvSpPr txBox="1"/>
          <p:nvPr/>
        </p:nvSpPr>
        <p:spPr>
          <a:xfrm>
            <a:off x="4447081" y="5448629"/>
            <a:ext cx="6634650" cy="1569660"/>
          </a:xfrm>
          <a:prstGeom prst="rect">
            <a:avLst/>
          </a:prstGeom>
          <a:noFill/>
        </p:spPr>
        <p:txBody>
          <a:bodyPr wrap="square">
            <a:spAutoFit/>
          </a:bodyPr>
          <a:lstStyle/>
          <a:p>
            <a:r>
              <a:rPr lang="ja-JP" altLang="en-US" sz="1600" dirty="0">
                <a:latin typeface="+mn-ea"/>
                <a:ea typeface="+mn-ea"/>
              </a:rPr>
              <a:t>●MultiReporter </a:t>
            </a:r>
            <a:endParaRPr lang="en-US" altLang="ja-JP" sz="1600" dirty="0">
              <a:latin typeface="+mn-ea"/>
              <a:ea typeface="+mn-ea"/>
            </a:endParaRPr>
          </a:p>
          <a:p>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a:t>
            </a:r>
            <a:r>
              <a:rPr lang="en-US" altLang="ja-JP" sz="1600" i="1" dirty="0" err="1">
                <a:highlight>
                  <a:srgbClr val="99FF99"/>
                </a:highlight>
                <a:latin typeface="+mn-ea"/>
                <a:ea typeface="+mn-ea"/>
              </a:rPr>
              <a:t>MultiReporter$new</a:t>
            </a:r>
            <a:r>
              <a:rPr lang="en-US" altLang="ja-JP" sz="1600" i="1" dirty="0">
                <a:highlight>
                  <a:srgbClr val="99FF99"/>
                </a:highlight>
                <a:latin typeface="+mn-ea"/>
                <a:ea typeface="+mn-ea"/>
              </a:rPr>
              <a:t>(list(</a:t>
            </a:r>
          </a:p>
          <a:p>
            <a:r>
              <a:rPr lang="ja-JP" altLang="en-US" sz="1600" i="1" dirty="0">
                <a:highlight>
                  <a:srgbClr val="99FF99"/>
                </a:highlight>
                <a:latin typeface="+mn-ea"/>
                <a:ea typeface="+mn-ea"/>
              </a:rPr>
              <a:t>　　</a:t>
            </a:r>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a:t>
            </a:r>
            <a:r>
              <a:rPr lang="en-US" altLang="ja-JP" sz="1600" i="1" dirty="0" err="1">
                <a:highlight>
                  <a:srgbClr val="99FF99"/>
                </a:highlight>
                <a:latin typeface="+mn-ea"/>
                <a:ea typeface="+mn-ea"/>
              </a:rPr>
              <a:t>ProgressReporter$new</a:t>
            </a:r>
            <a:r>
              <a:rPr lang="en-US" altLang="ja-JP" sz="1600" i="1" dirty="0">
                <a:highlight>
                  <a:srgbClr val="99FF99"/>
                </a:highlight>
                <a:latin typeface="+mn-ea"/>
                <a:ea typeface="+mn-ea"/>
              </a:rPr>
              <a:t>(),  </a:t>
            </a:r>
          </a:p>
          <a:p>
            <a:r>
              <a:rPr lang="ja-JP" altLang="en-US" sz="1600" i="1" dirty="0">
                <a:highlight>
                  <a:srgbClr val="99FF99"/>
                </a:highlight>
                <a:latin typeface="+mn-ea"/>
                <a:ea typeface="+mn-ea"/>
              </a:rPr>
              <a:t>　　</a:t>
            </a:r>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a:t>
            </a:r>
            <a:r>
              <a:rPr lang="en-US" altLang="ja-JP" sz="1600" i="1" dirty="0" err="1">
                <a:highlight>
                  <a:srgbClr val="99FF99"/>
                </a:highlight>
                <a:latin typeface="+mn-ea"/>
                <a:ea typeface="+mn-ea"/>
              </a:rPr>
              <a:t>JunitReporter$new</a:t>
            </a:r>
            <a:r>
              <a:rPr lang="en-US" altLang="ja-JP" sz="1600" i="1" dirty="0">
                <a:highlight>
                  <a:srgbClr val="99FF99"/>
                </a:highlight>
                <a:latin typeface="+mn-ea"/>
                <a:ea typeface="+mn-ea"/>
              </a:rPr>
              <a:t>(file = </a:t>
            </a:r>
            <a:r>
              <a:rPr lang="ja-JP" altLang="en-US" sz="1600" i="1" dirty="0">
                <a:highlight>
                  <a:srgbClr val="99FF99"/>
                </a:highlight>
                <a:latin typeface="+mn-ea"/>
                <a:ea typeface="+mn-ea"/>
              </a:rPr>
              <a:t>“ファイル名”</a:t>
            </a:r>
            <a:r>
              <a:rPr lang="en-US" altLang="ja-JP" sz="1600" i="1" dirty="0">
                <a:highlight>
                  <a:srgbClr val="99FF99"/>
                </a:highlight>
                <a:latin typeface="+mn-ea"/>
                <a:ea typeface="+mn-ea"/>
              </a:rPr>
              <a:t>)</a:t>
            </a:r>
          </a:p>
          <a:p>
            <a:r>
              <a:rPr lang="en-US" altLang="ja-JP" sz="1600" i="1" dirty="0">
                <a:highlight>
                  <a:srgbClr val="99FF99"/>
                </a:highlight>
                <a:latin typeface="+mn-ea"/>
                <a:ea typeface="+mn-ea"/>
              </a:rPr>
              <a:t>))</a:t>
            </a:r>
          </a:p>
          <a:p>
            <a:endParaRPr lang="en-US" altLang="ja-JP" sz="1600" dirty="0">
              <a:latin typeface="+mn-ea"/>
              <a:ea typeface="+mn-ea"/>
            </a:endParaRPr>
          </a:p>
        </p:txBody>
      </p:sp>
      <p:pic>
        <p:nvPicPr>
          <p:cNvPr id="15" name="図 14" descr="テーブル&#10;&#10;AI 生成コンテンツは誤りを含む可能性があります。">
            <a:extLst>
              <a:ext uri="{FF2B5EF4-FFF2-40B4-BE49-F238E27FC236}">
                <a16:creationId xmlns:a16="http://schemas.microsoft.com/office/drawing/2014/main" id="{B1C88F2B-3FC8-8FE3-3A02-F0ED179ADCB5}"/>
              </a:ext>
            </a:extLst>
          </p:cNvPr>
          <p:cNvPicPr>
            <a:picLocks noChangeAspect="1"/>
          </p:cNvPicPr>
          <p:nvPr/>
        </p:nvPicPr>
        <p:blipFill>
          <a:blip r:embed="rId3"/>
          <a:stretch>
            <a:fillRect/>
          </a:stretch>
        </p:blipFill>
        <p:spPr>
          <a:xfrm>
            <a:off x="846104" y="4370405"/>
            <a:ext cx="1825869" cy="2070113"/>
          </a:xfrm>
          <a:prstGeom prst="rect">
            <a:avLst/>
          </a:prstGeom>
          <a:ln>
            <a:solidFill>
              <a:schemeClr val="accent6">
                <a:lumMod val="60000"/>
                <a:lumOff val="40000"/>
              </a:schemeClr>
            </a:solidFill>
          </a:ln>
        </p:spPr>
      </p:pic>
      <p:pic>
        <p:nvPicPr>
          <p:cNvPr id="24" name="図 23" descr="テキスト&#10;&#10;AI 生成コンテンツは誤りを含む可能性があります。">
            <a:extLst>
              <a:ext uri="{FF2B5EF4-FFF2-40B4-BE49-F238E27FC236}">
                <a16:creationId xmlns:a16="http://schemas.microsoft.com/office/drawing/2014/main" id="{210FCD42-1EDC-0738-05F4-B26C2F4DAFD9}"/>
              </a:ext>
            </a:extLst>
          </p:cNvPr>
          <p:cNvPicPr>
            <a:picLocks noChangeAspect="1"/>
          </p:cNvPicPr>
          <p:nvPr/>
        </p:nvPicPr>
        <p:blipFill>
          <a:blip r:embed="rId4"/>
          <a:stretch>
            <a:fillRect/>
          </a:stretch>
        </p:blipFill>
        <p:spPr>
          <a:xfrm>
            <a:off x="4511824" y="2114311"/>
            <a:ext cx="7603560" cy="1581271"/>
          </a:xfrm>
          <a:prstGeom prst="rect">
            <a:avLst/>
          </a:prstGeom>
          <a:ln>
            <a:solidFill>
              <a:schemeClr val="accent6">
                <a:lumMod val="60000"/>
                <a:lumOff val="40000"/>
              </a:schemeClr>
            </a:solidFill>
          </a:ln>
        </p:spPr>
      </p:pic>
      <p:pic>
        <p:nvPicPr>
          <p:cNvPr id="26" name="図 25" descr="グラフィカル ユーザー インターフェイス, アプリケーション&#10;&#10;AI 生成コンテンツは誤りを含む可能性があります。">
            <a:extLst>
              <a:ext uri="{FF2B5EF4-FFF2-40B4-BE49-F238E27FC236}">
                <a16:creationId xmlns:a16="http://schemas.microsoft.com/office/drawing/2014/main" id="{8D42F242-20D0-4A58-346B-AD1AB83D3F6D}"/>
              </a:ext>
            </a:extLst>
          </p:cNvPr>
          <p:cNvPicPr>
            <a:picLocks noChangeAspect="1"/>
          </p:cNvPicPr>
          <p:nvPr/>
        </p:nvPicPr>
        <p:blipFill>
          <a:blip r:embed="rId5"/>
          <a:stretch>
            <a:fillRect/>
          </a:stretch>
        </p:blipFill>
        <p:spPr>
          <a:xfrm>
            <a:off x="4511824" y="4195263"/>
            <a:ext cx="3256041" cy="1291124"/>
          </a:xfrm>
          <a:prstGeom prst="rect">
            <a:avLst/>
          </a:prstGeom>
        </p:spPr>
      </p:pic>
      <p:pic>
        <p:nvPicPr>
          <p:cNvPr id="28" name="図 27" descr="グラフィカル ユーザー インターフェイス, アプリケーション, テーブル, Excel&#10;&#10;AI 生成コンテンツは誤りを含む可能性があります。">
            <a:extLst>
              <a:ext uri="{FF2B5EF4-FFF2-40B4-BE49-F238E27FC236}">
                <a16:creationId xmlns:a16="http://schemas.microsoft.com/office/drawing/2014/main" id="{1F53F1E4-0802-CBA6-2B50-C93C1747C664}"/>
              </a:ext>
            </a:extLst>
          </p:cNvPr>
          <p:cNvPicPr>
            <a:picLocks noChangeAspect="1"/>
          </p:cNvPicPr>
          <p:nvPr/>
        </p:nvPicPr>
        <p:blipFill>
          <a:blip r:embed="rId6"/>
          <a:stretch>
            <a:fillRect/>
          </a:stretch>
        </p:blipFill>
        <p:spPr>
          <a:xfrm>
            <a:off x="7957291" y="4195263"/>
            <a:ext cx="3893180" cy="1210639"/>
          </a:xfrm>
          <a:prstGeom prst="rect">
            <a:avLst/>
          </a:prstGeom>
        </p:spPr>
      </p:pic>
      <p:sp>
        <p:nvSpPr>
          <p:cNvPr id="29" name="矢印: 下 28">
            <a:extLst>
              <a:ext uri="{FF2B5EF4-FFF2-40B4-BE49-F238E27FC236}">
                <a16:creationId xmlns:a16="http://schemas.microsoft.com/office/drawing/2014/main" id="{227BD394-99EA-A5B2-A52F-A45B04567CAD}"/>
              </a:ext>
            </a:extLst>
          </p:cNvPr>
          <p:cNvSpPr/>
          <p:nvPr/>
        </p:nvSpPr>
        <p:spPr>
          <a:xfrm>
            <a:off x="6299443" y="3793780"/>
            <a:ext cx="1008112" cy="3385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30" name="テキスト ボックス 29">
            <a:extLst>
              <a:ext uri="{FF2B5EF4-FFF2-40B4-BE49-F238E27FC236}">
                <a16:creationId xmlns:a16="http://schemas.microsoft.com/office/drawing/2014/main" id="{33FFC7C0-CED1-0F44-AB9B-E62CA6286C37}"/>
              </a:ext>
            </a:extLst>
          </p:cNvPr>
          <p:cNvSpPr txBox="1"/>
          <p:nvPr/>
        </p:nvSpPr>
        <p:spPr>
          <a:xfrm>
            <a:off x="7505744" y="3755762"/>
            <a:ext cx="3523722" cy="338554"/>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r>
              <a:rPr lang="en-US" altLang="ja-JP" sz="1600" dirty="0">
                <a:latin typeface="+mn-ea"/>
              </a:rPr>
              <a:t>R</a:t>
            </a:r>
            <a:r>
              <a:rPr lang="ja-JP" altLang="en-US" sz="1600" dirty="0">
                <a:latin typeface="+mn-ea"/>
              </a:rPr>
              <a:t>のスクリプトで</a:t>
            </a:r>
            <a:r>
              <a:rPr kumimoji="1" lang="ja-JP" altLang="en-US" sz="1600" dirty="0">
                <a:latin typeface="+mn-ea"/>
              </a:rPr>
              <a:t>見やすくすることも可能</a:t>
            </a:r>
          </a:p>
        </p:txBody>
      </p:sp>
      <p:sp>
        <p:nvSpPr>
          <p:cNvPr id="33" name="テキスト ボックス 32">
            <a:extLst>
              <a:ext uri="{FF2B5EF4-FFF2-40B4-BE49-F238E27FC236}">
                <a16:creationId xmlns:a16="http://schemas.microsoft.com/office/drawing/2014/main" id="{7EE339C2-DA3F-3914-1E79-1645203115C5}"/>
              </a:ext>
            </a:extLst>
          </p:cNvPr>
          <p:cNvSpPr txBox="1"/>
          <p:nvPr/>
        </p:nvSpPr>
        <p:spPr>
          <a:xfrm>
            <a:off x="505843" y="980728"/>
            <a:ext cx="1107996" cy="461665"/>
          </a:xfrm>
          <a:prstGeom prst="rect">
            <a:avLst/>
          </a:prstGeom>
          <a:noFill/>
        </p:spPr>
        <p:txBody>
          <a:bodyPr wrap="none" rtlCol="0">
            <a:spAutoFit/>
          </a:bodyPr>
          <a:lstStyle/>
          <a:p>
            <a:r>
              <a:rPr kumimoji="1" lang="ja-JP" altLang="en-US" dirty="0">
                <a:latin typeface="+mn-ea"/>
                <a:ea typeface="+mn-ea"/>
              </a:rPr>
              <a:t>代表例</a:t>
            </a:r>
          </a:p>
        </p:txBody>
      </p:sp>
      <p:sp>
        <p:nvSpPr>
          <p:cNvPr id="37" name="テキスト ボックス 36">
            <a:extLst>
              <a:ext uri="{FF2B5EF4-FFF2-40B4-BE49-F238E27FC236}">
                <a16:creationId xmlns:a16="http://schemas.microsoft.com/office/drawing/2014/main" id="{A52454ED-2B7F-AC9E-DD2E-B9D04F8A79CE}"/>
              </a:ext>
            </a:extLst>
          </p:cNvPr>
          <p:cNvSpPr txBox="1"/>
          <p:nvPr/>
        </p:nvSpPr>
        <p:spPr>
          <a:xfrm>
            <a:off x="8093497" y="1079510"/>
            <a:ext cx="4098503" cy="584775"/>
          </a:xfrm>
          <a:prstGeom prst="rect">
            <a:avLst/>
          </a:prstGeom>
          <a:solidFill>
            <a:srgbClr val="FF6699"/>
          </a:solidFill>
        </p:spPr>
        <p:style>
          <a:lnRef idx="1">
            <a:schemeClr val="accent5"/>
          </a:lnRef>
          <a:fillRef idx="2">
            <a:schemeClr val="accent5"/>
          </a:fillRef>
          <a:effectRef idx="1">
            <a:schemeClr val="accent5"/>
          </a:effectRef>
          <a:fontRef idx="minor">
            <a:schemeClr val="dk1"/>
          </a:fontRef>
        </p:style>
        <p:txBody>
          <a:bodyPr wrap="square">
            <a:spAutoFit/>
          </a:bodyPr>
          <a:lstStyle/>
          <a:p>
            <a:r>
              <a:rPr lang="en-US" altLang="ja-JP" sz="1600" dirty="0">
                <a:solidFill>
                  <a:schemeClr val="bg1"/>
                </a:solidFill>
                <a:latin typeface="+mn-ea"/>
                <a:ea typeface="+mn-ea"/>
              </a:rPr>
              <a:t>Junit</a:t>
            </a:r>
            <a:r>
              <a:rPr lang="ja-JP" altLang="en-US" sz="1600" dirty="0">
                <a:solidFill>
                  <a:schemeClr val="bg1"/>
                </a:solidFill>
                <a:latin typeface="+mn-ea"/>
                <a:ea typeface="+mn-ea"/>
              </a:rPr>
              <a:t>形式は</a:t>
            </a:r>
            <a:r>
              <a:rPr lang="en-US" altLang="ja-JP" sz="1600" dirty="0">
                <a:solidFill>
                  <a:schemeClr val="bg1"/>
                </a:solidFill>
                <a:latin typeface="+mn-ea"/>
                <a:ea typeface="+mn-ea"/>
              </a:rPr>
              <a:t>Warning</a:t>
            </a:r>
            <a:r>
              <a:rPr lang="ja-JP" altLang="en-US" sz="1600" dirty="0">
                <a:solidFill>
                  <a:schemeClr val="bg1"/>
                </a:solidFill>
                <a:latin typeface="+mn-ea"/>
                <a:ea typeface="+mn-ea"/>
              </a:rPr>
              <a:t>の概念がないので注意</a:t>
            </a:r>
            <a:endParaRPr lang="en-US" altLang="ja-JP" sz="1600" dirty="0">
              <a:solidFill>
                <a:schemeClr val="bg1"/>
              </a:solidFill>
              <a:latin typeface="+mn-ea"/>
              <a:ea typeface="+mn-ea"/>
            </a:endParaRPr>
          </a:p>
          <a:p>
            <a:r>
              <a:rPr lang="en-US" altLang="ja-JP" sz="1600" dirty="0" err="1">
                <a:solidFill>
                  <a:schemeClr val="bg1"/>
                </a:solidFill>
                <a:latin typeface="+mn-ea"/>
                <a:ea typeface="+mn-ea"/>
              </a:rPr>
              <a:t>expect_no_warning</a:t>
            </a:r>
            <a:r>
              <a:rPr lang="ja-JP" altLang="en-US" sz="1600" dirty="0">
                <a:solidFill>
                  <a:schemeClr val="bg1"/>
                </a:solidFill>
                <a:latin typeface="+mn-ea"/>
                <a:ea typeface="+mn-ea"/>
              </a:rPr>
              <a:t>を用いる等で対策は可能</a:t>
            </a:r>
          </a:p>
        </p:txBody>
      </p:sp>
      <p:sp>
        <p:nvSpPr>
          <p:cNvPr id="3" name="テキスト ボックス 2">
            <a:extLst>
              <a:ext uri="{FF2B5EF4-FFF2-40B4-BE49-F238E27FC236}">
                <a16:creationId xmlns:a16="http://schemas.microsoft.com/office/drawing/2014/main" id="{CA730F99-1F2B-2AD8-B1B0-01C474D7DBA9}"/>
              </a:ext>
            </a:extLst>
          </p:cNvPr>
          <p:cNvSpPr txBox="1"/>
          <p:nvPr/>
        </p:nvSpPr>
        <p:spPr>
          <a:xfrm>
            <a:off x="8093497" y="5742660"/>
            <a:ext cx="1620957" cy="338554"/>
          </a:xfrm>
          <a:prstGeom prst="rect">
            <a:avLst/>
          </a:prstGeom>
        </p:spPr>
        <p:style>
          <a:lnRef idx="1">
            <a:schemeClr val="accent6"/>
          </a:lnRef>
          <a:fillRef idx="3">
            <a:schemeClr val="accent6"/>
          </a:fillRef>
          <a:effectRef idx="2">
            <a:schemeClr val="accent6"/>
          </a:effectRef>
          <a:fontRef idx="minor">
            <a:schemeClr val="lt1"/>
          </a:fontRef>
        </p:style>
        <p:txBody>
          <a:bodyPr wrap="none" rtlCol="0">
            <a:spAutoFit/>
          </a:bodyPr>
          <a:lstStyle/>
          <a:p>
            <a:r>
              <a:rPr kumimoji="1" lang="ja-JP" altLang="en-US" sz="1600" dirty="0">
                <a:latin typeface="+mn-ea"/>
              </a:rPr>
              <a:t>複数指定</a:t>
            </a:r>
            <a:r>
              <a:rPr lang="ja-JP" altLang="en-US" sz="1600" dirty="0">
                <a:latin typeface="+mn-ea"/>
              </a:rPr>
              <a:t>が</a:t>
            </a:r>
            <a:r>
              <a:rPr kumimoji="1" lang="ja-JP" altLang="en-US" sz="1600" dirty="0">
                <a:latin typeface="+mn-ea"/>
              </a:rPr>
              <a:t>可能</a:t>
            </a:r>
          </a:p>
        </p:txBody>
      </p:sp>
    </p:spTree>
    <p:extLst>
      <p:ext uri="{BB962C8B-B14F-4D97-AF65-F5344CB8AC3E}">
        <p14:creationId xmlns:p14="http://schemas.microsoft.com/office/powerpoint/2010/main" val="2712418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CF88-1DA7-1B33-0B7F-766BF3EFEB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B5AEAA-8864-4C74-6DE1-6C9A1617A285}"/>
              </a:ext>
            </a:extLst>
          </p:cNvPr>
          <p:cNvSpPr>
            <a:spLocks noGrp="1"/>
          </p:cNvSpPr>
          <p:nvPr>
            <p:ph type="title"/>
          </p:nvPr>
        </p:nvSpPr>
        <p:spPr/>
        <p:txBody>
          <a:bodyPr/>
          <a:lstStyle/>
          <a:p>
            <a:r>
              <a:rPr lang="en-US" altLang="ja-JP" i="0" dirty="0" err="1"/>
              <a:t>testthat</a:t>
            </a:r>
            <a:r>
              <a:rPr lang="ja-JP" altLang="en-US" i="0" dirty="0"/>
              <a:t>の利用方法 </a:t>
            </a:r>
            <a:r>
              <a:rPr lang="en-US" altLang="ja-JP" i="0" dirty="0"/>
              <a:t>–</a:t>
            </a:r>
            <a:r>
              <a:rPr lang="ja-JP" altLang="en-US" i="0" dirty="0"/>
              <a:t> 関数の動作確認 </a:t>
            </a:r>
            <a:r>
              <a:rPr lang="en-US" altLang="ja-JP" i="0" dirty="0"/>
              <a:t>-</a:t>
            </a:r>
            <a:r>
              <a:rPr lang="ja-JP" altLang="en-US" i="0" dirty="0"/>
              <a:t> </a:t>
            </a:r>
            <a:endParaRPr kumimoji="1" lang="ja-JP" altLang="en-US" i="0" dirty="0"/>
          </a:p>
        </p:txBody>
      </p:sp>
      <p:sp>
        <p:nvSpPr>
          <p:cNvPr id="3" name="コンテンツ プレースホルダー 2">
            <a:extLst>
              <a:ext uri="{FF2B5EF4-FFF2-40B4-BE49-F238E27FC236}">
                <a16:creationId xmlns:a16="http://schemas.microsoft.com/office/drawing/2014/main" id="{72C6028C-AD61-7AEA-FAE7-59A8BAB93521}"/>
              </a:ext>
            </a:extLst>
          </p:cNvPr>
          <p:cNvSpPr>
            <a:spLocks noGrp="1"/>
          </p:cNvSpPr>
          <p:nvPr>
            <p:ph idx="1"/>
          </p:nvPr>
        </p:nvSpPr>
        <p:spPr>
          <a:xfrm>
            <a:off x="5986068" y="1150012"/>
            <a:ext cx="7644796" cy="592165"/>
          </a:xfrm>
        </p:spPr>
        <p:txBody>
          <a:bodyPr/>
          <a:lstStyle/>
          <a:p>
            <a:r>
              <a:rPr lang="ja-JP" altLang="en-US" sz="2000" b="1" dirty="0">
                <a:solidFill>
                  <a:schemeClr val="accent6"/>
                </a:solidFill>
              </a:rPr>
              <a:t>① 関数を用意する</a:t>
            </a:r>
            <a:endParaRPr lang="en-US" altLang="ja-JP" sz="2000" dirty="0"/>
          </a:p>
          <a:p>
            <a:endParaRPr lang="en-US" altLang="ja-JP" sz="2000" dirty="0"/>
          </a:p>
          <a:p>
            <a:endParaRPr lang="en-US" altLang="ja-JP" sz="2000" dirty="0"/>
          </a:p>
        </p:txBody>
      </p:sp>
      <p:sp>
        <p:nvSpPr>
          <p:cNvPr id="4" name="スライド番号プレースホルダー 3">
            <a:extLst>
              <a:ext uri="{FF2B5EF4-FFF2-40B4-BE49-F238E27FC236}">
                <a16:creationId xmlns:a16="http://schemas.microsoft.com/office/drawing/2014/main" id="{64B82460-3967-D529-5F8B-061D3193D720}"/>
              </a:ext>
            </a:extLst>
          </p:cNvPr>
          <p:cNvSpPr>
            <a:spLocks noGrp="1"/>
          </p:cNvSpPr>
          <p:nvPr>
            <p:ph type="sldNum" sz="quarter" idx="11"/>
          </p:nvPr>
        </p:nvSpPr>
        <p:spPr/>
        <p:txBody>
          <a:bodyPr/>
          <a:lstStyle/>
          <a:p>
            <a:fld id="{23B20E4E-3F95-4221-AFE5-FD1FD9CC3448}" type="slidenum">
              <a:rPr lang="en-US" altLang="ja-JP" smtClean="0"/>
              <a:pPr/>
              <a:t>15</a:t>
            </a:fld>
            <a:endParaRPr lang="en-US" altLang="ja-JP"/>
          </a:p>
        </p:txBody>
      </p:sp>
      <p:sp>
        <p:nvSpPr>
          <p:cNvPr id="6" name="テキスト ボックス 5">
            <a:extLst>
              <a:ext uri="{FF2B5EF4-FFF2-40B4-BE49-F238E27FC236}">
                <a16:creationId xmlns:a16="http://schemas.microsoft.com/office/drawing/2014/main" id="{ACB5FC0E-0C5F-3449-5199-F3BBDB63F172}"/>
              </a:ext>
            </a:extLst>
          </p:cNvPr>
          <p:cNvSpPr txBox="1"/>
          <p:nvPr/>
        </p:nvSpPr>
        <p:spPr>
          <a:xfrm>
            <a:off x="6229557" y="1811232"/>
            <a:ext cx="3600400" cy="2062103"/>
          </a:xfrm>
          <a:prstGeom prst="rect">
            <a:avLst/>
          </a:prstGeom>
          <a:pattFill prst="pct20">
            <a:fgClr>
              <a:schemeClr val="accent6">
                <a:lumMod val="20000"/>
                <a:lumOff val="80000"/>
              </a:schemeClr>
            </a:fgClr>
            <a:bgClr>
              <a:schemeClr val="bg1"/>
            </a:bgClr>
          </a:pattFill>
        </p:spPr>
        <p:txBody>
          <a:bodyPr wrap="square">
            <a:spAutoFit/>
          </a:bodyPr>
          <a:lstStyle/>
          <a:p>
            <a:r>
              <a:rPr lang="en-US" altLang="ja-JP" sz="1600" i="1" dirty="0">
                <a:highlight>
                  <a:srgbClr val="99FF99"/>
                </a:highlight>
                <a:latin typeface="+mn-ea"/>
                <a:ea typeface="+mn-ea"/>
              </a:rPr>
              <a:t>derive_agegr1 &lt;- function(age) {</a:t>
            </a:r>
          </a:p>
          <a:p>
            <a:r>
              <a:rPr lang="en-US" altLang="ja-JP" sz="1600" i="1" dirty="0">
                <a:highlight>
                  <a:srgbClr val="99FF99"/>
                </a:highlight>
                <a:latin typeface="+mn-ea"/>
                <a:ea typeface="+mn-ea"/>
              </a:rPr>
              <a:t>  </a:t>
            </a:r>
            <a:r>
              <a:rPr lang="en-US" altLang="ja-JP" sz="1600" i="1" dirty="0" err="1">
                <a:highlight>
                  <a:srgbClr val="99FF99"/>
                </a:highlight>
                <a:latin typeface="+mn-ea"/>
                <a:ea typeface="+mn-ea"/>
              </a:rPr>
              <a:t>case_when</a:t>
            </a:r>
            <a:r>
              <a:rPr lang="en-US" altLang="ja-JP" sz="1600" i="1" dirty="0">
                <a:highlight>
                  <a:srgbClr val="99FF99"/>
                </a:highlight>
                <a:latin typeface="+mn-ea"/>
                <a:ea typeface="+mn-ea"/>
              </a:rPr>
              <a:t>(</a:t>
            </a:r>
          </a:p>
          <a:p>
            <a:r>
              <a:rPr lang="en-US" altLang="ja-JP" sz="1600" i="1" dirty="0">
                <a:highlight>
                  <a:srgbClr val="99FF99"/>
                </a:highlight>
                <a:latin typeface="+mn-ea"/>
                <a:ea typeface="+mn-ea"/>
              </a:rPr>
              <a:t>    is.na(age) ~ </a:t>
            </a:r>
            <a:r>
              <a:rPr lang="en-US" altLang="ja-JP" sz="1600" i="1" dirty="0" err="1">
                <a:highlight>
                  <a:srgbClr val="99FF99"/>
                </a:highlight>
                <a:latin typeface="+mn-ea"/>
                <a:ea typeface="+mn-ea"/>
              </a:rPr>
              <a:t>NA_character</a:t>
            </a:r>
            <a:r>
              <a:rPr lang="en-US" altLang="ja-JP" sz="1600" i="1" dirty="0">
                <a:highlight>
                  <a:srgbClr val="99FF99"/>
                </a:highlight>
                <a:latin typeface="+mn-ea"/>
                <a:ea typeface="+mn-ea"/>
              </a:rPr>
              <a:t>_,</a:t>
            </a:r>
          </a:p>
          <a:p>
            <a:r>
              <a:rPr lang="en-US" altLang="ja-JP" sz="1600" i="1" dirty="0">
                <a:highlight>
                  <a:srgbClr val="99FF99"/>
                </a:highlight>
                <a:latin typeface="+mn-ea"/>
                <a:ea typeface="+mn-ea"/>
              </a:rPr>
              <a:t>    age &lt; 40 ~ </a:t>
            </a:r>
            <a:r>
              <a:rPr lang="en-US" altLang="ja-JP" sz="1600" i="1" dirty="0">
                <a:highlight>
                  <a:srgbClr val="99FF99"/>
                </a:highlight>
                <a:latin typeface="+mn-ea"/>
              </a:rPr>
              <a:t>"&lt;</a:t>
            </a:r>
            <a:r>
              <a:rPr lang="en-US" altLang="ja-JP" sz="1600" i="1" dirty="0">
                <a:highlight>
                  <a:srgbClr val="99FF99"/>
                </a:highlight>
                <a:latin typeface="+mn-ea"/>
                <a:ea typeface="+mn-ea"/>
              </a:rPr>
              <a:t>40",</a:t>
            </a:r>
          </a:p>
          <a:p>
            <a:r>
              <a:rPr lang="en-US" altLang="ja-JP" sz="1600" i="1" dirty="0">
                <a:highlight>
                  <a:srgbClr val="99FF99"/>
                </a:highlight>
                <a:latin typeface="+mn-ea"/>
                <a:ea typeface="+mn-ea"/>
              </a:rPr>
              <a:t>    age &gt;= 40 &amp; age &lt; 65 ~ </a:t>
            </a:r>
            <a:r>
              <a:rPr lang="en-US" altLang="ja-JP" sz="1600" i="1" dirty="0">
                <a:highlight>
                  <a:srgbClr val="99FF99"/>
                </a:highlight>
                <a:latin typeface="+mn-ea"/>
              </a:rPr>
              <a:t>"</a:t>
            </a:r>
            <a:r>
              <a:rPr lang="en-US" altLang="ja-JP" sz="1600" i="1" dirty="0">
                <a:highlight>
                  <a:srgbClr val="99FF99"/>
                </a:highlight>
                <a:latin typeface="+mn-ea"/>
                <a:ea typeface="+mn-ea"/>
              </a:rPr>
              <a:t>40&lt;= &lt;65",</a:t>
            </a:r>
          </a:p>
          <a:p>
            <a:r>
              <a:rPr lang="en-US" altLang="ja-JP" sz="1600" i="1" dirty="0">
                <a:highlight>
                  <a:srgbClr val="99FF99"/>
                </a:highlight>
                <a:latin typeface="+mn-ea"/>
                <a:ea typeface="+mn-ea"/>
              </a:rPr>
              <a:t>    age &gt;= 65 ~ "&gt;=65"</a:t>
            </a:r>
          </a:p>
          <a:p>
            <a:r>
              <a:rPr lang="en-US" altLang="ja-JP" sz="1600" i="1" dirty="0">
                <a:highlight>
                  <a:srgbClr val="99FF99"/>
                </a:highlight>
                <a:latin typeface="+mn-ea"/>
                <a:ea typeface="+mn-ea"/>
              </a:rPr>
              <a:t>  )</a:t>
            </a:r>
          </a:p>
          <a:p>
            <a:r>
              <a:rPr lang="en-US" altLang="ja-JP" sz="1600" i="1" dirty="0">
                <a:highlight>
                  <a:srgbClr val="99FF99"/>
                </a:highlight>
                <a:latin typeface="+mn-ea"/>
                <a:ea typeface="+mn-ea"/>
              </a:rPr>
              <a:t>}</a:t>
            </a:r>
          </a:p>
        </p:txBody>
      </p:sp>
      <p:sp>
        <p:nvSpPr>
          <p:cNvPr id="7" name="テキスト ボックス 6">
            <a:extLst>
              <a:ext uri="{FF2B5EF4-FFF2-40B4-BE49-F238E27FC236}">
                <a16:creationId xmlns:a16="http://schemas.microsoft.com/office/drawing/2014/main" id="{321C36CD-F40A-DB77-FCFE-633FAC014ED4}"/>
              </a:ext>
            </a:extLst>
          </p:cNvPr>
          <p:cNvSpPr txBox="1"/>
          <p:nvPr/>
        </p:nvSpPr>
        <p:spPr>
          <a:xfrm>
            <a:off x="6229557" y="1471250"/>
            <a:ext cx="2866490" cy="400110"/>
          </a:xfrm>
          <a:prstGeom prst="rect">
            <a:avLst/>
          </a:prstGeom>
          <a:noFill/>
        </p:spPr>
        <p:txBody>
          <a:bodyPr wrap="none" rtlCol="0">
            <a:spAutoFit/>
          </a:bodyPr>
          <a:lstStyle/>
          <a:p>
            <a:r>
              <a:rPr lang="en-US" altLang="ja-JP" sz="2000" dirty="0"/>
              <a:t>f</a:t>
            </a:r>
            <a:r>
              <a:rPr kumimoji="1" lang="en-US" altLang="ja-JP" sz="2000" dirty="0"/>
              <a:t>unction_derive_agegr1.R</a:t>
            </a:r>
            <a:endParaRPr kumimoji="1" lang="ja-JP" altLang="en-US" sz="2000" dirty="0"/>
          </a:p>
        </p:txBody>
      </p:sp>
      <p:sp>
        <p:nvSpPr>
          <p:cNvPr id="8" name="コンテンツ プレースホルダー 2">
            <a:extLst>
              <a:ext uri="{FF2B5EF4-FFF2-40B4-BE49-F238E27FC236}">
                <a16:creationId xmlns:a16="http://schemas.microsoft.com/office/drawing/2014/main" id="{8F3A7FB0-076E-E048-BF3E-8C506A193A7C}"/>
              </a:ext>
            </a:extLst>
          </p:cNvPr>
          <p:cNvSpPr txBox="1">
            <a:spLocks/>
          </p:cNvSpPr>
          <p:nvPr/>
        </p:nvSpPr>
        <p:spPr bwMode="auto">
          <a:xfrm>
            <a:off x="138366" y="2987630"/>
            <a:ext cx="3735098" cy="2801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endParaRPr lang="en-US" altLang="ja-JP" sz="2000" kern="0" dirty="0"/>
          </a:p>
          <a:p>
            <a:r>
              <a:rPr lang="ja-JP" altLang="en-US" sz="2000" b="1" kern="0" dirty="0">
                <a:solidFill>
                  <a:schemeClr val="accent6"/>
                </a:solidFill>
              </a:rPr>
              <a:t>② テスト用のスクリプトを書く</a:t>
            </a:r>
            <a:endParaRPr lang="en-US" altLang="ja-JP" sz="2000" b="1" kern="0" dirty="0">
              <a:solidFill>
                <a:schemeClr val="accent6"/>
              </a:solidFill>
            </a:endParaRPr>
          </a:p>
          <a:p>
            <a:endParaRPr lang="en-US" altLang="ja-JP" sz="2000" kern="0" dirty="0"/>
          </a:p>
          <a:p>
            <a:endParaRPr lang="en-US" altLang="ja-JP" sz="2000" kern="0" dirty="0"/>
          </a:p>
          <a:p>
            <a:endParaRPr lang="en-US" altLang="ja-JP" sz="2000" kern="0" dirty="0"/>
          </a:p>
          <a:p>
            <a:endParaRPr lang="en-US" altLang="ja-JP" sz="2000" kern="0" dirty="0"/>
          </a:p>
          <a:p>
            <a:endParaRPr lang="en-US" altLang="ja-JP" sz="2000" kern="0" dirty="0"/>
          </a:p>
        </p:txBody>
      </p:sp>
      <p:sp>
        <p:nvSpPr>
          <p:cNvPr id="9" name="テキスト ボックス 8">
            <a:extLst>
              <a:ext uri="{FF2B5EF4-FFF2-40B4-BE49-F238E27FC236}">
                <a16:creationId xmlns:a16="http://schemas.microsoft.com/office/drawing/2014/main" id="{7117FCAA-5A9B-B913-EC58-25B5FF69CD17}"/>
              </a:ext>
            </a:extLst>
          </p:cNvPr>
          <p:cNvSpPr txBox="1"/>
          <p:nvPr/>
        </p:nvSpPr>
        <p:spPr>
          <a:xfrm>
            <a:off x="325547" y="3720950"/>
            <a:ext cx="2367956" cy="400110"/>
          </a:xfrm>
          <a:prstGeom prst="rect">
            <a:avLst/>
          </a:prstGeom>
          <a:noFill/>
        </p:spPr>
        <p:txBody>
          <a:bodyPr wrap="none" rtlCol="0">
            <a:spAutoFit/>
          </a:bodyPr>
          <a:lstStyle/>
          <a:p>
            <a:r>
              <a:rPr kumimoji="1" lang="en-US" altLang="ja-JP" sz="2000" dirty="0"/>
              <a:t>test_derive_agegr1.R</a:t>
            </a:r>
            <a:endParaRPr kumimoji="1" lang="ja-JP" altLang="en-US" sz="2000" dirty="0"/>
          </a:p>
        </p:txBody>
      </p:sp>
      <p:sp>
        <p:nvSpPr>
          <p:cNvPr id="10" name="テキスト ボックス 9">
            <a:extLst>
              <a:ext uri="{FF2B5EF4-FFF2-40B4-BE49-F238E27FC236}">
                <a16:creationId xmlns:a16="http://schemas.microsoft.com/office/drawing/2014/main" id="{D92D8520-105E-23FE-16C8-EAED93BC5208}"/>
              </a:ext>
            </a:extLst>
          </p:cNvPr>
          <p:cNvSpPr txBox="1"/>
          <p:nvPr/>
        </p:nvSpPr>
        <p:spPr>
          <a:xfrm>
            <a:off x="406400" y="4063185"/>
            <a:ext cx="5390168" cy="2554545"/>
          </a:xfrm>
          <a:prstGeom prst="rect">
            <a:avLst/>
          </a:prstGeom>
          <a:pattFill prst="pct20">
            <a:fgClr>
              <a:schemeClr val="accent6">
                <a:lumMod val="20000"/>
                <a:lumOff val="80000"/>
              </a:schemeClr>
            </a:fgClr>
            <a:bgClr>
              <a:schemeClr val="bg1"/>
            </a:bgClr>
          </a:pattFill>
        </p:spPr>
        <p:txBody>
          <a:bodyPr wrap="square">
            <a:spAutoFit/>
          </a:bodyPr>
          <a:lstStyle/>
          <a:p>
            <a:r>
              <a:rPr lang="en-US" altLang="ja-JP" sz="1600" i="1" dirty="0">
                <a:highlight>
                  <a:srgbClr val="99FF99"/>
                </a:highlight>
                <a:latin typeface="+mn-ea"/>
              </a:rPr>
              <a:t>source("function/function_derive_agegr1.R")</a:t>
            </a:r>
          </a:p>
          <a:p>
            <a:r>
              <a:rPr lang="en-US" altLang="ja-JP" sz="1600" i="1" dirty="0" err="1">
                <a:highlight>
                  <a:srgbClr val="99FF99"/>
                </a:highlight>
                <a:latin typeface="+mn-ea"/>
                <a:ea typeface="+mn-ea"/>
              </a:rPr>
              <a:t>test_that</a:t>
            </a:r>
            <a:r>
              <a:rPr lang="en-US" altLang="ja-JP" sz="1600" i="1" dirty="0">
                <a:highlight>
                  <a:srgbClr val="99FF99"/>
                </a:highlight>
                <a:latin typeface="+mn-ea"/>
                <a:ea typeface="+mn-ea"/>
              </a:rPr>
              <a:t>("derive_agegr1 works correctly for vector input", {</a:t>
            </a:r>
          </a:p>
          <a:p>
            <a:r>
              <a:rPr lang="en-US" altLang="ja-JP" sz="1600" i="1" dirty="0">
                <a:highlight>
                  <a:srgbClr val="99FF99"/>
                </a:highlight>
                <a:latin typeface="+mn-ea"/>
                <a:ea typeface="+mn-ea"/>
              </a:rPr>
              <a:t>  age &lt;- c(NA, 20, 39, 40, 50, 64, 65, 80)</a:t>
            </a:r>
          </a:p>
          <a:p>
            <a:r>
              <a:rPr lang="en-US" altLang="ja-JP" sz="1600" i="1" dirty="0">
                <a:highlight>
                  <a:srgbClr val="99FF99"/>
                </a:highlight>
                <a:latin typeface="+mn-ea"/>
                <a:ea typeface="+mn-ea"/>
              </a:rPr>
              <a:t>  result &lt;- derive_agegr1(age)</a:t>
            </a:r>
          </a:p>
          <a:p>
            <a:r>
              <a:rPr lang="en-US" altLang="ja-JP" sz="1600" i="1" dirty="0">
                <a:highlight>
                  <a:srgbClr val="99FF99"/>
                </a:highlight>
                <a:latin typeface="+mn-ea"/>
                <a:ea typeface="+mn-ea"/>
              </a:rPr>
              <a:t>  expected &lt;- c(</a:t>
            </a:r>
          </a:p>
          <a:p>
            <a:r>
              <a:rPr lang="en-US" altLang="ja-JP" sz="1600" i="1" dirty="0">
                <a:highlight>
                  <a:srgbClr val="99FF99"/>
                </a:highlight>
                <a:latin typeface="+mn-ea"/>
                <a:ea typeface="+mn-ea"/>
              </a:rPr>
              <a:t>    </a:t>
            </a:r>
            <a:r>
              <a:rPr lang="en-US" altLang="ja-JP" sz="1600" i="1" dirty="0" err="1">
                <a:highlight>
                  <a:srgbClr val="99FF99"/>
                </a:highlight>
                <a:latin typeface="+mn-ea"/>
                <a:ea typeface="+mn-ea"/>
              </a:rPr>
              <a:t>NA_character</a:t>
            </a:r>
            <a:r>
              <a:rPr lang="en-US" altLang="ja-JP" sz="1600" i="1" dirty="0">
                <a:highlight>
                  <a:srgbClr val="99FF99"/>
                </a:highlight>
                <a:latin typeface="+mn-ea"/>
                <a:ea typeface="+mn-ea"/>
              </a:rPr>
              <a:t>_, "&lt;40","&lt;40","40&lt;= &lt;65", "40&lt;= &lt;65",</a:t>
            </a:r>
          </a:p>
          <a:p>
            <a:r>
              <a:rPr lang="en-US" altLang="ja-JP" sz="1600" i="1" dirty="0">
                <a:highlight>
                  <a:srgbClr val="99FF99"/>
                </a:highlight>
                <a:latin typeface="+mn-ea"/>
                <a:ea typeface="+mn-ea"/>
              </a:rPr>
              <a:t>    "40&lt;= &lt;65", "&gt;=65","&gt;=65"</a:t>
            </a:r>
          </a:p>
          <a:p>
            <a:r>
              <a:rPr lang="en-US" altLang="ja-JP" sz="1600" i="1" dirty="0">
                <a:highlight>
                  <a:srgbClr val="99FF99"/>
                </a:highlight>
                <a:latin typeface="+mn-ea"/>
                <a:ea typeface="+mn-ea"/>
              </a:rPr>
              <a:t>  )</a:t>
            </a:r>
          </a:p>
          <a:p>
            <a:r>
              <a:rPr lang="en-US" altLang="ja-JP" sz="1600" i="1" dirty="0">
                <a:highlight>
                  <a:srgbClr val="99FF99"/>
                </a:highlight>
                <a:latin typeface="+mn-ea"/>
                <a:ea typeface="+mn-ea"/>
              </a:rPr>
              <a:t>  </a:t>
            </a:r>
            <a:r>
              <a:rPr lang="en-US" altLang="ja-JP" sz="1600" i="1" dirty="0" err="1">
                <a:highlight>
                  <a:srgbClr val="99FF99"/>
                </a:highlight>
                <a:latin typeface="+mn-ea"/>
                <a:ea typeface="+mn-ea"/>
              </a:rPr>
              <a:t>expect_equal</a:t>
            </a:r>
            <a:r>
              <a:rPr lang="en-US" altLang="ja-JP" sz="1600" i="1" dirty="0">
                <a:highlight>
                  <a:srgbClr val="99FF99"/>
                </a:highlight>
                <a:latin typeface="+mn-ea"/>
                <a:ea typeface="+mn-ea"/>
              </a:rPr>
              <a:t>(result, expected)</a:t>
            </a:r>
          </a:p>
          <a:p>
            <a:r>
              <a:rPr lang="en-US" altLang="ja-JP" sz="1600" i="1" dirty="0">
                <a:highlight>
                  <a:srgbClr val="99FF99"/>
                </a:highlight>
                <a:latin typeface="+mn-ea"/>
                <a:ea typeface="+mn-ea"/>
              </a:rPr>
              <a:t>})</a:t>
            </a:r>
          </a:p>
        </p:txBody>
      </p:sp>
      <p:sp>
        <p:nvSpPr>
          <p:cNvPr id="12" name="正方形/長方形 11">
            <a:extLst>
              <a:ext uri="{FF2B5EF4-FFF2-40B4-BE49-F238E27FC236}">
                <a16:creationId xmlns:a16="http://schemas.microsoft.com/office/drawing/2014/main" id="{1DC4817A-C3FD-811D-AB4B-E455FD233B3D}"/>
              </a:ext>
            </a:extLst>
          </p:cNvPr>
          <p:cNvSpPr/>
          <p:nvPr/>
        </p:nvSpPr>
        <p:spPr>
          <a:xfrm>
            <a:off x="1249504" y="1647720"/>
            <a:ext cx="3264204" cy="140711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400">
              <a:latin typeface="+mn-ea"/>
            </a:endParaRPr>
          </a:p>
        </p:txBody>
      </p:sp>
      <p:sp>
        <p:nvSpPr>
          <p:cNvPr id="13" name="テキスト ボックス 12">
            <a:extLst>
              <a:ext uri="{FF2B5EF4-FFF2-40B4-BE49-F238E27FC236}">
                <a16:creationId xmlns:a16="http://schemas.microsoft.com/office/drawing/2014/main" id="{1742C6BA-3EE0-2DFB-F24F-A158AFC791AE}"/>
              </a:ext>
            </a:extLst>
          </p:cNvPr>
          <p:cNvSpPr txBox="1"/>
          <p:nvPr/>
        </p:nvSpPr>
        <p:spPr>
          <a:xfrm>
            <a:off x="1294519" y="1662110"/>
            <a:ext cx="720080" cy="307777"/>
          </a:xfrm>
          <a:prstGeom prst="rect">
            <a:avLst/>
          </a:prstGeom>
          <a:noFill/>
        </p:spPr>
        <p:txBody>
          <a:bodyPr wrap="square" rtlCol="0">
            <a:spAutoFit/>
          </a:bodyPr>
          <a:lstStyle/>
          <a:p>
            <a:r>
              <a:rPr lang="en-US" altLang="ja-JP" sz="1400" dirty="0">
                <a:latin typeface="+mn-ea"/>
                <a:ea typeface="+mn-ea"/>
              </a:rPr>
              <a:t>t</a:t>
            </a:r>
            <a:r>
              <a:rPr kumimoji="1" lang="en-US" altLang="ja-JP" sz="1400" dirty="0">
                <a:latin typeface="+mn-ea"/>
                <a:ea typeface="+mn-ea"/>
              </a:rPr>
              <a:t>ests</a:t>
            </a:r>
            <a:endParaRPr kumimoji="1" lang="ja-JP" altLang="en-US" sz="1400" dirty="0">
              <a:latin typeface="+mn-ea"/>
              <a:ea typeface="+mn-ea"/>
            </a:endParaRPr>
          </a:p>
        </p:txBody>
      </p:sp>
      <p:sp>
        <p:nvSpPr>
          <p:cNvPr id="14" name="テキスト ボックス 13">
            <a:extLst>
              <a:ext uri="{FF2B5EF4-FFF2-40B4-BE49-F238E27FC236}">
                <a16:creationId xmlns:a16="http://schemas.microsoft.com/office/drawing/2014/main" id="{CF38ED2F-18FC-CB7E-A881-971C333E38ED}"/>
              </a:ext>
            </a:extLst>
          </p:cNvPr>
          <p:cNvSpPr txBox="1"/>
          <p:nvPr/>
        </p:nvSpPr>
        <p:spPr>
          <a:xfrm>
            <a:off x="1340667" y="1885283"/>
            <a:ext cx="2957015" cy="1169551"/>
          </a:xfrm>
          <a:prstGeom prst="rect">
            <a:avLst/>
          </a:prstGeom>
          <a:noFill/>
        </p:spPr>
        <p:txBody>
          <a:bodyPr wrap="square" rtlCol="0">
            <a:spAutoFit/>
          </a:bodyPr>
          <a:lstStyle/>
          <a:p>
            <a:r>
              <a:rPr lang="ja-JP" altLang="en-US" sz="1400" dirty="0">
                <a:latin typeface="+mn-ea"/>
                <a:ea typeface="+mn-ea"/>
              </a:rPr>
              <a:t>├ </a:t>
            </a:r>
            <a:r>
              <a:rPr lang="en-US" altLang="ja-JP" sz="1400" dirty="0">
                <a:latin typeface="+mn-ea"/>
                <a:ea typeface="+mn-ea"/>
              </a:rPr>
              <a:t>source</a:t>
            </a:r>
          </a:p>
          <a:p>
            <a:r>
              <a:rPr lang="ja-JP" altLang="en-US" sz="1400" dirty="0">
                <a:latin typeface="+mn-ea"/>
                <a:ea typeface="+mn-ea"/>
              </a:rPr>
              <a:t>│├ </a:t>
            </a:r>
            <a:r>
              <a:rPr lang="en-US" altLang="ja-JP" sz="1400" dirty="0">
                <a:latin typeface="+mn-ea"/>
                <a:ea typeface="+mn-ea"/>
              </a:rPr>
              <a:t>Function_derive_agegr1.R</a:t>
            </a:r>
          </a:p>
          <a:p>
            <a:r>
              <a:rPr lang="ja-JP" altLang="en-US" sz="1400" dirty="0">
                <a:latin typeface="+mn-ea"/>
                <a:ea typeface="+mn-ea"/>
              </a:rPr>
              <a:t>└ </a:t>
            </a:r>
            <a:r>
              <a:rPr lang="en-US" altLang="ja-JP" sz="1400" dirty="0" err="1">
                <a:latin typeface="+mn-ea"/>
                <a:ea typeface="+mn-ea"/>
              </a:rPr>
              <a:t>testthat</a:t>
            </a:r>
            <a:endParaRPr lang="en-US" altLang="ja-JP" sz="1400" dirty="0">
              <a:latin typeface="+mn-ea"/>
              <a:ea typeface="+mn-ea"/>
            </a:endParaRPr>
          </a:p>
          <a:p>
            <a:r>
              <a:rPr lang="ja-JP" altLang="en-US" sz="1400" dirty="0">
                <a:latin typeface="+mn-ea"/>
                <a:ea typeface="+mn-ea"/>
              </a:rPr>
              <a:t>　 ├</a:t>
            </a:r>
            <a:r>
              <a:rPr lang="en-US" altLang="ja-JP" sz="1400" dirty="0">
                <a:latin typeface="+mn-ea"/>
                <a:ea typeface="+mn-ea"/>
              </a:rPr>
              <a:t> test_derive_agegr1.R</a:t>
            </a:r>
            <a:endParaRPr lang="ja-JP" altLang="en-US" sz="1400" dirty="0">
              <a:latin typeface="+mn-ea"/>
              <a:ea typeface="+mn-ea"/>
            </a:endParaRPr>
          </a:p>
          <a:p>
            <a:endParaRPr kumimoji="1" lang="ja-JP" altLang="en-US" sz="1400" dirty="0">
              <a:latin typeface="+mn-ea"/>
              <a:ea typeface="+mn-ea"/>
            </a:endParaRPr>
          </a:p>
        </p:txBody>
      </p:sp>
      <p:sp>
        <p:nvSpPr>
          <p:cNvPr id="15" name="コンテンツ プレースホルダー 2">
            <a:extLst>
              <a:ext uri="{FF2B5EF4-FFF2-40B4-BE49-F238E27FC236}">
                <a16:creationId xmlns:a16="http://schemas.microsoft.com/office/drawing/2014/main" id="{3160C8B0-2FF1-B13F-BAC8-319C35601212}"/>
              </a:ext>
            </a:extLst>
          </p:cNvPr>
          <p:cNvSpPr txBox="1">
            <a:spLocks/>
          </p:cNvSpPr>
          <p:nvPr/>
        </p:nvSpPr>
        <p:spPr bwMode="auto">
          <a:xfrm>
            <a:off x="5925587" y="4087787"/>
            <a:ext cx="1677296" cy="426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r>
              <a:rPr lang="ja-JP" altLang="en-US" sz="2000" b="1" kern="0" dirty="0">
                <a:solidFill>
                  <a:schemeClr val="accent6"/>
                </a:solidFill>
              </a:rPr>
              <a:t>③ 実行する</a:t>
            </a:r>
            <a:endParaRPr lang="en-US" altLang="ja-JP" sz="2000" b="1" kern="0" dirty="0">
              <a:solidFill>
                <a:schemeClr val="accent6"/>
              </a:solidFill>
            </a:endParaRPr>
          </a:p>
          <a:p>
            <a:endParaRPr lang="en-US" altLang="ja-JP" sz="2000" kern="0" dirty="0"/>
          </a:p>
          <a:p>
            <a:endParaRPr lang="en-US" altLang="ja-JP" sz="2000" kern="0" dirty="0"/>
          </a:p>
          <a:p>
            <a:endParaRPr lang="en-US" altLang="ja-JP" sz="2000" kern="0" dirty="0"/>
          </a:p>
          <a:p>
            <a:endParaRPr lang="en-US" altLang="ja-JP" sz="2000" kern="0" dirty="0"/>
          </a:p>
          <a:p>
            <a:endParaRPr lang="en-US" altLang="ja-JP" sz="2000" kern="0" dirty="0"/>
          </a:p>
        </p:txBody>
      </p:sp>
      <p:sp>
        <p:nvSpPr>
          <p:cNvPr id="16" name="テキスト ボックス 15">
            <a:extLst>
              <a:ext uri="{FF2B5EF4-FFF2-40B4-BE49-F238E27FC236}">
                <a16:creationId xmlns:a16="http://schemas.microsoft.com/office/drawing/2014/main" id="{E72DF38E-E14A-9F27-44A0-6095F376F383}"/>
              </a:ext>
            </a:extLst>
          </p:cNvPr>
          <p:cNvSpPr txBox="1"/>
          <p:nvPr/>
        </p:nvSpPr>
        <p:spPr>
          <a:xfrm>
            <a:off x="6101970" y="4443598"/>
            <a:ext cx="4531316" cy="830997"/>
          </a:xfrm>
          <a:prstGeom prst="rect">
            <a:avLst/>
          </a:prstGeom>
          <a:pattFill prst="pct20">
            <a:fgClr>
              <a:schemeClr val="accent6">
                <a:lumMod val="20000"/>
                <a:lumOff val="80000"/>
              </a:schemeClr>
            </a:fgClr>
            <a:bgClr>
              <a:schemeClr val="bg1"/>
            </a:bgClr>
          </a:pattFill>
        </p:spPr>
        <p:txBody>
          <a:bodyPr wrap="square">
            <a:spAutoFit/>
          </a:bodyPr>
          <a:lstStyle/>
          <a:p>
            <a:pPr latinLnBrk="1"/>
            <a:r>
              <a:rPr lang="en-US" altLang="ja-JP" sz="1600" i="1" dirty="0">
                <a:highlight>
                  <a:srgbClr val="99FF99"/>
                </a:highlight>
                <a:latin typeface="+mn-ea"/>
                <a:ea typeface="+mn-ea"/>
              </a:rPr>
              <a:t>library("</a:t>
            </a:r>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a:t>
            </a:r>
          </a:p>
          <a:p>
            <a:pPr latinLnBrk="1"/>
            <a:r>
              <a:rPr lang="en-US" altLang="ja-JP" sz="1600" i="1" dirty="0">
                <a:highlight>
                  <a:srgbClr val="99FF99"/>
                </a:highlight>
                <a:latin typeface="+mn-ea"/>
              </a:rPr>
              <a:t>library ("</a:t>
            </a:r>
            <a:r>
              <a:rPr lang="en-US" altLang="ja-JP" sz="1600" i="1" dirty="0" err="1">
                <a:highlight>
                  <a:srgbClr val="99FF99"/>
                </a:highlight>
                <a:latin typeface="+mn-ea"/>
              </a:rPr>
              <a:t>dplyr</a:t>
            </a:r>
            <a:r>
              <a:rPr lang="en-US" altLang="ja-JP" sz="1600" i="1" dirty="0">
                <a:highlight>
                  <a:srgbClr val="99FF99"/>
                </a:highlight>
                <a:latin typeface="+mn-ea"/>
              </a:rPr>
              <a:t>")</a:t>
            </a:r>
            <a:endParaRPr lang="en-US" altLang="ja-JP" sz="1600" i="1" dirty="0">
              <a:highlight>
                <a:srgbClr val="99FF99"/>
              </a:highlight>
              <a:latin typeface="+mn-ea"/>
              <a:ea typeface="+mn-ea"/>
            </a:endParaRPr>
          </a:p>
          <a:p>
            <a:pPr latinLnBrk="1"/>
            <a:r>
              <a:rPr lang="en-US" altLang="ja-JP" sz="1600" i="1" dirty="0" err="1">
                <a:highlight>
                  <a:srgbClr val="99FF99"/>
                </a:highlight>
                <a:latin typeface="+mn-ea"/>
                <a:ea typeface="+mn-ea"/>
              </a:rPr>
              <a:t>test_file</a:t>
            </a:r>
            <a:r>
              <a:rPr lang="en-US" altLang="ja-JP" sz="1600" i="1" dirty="0">
                <a:highlight>
                  <a:srgbClr val="99FF99"/>
                </a:highlight>
                <a:latin typeface="+mn-ea"/>
                <a:ea typeface="+mn-ea"/>
              </a:rPr>
              <a:t>("</a:t>
            </a:r>
            <a:r>
              <a:rPr lang="en-US" altLang="ja-JP" sz="1600" i="1" dirty="0" err="1">
                <a:highlight>
                  <a:srgbClr val="99FF99"/>
                </a:highlight>
                <a:latin typeface="+mn-ea"/>
                <a:ea typeface="+mn-ea"/>
              </a:rPr>
              <a:t>testthat</a:t>
            </a:r>
            <a:r>
              <a:rPr lang="en-US" altLang="ja-JP" sz="1600" i="1" dirty="0">
                <a:highlight>
                  <a:srgbClr val="99FF99"/>
                </a:highlight>
                <a:latin typeface="+mn-ea"/>
                <a:ea typeface="+mn-ea"/>
              </a:rPr>
              <a:t>/test_derive_agegr1.R")</a:t>
            </a:r>
          </a:p>
        </p:txBody>
      </p:sp>
      <p:sp>
        <p:nvSpPr>
          <p:cNvPr id="18" name="テキスト ボックス 17">
            <a:extLst>
              <a:ext uri="{FF2B5EF4-FFF2-40B4-BE49-F238E27FC236}">
                <a16:creationId xmlns:a16="http://schemas.microsoft.com/office/drawing/2014/main" id="{04FFA43C-0D3A-93F4-0013-48D130621B9C}"/>
              </a:ext>
            </a:extLst>
          </p:cNvPr>
          <p:cNvSpPr txBox="1"/>
          <p:nvPr/>
        </p:nvSpPr>
        <p:spPr>
          <a:xfrm>
            <a:off x="6109088" y="6154320"/>
            <a:ext cx="4265708" cy="253211"/>
          </a:xfrm>
          <a:prstGeom prst="rect">
            <a:avLst/>
          </a:prstGeom>
          <a:noFill/>
        </p:spPr>
        <p:txBody>
          <a:bodyPr wrap="square">
            <a:spAutoFit/>
          </a:bodyPr>
          <a:lstStyle/>
          <a:p>
            <a:pPr algn="l" latinLnBrk="1">
              <a:lnSpc>
                <a:spcPts val="1200"/>
              </a:lnSpc>
              <a:buNone/>
            </a:pPr>
            <a:r>
              <a:rPr lang="en-US" altLang="ja-JP" sz="1400" b="0" i="0" dirty="0">
                <a:solidFill>
                  <a:srgbClr val="000000"/>
                </a:solidFill>
                <a:effectLst/>
                <a:latin typeface="Lucida Console" panose="020B0609040504020204" pitchFamily="49" charset="0"/>
              </a:rPr>
              <a:t>[ FAIL 0 | WARN 0 | SKIP 0 | </a:t>
            </a:r>
            <a:r>
              <a:rPr lang="en-US" altLang="ja-JP" sz="1400" b="0" i="0" dirty="0">
                <a:solidFill>
                  <a:srgbClr val="4E9A06"/>
                </a:solidFill>
                <a:effectLst/>
                <a:latin typeface="Lucida Console" panose="020B0609040504020204" pitchFamily="49" charset="0"/>
              </a:rPr>
              <a:t>PASS</a:t>
            </a:r>
            <a:r>
              <a:rPr lang="en-US" altLang="ja-JP" sz="1400" b="0" i="0" dirty="0">
                <a:solidFill>
                  <a:srgbClr val="000000"/>
                </a:solidFill>
                <a:effectLst/>
                <a:latin typeface="Lucida Console" panose="020B0609040504020204" pitchFamily="49" charset="0"/>
              </a:rPr>
              <a:t> 1 ]</a:t>
            </a:r>
            <a:r>
              <a:rPr lang="en-US" altLang="ja-JP" sz="1400" b="0" i="0" dirty="0">
                <a:solidFill>
                  <a:srgbClr val="0000FF"/>
                </a:solidFill>
                <a:effectLst/>
                <a:latin typeface="Lucida Console" panose="020B0609040504020204" pitchFamily="49" charset="0"/>
              </a:rPr>
              <a:t>&gt; </a:t>
            </a:r>
            <a:endParaRPr lang="en-US" altLang="ja-JP" sz="1400" b="0" i="0" dirty="0">
              <a:solidFill>
                <a:srgbClr val="000000"/>
              </a:solidFill>
              <a:effectLst/>
              <a:latin typeface="Lucida Console" panose="020B0609040504020204" pitchFamily="49" charset="0"/>
            </a:endParaRPr>
          </a:p>
        </p:txBody>
      </p:sp>
      <p:sp>
        <p:nvSpPr>
          <p:cNvPr id="19" name="テキスト ボックス 18">
            <a:extLst>
              <a:ext uri="{FF2B5EF4-FFF2-40B4-BE49-F238E27FC236}">
                <a16:creationId xmlns:a16="http://schemas.microsoft.com/office/drawing/2014/main" id="{49CB2A6E-E046-7B99-F1D0-CF2D1EB77B59}"/>
              </a:ext>
            </a:extLst>
          </p:cNvPr>
          <p:cNvSpPr txBox="1"/>
          <p:nvPr/>
        </p:nvSpPr>
        <p:spPr>
          <a:xfrm>
            <a:off x="7392926" y="4116449"/>
            <a:ext cx="3847528" cy="369332"/>
          </a:xfrm>
          <a:prstGeom prst="rect">
            <a:avLst/>
          </a:prstGeom>
          <a:noFill/>
        </p:spPr>
        <p:txBody>
          <a:bodyPr wrap="none" rtlCol="0">
            <a:spAutoFit/>
          </a:bodyPr>
          <a:lstStyle/>
          <a:p>
            <a:r>
              <a:rPr kumimoji="1" lang="en-US" altLang="ja-JP" sz="1800" dirty="0">
                <a:solidFill>
                  <a:schemeClr val="accent6"/>
                </a:solidFill>
                <a:latin typeface="+mn-ea"/>
                <a:ea typeface="+mn-ea"/>
              </a:rPr>
              <a:t>※</a:t>
            </a:r>
            <a:r>
              <a:rPr lang="ja-JP" altLang="en-US" sz="1800" dirty="0">
                <a:solidFill>
                  <a:schemeClr val="accent6"/>
                </a:solidFill>
                <a:latin typeface="+mn-ea"/>
                <a:ea typeface="+mn-ea"/>
              </a:rPr>
              <a:t>ホームディレクトリ</a:t>
            </a:r>
            <a:r>
              <a:rPr kumimoji="1" lang="ja-JP" altLang="en-US" sz="1800" dirty="0">
                <a:solidFill>
                  <a:schemeClr val="accent6"/>
                </a:solidFill>
                <a:latin typeface="+mn-ea"/>
                <a:ea typeface="+mn-ea"/>
              </a:rPr>
              <a:t>は</a:t>
            </a:r>
            <a:r>
              <a:rPr kumimoji="1" lang="en-US" altLang="ja-JP" sz="1800" dirty="0">
                <a:solidFill>
                  <a:schemeClr val="accent6"/>
                </a:solidFill>
                <a:latin typeface="+mn-ea"/>
                <a:ea typeface="+mn-ea"/>
              </a:rPr>
              <a:t>”tests”</a:t>
            </a:r>
            <a:r>
              <a:rPr lang="ja-JP" altLang="en-US" sz="1800" dirty="0">
                <a:solidFill>
                  <a:schemeClr val="accent6"/>
                </a:solidFill>
                <a:latin typeface="+mn-ea"/>
                <a:ea typeface="+mn-ea"/>
              </a:rPr>
              <a:t>の前提</a:t>
            </a:r>
            <a:endParaRPr kumimoji="1" lang="ja-JP" altLang="en-US" sz="1800" dirty="0">
              <a:solidFill>
                <a:schemeClr val="accent6"/>
              </a:solidFill>
              <a:latin typeface="+mn-ea"/>
              <a:ea typeface="+mn-ea"/>
            </a:endParaRPr>
          </a:p>
        </p:txBody>
      </p:sp>
      <p:sp>
        <p:nvSpPr>
          <p:cNvPr id="20" name="コンテンツ プレースホルダー 2">
            <a:extLst>
              <a:ext uri="{FF2B5EF4-FFF2-40B4-BE49-F238E27FC236}">
                <a16:creationId xmlns:a16="http://schemas.microsoft.com/office/drawing/2014/main" id="{3CEAD6AF-A52E-5CEC-7625-B35E7F387C09}"/>
              </a:ext>
            </a:extLst>
          </p:cNvPr>
          <p:cNvSpPr txBox="1">
            <a:spLocks/>
          </p:cNvSpPr>
          <p:nvPr/>
        </p:nvSpPr>
        <p:spPr bwMode="auto">
          <a:xfrm>
            <a:off x="6060649" y="5587594"/>
            <a:ext cx="1677296" cy="426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r>
              <a:rPr lang="en-US" altLang="ja-JP" sz="2000" b="1" kern="0" dirty="0">
                <a:solidFill>
                  <a:schemeClr val="accent6"/>
                </a:solidFill>
              </a:rPr>
              <a:t>[</a:t>
            </a:r>
            <a:r>
              <a:rPr lang="ja-JP" altLang="en-US" sz="2000" b="1" kern="0" dirty="0">
                <a:solidFill>
                  <a:schemeClr val="accent6"/>
                </a:solidFill>
              </a:rPr>
              <a:t>実行結果</a:t>
            </a:r>
            <a:r>
              <a:rPr lang="en-US" altLang="ja-JP" sz="2000" b="1" kern="0" dirty="0">
                <a:solidFill>
                  <a:schemeClr val="accent6"/>
                </a:solidFill>
              </a:rPr>
              <a:t>]</a:t>
            </a:r>
          </a:p>
          <a:p>
            <a:endParaRPr lang="en-US" altLang="ja-JP" sz="2000" kern="0" dirty="0"/>
          </a:p>
          <a:p>
            <a:endParaRPr lang="en-US" altLang="ja-JP" sz="2000" kern="0" dirty="0"/>
          </a:p>
          <a:p>
            <a:endParaRPr lang="en-US" altLang="ja-JP" sz="2000" kern="0" dirty="0"/>
          </a:p>
          <a:p>
            <a:endParaRPr lang="en-US" altLang="ja-JP" sz="2000" kern="0" dirty="0"/>
          </a:p>
          <a:p>
            <a:endParaRPr lang="en-US" altLang="ja-JP" sz="2000" kern="0" dirty="0"/>
          </a:p>
        </p:txBody>
      </p:sp>
      <p:sp>
        <p:nvSpPr>
          <p:cNvPr id="21" name="矢印: 下 20">
            <a:extLst>
              <a:ext uri="{FF2B5EF4-FFF2-40B4-BE49-F238E27FC236}">
                <a16:creationId xmlns:a16="http://schemas.microsoft.com/office/drawing/2014/main" id="{A24551E7-4385-6ABB-44D4-40D73DB1DE76}"/>
              </a:ext>
            </a:extLst>
          </p:cNvPr>
          <p:cNvSpPr/>
          <p:nvPr/>
        </p:nvSpPr>
        <p:spPr>
          <a:xfrm rot="3479424">
            <a:off x="5487353" y="3085028"/>
            <a:ext cx="141698" cy="12881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下 21">
            <a:extLst>
              <a:ext uri="{FF2B5EF4-FFF2-40B4-BE49-F238E27FC236}">
                <a16:creationId xmlns:a16="http://schemas.microsoft.com/office/drawing/2014/main" id="{0AD2FD28-E91A-2307-CB2A-1A6488302EFC}"/>
              </a:ext>
            </a:extLst>
          </p:cNvPr>
          <p:cNvSpPr/>
          <p:nvPr/>
        </p:nvSpPr>
        <p:spPr>
          <a:xfrm rot="16729094">
            <a:off x="5589171" y="4048985"/>
            <a:ext cx="146301" cy="5162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5825987-59B0-49CD-5564-B8B4CB7E5392}"/>
              </a:ext>
            </a:extLst>
          </p:cNvPr>
          <p:cNvSpPr txBox="1"/>
          <p:nvPr/>
        </p:nvSpPr>
        <p:spPr>
          <a:xfrm>
            <a:off x="377383" y="1045985"/>
            <a:ext cx="3920299" cy="400110"/>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ja-JP" altLang="en-US" sz="2000" dirty="0">
                <a:solidFill>
                  <a:schemeClr val="accent6"/>
                </a:solidFill>
              </a:rPr>
              <a:t>年齢をカテゴリ分けする例</a:t>
            </a:r>
            <a:endParaRPr lang="en-US" altLang="ja-JP" sz="2000" dirty="0">
              <a:solidFill>
                <a:schemeClr val="accent6"/>
              </a:solidFill>
            </a:endParaRPr>
          </a:p>
        </p:txBody>
      </p:sp>
    </p:spTree>
    <p:extLst>
      <p:ext uri="{BB962C8B-B14F-4D97-AF65-F5344CB8AC3E}">
        <p14:creationId xmlns:p14="http://schemas.microsoft.com/office/powerpoint/2010/main" val="1819859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D159-DD80-9217-9270-F27570049D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2B59AA-3FEA-B395-B8AD-550EC6F0AD8A}"/>
              </a:ext>
            </a:extLst>
          </p:cNvPr>
          <p:cNvSpPr>
            <a:spLocks noGrp="1"/>
          </p:cNvSpPr>
          <p:nvPr>
            <p:ph type="title"/>
          </p:nvPr>
        </p:nvSpPr>
        <p:spPr/>
        <p:txBody>
          <a:bodyPr/>
          <a:lstStyle/>
          <a:p>
            <a:r>
              <a:rPr lang="en-US" altLang="ja-JP" i="0" dirty="0" err="1"/>
              <a:t>testthat</a:t>
            </a:r>
            <a:r>
              <a:rPr lang="ja-JP" altLang="en-US" i="0" dirty="0"/>
              <a:t>の利用方法 </a:t>
            </a:r>
            <a:r>
              <a:rPr lang="en-US" altLang="ja-JP" i="0" dirty="0"/>
              <a:t>-</a:t>
            </a:r>
            <a:r>
              <a:rPr lang="ja-JP" altLang="en-US" i="0" dirty="0"/>
              <a:t> </a:t>
            </a:r>
            <a:r>
              <a:rPr lang="en-US" altLang="ja-JP" i="0" dirty="0"/>
              <a:t>DS/TFLs</a:t>
            </a:r>
            <a:r>
              <a:rPr lang="ja-JP" altLang="en-US" i="0" dirty="0"/>
              <a:t>作成 </a:t>
            </a:r>
            <a:r>
              <a:rPr lang="en-US" altLang="ja-JP" i="0" dirty="0"/>
              <a:t>-</a:t>
            </a:r>
            <a:r>
              <a:rPr lang="ja-JP" altLang="en-US" i="0" dirty="0"/>
              <a:t> </a:t>
            </a:r>
            <a:endParaRPr kumimoji="1" lang="ja-JP" altLang="en-US" i="0" dirty="0"/>
          </a:p>
        </p:txBody>
      </p:sp>
      <p:sp>
        <p:nvSpPr>
          <p:cNvPr id="3" name="コンテンツ プレースホルダー 2">
            <a:extLst>
              <a:ext uri="{FF2B5EF4-FFF2-40B4-BE49-F238E27FC236}">
                <a16:creationId xmlns:a16="http://schemas.microsoft.com/office/drawing/2014/main" id="{7222A295-6A15-44C2-62BE-EF534D453A41}"/>
              </a:ext>
            </a:extLst>
          </p:cNvPr>
          <p:cNvSpPr>
            <a:spLocks noGrp="1"/>
          </p:cNvSpPr>
          <p:nvPr>
            <p:ph idx="1"/>
          </p:nvPr>
        </p:nvSpPr>
        <p:spPr>
          <a:xfrm>
            <a:off x="510119" y="1276103"/>
            <a:ext cx="6161946" cy="431449"/>
          </a:xfrm>
        </p:spPr>
        <p:txBody>
          <a:bodyPr/>
          <a:lstStyle/>
          <a:p>
            <a:r>
              <a:rPr kumimoji="1" lang="ja-JP" altLang="en-US" sz="2000" dirty="0"/>
              <a:t>データセットや帳票作成においては使い道があるのか？</a:t>
            </a:r>
            <a:endParaRPr kumimoji="1" lang="en-US" altLang="ja-JP" sz="2000" dirty="0"/>
          </a:p>
          <a:p>
            <a:endParaRPr lang="en-US" altLang="ja-JP" sz="2000" dirty="0"/>
          </a:p>
        </p:txBody>
      </p:sp>
      <p:sp>
        <p:nvSpPr>
          <p:cNvPr id="4" name="スライド番号プレースホルダー 3">
            <a:extLst>
              <a:ext uri="{FF2B5EF4-FFF2-40B4-BE49-F238E27FC236}">
                <a16:creationId xmlns:a16="http://schemas.microsoft.com/office/drawing/2014/main" id="{2BE67889-6E32-B744-3599-D235E5DFF38D}"/>
              </a:ext>
            </a:extLst>
          </p:cNvPr>
          <p:cNvSpPr>
            <a:spLocks noGrp="1"/>
          </p:cNvSpPr>
          <p:nvPr>
            <p:ph type="sldNum" sz="quarter" idx="11"/>
          </p:nvPr>
        </p:nvSpPr>
        <p:spPr/>
        <p:txBody>
          <a:bodyPr/>
          <a:lstStyle/>
          <a:p>
            <a:fld id="{23B20E4E-3F95-4221-AFE5-FD1FD9CC3448}" type="slidenum">
              <a:rPr lang="en-US" altLang="ja-JP" smtClean="0"/>
              <a:pPr/>
              <a:t>16</a:t>
            </a:fld>
            <a:endParaRPr lang="en-US" altLang="ja-JP"/>
          </a:p>
        </p:txBody>
      </p:sp>
      <p:sp>
        <p:nvSpPr>
          <p:cNvPr id="5" name="コンテンツ プレースホルダー 2">
            <a:extLst>
              <a:ext uri="{FF2B5EF4-FFF2-40B4-BE49-F238E27FC236}">
                <a16:creationId xmlns:a16="http://schemas.microsoft.com/office/drawing/2014/main" id="{0AC8C230-7431-218C-1714-A078973A033F}"/>
              </a:ext>
            </a:extLst>
          </p:cNvPr>
          <p:cNvSpPr txBox="1">
            <a:spLocks/>
          </p:cNvSpPr>
          <p:nvPr/>
        </p:nvSpPr>
        <p:spPr bwMode="auto">
          <a:xfrm>
            <a:off x="6384032" y="5943600"/>
            <a:ext cx="6264696"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r>
              <a:rPr lang="ja-JP" altLang="en-US" sz="2000" kern="0" dirty="0"/>
              <a:t>⇒ぜひ皆さんと意見交換したいです。</a:t>
            </a:r>
          </a:p>
        </p:txBody>
      </p:sp>
      <p:sp>
        <p:nvSpPr>
          <p:cNvPr id="8" name="テキスト ボックス 7">
            <a:extLst>
              <a:ext uri="{FF2B5EF4-FFF2-40B4-BE49-F238E27FC236}">
                <a16:creationId xmlns:a16="http://schemas.microsoft.com/office/drawing/2014/main" id="{66628B84-599F-C8DE-2E90-2214267DB7A1}"/>
              </a:ext>
            </a:extLst>
          </p:cNvPr>
          <p:cNvSpPr txBox="1"/>
          <p:nvPr/>
        </p:nvSpPr>
        <p:spPr>
          <a:xfrm>
            <a:off x="1703512" y="3260639"/>
            <a:ext cx="6925294" cy="400110"/>
          </a:xfrm>
          <a:prstGeom prst="rect">
            <a:avLst/>
          </a:prstGeom>
          <a:noFill/>
        </p:spPr>
        <p:txBody>
          <a:bodyPr wrap="none" rtlCol="0">
            <a:spAutoFit/>
          </a:bodyPr>
          <a:lstStyle/>
          <a:p>
            <a:r>
              <a:rPr kumimoji="1" lang="ja-JP" altLang="en-US" sz="2000" dirty="0">
                <a:latin typeface="+mn-ea"/>
                <a:ea typeface="+mn-ea"/>
              </a:rPr>
              <a:t>⇒ダブルプログラミングと異なる視点での</a:t>
            </a:r>
            <a:r>
              <a:rPr kumimoji="1" lang="en-US" altLang="ja-JP" sz="2000" dirty="0">
                <a:latin typeface="+mn-ea"/>
                <a:ea typeface="+mn-ea"/>
              </a:rPr>
              <a:t>QC</a:t>
            </a:r>
            <a:r>
              <a:rPr kumimoji="1" lang="ja-JP" altLang="en-US" sz="2000" dirty="0">
                <a:latin typeface="+mn-ea"/>
                <a:ea typeface="+mn-ea"/>
              </a:rPr>
              <a:t>として利用できる。</a:t>
            </a:r>
          </a:p>
        </p:txBody>
      </p:sp>
      <p:sp>
        <p:nvSpPr>
          <p:cNvPr id="12" name="コンテンツ プレースホルダー 2">
            <a:extLst>
              <a:ext uri="{FF2B5EF4-FFF2-40B4-BE49-F238E27FC236}">
                <a16:creationId xmlns:a16="http://schemas.microsoft.com/office/drawing/2014/main" id="{D90A44DF-F7B1-406C-4B8A-E9425141E8E2}"/>
              </a:ext>
            </a:extLst>
          </p:cNvPr>
          <p:cNvSpPr txBox="1">
            <a:spLocks/>
          </p:cNvSpPr>
          <p:nvPr/>
        </p:nvSpPr>
        <p:spPr bwMode="auto">
          <a:xfrm>
            <a:off x="6384032" y="4053791"/>
            <a:ext cx="5093965" cy="1651313"/>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pPr marL="0" indent="0"/>
            <a:r>
              <a:rPr lang="ja-JP" altLang="en-US" sz="2000" kern="0" dirty="0">
                <a:solidFill>
                  <a:schemeClr val="bg1"/>
                </a:solidFill>
              </a:rPr>
              <a:t>本当にそうでしょうか？リスクベースに応じたアプローチが求められるようになりつつある。</a:t>
            </a:r>
            <a:br>
              <a:rPr lang="en-US" altLang="ja-JP" sz="2000" kern="0" dirty="0">
                <a:solidFill>
                  <a:schemeClr val="bg1"/>
                </a:solidFill>
              </a:rPr>
            </a:br>
            <a:r>
              <a:rPr lang="ja-JP" altLang="en-US" sz="2000" kern="0">
                <a:solidFill>
                  <a:schemeClr val="bg1"/>
                </a:solidFill>
              </a:rPr>
              <a:t>それぞれの</a:t>
            </a:r>
            <a:r>
              <a:rPr lang="ja-JP" altLang="en-US" sz="2000" kern="0" dirty="0">
                <a:solidFill>
                  <a:schemeClr val="bg1"/>
                </a:solidFill>
              </a:rPr>
              <a:t>利点を活かして、より少ないリソースでより効果的な</a:t>
            </a:r>
            <a:r>
              <a:rPr lang="en-US" altLang="ja-JP" sz="2000" kern="0" dirty="0">
                <a:solidFill>
                  <a:schemeClr val="bg1"/>
                </a:solidFill>
              </a:rPr>
              <a:t>QC</a:t>
            </a:r>
            <a:r>
              <a:rPr lang="ja-JP" altLang="en-US" sz="2000" kern="0" dirty="0">
                <a:solidFill>
                  <a:schemeClr val="bg1"/>
                </a:solidFill>
              </a:rPr>
              <a:t>を目指していくことが求められると考える。</a:t>
            </a:r>
            <a:endParaRPr lang="en-US" altLang="ja-JP" sz="2000" kern="0" dirty="0">
              <a:solidFill>
                <a:schemeClr val="bg1"/>
              </a:solidFill>
            </a:endParaRPr>
          </a:p>
        </p:txBody>
      </p:sp>
      <p:sp>
        <p:nvSpPr>
          <p:cNvPr id="9" name="テキスト ボックス 8">
            <a:extLst>
              <a:ext uri="{FF2B5EF4-FFF2-40B4-BE49-F238E27FC236}">
                <a16:creationId xmlns:a16="http://schemas.microsoft.com/office/drawing/2014/main" id="{64F1CB47-5FC9-7589-A25D-B1C1C32CD239}"/>
              </a:ext>
            </a:extLst>
          </p:cNvPr>
          <p:cNvSpPr txBox="1"/>
          <p:nvPr/>
        </p:nvSpPr>
        <p:spPr>
          <a:xfrm>
            <a:off x="721883" y="2206497"/>
            <a:ext cx="6670261"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457200" indent="-457200">
              <a:buFont typeface="+mj-ea"/>
              <a:buAutoNum type="circleNumDbPlain"/>
            </a:pPr>
            <a:r>
              <a:rPr kumimoji="1" lang="ja-JP" altLang="en-US" sz="2000" dirty="0">
                <a:latin typeface="+mn-ea"/>
                <a:ea typeface="+mn-ea"/>
              </a:rPr>
              <a:t>社内で標準関数を準備する際にテストしておきたい。</a:t>
            </a:r>
            <a:endParaRPr kumimoji="1" lang="en-US" altLang="ja-JP" sz="2000" dirty="0">
              <a:latin typeface="+mn-ea"/>
              <a:ea typeface="+mn-ea"/>
            </a:endParaRPr>
          </a:p>
          <a:p>
            <a:pPr marL="457200" indent="-457200">
              <a:buFont typeface="+mj-ea"/>
              <a:buAutoNum type="circleNumDbPlain"/>
            </a:pPr>
            <a:r>
              <a:rPr lang="ja-JP" altLang="en-US" sz="2000" dirty="0">
                <a:latin typeface="+mn-ea"/>
                <a:ea typeface="+mn-ea"/>
              </a:rPr>
              <a:t>目視で確認している部分を自動化したい。</a:t>
            </a:r>
            <a:endParaRPr lang="en-US" altLang="ja-JP" sz="2000" dirty="0">
              <a:latin typeface="+mn-ea"/>
              <a:ea typeface="+mn-ea"/>
            </a:endParaRPr>
          </a:p>
          <a:p>
            <a:pPr marL="457200" indent="-457200">
              <a:buFont typeface="+mj-ea"/>
              <a:buAutoNum type="circleNumDbPlain"/>
            </a:pPr>
            <a:r>
              <a:rPr lang="en-US" altLang="ja-JP" sz="2000" dirty="0">
                <a:latin typeface="+mn-ea"/>
                <a:ea typeface="+mn-ea"/>
              </a:rPr>
              <a:t>regression test</a:t>
            </a:r>
            <a:r>
              <a:rPr lang="ja-JP" altLang="en-US" sz="2000" dirty="0">
                <a:latin typeface="+mn-ea"/>
                <a:ea typeface="+mn-ea"/>
              </a:rPr>
              <a:t>に使いたい。</a:t>
            </a:r>
            <a:endParaRPr kumimoji="1" lang="en-US" altLang="ja-JP" sz="2000" dirty="0">
              <a:latin typeface="+mn-ea"/>
              <a:ea typeface="+mn-ea"/>
            </a:endParaRPr>
          </a:p>
        </p:txBody>
      </p:sp>
      <p:sp>
        <p:nvSpPr>
          <p:cNvPr id="14" name="コンテンツ プレースホルダー 2">
            <a:extLst>
              <a:ext uri="{FF2B5EF4-FFF2-40B4-BE49-F238E27FC236}">
                <a16:creationId xmlns:a16="http://schemas.microsoft.com/office/drawing/2014/main" id="{DD945ED8-64CF-9399-0798-67CF2CC1740A}"/>
              </a:ext>
            </a:extLst>
          </p:cNvPr>
          <p:cNvSpPr txBox="1">
            <a:spLocks/>
          </p:cNvSpPr>
          <p:nvPr/>
        </p:nvSpPr>
        <p:spPr bwMode="auto">
          <a:xfrm>
            <a:off x="470826" y="1727142"/>
            <a:ext cx="5003586" cy="43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a:lstStyle>
          <a:p>
            <a:r>
              <a:rPr lang="en-US" altLang="ja-JP" sz="2000" kern="0" dirty="0"/>
              <a:t>【</a:t>
            </a:r>
            <a:r>
              <a:rPr lang="ja-JP" altLang="en-US" sz="2000" kern="0" dirty="0"/>
              <a:t>想定できる</a:t>
            </a:r>
            <a:r>
              <a:rPr lang="en-US" altLang="ja-JP" sz="2000" kern="0" dirty="0" err="1"/>
              <a:t>testthat</a:t>
            </a:r>
            <a:r>
              <a:rPr lang="ja-JP" altLang="en-US" sz="2000" kern="0" dirty="0"/>
              <a:t>の利用シーン</a:t>
            </a:r>
            <a:r>
              <a:rPr lang="en-US" altLang="ja-JP" sz="2000" kern="0" dirty="0"/>
              <a:t>】</a:t>
            </a:r>
          </a:p>
        </p:txBody>
      </p:sp>
      <p:sp>
        <p:nvSpPr>
          <p:cNvPr id="15" name="思考の吹き出し: 雲形 14">
            <a:extLst>
              <a:ext uri="{FF2B5EF4-FFF2-40B4-BE49-F238E27FC236}">
                <a16:creationId xmlns:a16="http://schemas.microsoft.com/office/drawing/2014/main" id="{5DEDCB66-7217-CA2D-481F-01320AB9944D}"/>
              </a:ext>
            </a:extLst>
          </p:cNvPr>
          <p:cNvSpPr/>
          <p:nvPr/>
        </p:nvSpPr>
        <p:spPr>
          <a:xfrm>
            <a:off x="470826" y="3950502"/>
            <a:ext cx="4905093" cy="2097928"/>
          </a:xfrm>
          <a:prstGeom prst="cloudCallout">
            <a:avLst>
              <a:gd name="adj1" fmla="val -38859"/>
              <a:gd name="adj2" fmla="val -77799"/>
            </a:avLst>
          </a:prstGeom>
        </p:spPr>
        <p:style>
          <a:lnRef idx="0">
            <a:schemeClr val="accent5"/>
          </a:lnRef>
          <a:fillRef idx="3">
            <a:schemeClr val="accent5"/>
          </a:fillRef>
          <a:effectRef idx="3">
            <a:schemeClr val="accent5"/>
          </a:effectRef>
          <a:fontRef idx="minor">
            <a:schemeClr val="lt1"/>
          </a:fontRef>
        </p:style>
        <p:txBody>
          <a:bodyPr rtlCol="0" anchor="ctr"/>
          <a:lstStyle/>
          <a:p>
            <a:r>
              <a:rPr lang="ja-JP" altLang="en-US" sz="2000" dirty="0">
                <a:solidFill>
                  <a:schemeClr val="tx1"/>
                </a:solidFill>
                <a:latin typeface="+mn-ea"/>
              </a:rPr>
              <a:t>①はともかく、②③は＋</a:t>
            </a:r>
            <a:r>
              <a:rPr lang="en-US" altLang="ja-JP" sz="2000" dirty="0">
                <a:solidFill>
                  <a:schemeClr val="tx1"/>
                </a:solidFill>
                <a:latin typeface="+mn-ea"/>
              </a:rPr>
              <a:t>α</a:t>
            </a:r>
            <a:r>
              <a:rPr lang="ja-JP" altLang="en-US" sz="2000" dirty="0">
                <a:solidFill>
                  <a:schemeClr val="tx1"/>
                </a:solidFill>
                <a:latin typeface="+mn-ea"/>
              </a:rPr>
              <a:t>でプログラムを書くことになりコストは増える方向にしかならないのではないか？</a:t>
            </a:r>
          </a:p>
        </p:txBody>
      </p:sp>
      <p:sp>
        <p:nvSpPr>
          <p:cNvPr id="16" name="矢印: 右 15">
            <a:extLst>
              <a:ext uri="{FF2B5EF4-FFF2-40B4-BE49-F238E27FC236}">
                <a16:creationId xmlns:a16="http://schemas.microsoft.com/office/drawing/2014/main" id="{48D7EE89-CDB4-E068-B765-C07DD81FB0F0}"/>
              </a:ext>
            </a:extLst>
          </p:cNvPr>
          <p:cNvSpPr/>
          <p:nvPr/>
        </p:nvSpPr>
        <p:spPr>
          <a:xfrm>
            <a:off x="5591944" y="4797152"/>
            <a:ext cx="504056" cy="400110"/>
          </a:xfrm>
          <a:prstGeom prst="rightArrow">
            <a:avLst/>
          </a:prstGeom>
          <a:solidFill>
            <a:srgbClr val="FF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70808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37DCC-C64F-BF17-35EE-5DC427C4A34E}"/>
              </a:ext>
            </a:extLst>
          </p:cNvPr>
          <p:cNvSpPr>
            <a:spLocks noGrp="1"/>
          </p:cNvSpPr>
          <p:nvPr>
            <p:ph type="title"/>
          </p:nvPr>
        </p:nvSpPr>
        <p:spPr/>
        <p:txBody>
          <a:bodyPr/>
          <a:lstStyle/>
          <a:p>
            <a:r>
              <a:rPr lang="ja-JP" altLang="en-US" i="0" dirty="0"/>
              <a:t>まとめ</a:t>
            </a:r>
            <a:endParaRPr kumimoji="1" lang="ja-JP" altLang="en-US" i="0" dirty="0"/>
          </a:p>
        </p:txBody>
      </p:sp>
      <p:sp>
        <p:nvSpPr>
          <p:cNvPr id="3" name="コンテンツ プレースホルダー 2">
            <a:extLst>
              <a:ext uri="{FF2B5EF4-FFF2-40B4-BE49-F238E27FC236}">
                <a16:creationId xmlns:a16="http://schemas.microsoft.com/office/drawing/2014/main" id="{EE14BB3F-7299-42F7-C9CC-8F31150ADE4B}"/>
              </a:ext>
            </a:extLst>
          </p:cNvPr>
          <p:cNvSpPr>
            <a:spLocks noGrp="1"/>
          </p:cNvSpPr>
          <p:nvPr>
            <p:ph idx="1"/>
          </p:nvPr>
        </p:nvSpPr>
        <p:spPr/>
        <p:txBody>
          <a:bodyPr/>
          <a:lstStyle/>
          <a:p>
            <a:pPr marL="457200" indent="-457200">
              <a:lnSpc>
                <a:spcPct val="150000"/>
              </a:lnSpc>
              <a:buFont typeface="Arial" panose="020B0604020202020204" pitchFamily="34" charset="0"/>
              <a:buChar char="•"/>
            </a:pPr>
            <a:r>
              <a:rPr kumimoji="1" lang="en-US" altLang="ja-JP" dirty="0" err="1"/>
              <a:t>testthat</a:t>
            </a:r>
            <a:r>
              <a:rPr kumimoji="1" lang="ja-JP" altLang="en-US" dirty="0"/>
              <a:t>は</a:t>
            </a:r>
            <a:r>
              <a:rPr lang="en-US" altLang="ja-JP" dirty="0"/>
              <a:t>R</a:t>
            </a:r>
            <a:r>
              <a:rPr lang="ja-JP" altLang="en-US" dirty="0"/>
              <a:t>のテストフレームワーク</a:t>
            </a:r>
            <a:endParaRPr lang="en-US" altLang="ja-JP" dirty="0"/>
          </a:p>
          <a:p>
            <a:pPr marL="457200" indent="-457200">
              <a:lnSpc>
                <a:spcPct val="150000"/>
              </a:lnSpc>
              <a:buFont typeface="Arial" panose="020B0604020202020204" pitchFamily="34" charset="0"/>
              <a:buChar char="•"/>
            </a:pPr>
            <a:r>
              <a:rPr lang="ja-JP" altLang="en-US" dirty="0"/>
              <a:t>パッケージ開発においては欠かせない存在</a:t>
            </a:r>
            <a:endParaRPr lang="en-US" altLang="ja-JP" dirty="0"/>
          </a:p>
          <a:p>
            <a:pPr marL="457200" indent="-457200">
              <a:lnSpc>
                <a:spcPct val="150000"/>
              </a:lnSpc>
              <a:buFont typeface="Arial" panose="020B0604020202020204" pitchFamily="34" charset="0"/>
              <a:buChar char="•"/>
            </a:pPr>
            <a:r>
              <a:rPr lang="en-US" altLang="ja-JP" dirty="0" err="1"/>
              <a:t>testthat</a:t>
            </a:r>
            <a:r>
              <a:rPr lang="ja-JP" altLang="en-US" dirty="0"/>
              <a:t>は期待値の確認だけではなく、周辺機能も豊富</a:t>
            </a:r>
            <a:endParaRPr lang="en-US" altLang="ja-JP" dirty="0"/>
          </a:p>
          <a:p>
            <a:pPr marL="457200" indent="-457200">
              <a:lnSpc>
                <a:spcPct val="150000"/>
              </a:lnSpc>
              <a:buFont typeface="Arial" panose="020B0604020202020204" pitchFamily="34" charset="0"/>
              <a:buChar char="•"/>
            </a:pPr>
            <a:r>
              <a:rPr lang="ja-JP" altLang="en-US" dirty="0"/>
              <a:t>繰返し</a:t>
            </a:r>
            <a:r>
              <a:rPr lang="en-US" altLang="ja-JP" dirty="0" err="1"/>
              <a:t>testthat</a:t>
            </a:r>
            <a:r>
              <a:rPr lang="ja-JP" altLang="en-US" dirty="0"/>
              <a:t>によるチェックを行う際にはフォルダ構成等を整えておく必要がある。</a:t>
            </a:r>
          </a:p>
          <a:p>
            <a:pPr marL="457200" indent="-457200">
              <a:lnSpc>
                <a:spcPct val="150000"/>
              </a:lnSpc>
              <a:buFont typeface="Arial" panose="020B0604020202020204" pitchFamily="34" charset="0"/>
              <a:buChar char="•"/>
            </a:pPr>
            <a:r>
              <a:rPr lang="ja-JP" altLang="en-US" dirty="0"/>
              <a:t>使い方次第で、これからのデータセット作成や統計解析においてQCのベースを担う素質が十分にある。</a:t>
            </a:r>
            <a:endParaRPr lang="en-US" altLang="ja-JP" dirty="0"/>
          </a:p>
        </p:txBody>
      </p:sp>
      <p:sp>
        <p:nvSpPr>
          <p:cNvPr id="4" name="スライド番号プレースホルダー 3">
            <a:extLst>
              <a:ext uri="{FF2B5EF4-FFF2-40B4-BE49-F238E27FC236}">
                <a16:creationId xmlns:a16="http://schemas.microsoft.com/office/drawing/2014/main" id="{61C62265-ACE5-6B78-4FD5-A38ADAD5E42C}"/>
              </a:ext>
            </a:extLst>
          </p:cNvPr>
          <p:cNvSpPr>
            <a:spLocks noGrp="1"/>
          </p:cNvSpPr>
          <p:nvPr>
            <p:ph type="sldNum" sz="quarter" idx="11"/>
          </p:nvPr>
        </p:nvSpPr>
        <p:spPr/>
        <p:txBody>
          <a:bodyPr/>
          <a:lstStyle/>
          <a:p>
            <a:fld id="{23B20E4E-3F95-4221-AFE5-FD1FD9CC3448}" type="slidenum">
              <a:rPr lang="en-US" altLang="ja-JP" smtClean="0"/>
              <a:pPr/>
              <a:t>17</a:t>
            </a:fld>
            <a:endParaRPr lang="en-US" altLang="ja-JP"/>
          </a:p>
        </p:txBody>
      </p:sp>
    </p:spTree>
    <p:extLst>
      <p:ext uri="{BB962C8B-B14F-4D97-AF65-F5344CB8AC3E}">
        <p14:creationId xmlns:p14="http://schemas.microsoft.com/office/powerpoint/2010/main" val="3331104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D6AC33-E37C-359D-19D8-12B37086480B}"/>
              </a:ext>
            </a:extLst>
          </p:cNvPr>
          <p:cNvSpPr>
            <a:spLocks noGrp="1"/>
          </p:cNvSpPr>
          <p:nvPr>
            <p:ph type="title"/>
          </p:nvPr>
        </p:nvSpPr>
        <p:spPr/>
        <p:txBody>
          <a:bodyPr/>
          <a:lstStyle/>
          <a:p>
            <a:r>
              <a:rPr kumimoji="1" lang="ja-JP" altLang="en-US" i="0" dirty="0"/>
              <a:t>参考文献</a:t>
            </a:r>
          </a:p>
        </p:txBody>
      </p:sp>
      <p:sp>
        <p:nvSpPr>
          <p:cNvPr id="3" name="コンテンツ プレースホルダー 2">
            <a:extLst>
              <a:ext uri="{FF2B5EF4-FFF2-40B4-BE49-F238E27FC236}">
                <a16:creationId xmlns:a16="http://schemas.microsoft.com/office/drawing/2014/main" id="{FAEFA0B2-1D42-3C0E-FEE2-61E9828D3E2E}"/>
              </a:ext>
            </a:extLst>
          </p:cNvPr>
          <p:cNvSpPr>
            <a:spLocks noGrp="1"/>
          </p:cNvSpPr>
          <p:nvPr>
            <p:ph idx="1"/>
          </p:nvPr>
        </p:nvSpPr>
        <p:spPr/>
        <p:txBody>
          <a:bodyPr/>
          <a:lstStyle/>
          <a:p>
            <a:r>
              <a:rPr lang="en-US" altLang="ja-JP" dirty="0"/>
              <a:t>[1] Wickham, H. (2011). </a:t>
            </a:r>
            <a:r>
              <a:rPr lang="en-US" altLang="ja-JP" dirty="0" err="1"/>
              <a:t>testthat</a:t>
            </a:r>
            <a:r>
              <a:rPr lang="en-US" altLang="ja-JP" dirty="0"/>
              <a:t>: Getting started with testing. </a:t>
            </a:r>
            <a:br>
              <a:rPr lang="en-US" altLang="ja-JP" dirty="0"/>
            </a:br>
            <a:r>
              <a:rPr lang="en-US" altLang="ja-JP" dirty="0">
                <a:hlinkClick r:id="rId2"/>
              </a:rPr>
              <a:t>https://vita.had.co.nz/papers/testthat.pdf</a:t>
            </a:r>
            <a:endParaRPr lang="en-US" altLang="ja-JP" dirty="0"/>
          </a:p>
          <a:p>
            <a:endParaRPr kumimoji="1" lang="en-US" altLang="ja-JP" dirty="0"/>
          </a:p>
          <a:p>
            <a:r>
              <a:rPr lang="en-US" altLang="ja-JP" dirty="0"/>
              <a:t>[2] Wickham, H. </a:t>
            </a:r>
            <a:r>
              <a:rPr lang="en-US" altLang="ja-JP" dirty="0" err="1"/>
              <a:t>testthat</a:t>
            </a:r>
            <a:r>
              <a:rPr lang="en-US" altLang="ja-JP" dirty="0"/>
              <a:t>: Unit testing for R. </a:t>
            </a:r>
            <a:br>
              <a:rPr lang="en-US" altLang="ja-JP" dirty="0"/>
            </a:br>
            <a:r>
              <a:rPr lang="en-US" altLang="ja-JP" dirty="0">
                <a:hlinkClick r:id="rId3"/>
              </a:rPr>
              <a:t>https://testthat.r-lib.org/</a:t>
            </a:r>
            <a:r>
              <a:rPr lang="en-US" altLang="ja-JP" dirty="0"/>
              <a:t> </a:t>
            </a:r>
            <a:r>
              <a:rPr lang="ja-JP" altLang="en-US" dirty="0"/>
              <a:t>（最終閲覧日</a:t>
            </a:r>
            <a:r>
              <a:rPr lang="en-US" altLang="ja-JP" dirty="0"/>
              <a:t>: 2026</a:t>
            </a:r>
            <a:r>
              <a:rPr lang="ja-JP" altLang="en-US" dirty="0"/>
              <a:t>年</a:t>
            </a:r>
            <a:r>
              <a:rPr lang="en-US" altLang="ja-JP" dirty="0"/>
              <a:t>3</a:t>
            </a:r>
            <a:r>
              <a:rPr lang="ja-JP" altLang="en-US" dirty="0"/>
              <a:t>月</a:t>
            </a:r>
            <a:r>
              <a:rPr lang="en-US" altLang="ja-JP" dirty="0"/>
              <a:t>31</a:t>
            </a:r>
            <a:r>
              <a:rPr lang="ja-JP" altLang="en-US" dirty="0"/>
              <a:t>日）</a:t>
            </a:r>
            <a:endParaRPr kumimoji="1" lang="ja-JP" altLang="en-US" dirty="0"/>
          </a:p>
        </p:txBody>
      </p:sp>
      <p:sp>
        <p:nvSpPr>
          <p:cNvPr id="4" name="スライド番号プレースホルダー 3">
            <a:extLst>
              <a:ext uri="{FF2B5EF4-FFF2-40B4-BE49-F238E27FC236}">
                <a16:creationId xmlns:a16="http://schemas.microsoft.com/office/drawing/2014/main" id="{26C8CD52-D5AD-C295-2C7B-EA22117E716B}"/>
              </a:ext>
            </a:extLst>
          </p:cNvPr>
          <p:cNvSpPr>
            <a:spLocks noGrp="1"/>
          </p:cNvSpPr>
          <p:nvPr>
            <p:ph type="sldNum" sz="quarter" idx="11"/>
          </p:nvPr>
        </p:nvSpPr>
        <p:spPr/>
        <p:txBody>
          <a:bodyPr/>
          <a:lstStyle/>
          <a:p>
            <a:fld id="{23B20E4E-3F95-4221-AFE5-FD1FD9CC3448}" type="slidenum">
              <a:rPr lang="en-US" altLang="ja-JP" smtClean="0"/>
              <a:pPr/>
              <a:t>18</a:t>
            </a:fld>
            <a:endParaRPr lang="en-US" altLang="ja-JP"/>
          </a:p>
        </p:txBody>
      </p:sp>
    </p:spTree>
    <p:extLst>
      <p:ext uri="{BB962C8B-B14F-4D97-AF65-F5344CB8AC3E}">
        <p14:creationId xmlns:p14="http://schemas.microsoft.com/office/powerpoint/2010/main" val="2989381347"/>
      </p:ext>
    </p:extLst>
  </p:cSld>
  <p:clrMapOvr>
    <a:masterClrMapping/>
  </p:clrMapOvr>
</p:sld>
</file>

<file path=ppt/theme/theme1.xml><?xml version="1.0" encoding="utf-8"?>
<a:theme xmlns:a="http://schemas.openxmlformats.org/drawingml/2006/main" name="スライド雛形4">
  <a:themeElements>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テーマ">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テーマ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テーマ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テーマ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テーマ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テーマ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テーマ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テーマ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テーマ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F52EC751C85D3E41BBD83896A4CF1807" ma:contentTypeVersion="15" ma:contentTypeDescription="新しいドキュメントを作成します。" ma:contentTypeScope="" ma:versionID="99d0570671b064f5443c84bed624fa2d">
  <xsd:schema xmlns:xsd="http://www.w3.org/2001/XMLSchema" xmlns:xs="http://www.w3.org/2001/XMLSchema" xmlns:p="http://schemas.microsoft.com/office/2006/metadata/properties" xmlns:ns2="ed3e201a-c3ad-48b5-b650-ed6e3f1bed22" xmlns:ns3="c2d93207-b2b0-41f4-8414-280bc9d88594" targetNamespace="http://schemas.microsoft.com/office/2006/metadata/properties" ma:root="true" ma:fieldsID="67d7603835e0e91ae647bc9c3e181ff7" ns2:_="" ns3:_="">
    <xsd:import namespace="ed3e201a-c3ad-48b5-b650-ed6e3f1bed22"/>
    <xsd:import namespace="c2d93207-b2b0-41f4-8414-280bc9d8859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CR" minOccurs="0"/>
                <xsd:element ref="ns2:MediaServiceObjectDetectorVersions" minOccurs="0"/>
                <xsd:element ref="ns2:MediaServiceDateTake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3e201a-c3ad-48b5-b650-ed6e3f1bed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83cacb8d-1a1d-4f75-b844-50a08060afe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2d93207-b2b0-41f4-8414-280bc9d88594"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74963ec8-76fa-4314-9830-58572480ea15}" ma:internalName="TaxCatchAll" ma:showField="CatchAllData" ma:web="c2d93207-b2b0-41f4-8414-280bc9d885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2d93207-b2b0-41f4-8414-280bc9d88594" xsi:nil="true"/>
    <lcf76f155ced4ddcb4097134ff3c332f xmlns="ed3e201a-c3ad-48b5-b650-ed6e3f1bed2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27104EE-B10B-4141-A993-475E891D39CD}">
  <ds:schemaRefs>
    <ds:schemaRef ds:uri="http://schemas.microsoft.com/sharepoint/v3/contenttype/forms"/>
  </ds:schemaRefs>
</ds:datastoreItem>
</file>

<file path=customXml/itemProps2.xml><?xml version="1.0" encoding="utf-8"?>
<ds:datastoreItem xmlns:ds="http://schemas.openxmlformats.org/officeDocument/2006/customXml" ds:itemID="{085D79EA-6FFB-4E74-AFB5-FA6DF9E006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3e201a-c3ad-48b5-b650-ed6e3f1bed22"/>
    <ds:schemaRef ds:uri="c2d93207-b2b0-41f4-8414-280bc9d885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F2E54E-572F-4D7F-B737-9820D8896EB9}">
  <ds:schemaRefs>
    <ds:schemaRef ds:uri="http://schemas.microsoft.com/office/2006/metadata/properties"/>
    <ds:schemaRef ds:uri="http://schemas.microsoft.com/office/infopath/2007/PartnerControls"/>
    <ds:schemaRef ds:uri="c2d93207-b2b0-41f4-8414-280bc9d88594"/>
    <ds:schemaRef ds:uri="ed3e201a-c3ad-48b5-b650-ed6e3f1bed22"/>
  </ds:schemaRefs>
</ds:datastoreItem>
</file>

<file path=docProps/app.xml><?xml version="1.0" encoding="utf-8"?>
<Properties xmlns="http://schemas.openxmlformats.org/officeDocument/2006/extended-properties" xmlns:vt="http://schemas.openxmlformats.org/officeDocument/2006/docPropsVTypes">
  <Template/>
  <TotalTime>0</TotalTime>
  <Words>2056</Words>
  <Application>Microsoft Office PowerPoint</Application>
  <PresentationFormat>ワイド画面</PresentationFormat>
  <Paragraphs>387</Paragraphs>
  <Slides>18</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18</vt:i4>
      </vt:variant>
    </vt:vector>
  </HeadingPairs>
  <TitlesOfParts>
    <vt:vector size="26" baseType="lpstr">
      <vt:lpstr>ＭＳ Ｐゴシック</vt:lpstr>
      <vt:lpstr>Arial</vt:lpstr>
      <vt:lpstr>Century Gothic</vt:lpstr>
      <vt:lpstr>Lucida Console</vt:lpstr>
      <vt:lpstr>Times</vt:lpstr>
      <vt:lpstr>Times New Roman</vt:lpstr>
      <vt:lpstr>Wingdings</vt:lpstr>
      <vt:lpstr>スライド雛形4</vt:lpstr>
      <vt:lpstr>PowerPoint プレゼンテーション</vt:lpstr>
      <vt:lpstr>Agenda</vt:lpstr>
      <vt:lpstr>testthatとは何か</vt:lpstr>
      <vt:lpstr>testthatはなぜ作られたのか</vt:lpstr>
      <vt:lpstr>testthat普及の理由</vt:lpstr>
      <vt:lpstr>実際にtestthatはどんなことに使えるのか？</vt:lpstr>
      <vt:lpstr>testthatの関数</vt:lpstr>
      <vt:lpstr>testthatの関数 – カテゴライズ - </vt:lpstr>
      <vt:lpstr>testthatの関数 – testの枠組みを作る-</vt:lpstr>
      <vt:lpstr>testthatの関数 – 期待値をチェックする関数（Expectation） -</vt:lpstr>
      <vt:lpstr>testthatの関数 – エラー・警告を確認する関数 -</vt:lpstr>
      <vt:lpstr>testthatの関数 – テスト実行・管理の関数 -</vt:lpstr>
      <vt:lpstr>testthatの関数 – テスト補助関数（セットアップなど） -</vt:lpstr>
      <vt:lpstr>testthatの関数 – テストの結果を見せ方を決める関数 -</vt:lpstr>
      <vt:lpstr>testthatの利用方法 – 関数の動作確認 - </vt:lpstr>
      <vt:lpstr>testthatの利用方法 - DS/TFLs作成 - </vt:lpstr>
      <vt:lpstr>まとめ</vt:lpstr>
      <vt:lpstr>参考文献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cp:revision>
  <dcterms:created xsi:type="dcterms:W3CDTF">2025-12-11T13:56:03Z</dcterms:created>
  <dcterms:modified xsi:type="dcterms:W3CDTF">2026-03-31T04:37:45Z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0x010100F52EC751C85D3E41BBD83896A4CF1807</vt:lpwstr>
  </property>
</Properties>
</file>