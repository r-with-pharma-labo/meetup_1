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51" r:id="rId1"/>
  </p:sldMasterIdLst>
  <p:notesMasterIdLst>
    <p:notesMasterId r:id="rId20"/>
  </p:notesMasterIdLst>
  <p:sldIdLst>
    <p:sldId id="257" r:id="rId2"/>
    <p:sldId id="261" r:id="rId3"/>
    <p:sldId id="262" r:id="rId4"/>
    <p:sldId id="263" r:id="rId5"/>
    <p:sldId id="264" r:id="rId6"/>
    <p:sldId id="268" r:id="rId7"/>
    <p:sldId id="265" r:id="rId8"/>
    <p:sldId id="266" r:id="rId9"/>
    <p:sldId id="267" r:id="rId10"/>
    <p:sldId id="269" r:id="rId11"/>
    <p:sldId id="270" r:id="rId12"/>
    <p:sldId id="271" r:id="rId13"/>
    <p:sldId id="273" r:id="rId14"/>
    <p:sldId id="272" r:id="rId15"/>
    <p:sldId id="274" r:id="rId16"/>
    <p:sldId id="275" r:id="rId17"/>
    <p:sldId id="276" r:id="rId18"/>
    <p:sldId id="277" r:id="rId19"/>
  </p:sldIdLst>
  <p:sldSz cx="12192000" cy="6858000"/>
  <p:notesSz cx="6858000" cy="9144000"/>
  <p:defaultTextStyle>
    <a:defPPr>
      <a:defRPr lang="ja-JP"/>
    </a:defPPr>
    <a:lvl1pPr algn="l" rtl="0" fontAlgn="base">
      <a:spcBef>
        <a:spcPct val="0"/>
      </a:spcBef>
      <a:spcAft>
        <a:spcPct val="0"/>
      </a:spcAft>
      <a:defRPr kumimoji="1" sz="2400" kern="1200">
        <a:solidFill>
          <a:schemeClr val="tx1"/>
        </a:solidFill>
        <a:latin typeface="Times" charset="0"/>
        <a:ea typeface="Osaka" charset="-128"/>
        <a:cs typeface="+mn-cs"/>
      </a:defRPr>
    </a:lvl1pPr>
    <a:lvl2pPr marL="457200" algn="l" rtl="0" fontAlgn="base">
      <a:spcBef>
        <a:spcPct val="0"/>
      </a:spcBef>
      <a:spcAft>
        <a:spcPct val="0"/>
      </a:spcAft>
      <a:defRPr kumimoji="1" sz="2400" kern="1200">
        <a:solidFill>
          <a:schemeClr val="tx1"/>
        </a:solidFill>
        <a:latin typeface="Times" charset="0"/>
        <a:ea typeface="Osaka" charset="-128"/>
        <a:cs typeface="+mn-cs"/>
      </a:defRPr>
    </a:lvl2pPr>
    <a:lvl3pPr marL="914400" algn="l" rtl="0" fontAlgn="base">
      <a:spcBef>
        <a:spcPct val="0"/>
      </a:spcBef>
      <a:spcAft>
        <a:spcPct val="0"/>
      </a:spcAft>
      <a:defRPr kumimoji="1" sz="2400" kern="1200">
        <a:solidFill>
          <a:schemeClr val="tx1"/>
        </a:solidFill>
        <a:latin typeface="Times" charset="0"/>
        <a:ea typeface="Osaka" charset="-128"/>
        <a:cs typeface="+mn-cs"/>
      </a:defRPr>
    </a:lvl3pPr>
    <a:lvl4pPr marL="1371600" algn="l" rtl="0" fontAlgn="base">
      <a:spcBef>
        <a:spcPct val="0"/>
      </a:spcBef>
      <a:spcAft>
        <a:spcPct val="0"/>
      </a:spcAft>
      <a:defRPr kumimoji="1" sz="2400" kern="1200">
        <a:solidFill>
          <a:schemeClr val="tx1"/>
        </a:solidFill>
        <a:latin typeface="Times" charset="0"/>
        <a:ea typeface="Osaka" charset="-128"/>
        <a:cs typeface="+mn-cs"/>
      </a:defRPr>
    </a:lvl4pPr>
    <a:lvl5pPr marL="1828800" algn="l" rtl="0" fontAlgn="base">
      <a:spcBef>
        <a:spcPct val="0"/>
      </a:spcBef>
      <a:spcAft>
        <a:spcPct val="0"/>
      </a:spcAft>
      <a:defRPr kumimoji="1" sz="2400" kern="1200">
        <a:solidFill>
          <a:schemeClr val="tx1"/>
        </a:solidFill>
        <a:latin typeface="Times" charset="0"/>
        <a:ea typeface="Osaka" charset="-128"/>
        <a:cs typeface="+mn-cs"/>
      </a:defRPr>
    </a:lvl5pPr>
    <a:lvl6pPr marL="2286000" algn="l" defTabSz="914400" rtl="0" eaLnBrk="1" latinLnBrk="0" hangingPunct="1">
      <a:defRPr kumimoji="1" sz="2400" kern="1200">
        <a:solidFill>
          <a:schemeClr val="tx1"/>
        </a:solidFill>
        <a:latin typeface="Times" charset="0"/>
        <a:ea typeface="Osaka" charset="-128"/>
        <a:cs typeface="+mn-cs"/>
      </a:defRPr>
    </a:lvl6pPr>
    <a:lvl7pPr marL="2743200" algn="l" defTabSz="914400" rtl="0" eaLnBrk="1" latinLnBrk="0" hangingPunct="1">
      <a:defRPr kumimoji="1" sz="2400" kern="1200">
        <a:solidFill>
          <a:schemeClr val="tx1"/>
        </a:solidFill>
        <a:latin typeface="Times" charset="0"/>
        <a:ea typeface="Osaka" charset="-128"/>
        <a:cs typeface="+mn-cs"/>
      </a:defRPr>
    </a:lvl7pPr>
    <a:lvl8pPr marL="3200400" algn="l" defTabSz="914400" rtl="0" eaLnBrk="1" latinLnBrk="0" hangingPunct="1">
      <a:defRPr kumimoji="1" sz="2400" kern="1200">
        <a:solidFill>
          <a:schemeClr val="tx1"/>
        </a:solidFill>
        <a:latin typeface="Times" charset="0"/>
        <a:ea typeface="Osaka" charset="-128"/>
        <a:cs typeface="+mn-cs"/>
      </a:defRPr>
    </a:lvl8pPr>
    <a:lvl9pPr marL="3657600" algn="l" defTabSz="914400" rtl="0" eaLnBrk="1" latinLnBrk="0" hangingPunct="1">
      <a:defRPr kumimoji="1" sz="2400" kern="1200">
        <a:solidFill>
          <a:schemeClr val="tx1"/>
        </a:solidFill>
        <a:latin typeface="Times" charset="0"/>
        <a:ea typeface="Osaka"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a:srgbClr val="008000"/>
    <a:srgbClr val="0000FF"/>
    <a:srgbClr val="3366FF"/>
    <a:srgbClr val="0066FF"/>
    <a:srgbClr val="3366CC"/>
    <a:srgbClr val="336699"/>
    <a:srgbClr val="4D4D4D"/>
    <a:srgbClr val="66CCFF"/>
    <a:srgbClr val="99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4859" autoAdjust="0"/>
    <p:restoredTop sz="90929"/>
  </p:normalViewPr>
  <p:slideViewPr>
    <p:cSldViewPr>
      <p:cViewPr varScale="1">
        <p:scale>
          <a:sx n="63" d="100"/>
          <a:sy n="63" d="100"/>
        </p:scale>
        <p:origin x="1032" y="2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atin typeface="Times New Roman" pitchFamily="18" charset="0"/>
                <a:ea typeface="ＭＳ Ｐゴシック" pitchFamily="50" charset="-128"/>
              </a:defRPr>
            </a:lvl1pPr>
          </a:lstStyle>
          <a:p>
            <a:endParaRPr lang="en-US" altLang="ja-JP"/>
          </a:p>
        </p:txBody>
      </p:sp>
      <p:sp>
        <p:nvSpPr>
          <p:cNvPr id="307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atin typeface="Times New Roman" pitchFamily="18" charset="0"/>
                <a:ea typeface="ＭＳ Ｐゴシック" pitchFamily="50" charset="-128"/>
              </a:defRPr>
            </a:lvl1pPr>
          </a:lstStyle>
          <a:p>
            <a:endParaRPr lang="en-US" altLang="ja-JP"/>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7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atin typeface="Times New Roman" pitchFamily="18" charset="0"/>
                <a:ea typeface="ＭＳ Ｐゴシック" pitchFamily="50" charset="-128"/>
              </a:defRPr>
            </a:lvl1pPr>
          </a:lstStyle>
          <a:p>
            <a:endParaRPr lang="en-US" altLang="ja-JP"/>
          </a:p>
        </p:txBody>
      </p:sp>
      <p:sp>
        <p:nvSpPr>
          <p:cNvPr id="307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atin typeface="Times New Roman" pitchFamily="18" charset="0"/>
                <a:ea typeface="ＭＳ Ｐゴシック" pitchFamily="50" charset="-128"/>
              </a:defRPr>
            </a:lvl1pPr>
          </a:lstStyle>
          <a:p>
            <a:fld id="{442BAA3F-557D-4B17-AE9E-1755FE9972DC}" type="slidenum">
              <a:rPr lang="en-US" altLang="ja-JP"/>
              <a:pPr/>
              <a:t>‹#›</a:t>
            </a:fld>
            <a:endParaRPr lang="en-US" altLang="ja-JP"/>
          </a:p>
        </p:txBody>
      </p:sp>
    </p:spTree>
    <p:extLst>
      <p:ext uri="{BB962C8B-B14F-4D97-AF65-F5344CB8AC3E}">
        <p14:creationId xmlns:p14="http://schemas.microsoft.com/office/powerpoint/2010/main" val="197640867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bg>
      <p:bgPr>
        <a:solidFill>
          <a:srgbClr val="FFFFFF"/>
        </a:solidFill>
        <a:effectLst/>
      </p:bgPr>
    </p:bg>
    <p:spTree>
      <p:nvGrpSpPr>
        <p:cNvPr id="1" name=""/>
        <p:cNvGrpSpPr/>
        <p:nvPr/>
      </p:nvGrpSpPr>
      <p:grpSpPr>
        <a:xfrm>
          <a:off x="0" y="0"/>
          <a:ext cx="0" cy="0"/>
          <a:chOff x="0" y="0"/>
          <a:chExt cx="0" cy="0"/>
        </a:xfrm>
      </p:grpSpPr>
      <p:sp>
        <p:nvSpPr>
          <p:cNvPr id="8223" name="AutoShape 31"/>
          <p:cNvSpPr>
            <a:spLocks noChangeArrowheads="1"/>
          </p:cNvSpPr>
          <p:nvPr/>
        </p:nvSpPr>
        <p:spPr bwMode="auto">
          <a:xfrm rot="5400000">
            <a:off x="506414" y="2305580"/>
            <a:ext cx="441325" cy="510116"/>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4" name="AutoShape 32"/>
          <p:cNvSpPr>
            <a:spLocks noChangeArrowheads="1"/>
          </p:cNvSpPr>
          <p:nvPr/>
        </p:nvSpPr>
        <p:spPr bwMode="auto">
          <a:xfrm rot="5400000">
            <a:off x="511704" y="3349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5" name="AutoShape 33"/>
          <p:cNvSpPr>
            <a:spLocks noChangeArrowheads="1"/>
          </p:cNvSpPr>
          <p:nvPr/>
        </p:nvSpPr>
        <p:spPr bwMode="auto">
          <a:xfrm rot="5400000">
            <a:off x="289455" y="47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6" name="AutoShape 34"/>
          <p:cNvSpPr>
            <a:spLocks noChangeArrowheads="1"/>
          </p:cNvSpPr>
          <p:nvPr/>
        </p:nvSpPr>
        <p:spPr bwMode="auto">
          <a:xfrm rot="5400000">
            <a:off x="216430" y="665693"/>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7" name="AutoShape 35"/>
          <p:cNvSpPr>
            <a:spLocks noChangeArrowheads="1"/>
          </p:cNvSpPr>
          <p:nvPr/>
        </p:nvSpPr>
        <p:spPr bwMode="auto">
          <a:xfrm rot="5400000">
            <a:off x="511704" y="9985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8" name="AutoShape 36"/>
          <p:cNvSpPr>
            <a:spLocks noChangeArrowheads="1"/>
          </p:cNvSpPr>
          <p:nvPr/>
        </p:nvSpPr>
        <p:spPr bwMode="auto">
          <a:xfrm rot="5400000">
            <a:off x="804069" y="1328474"/>
            <a:ext cx="442913" cy="510117"/>
          </a:xfrm>
          <a:prstGeom prst="hexagon">
            <a:avLst>
              <a:gd name="adj" fmla="val 28942"/>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29" name="AutoShape 37"/>
          <p:cNvSpPr>
            <a:spLocks noChangeArrowheads="1"/>
          </p:cNvSpPr>
          <p:nvPr/>
        </p:nvSpPr>
        <p:spPr bwMode="auto">
          <a:xfrm rot="5400000">
            <a:off x="511704" y="1660526"/>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1" name="AutoShape 39"/>
          <p:cNvSpPr>
            <a:spLocks noChangeArrowheads="1"/>
          </p:cNvSpPr>
          <p:nvPr/>
        </p:nvSpPr>
        <p:spPr bwMode="auto">
          <a:xfrm rot="5400000">
            <a:off x="234422" y="1968501"/>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2" name="AutoShape 40"/>
          <p:cNvSpPr>
            <a:spLocks noChangeArrowheads="1"/>
          </p:cNvSpPr>
          <p:nvPr/>
        </p:nvSpPr>
        <p:spPr bwMode="auto">
          <a:xfrm rot="5400000">
            <a:off x="776288" y="26463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3" name="AutoShape 41"/>
          <p:cNvSpPr>
            <a:spLocks noChangeArrowheads="1"/>
          </p:cNvSpPr>
          <p:nvPr/>
        </p:nvSpPr>
        <p:spPr bwMode="auto">
          <a:xfrm rot="5400000">
            <a:off x="505355" y="2984501"/>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4" name="AutoShape 42"/>
          <p:cNvSpPr>
            <a:spLocks noChangeArrowheads="1"/>
          </p:cNvSpPr>
          <p:nvPr/>
        </p:nvSpPr>
        <p:spPr bwMode="auto">
          <a:xfrm rot="5400000">
            <a:off x="234422" y="33226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5" name="AutoShape 43"/>
          <p:cNvSpPr>
            <a:spLocks noChangeArrowheads="1"/>
          </p:cNvSpPr>
          <p:nvPr/>
        </p:nvSpPr>
        <p:spPr bwMode="auto">
          <a:xfrm rot="5400000">
            <a:off x="505620" y="3660511"/>
            <a:ext cx="442912" cy="510116"/>
          </a:xfrm>
          <a:prstGeom prst="hexagon">
            <a:avLst>
              <a:gd name="adj" fmla="val 28942"/>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6" name="AutoShape 44"/>
          <p:cNvSpPr>
            <a:spLocks noChangeArrowheads="1"/>
          </p:cNvSpPr>
          <p:nvPr/>
        </p:nvSpPr>
        <p:spPr bwMode="auto">
          <a:xfrm rot="5400000">
            <a:off x="234422" y="4000501"/>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7" name="AutoShape 45"/>
          <p:cNvSpPr>
            <a:spLocks noChangeArrowheads="1"/>
          </p:cNvSpPr>
          <p:nvPr/>
        </p:nvSpPr>
        <p:spPr bwMode="auto">
          <a:xfrm rot="5400000">
            <a:off x="505355" y="4338638"/>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39" name="AutoShape 47"/>
          <p:cNvSpPr>
            <a:spLocks noChangeArrowheads="1"/>
          </p:cNvSpPr>
          <p:nvPr/>
        </p:nvSpPr>
        <p:spPr bwMode="auto">
          <a:xfrm rot="5400000">
            <a:off x="234422" y="4676776"/>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0" name="AutoShape 48"/>
          <p:cNvSpPr>
            <a:spLocks noChangeArrowheads="1"/>
          </p:cNvSpPr>
          <p:nvPr/>
        </p:nvSpPr>
        <p:spPr bwMode="auto">
          <a:xfrm rot="5400000">
            <a:off x="506414" y="5015443"/>
            <a:ext cx="441325" cy="510116"/>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1" name="AutoShape 49"/>
          <p:cNvSpPr>
            <a:spLocks noChangeArrowheads="1"/>
          </p:cNvSpPr>
          <p:nvPr/>
        </p:nvSpPr>
        <p:spPr bwMode="auto">
          <a:xfrm rot="5400000">
            <a:off x="777347" y="5353580"/>
            <a:ext cx="441325" cy="510116"/>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3" name="AutoShape 51"/>
          <p:cNvSpPr>
            <a:spLocks noChangeArrowheads="1"/>
          </p:cNvSpPr>
          <p:nvPr/>
        </p:nvSpPr>
        <p:spPr bwMode="auto">
          <a:xfrm rot="5400000">
            <a:off x="236538" y="53387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4" name="AutoShape 52"/>
          <p:cNvSpPr>
            <a:spLocks noChangeArrowheads="1"/>
          </p:cNvSpPr>
          <p:nvPr/>
        </p:nvSpPr>
        <p:spPr bwMode="auto">
          <a:xfrm rot="5400000">
            <a:off x="490538" y="56943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5" name="AutoShape 53"/>
          <p:cNvSpPr>
            <a:spLocks noChangeArrowheads="1"/>
          </p:cNvSpPr>
          <p:nvPr/>
        </p:nvSpPr>
        <p:spPr bwMode="auto">
          <a:xfrm rot="5400000">
            <a:off x="236538" y="60372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6" name="AutoShape 54"/>
          <p:cNvSpPr>
            <a:spLocks noChangeArrowheads="1"/>
          </p:cNvSpPr>
          <p:nvPr/>
        </p:nvSpPr>
        <p:spPr bwMode="auto">
          <a:xfrm rot="5400000">
            <a:off x="542396" y="6369580"/>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196" name="Rectangle 4"/>
          <p:cNvSpPr>
            <a:spLocks noGrp="1" noChangeArrowheads="1"/>
          </p:cNvSpPr>
          <p:nvPr>
            <p:ph type="dt" sz="half" idx="2"/>
          </p:nvPr>
        </p:nvSpPr>
        <p:spPr>
          <a:xfrm>
            <a:off x="1930400" y="6553200"/>
            <a:ext cx="2336800" cy="457200"/>
          </a:xfrm>
        </p:spPr>
        <p:txBody>
          <a:bodyPr/>
          <a:lstStyle>
            <a:lvl1pPr algn="ctr">
              <a:defRPr kumimoji="1" b="0">
                <a:solidFill>
                  <a:schemeClr val="tx1"/>
                </a:solidFill>
                <a:effectLst/>
                <a:latin typeface="+mn-lt"/>
                <a:ea typeface="+mn-ea"/>
              </a:defRPr>
            </a:lvl1pPr>
          </a:lstStyle>
          <a:p>
            <a:endParaRPr lang="en-US" altLang="ja-JP"/>
          </a:p>
        </p:txBody>
      </p:sp>
      <p:sp>
        <p:nvSpPr>
          <p:cNvPr id="8197" name="Rectangle 5"/>
          <p:cNvSpPr>
            <a:spLocks noGrp="1" noChangeArrowheads="1"/>
          </p:cNvSpPr>
          <p:nvPr>
            <p:ph type="ftr" sz="quarter" idx="3"/>
          </p:nvPr>
        </p:nvSpPr>
        <p:spPr bwMode="auto">
          <a:xfrm>
            <a:off x="4320118" y="6553200"/>
            <a:ext cx="3551767" cy="4572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endParaRPr lang="en-US" altLang="ja-JP"/>
          </a:p>
        </p:txBody>
      </p:sp>
      <p:sp>
        <p:nvSpPr>
          <p:cNvPr id="8221" name="Rectangle 29"/>
          <p:cNvSpPr>
            <a:spLocks noGrp="1" noChangeArrowheads="1"/>
          </p:cNvSpPr>
          <p:nvPr>
            <p:ph type="ctrTitle" sz="quarter"/>
          </p:nvPr>
        </p:nvSpPr>
        <p:spPr>
          <a:xfrm>
            <a:off x="1274236" y="1752600"/>
            <a:ext cx="9681630" cy="1143000"/>
          </a:xfrm>
          <a:extLst>
            <a:ext uri="{AF507438-7753-43E0-B8FC-AC1667EBCBE1}">
              <a14:hiddenEffects xmlns:a14="http://schemas.microsoft.com/office/drawing/2010/main">
                <a:effectLst>
                  <a:outerShdw dist="107763" dir="2700000" algn="ctr" rotWithShape="0">
                    <a:schemeClr val="bg2"/>
                  </a:outerShdw>
                </a:effectLst>
              </a14:hiddenEffects>
            </a:ext>
          </a:extLst>
        </p:spPr>
        <p:txBody>
          <a:bodyPr/>
          <a:lstStyle>
            <a:lvl1pPr algn="ctr">
              <a:defRPr sz="4400" i="0"/>
            </a:lvl1pPr>
          </a:lstStyle>
          <a:p>
            <a:pPr lvl="0"/>
            <a:r>
              <a:rPr lang="ja-JP" altLang="en-US" noProof="0" dirty="0"/>
              <a:t>マスター タイトルの書式設定</a:t>
            </a:r>
          </a:p>
        </p:txBody>
      </p:sp>
      <p:sp>
        <p:nvSpPr>
          <p:cNvPr id="8222" name="Rectangle 30"/>
          <p:cNvSpPr>
            <a:spLocks noGrp="1" noChangeArrowheads="1"/>
          </p:cNvSpPr>
          <p:nvPr>
            <p:ph type="subTitle" sz="quarter" idx="1"/>
          </p:nvPr>
        </p:nvSpPr>
        <p:spPr>
          <a:xfrm>
            <a:off x="1274235" y="4038600"/>
            <a:ext cx="9679513" cy="762000"/>
          </a:xfrm>
        </p:spPr>
        <p:txBody>
          <a:bodyPr/>
          <a:lstStyle>
            <a:lvl1pPr marL="0" indent="0" algn="ctr">
              <a:defRPr/>
            </a:lvl1pPr>
          </a:lstStyle>
          <a:p>
            <a:pPr lvl="0"/>
            <a:r>
              <a:rPr lang="ja-JP" altLang="en-US" noProof="0" dirty="0"/>
              <a:t>マスター サブタイトルの書式設定</a:t>
            </a:r>
          </a:p>
        </p:txBody>
      </p:sp>
      <p:sp>
        <p:nvSpPr>
          <p:cNvPr id="8248" name="AutoShape 56"/>
          <p:cNvSpPr>
            <a:spLocks noChangeArrowheads="1"/>
          </p:cNvSpPr>
          <p:nvPr/>
        </p:nvSpPr>
        <p:spPr bwMode="auto">
          <a:xfrm rot="5400000">
            <a:off x="11295063" y="6369580"/>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49" name="AutoShape 57"/>
          <p:cNvSpPr>
            <a:spLocks noChangeArrowheads="1"/>
          </p:cNvSpPr>
          <p:nvPr/>
        </p:nvSpPr>
        <p:spPr bwMode="auto">
          <a:xfrm rot="5400000">
            <a:off x="11024130" y="6023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0" name="AutoShape 58"/>
          <p:cNvSpPr>
            <a:spLocks noChangeArrowheads="1"/>
          </p:cNvSpPr>
          <p:nvPr/>
        </p:nvSpPr>
        <p:spPr bwMode="auto">
          <a:xfrm rot="5400000">
            <a:off x="11294004" y="5681663"/>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1" name="AutoShape 59"/>
          <p:cNvSpPr>
            <a:spLocks noChangeArrowheads="1"/>
          </p:cNvSpPr>
          <p:nvPr/>
        </p:nvSpPr>
        <p:spPr bwMode="auto">
          <a:xfrm rot="5400000">
            <a:off x="11006138" y="5329238"/>
            <a:ext cx="441325" cy="508000"/>
          </a:xfrm>
          <a:prstGeom prst="hexagon">
            <a:avLst>
              <a:gd name="adj" fmla="val 2895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2" name="AutoShape 60"/>
          <p:cNvSpPr>
            <a:spLocks noChangeArrowheads="1"/>
          </p:cNvSpPr>
          <p:nvPr/>
        </p:nvSpPr>
        <p:spPr bwMode="auto">
          <a:xfrm rot="5400000">
            <a:off x="11260138" y="4970463"/>
            <a:ext cx="441325" cy="508000"/>
          </a:xfrm>
          <a:prstGeom prst="hexagon">
            <a:avLst>
              <a:gd name="adj" fmla="val 2895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3" name="AutoShape 61"/>
          <p:cNvSpPr>
            <a:spLocks noChangeArrowheads="1"/>
          </p:cNvSpPr>
          <p:nvPr/>
        </p:nvSpPr>
        <p:spPr bwMode="auto">
          <a:xfrm rot="5400000">
            <a:off x="10989204" y="46275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4" name="AutoShape 62"/>
          <p:cNvSpPr>
            <a:spLocks noChangeArrowheads="1"/>
          </p:cNvSpPr>
          <p:nvPr/>
        </p:nvSpPr>
        <p:spPr bwMode="auto">
          <a:xfrm rot="5400000">
            <a:off x="11277071" y="4297363"/>
            <a:ext cx="441325" cy="508000"/>
          </a:xfrm>
          <a:prstGeom prst="hexagon">
            <a:avLst>
              <a:gd name="adj" fmla="val 2895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5" name="AutoShape 63"/>
          <p:cNvSpPr>
            <a:spLocks noChangeArrowheads="1"/>
          </p:cNvSpPr>
          <p:nvPr/>
        </p:nvSpPr>
        <p:spPr bwMode="auto">
          <a:xfrm rot="5400000">
            <a:off x="11564938" y="3954463"/>
            <a:ext cx="441325" cy="508000"/>
          </a:xfrm>
          <a:prstGeom prst="hexagon">
            <a:avLst>
              <a:gd name="adj" fmla="val 2895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6" name="AutoShape 64"/>
          <p:cNvSpPr>
            <a:spLocks noChangeArrowheads="1"/>
          </p:cNvSpPr>
          <p:nvPr/>
        </p:nvSpPr>
        <p:spPr bwMode="auto">
          <a:xfrm rot="5400000">
            <a:off x="11278130" y="3610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8257" name="AutoShape 65"/>
          <p:cNvSpPr>
            <a:spLocks noChangeArrowheads="1"/>
          </p:cNvSpPr>
          <p:nvPr/>
        </p:nvSpPr>
        <p:spPr bwMode="auto">
          <a:xfrm rot="5400000">
            <a:off x="11565996" y="6023505"/>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23B20E4E-3F95-4221-AFE5-FD1FD9CC3448}" type="slidenum">
              <a:rPr lang="en-US" altLang="ja-JP"/>
              <a:pPr/>
              <a:t>‹#›</a:t>
            </a:fld>
            <a:endParaRPr lang="en-US" altLang="ja-JP"/>
          </a:p>
        </p:txBody>
      </p:sp>
    </p:spTree>
    <p:extLst>
      <p:ext uri="{BB962C8B-B14F-4D97-AF65-F5344CB8AC3E}">
        <p14:creationId xmlns:p14="http://schemas.microsoft.com/office/powerpoint/2010/main" val="6735429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963084" y="4406901"/>
            <a:ext cx="103632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59B327E7-9605-4B1F-A86B-23630CCB1D76}" type="slidenum">
              <a:rPr lang="en-US" altLang="ja-JP"/>
              <a:pPr/>
              <a:t>‹#›</a:t>
            </a:fld>
            <a:endParaRPr lang="en-US" altLang="ja-JP"/>
          </a:p>
        </p:txBody>
      </p:sp>
    </p:spTree>
    <p:extLst>
      <p:ext uri="{BB962C8B-B14F-4D97-AF65-F5344CB8AC3E}">
        <p14:creationId xmlns:p14="http://schemas.microsoft.com/office/powerpoint/2010/main" val="2795626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510117" y="1219200"/>
            <a:ext cx="5484283"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6197601" y="1219200"/>
            <a:ext cx="5484284"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80724435-5351-4F85-AB21-E011B281C3F4}" type="slidenum">
              <a:rPr lang="en-US" altLang="ja-JP"/>
              <a:pPr/>
              <a:t>‹#›</a:t>
            </a:fld>
            <a:endParaRPr lang="en-US" altLang="ja-JP"/>
          </a:p>
        </p:txBody>
      </p:sp>
    </p:spTree>
    <p:extLst>
      <p:ext uri="{BB962C8B-B14F-4D97-AF65-F5344CB8AC3E}">
        <p14:creationId xmlns:p14="http://schemas.microsoft.com/office/powerpoint/2010/main" val="311713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591942" y="0"/>
            <a:ext cx="10400602" cy="908720"/>
          </a:xfrm>
        </p:spPr>
        <p:txBody>
          <a:bodyPr/>
          <a:lstStyle>
            <a:lvl1pPr>
              <a:defRPr/>
            </a:lvl1pPr>
          </a:lstStyle>
          <a:p>
            <a:r>
              <a:rPr lang="ja-JP" altLang="en-US" dirty="0"/>
              <a:t>マスター タイトルの書式設定</a:t>
            </a:r>
          </a:p>
        </p:txBody>
      </p:sp>
      <p:sp>
        <p:nvSpPr>
          <p:cNvPr id="3" name="テキスト プレースホルダー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ー 6"/>
          <p:cNvSpPr>
            <a:spLocks noGrp="1"/>
          </p:cNvSpPr>
          <p:nvPr>
            <p:ph type="dt" sz="half" idx="10"/>
          </p:nvPr>
        </p:nvSpPr>
        <p:spPr/>
        <p:txBody>
          <a:bodyPr/>
          <a:lstStyle>
            <a:lvl1pPr>
              <a:defRPr/>
            </a:lvl1pPr>
          </a:lstStyle>
          <a:p>
            <a:endParaRPr lang="en-US" altLang="ja-JP"/>
          </a:p>
        </p:txBody>
      </p:sp>
      <p:sp>
        <p:nvSpPr>
          <p:cNvPr id="8" name="スライド番号プレースホルダー 7"/>
          <p:cNvSpPr>
            <a:spLocks noGrp="1"/>
          </p:cNvSpPr>
          <p:nvPr>
            <p:ph type="sldNum" sz="quarter" idx="11"/>
          </p:nvPr>
        </p:nvSpPr>
        <p:spPr/>
        <p:txBody>
          <a:bodyPr/>
          <a:lstStyle>
            <a:lvl1pPr>
              <a:defRPr/>
            </a:lvl1pPr>
          </a:lstStyle>
          <a:p>
            <a:fld id="{5FBBB600-0FC1-4824-A895-1F4A3020CA10}" type="slidenum">
              <a:rPr lang="en-US" altLang="ja-JP"/>
              <a:pPr/>
              <a:t>‹#›</a:t>
            </a:fld>
            <a:endParaRPr lang="en-US" altLang="ja-JP"/>
          </a:p>
        </p:txBody>
      </p:sp>
    </p:spTree>
    <p:extLst>
      <p:ext uri="{BB962C8B-B14F-4D97-AF65-F5344CB8AC3E}">
        <p14:creationId xmlns:p14="http://schemas.microsoft.com/office/powerpoint/2010/main" val="36619888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日付プレースホルダー 2"/>
          <p:cNvSpPr>
            <a:spLocks noGrp="1"/>
          </p:cNvSpPr>
          <p:nvPr>
            <p:ph type="dt" sz="half" idx="10"/>
          </p:nvPr>
        </p:nvSpPr>
        <p:spPr/>
        <p:txBody>
          <a:bodyPr/>
          <a:lstStyle>
            <a:lvl1pPr>
              <a:defRPr/>
            </a:lvl1pPr>
          </a:lstStyle>
          <a:p>
            <a:endParaRPr lang="en-US" altLang="ja-JP"/>
          </a:p>
        </p:txBody>
      </p:sp>
      <p:sp>
        <p:nvSpPr>
          <p:cNvPr id="4" name="スライド番号プレースホルダー 3"/>
          <p:cNvSpPr>
            <a:spLocks noGrp="1"/>
          </p:cNvSpPr>
          <p:nvPr>
            <p:ph type="sldNum" sz="quarter" idx="11"/>
          </p:nvPr>
        </p:nvSpPr>
        <p:spPr/>
        <p:txBody>
          <a:bodyPr/>
          <a:lstStyle>
            <a:lvl1pPr>
              <a:defRPr/>
            </a:lvl1pPr>
          </a:lstStyle>
          <a:p>
            <a:fld id="{8AB6CAD0-26EA-44DC-A34E-525D1C843D86}" type="slidenum">
              <a:rPr lang="en-US" altLang="ja-JP"/>
              <a:pPr/>
              <a:t>‹#›</a:t>
            </a:fld>
            <a:endParaRPr lang="en-US" altLang="ja-JP"/>
          </a:p>
        </p:txBody>
      </p:sp>
    </p:spTree>
    <p:extLst>
      <p:ext uri="{BB962C8B-B14F-4D97-AF65-F5344CB8AC3E}">
        <p14:creationId xmlns:p14="http://schemas.microsoft.com/office/powerpoint/2010/main" val="8200349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lvl1pPr>
              <a:defRPr/>
            </a:lvl1pPr>
          </a:lstStyle>
          <a:p>
            <a:endParaRPr lang="en-US" altLang="ja-JP"/>
          </a:p>
        </p:txBody>
      </p:sp>
      <p:sp>
        <p:nvSpPr>
          <p:cNvPr id="3" name="スライド番号プレースホルダー 2"/>
          <p:cNvSpPr>
            <a:spLocks noGrp="1"/>
          </p:cNvSpPr>
          <p:nvPr>
            <p:ph type="sldNum" sz="quarter" idx="11"/>
          </p:nvPr>
        </p:nvSpPr>
        <p:spPr/>
        <p:txBody>
          <a:bodyPr/>
          <a:lstStyle>
            <a:lvl1pPr>
              <a:defRPr/>
            </a:lvl1pPr>
          </a:lstStyle>
          <a:p>
            <a:fld id="{57B969C8-B00C-423B-B7C2-865033CB3CDB}" type="slidenum">
              <a:rPr lang="en-US" altLang="ja-JP"/>
              <a:pPr/>
              <a:t>‹#›</a:t>
            </a:fld>
            <a:endParaRPr lang="en-US" altLang="ja-JP"/>
          </a:p>
        </p:txBody>
      </p:sp>
    </p:spTree>
    <p:extLst>
      <p:ext uri="{BB962C8B-B14F-4D97-AF65-F5344CB8AC3E}">
        <p14:creationId xmlns:p14="http://schemas.microsoft.com/office/powerpoint/2010/main" val="424923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09601" y="970866"/>
            <a:ext cx="4011084" cy="526380"/>
          </a:xfrm>
        </p:spPr>
        <p:txBody>
          <a:bodyPr anchor="b"/>
          <a:lstStyle>
            <a:lvl1pPr algn="l">
              <a:defRPr sz="2000" b="1"/>
            </a:lvl1pPr>
          </a:lstStyle>
          <a:p>
            <a:r>
              <a:rPr lang="ja-JP" altLang="en-US" dirty="0"/>
              <a:t>マスター タイトルの書式設定</a:t>
            </a:r>
          </a:p>
        </p:txBody>
      </p:sp>
      <p:sp>
        <p:nvSpPr>
          <p:cNvPr id="3" name="コンテンツ プレースホルダー 2"/>
          <p:cNvSpPr>
            <a:spLocks noGrp="1"/>
          </p:cNvSpPr>
          <p:nvPr>
            <p:ph idx="1"/>
          </p:nvPr>
        </p:nvSpPr>
        <p:spPr>
          <a:xfrm>
            <a:off x="4766733" y="970866"/>
            <a:ext cx="6815667" cy="521744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4" name="テキスト プレースホルダー 3"/>
          <p:cNvSpPr>
            <a:spLocks noGrp="1"/>
          </p:cNvSpPr>
          <p:nvPr>
            <p:ph type="body" sz="half" idx="2"/>
          </p:nvPr>
        </p:nvSpPr>
        <p:spPr>
          <a:xfrm>
            <a:off x="609601" y="1497247"/>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27517061-3919-4886-BB04-892603DCDF1C}" type="slidenum">
              <a:rPr lang="en-US" altLang="ja-JP"/>
              <a:pPr/>
              <a:t>‹#›</a:t>
            </a:fld>
            <a:endParaRPr lang="en-US" altLang="ja-JP"/>
          </a:p>
        </p:txBody>
      </p:sp>
    </p:spTree>
    <p:extLst>
      <p:ext uri="{BB962C8B-B14F-4D97-AF65-F5344CB8AC3E}">
        <p14:creationId xmlns:p14="http://schemas.microsoft.com/office/powerpoint/2010/main" val="1322185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2389717" y="4800600"/>
            <a:ext cx="73152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2389717" y="1052735"/>
            <a:ext cx="7315200" cy="367483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p>
        </p:txBody>
      </p:sp>
      <p:sp>
        <p:nvSpPr>
          <p:cNvPr id="4" name="テキスト プレースホルダー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4"/>
          <p:cNvSpPr>
            <a:spLocks noGrp="1"/>
          </p:cNvSpPr>
          <p:nvPr>
            <p:ph type="dt" sz="half" idx="10"/>
          </p:nvPr>
        </p:nvSpPr>
        <p:spPr/>
        <p:txBody>
          <a:bodyPr/>
          <a:lstStyle>
            <a:lvl1pPr>
              <a:defRPr/>
            </a:lvl1pPr>
          </a:lstStyle>
          <a:p>
            <a:endParaRPr lang="en-US" altLang="ja-JP"/>
          </a:p>
        </p:txBody>
      </p:sp>
      <p:sp>
        <p:nvSpPr>
          <p:cNvPr id="6" name="スライド番号プレースホルダー 5"/>
          <p:cNvSpPr>
            <a:spLocks noGrp="1"/>
          </p:cNvSpPr>
          <p:nvPr>
            <p:ph type="sldNum" sz="quarter" idx="11"/>
          </p:nvPr>
        </p:nvSpPr>
        <p:spPr/>
        <p:txBody>
          <a:bodyPr/>
          <a:lstStyle>
            <a:lvl1pPr>
              <a:defRPr/>
            </a:lvl1pPr>
          </a:lstStyle>
          <a:p>
            <a:fld id="{3675D8CF-DD1E-4EAB-BC58-2A87F58CC84A}" type="slidenum">
              <a:rPr lang="en-US" altLang="ja-JP"/>
              <a:pPr/>
              <a:t>‹#›</a:t>
            </a:fld>
            <a:endParaRPr lang="en-US" altLang="ja-JP"/>
          </a:p>
        </p:txBody>
      </p:sp>
    </p:spTree>
    <p:extLst>
      <p:ext uri="{BB962C8B-B14F-4D97-AF65-F5344CB8AC3E}">
        <p14:creationId xmlns:p14="http://schemas.microsoft.com/office/powerpoint/2010/main" val="40743042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39210B1D-38D9-4389-8774-02EB9DE2EE2A}" type="slidenum">
              <a:rPr lang="en-US" altLang="ja-JP"/>
              <a:pPr/>
              <a:t>‹#›</a:t>
            </a:fld>
            <a:endParaRPr lang="en-US" altLang="ja-JP"/>
          </a:p>
        </p:txBody>
      </p:sp>
    </p:spTree>
    <p:extLst>
      <p:ext uri="{BB962C8B-B14F-4D97-AF65-F5344CB8AC3E}">
        <p14:creationId xmlns:p14="http://schemas.microsoft.com/office/powerpoint/2010/main" val="890559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940800" y="980728"/>
            <a:ext cx="2844800" cy="5420072"/>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06400" y="980728"/>
            <a:ext cx="8331200" cy="5420072"/>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p:cNvSpPr>
            <a:spLocks noGrp="1"/>
          </p:cNvSpPr>
          <p:nvPr>
            <p:ph type="dt" sz="half" idx="10"/>
          </p:nvPr>
        </p:nvSpPr>
        <p:spPr/>
        <p:txBody>
          <a:bodyPr/>
          <a:lstStyle>
            <a:lvl1pPr>
              <a:defRPr/>
            </a:lvl1pPr>
          </a:lstStyle>
          <a:p>
            <a:endParaRPr lang="en-US" altLang="ja-JP"/>
          </a:p>
        </p:txBody>
      </p:sp>
      <p:sp>
        <p:nvSpPr>
          <p:cNvPr id="5" name="スライド番号プレースホルダー 4"/>
          <p:cNvSpPr>
            <a:spLocks noGrp="1"/>
          </p:cNvSpPr>
          <p:nvPr>
            <p:ph type="sldNum" sz="quarter" idx="11"/>
          </p:nvPr>
        </p:nvSpPr>
        <p:spPr/>
        <p:txBody>
          <a:bodyPr/>
          <a:lstStyle>
            <a:lvl1pPr>
              <a:defRPr/>
            </a:lvl1pPr>
          </a:lstStyle>
          <a:p>
            <a:fld id="{EEB424A9-2B98-46EE-806E-1DC4FA4740DF}" type="slidenum">
              <a:rPr lang="en-US" altLang="ja-JP"/>
              <a:pPr/>
              <a:t>‹#›</a:t>
            </a:fld>
            <a:endParaRPr lang="en-US" altLang="ja-JP"/>
          </a:p>
        </p:txBody>
      </p:sp>
    </p:spTree>
    <p:extLst>
      <p:ext uri="{BB962C8B-B14F-4D97-AF65-F5344CB8AC3E}">
        <p14:creationId xmlns:p14="http://schemas.microsoft.com/office/powerpoint/2010/main" val="15742429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dt" sz="half" idx="2"/>
          </p:nvPr>
        </p:nvSpPr>
        <p:spPr bwMode="auto">
          <a:xfrm>
            <a:off x="0" y="6477000"/>
            <a:ext cx="2540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kumimoji="0" sz="1400" b="1">
                <a:solidFill>
                  <a:srgbClr val="4D4D4D"/>
                </a:solidFill>
                <a:effectLst>
                  <a:outerShdw blurRad="38100" dist="38100" dir="2700000" algn="tl">
                    <a:srgbClr val="C0C0C0"/>
                  </a:outerShdw>
                </a:effectLst>
                <a:latin typeface="Century Gothic" pitchFamily="34" charset="0"/>
                <a:ea typeface="Gulim" pitchFamily="34" charset="-127"/>
              </a:defRPr>
            </a:lvl1pPr>
          </a:lstStyle>
          <a:p>
            <a:endParaRPr lang="en-US" altLang="ja-JP"/>
          </a:p>
        </p:txBody>
      </p:sp>
      <p:sp>
        <p:nvSpPr>
          <p:cNvPr id="7171" name="Rectangle 3"/>
          <p:cNvSpPr>
            <a:spLocks noGrp="1" noChangeArrowheads="1"/>
          </p:cNvSpPr>
          <p:nvPr>
            <p:ph type="sldNum" sz="quarter" idx="4"/>
          </p:nvPr>
        </p:nvSpPr>
        <p:spPr bwMode="auto">
          <a:xfrm>
            <a:off x="11564742" y="6477401"/>
            <a:ext cx="547044" cy="280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1" compatLnSpc="1">
            <a:prstTxWarp prst="textNoShape">
              <a:avLst/>
            </a:prstTxWarp>
          </a:bodyPr>
          <a:lstStyle>
            <a:lvl1pPr algn="r">
              <a:defRPr kumimoji="0" sz="1400" b="1">
                <a:solidFill>
                  <a:srgbClr val="4D4D4D"/>
                </a:solidFill>
                <a:effectLst>
                  <a:outerShdw blurRad="38100" dist="38100" dir="2700000" algn="tl">
                    <a:srgbClr val="C0C0C0"/>
                  </a:outerShdw>
                </a:effectLst>
                <a:latin typeface="Century Gothic" pitchFamily="34" charset="0"/>
                <a:ea typeface="Gulim" pitchFamily="34" charset="-127"/>
              </a:defRPr>
            </a:lvl1pPr>
          </a:lstStyle>
          <a:p>
            <a:fld id="{9E14BAE2-246D-40C8-99B9-BF4FC5F3B658}" type="slidenum">
              <a:rPr lang="en-US" altLang="ja-JP"/>
              <a:pPr/>
              <a:t>‹#›</a:t>
            </a:fld>
            <a:endParaRPr lang="en-US" altLang="ja-JP" dirty="0"/>
          </a:p>
        </p:txBody>
      </p:sp>
      <p:sp>
        <p:nvSpPr>
          <p:cNvPr id="7172" name="Rectangle 4"/>
          <p:cNvSpPr>
            <a:spLocks noGrp="1" noChangeArrowheads="1"/>
          </p:cNvSpPr>
          <p:nvPr>
            <p:ph type="title"/>
          </p:nvPr>
        </p:nvSpPr>
        <p:spPr bwMode="auto">
          <a:xfrm>
            <a:off x="406400" y="381000"/>
            <a:ext cx="10664438"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7174" name="Rectangle 6"/>
          <p:cNvSpPr>
            <a:spLocks noGrp="1" noChangeArrowheads="1"/>
          </p:cNvSpPr>
          <p:nvPr>
            <p:ph type="body" idx="1"/>
          </p:nvPr>
        </p:nvSpPr>
        <p:spPr bwMode="auto">
          <a:xfrm>
            <a:off x="510118" y="1219200"/>
            <a:ext cx="11171767"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第</a:t>
            </a:r>
            <a:r>
              <a:rPr lang="en-US" altLang="ja-JP"/>
              <a:t>1</a:t>
            </a:r>
            <a:r>
              <a:rPr lang="ja-JP" altLang="en-US"/>
              <a:t>レベル</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195" name="AutoShape 27"/>
          <p:cNvSpPr>
            <a:spLocks noChangeArrowheads="1"/>
          </p:cNvSpPr>
          <p:nvPr/>
        </p:nvSpPr>
        <p:spPr bwMode="auto">
          <a:xfrm rot="5400000">
            <a:off x="11664034" y="5675919"/>
            <a:ext cx="441325" cy="510117"/>
          </a:xfrm>
          <a:prstGeom prst="hexagon">
            <a:avLst>
              <a:gd name="adj" fmla="val 28838"/>
              <a:gd name="vf" fmla="val 115470"/>
            </a:avLst>
          </a:prstGeom>
          <a:solidFill>
            <a:srgbClr val="99FF99"/>
          </a:solidFill>
          <a:ln w="9525">
            <a:solidFill>
              <a:srgbClr val="99FF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198" name="AutoShape 30"/>
          <p:cNvSpPr>
            <a:spLocks noChangeArrowheads="1"/>
          </p:cNvSpPr>
          <p:nvPr/>
        </p:nvSpPr>
        <p:spPr bwMode="auto">
          <a:xfrm rot="5400000">
            <a:off x="11376167" y="6018819"/>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66CC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199" name="AutoShape 31"/>
          <p:cNvSpPr>
            <a:spLocks noChangeArrowheads="1"/>
          </p:cNvSpPr>
          <p:nvPr/>
        </p:nvSpPr>
        <p:spPr bwMode="auto">
          <a:xfrm rot="5400000">
            <a:off x="11647100" y="6361719"/>
            <a:ext cx="441325" cy="510117"/>
          </a:xfrm>
          <a:prstGeom prst="hexagon">
            <a:avLst>
              <a:gd name="adj" fmla="val 28838"/>
              <a:gd name="vf" fmla="val 115470"/>
            </a:avLst>
          </a:prstGeom>
          <a:noFill/>
          <a:ln w="9525">
            <a:solidFill>
              <a:srgbClr val="66CCFF"/>
            </a:solidFill>
            <a:miter lim="800000"/>
            <a:headEnd/>
            <a:tailEnd/>
          </a:ln>
          <a:effectLst/>
          <a:extLst>
            <a:ext uri="{909E8E84-426E-40DD-AFC4-6F175D3DCCD1}">
              <a14:hiddenFill xmlns:a14="http://schemas.microsoft.com/office/drawing/2010/main">
                <a:solidFill>
                  <a:srgbClr val="3366CC"/>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sp>
        <p:nvSpPr>
          <p:cNvPr id="7200" name="Line 32"/>
          <p:cNvSpPr>
            <a:spLocks noChangeShapeType="1"/>
          </p:cNvSpPr>
          <p:nvPr/>
        </p:nvSpPr>
        <p:spPr bwMode="auto">
          <a:xfrm>
            <a:off x="0" y="914400"/>
            <a:ext cx="10972800" cy="0"/>
          </a:xfrm>
          <a:prstGeom prst="line">
            <a:avLst/>
          </a:prstGeom>
          <a:noFill/>
          <a:ln w="57150">
            <a:solidFill>
              <a:srgbClr val="99FF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ja-JP" altLang="en-US" sz="2400"/>
          </a:p>
        </p:txBody>
      </p:sp>
      <p:sp>
        <p:nvSpPr>
          <p:cNvPr id="7201" name="AutoShape 33"/>
          <p:cNvSpPr>
            <a:spLocks noChangeArrowheads="1"/>
          </p:cNvSpPr>
          <p:nvPr/>
        </p:nvSpPr>
        <p:spPr bwMode="auto">
          <a:xfrm rot="5400000">
            <a:off x="11105234" y="6361719"/>
            <a:ext cx="441325" cy="510117"/>
          </a:xfrm>
          <a:prstGeom prst="hexagon">
            <a:avLst>
              <a:gd name="adj" fmla="val 28838"/>
              <a:gd name="vf" fmla="val 115470"/>
            </a:avLst>
          </a:prstGeom>
          <a:solidFill>
            <a:srgbClr val="66CCFF"/>
          </a:solidFill>
          <a:ln w="9525">
            <a:solidFill>
              <a:srgbClr val="66CC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sz="2400"/>
          </a:p>
        </p:txBody>
      </p:sp>
      <p:pic>
        <p:nvPicPr>
          <p:cNvPr id="2050" name="Picture 2">
            <a:extLst>
              <a:ext uri="{FF2B5EF4-FFF2-40B4-BE49-F238E27FC236}">
                <a16:creationId xmlns:a16="http://schemas.microsoft.com/office/drawing/2014/main" id="{9AF9AB08-E6F9-EC98-86B3-C6C5EA0F0233}"/>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0637262" y="11934"/>
            <a:ext cx="1539323" cy="864366"/>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Lst>
  <p:hf hdr="0" ftr="0" dt="0"/>
  <p:txStyles>
    <p:titleStyle>
      <a:lvl1pPr algn="l" rtl="0" eaLnBrk="1" fontAlgn="base" hangingPunct="1">
        <a:spcBef>
          <a:spcPct val="0"/>
        </a:spcBef>
        <a:spcAft>
          <a:spcPct val="0"/>
        </a:spcAft>
        <a:defRPr kumimoji="1" sz="3200" b="1" i="1">
          <a:solidFill>
            <a:srgbClr val="4D4D4D"/>
          </a:solidFill>
          <a:latin typeface="+mj-lt"/>
          <a:ea typeface="+mj-ea"/>
          <a:cs typeface="+mj-cs"/>
        </a:defRPr>
      </a:lvl1pPr>
      <a:lvl2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2pPr>
      <a:lvl3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3pPr>
      <a:lvl4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4pPr>
      <a:lvl5pPr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5pPr>
      <a:lvl6pPr marL="4572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6pPr>
      <a:lvl7pPr marL="9144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7pPr>
      <a:lvl8pPr marL="13716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8pPr>
      <a:lvl9pPr marL="1828800" algn="l" rtl="0" eaLnBrk="1" fontAlgn="base" hangingPunct="1">
        <a:spcBef>
          <a:spcPct val="0"/>
        </a:spcBef>
        <a:spcAft>
          <a:spcPct val="0"/>
        </a:spcAft>
        <a:defRPr kumimoji="1" sz="3200" b="1" i="1">
          <a:solidFill>
            <a:srgbClr val="4D4D4D"/>
          </a:solidFill>
          <a:latin typeface="ＭＳ Ｐゴシック" pitchFamily="50" charset="-128"/>
          <a:ea typeface="ＭＳ Ｐゴシック" pitchFamily="50" charset="-128"/>
        </a:defRPr>
      </a:lvl9pPr>
    </p:titleStyle>
    <p:bodyStyle>
      <a:lvl1pPr marL="342900" indent="-342900" algn="l" rtl="0" eaLnBrk="1" fontAlgn="base" hangingPunct="1">
        <a:spcBef>
          <a:spcPct val="20000"/>
        </a:spcBef>
        <a:spcAft>
          <a:spcPct val="0"/>
        </a:spcAft>
        <a:buClr>
          <a:srgbClr val="333399"/>
        </a:buClr>
        <a:buFont typeface="Wingdings" pitchFamily="2" charset="2"/>
        <a:defRPr kumimoji="1" sz="2800">
          <a:solidFill>
            <a:srgbClr val="4D4D4D"/>
          </a:solidFill>
          <a:latin typeface="+mn-lt"/>
          <a:ea typeface="+mn-ea"/>
          <a:cs typeface="+mn-cs"/>
        </a:defRPr>
      </a:lvl1pPr>
      <a:lvl2pPr marL="742950" indent="-285750" algn="l" rtl="0" eaLnBrk="1" fontAlgn="base" hangingPunct="1">
        <a:spcBef>
          <a:spcPct val="20000"/>
        </a:spcBef>
        <a:spcAft>
          <a:spcPct val="0"/>
        </a:spcAft>
        <a:buClr>
          <a:srgbClr val="3399FF"/>
        </a:buClr>
        <a:buFont typeface="Wingdings" pitchFamily="2" charset="2"/>
        <a:defRPr kumimoji="1" sz="2400">
          <a:solidFill>
            <a:srgbClr val="4D4D4D"/>
          </a:solidFill>
          <a:latin typeface="+mn-lt"/>
          <a:ea typeface="+mn-ea"/>
        </a:defRPr>
      </a:lvl2pPr>
      <a:lvl3pPr marL="1143000" indent="-228600" algn="l" rtl="0" eaLnBrk="1" fontAlgn="base" hangingPunct="1">
        <a:spcBef>
          <a:spcPct val="20000"/>
        </a:spcBef>
        <a:spcAft>
          <a:spcPct val="0"/>
        </a:spcAft>
        <a:buClr>
          <a:srgbClr val="00FFFF"/>
        </a:buClr>
        <a:buFont typeface="Wingdings" pitchFamily="2" charset="2"/>
        <a:defRPr kumimoji="1" sz="2000">
          <a:solidFill>
            <a:srgbClr val="4D4D4D"/>
          </a:solidFill>
          <a:latin typeface="+mn-lt"/>
          <a:ea typeface="+mn-ea"/>
        </a:defRPr>
      </a:lvl3pPr>
      <a:lvl4pPr marL="1600200" indent="-228600" algn="l" rtl="0" eaLnBrk="1" fontAlgn="base" hangingPunct="1">
        <a:spcBef>
          <a:spcPct val="20000"/>
        </a:spcBef>
        <a:spcAft>
          <a:spcPct val="0"/>
        </a:spcAft>
        <a:defRPr kumimoji="1">
          <a:solidFill>
            <a:srgbClr val="4D4D4D"/>
          </a:solidFill>
          <a:latin typeface="+mn-lt"/>
          <a:ea typeface="+mn-ea"/>
        </a:defRPr>
      </a:lvl4pPr>
      <a:lvl5pPr marL="2057400" indent="-228600" algn="l" rtl="0" eaLnBrk="1" fontAlgn="base" hangingPunct="1">
        <a:spcBef>
          <a:spcPct val="20000"/>
        </a:spcBef>
        <a:spcAft>
          <a:spcPct val="0"/>
        </a:spcAft>
        <a:defRPr kumimoji="1" sz="1600">
          <a:solidFill>
            <a:srgbClr val="4D4D4D"/>
          </a:solidFill>
          <a:latin typeface="+mn-lt"/>
          <a:ea typeface="+mn-ea"/>
        </a:defRPr>
      </a:lvl5pPr>
      <a:lvl6pPr marL="2514600" indent="-228600" algn="l" rtl="0" eaLnBrk="1" fontAlgn="base" hangingPunct="1">
        <a:spcBef>
          <a:spcPct val="20000"/>
        </a:spcBef>
        <a:spcAft>
          <a:spcPct val="0"/>
        </a:spcAft>
        <a:defRPr kumimoji="1" sz="1600">
          <a:solidFill>
            <a:srgbClr val="4D4D4D"/>
          </a:solidFill>
          <a:latin typeface="+mn-lt"/>
          <a:ea typeface="+mn-ea"/>
        </a:defRPr>
      </a:lvl6pPr>
      <a:lvl7pPr marL="2971800" indent="-228600" algn="l" rtl="0" eaLnBrk="1" fontAlgn="base" hangingPunct="1">
        <a:spcBef>
          <a:spcPct val="20000"/>
        </a:spcBef>
        <a:spcAft>
          <a:spcPct val="0"/>
        </a:spcAft>
        <a:defRPr kumimoji="1" sz="1600">
          <a:solidFill>
            <a:srgbClr val="4D4D4D"/>
          </a:solidFill>
          <a:latin typeface="+mn-lt"/>
          <a:ea typeface="+mn-ea"/>
        </a:defRPr>
      </a:lvl7pPr>
      <a:lvl8pPr marL="3429000" indent="-228600" algn="l" rtl="0" eaLnBrk="1" fontAlgn="base" hangingPunct="1">
        <a:spcBef>
          <a:spcPct val="20000"/>
        </a:spcBef>
        <a:spcAft>
          <a:spcPct val="0"/>
        </a:spcAft>
        <a:defRPr kumimoji="1" sz="1600">
          <a:solidFill>
            <a:srgbClr val="4D4D4D"/>
          </a:solidFill>
          <a:latin typeface="+mn-lt"/>
          <a:ea typeface="+mn-ea"/>
        </a:defRPr>
      </a:lvl8pPr>
      <a:lvl9pPr marL="3886200" indent="-228600" algn="l" rtl="0" eaLnBrk="1" fontAlgn="base" hangingPunct="1">
        <a:spcBef>
          <a:spcPct val="20000"/>
        </a:spcBef>
        <a:spcAft>
          <a:spcPct val="0"/>
        </a:spcAft>
        <a:defRPr kumimoji="1" sz="1600">
          <a:solidFill>
            <a:srgbClr val="4D4D4D"/>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hyperlink" Target="https://tidyverse.or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design.tidyverse.org/unifying.html" TargetMode="External"/><Relationship Id="rId1" Type="http://schemas.openxmlformats.org/officeDocument/2006/relationships/slideLayout" Target="../slideLayouts/slideLayout2.xml"/><Relationship Id="rId5" Type="http://schemas.openxmlformats.org/officeDocument/2006/relationships/hyperlink" Target="https://tidyverse.tidyverse.org/articles/manifesto.html" TargetMode="Externa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image" Target="../media/image13.jpe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jpeg"/><Relationship Id="rId5" Type="http://schemas.openxmlformats.org/officeDocument/2006/relationships/image" Target="../media/image15.png"/><Relationship Id="rId4" Type="http://schemas.openxmlformats.org/officeDocument/2006/relationships/image" Target="../media/image14.jpeg"/><Relationship Id="rId9" Type="http://schemas.openxmlformats.org/officeDocument/2006/relationships/image" Target="../media/image19.jpeg"/></Relationships>
</file>

<file path=ppt/slides/_rels/slide7.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png"/><Relationship Id="rId7" Type="http://schemas.openxmlformats.org/officeDocument/2006/relationships/image" Target="../media/image24.jpe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3.jpe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4.jpe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hyperlink" Target="https://pharmaverse.org/" TargetMode="Externa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FF1A2DC-A995-7304-8C6C-3596ADBE66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09584" y="-12154"/>
            <a:ext cx="2582416" cy="1450087"/>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E2FEE0B9-216D-10FD-BDFF-7AC26870F037}"/>
              </a:ext>
            </a:extLst>
          </p:cNvPr>
          <p:cNvSpPr txBox="1"/>
          <p:nvPr/>
        </p:nvSpPr>
        <p:spPr>
          <a:xfrm>
            <a:off x="2135560" y="1437933"/>
            <a:ext cx="8880648" cy="1107996"/>
          </a:xfrm>
          <a:prstGeom prst="rect">
            <a:avLst/>
          </a:prstGeom>
          <a:noFill/>
        </p:spPr>
        <p:txBody>
          <a:bodyPr wrap="square">
            <a:spAutoFit/>
          </a:bodyPr>
          <a:lstStyle/>
          <a:p>
            <a:r>
              <a:rPr lang="en-US" altLang="ja-JP" sz="6600" dirty="0" err="1"/>
              <a:t>tidyverse</a:t>
            </a:r>
            <a:r>
              <a:rPr lang="en-US" altLang="ja-JP" sz="6600" dirty="0"/>
              <a:t> in 10 minutes </a:t>
            </a:r>
            <a:endParaRPr lang="ja-JP" altLang="en-US" sz="6600" dirty="0"/>
          </a:p>
        </p:txBody>
      </p:sp>
      <p:sp>
        <p:nvSpPr>
          <p:cNvPr id="5" name="テキスト ボックス 4">
            <a:extLst>
              <a:ext uri="{FF2B5EF4-FFF2-40B4-BE49-F238E27FC236}">
                <a16:creationId xmlns:a16="http://schemas.microsoft.com/office/drawing/2014/main" id="{942FA9C5-A524-4A92-A667-F73F6D733184}"/>
              </a:ext>
            </a:extLst>
          </p:cNvPr>
          <p:cNvSpPr txBox="1"/>
          <p:nvPr/>
        </p:nvSpPr>
        <p:spPr>
          <a:xfrm>
            <a:off x="7464152" y="4725144"/>
            <a:ext cx="3912096" cy="1569660"/>
          </a:xfrm>
          <a:prstGeom prst="rect">
            <a:avLst/>
          </a:prstGeom>
          <a:noFill/>
        </p:spPr>
        <p:txBody>
          <a:bodyPr wrap="square">
            <a:spAutoFit/>
          </a:bodyPr>
          <a:lstStyle/>
          <a:p>
            <a:r>
              <a:rPr lang="en-US" altLang="ja-JP" dirty="0"/>
              <a:t>Yutaka Morioka</a:t>
            </a:r>
          </a:p>
          <a:p>
            <a:r>
              <a:rPr lang="en-US" altLang="ja-JP" dirty="0"/>
              <a:t>EPS Corp.</a:t>
            </a:r>
          </a:p>
          <a:p>
            <a:endParaRPr lang="en-US" altLang="ja-JP" dirty="0"/>
          </a:p>
          <a:p>
            <a:r>
              <a:rPr lang="en-US" altLang="ja-JP" dirty="0"/>
              <a:t>2026-04-08</a:t>
            </a:r>
            <a:endParaRPr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descr="ダイアグラム&#10;&#10;AI 生成コンテンツは誤りを含む可能性があります。">
            <a:extLst>
              <a:ext uri="{FF2B5EF4-FFF2-40B4-BE49-F238E27FC236}">
                <a16:creationId xmlns:a16="http://schemas.microsoft.com/office/drawing/2014/main" id="{C2EF3111-8DF2-8823-52EA-CE832EE55FB1}"/>
              </a:ext>
            </a:extLst>
          </p:cNvPr>
          <p:cNvPicPr>
            <a:picLocks noChangeAspect="1"/>
          </p:cNvPicPr>
          <p:nvPr/>
        </p:nvPicPr>
        <p:blipFill>
          <a:blip r:embed="rId2"/>
          <a:stretch>
            <a:fillRect/>
          </a:stretch>
        </p:blipFill>
        <p:spPr>
          <a:xfrm>
            <a:off x="1487488" y="1738439"/>
            <a:ext cx="5604542" cy="5149049"/>
          </a:xfrm>
          <a:prstGeom prst="rect">
            <a:avLst/>
          </a:prstGeom>
        </p:spPr>
      </p:pic>
      <p:sp>
        <p:nvSpPr>
          <p:cNvPr id="2" name="タイトル 1">
            <a:extLst>
              <a:ext uri="{FF2B5EF4-FFF2-40B4-BE49-F238E27FC236}">
                <a16:creationId xmlns:a16="http://schemas.microsoft.com/office/drawing/2014/main" id="{7222FDDA-721C-92AE-3E23-50E810226FD2}"/>
              </a:ext>
            </a:extLst>
          </p:cNvPr>
          <p:cNvSpPr>
            <a:spLocks noGrp="1"/>
          </p:cNvSpPr>
          <p:nvPr>
            <p:ph type="title"/>
          </p:nvPr>
        </p:nvSpPr>
        <p:spPr>
          <a:xfrm>
            <a:off x="111960" y="269063"/>
            <a:ext cx="10664438" cy="533400"/>
          </a:xfrm>
        </p:spPr>
        <p:txBody>
          <a:bodyPr/>
          <a:lstStyle/>
          <a:p>
            <a:r>
              <a:rPr kumimoji="1" lang="en-US" altLang="ja-JP" i="0" dirty="0" err="1"/>
              <a:t>tidyverse</a:t>
            </a:r>
            <a:endParaRPr kumimoji="1" lang="ja-JP" altLang="en-US" i="0" dirty="0"/>
          </a:p>
        </p:txBody>
      </p:sp>
      <p:sp>
        <p:nvSpPr>
          <p:cNvPr id="4" name="スライド番号プレースホルダー 3">
            <a:extLst>
              <a:ext uri="{FF2B5EF4-FFF2-40B4-BE49-F238E27FC236}">
                <a16:creationId xmlns:a16="http://schemas.microsoft.com/office/drawing/2014/main" id="{C8397AA1-F39C-1328-502D-FB8EFA468873}"/>
              </a:ext>
            </a:extLst>
          </p:cNvPr>
          <p:cNvSpPr>
            <a:spLocks noGrp="1"/>
          </p:cNvSpPr>
          <p:nvPr>
            <p:ph type="sldNum" sz="quarter" idx="11"/>
          </p:nvPr>
        </p:nvSpPr>
        <p:spPr/>
        <p:txBody>
          <a:bodyPr/>
          <a:lstStyle/>
          <a:p>
            <a:fld id="{23B20E4E-3F95-4221-AFE5-FD1FD9CC3448}" type="slidenum">
              <a:rPr lang="en-US" altLang="ja-JP" smtClean="0"/>
              <a:pPr/>
              <a:t>2</a:t>
            </a:fld>
            <a:endParaRPr lang="en-US" altLang="ja-JP"/>
          </a:p>
        </p:txBody>
      </p:sp>
      <p:pic>
        <p:nvPicPr>
          <p:cNvPr id="1026" name="Picture 2" descr="Tidyverse">
            <a:extLst>
              <a:ext uri="{FF2B5EF4-FFF2-40B4-BE49-F238E27FC236}">
                <a16:creationId xmlns:a16="http://schemas.microsoft.com/office/drawing/2014/main" id="{363BE877-CF33-8EF5-B5E9-F4A60AC5F1D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11960" y="914400"/>
            <a:ext cx="2245449" cy="2592288"/>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038E4315-09C1-BE26-D3FA-6EA141CC6643}"/>
              </a:ext>
            </a:extLst>
          </p:cNvPr>
          <p:cNvSpPr txBox="1"/>
          <p:nvPr/>
        </p:nvSpPr>
        <p:spPr>
          <a:xfrm>
            <a:off x="207616" y="5573122"/>
            <a:ext cx="6097712" cy="461665"/>
          </a:xfrm>
          <a:prstGeom prst="rect">
            <a:avLst/>
          </a:prstGeom>
          <a:noFill/>
        </p:spPr>
        <p:txBody>
          <a:bodyPr wrap="square">
            <a:spAutoFit/>
          </a:bodyPr>
          <a:lstStyle/>
          <a:p>
            <a:r>
              <a:rPr lang="ja-JP" altLang="en-US" dirty="0">
                <a:hlinkClick r:id="rId4"/>
              </a:rPr>
              <a:t>https://tidyverse.org</a:t>
            </a:r>
            <a:r>
              <a:rPr lang="ja-JP" altLang="en-US" dirty="0"/>
              <a:t>/</a:t>
            </a:r>
          </a:p>
        </p:txBody>
      </p:sp>
      <p:sp>
        <p:nvSpPr>
          <p:cNvPr id="10" name="テキスト ボックス 9">
            <a:extLst>
              <a:ext uri="{FF2B5EF4-FFF2-40B4-BE49-F238E27FC236}">
                <a16:creationId xmlns:a16="http://schemas.microsoft.com/office/drawing/2014/main" id="{BFAE65D3-EE20-B428-2CE4-C9FC48A3EAB8}"/>
              </a:ext>
            </a:extLst>
          </p:cNvPr>
          <p:cNvSpPr txBox="1"/>
          <p:nvPr/>
        </p:nvSpPr>
        <p:spPr>
          <a:xfrm>
            <a:off x="6960096" y="5099006"/>
            <a:ext cx="5040560" cy="1477328"/>
          </a:xfrm>
          <a:prstGeom prst="rect">
            <a:avLst/>
          </a:prstGeom>
          <a:noFill/>
        </p:spPr>
        <p:txBody>
          <a:bodyPr wrap="square">
            <a:spAutoFit/>
          </a:bodyPr>
          <a:lstStyle/>
          <a:p>
            <a:r>
              <a:rPr lang="ja-JP" altLang="en-US" sz="1800" dirty="0"/>
              <a:t>ただし！！</a:t>
            </a:r>
            <a:endParaRPr lang="en-US" altLang="ja-JP" sz="1800" dirty="0"/>
          </a:p>
          <a:p>
            <a:r>
              <a:rPr lang="ja-JP" altLang="en-US" sz="1800" dirty="0"/>
              <a:t>Tidyverseは単なる</a:t>
            </a:r>
            <a:endParaRPr lang="en-US" altLang="ja-JP" sz="1800" dirty="0"/>
          </a:p>
          <a:p>
            <a:r>
              <a:rPr lang="ja-JP" altLang="en-US" sz="1800" dirty="0"/>
              <a:t>独立したパッケージの寄せ集めではない．</a:t>
            </a:r>
            <a:endParaRPr lang="en-US" altLang="ja-JP" sz="1800" dirty="0"/>
          </a:p>
          <a:p>
            <a:r>
              <a:rPr lang="ja-JP" altLang="en-US" sz="1800" dirty="0"/>
              <a:t>全体として哲学・方向性を持った</a:t>
            </a:r>
            <a:endParaRPr lang="en-US" altLang="ja-JP" sz="1800" dirty="0"/>
          </a:p>
          <a:p>
            <a:r>
              <a:rPr lang="ja-JP" altLang="en-US" sz="1800" dirty="0"/>
              <a:t>統合コレクション・エコシステムである</a:t>
            </a:r>
          </a:p>
        </p:txBody>
      </p:sp>
      <p:sp>
        <p:nvSpPr>
          <p:cNvPr id="12" name="テキスト ボックス 11">
            <a:extLst>
              <a:ext uri="{FF2B5EF4-FFF2-40B4-BE49-F238E27FC236}">
                <a16:creationId xmlns:a16="http://schemas.microsoft.com/office/drawing/2014/main" id="{67C8AB9F-96DE-B2A5-2C81-44BC782EF8AF}"/>
              </a:ext>
            </a:extLst>
          </p:cNvPr>
          <p:cNvSpPr txBox="1"/>
          <p:nvPr/>
        </p:nvSpPr>
        <p:spPr>
          <a:xfrm>
            <a:off x="5773137" y="1000292"/>
            <a:ext cx="4824536" cy="830997"/>
          </a:xfrm>
          <a:prstGeom prst="rect">
            <a:avLst/>
          </a:prstGeom>
          <a:noFill/>
        </p:spPr>
        <p:txBody>
          <a:bodyPr wrap="square">
            <a:spAutoFit/>
          </a:bodyPr>
          <a:lstStyle/>
          <a:p>
            <a:r>
              <a:rPr lang="ja-JP" altLang="en-US" dirty="0"/>
              <a:t>install.packages(“tidyverse“)</a:t>
            </a:r>
            <a:endParaRPr lang="en-US" altLang="ja-JP" dirty="0"/>
          </a:p>
          <a:p>
            <a:r>
              <a:rPr lang="en-US" altLang="ja-JP" dirty="0"/>
              <a:t>l</a:t>
            </a:r>
            <a:r>
              <a:rPr lang="ja-JP" altLang="en-US" dirty="0"/>
              <a:t>ibrary(tidyverse)</a:t>
            </a:r>
          </a:p>
        </p:txBody>
      </p:sp>
      <p:pic>
        <p:nvPicPr>
          <p:cNvPr id="14" name="図 13" descr="グラフィカル ユーザー インターフェイス, テキスト&#10;&#10;AI 生成コンテンツは誤りを含む可能性があります。">
            <a:extLst>
              <a:ext uri="{FF2B5EF4-FFF2-40B4-BE49-F238E27FC236}">
                <a16:creationId xmlns:a16="http://schemas.microsoft.com/office/drawing/2014/main" id="{31C22E0A-0D87-4859-2536-5B0A331870E6}"/>
              </a:ext>
            </a:extLst>
          </p:cNvPr>
          <p:cNvPicPr>
            <a:picLocks noChangeAspect="1"/>
          </p:cNvPicPr>
          <p:nvPr/>
        </p:nvPicPr>
        <p:blipFill>
          <a:blip r:embed="rId5"/>
          <a:stretch>
            <a:fillRect/>
          </a:stretch>
        </p:blipFill>
        <p:spPr>
          <a:xfrm>
            <a:off x="5863567" y="1924139"/>
            <a:ext cx="6257699" cy="1461530"/>
          </a:xfrm>
          <a:prstGeom prst="rect">
            <a:avLst/>
          </a:prstGeom>
        </p:spPr>
      </p:pic>
      <p:sp>
        <p:nvSpPr>
          <p:cNvPr id="15" name="テキスト ボックス 14">
            <a:extLst>
              <a:ext uri="{FF2B5EF4-FFF2-40B4-BE49-F238E27FC236}">
                <a16:creationId xmlns:a16="http://schemas.microsoft.com/office/drawing/2014/main" id="{71D7C23C-354B-E53F-15CA-7D370A5DCFC5}"/>
              </a:ext>
            </a:extLst>
          </p:cNvPr>
          <p:cNvSpPr txBox="1"/>
          <p:nvPr/>
        </p:nvSpPr>
        <p:spPr>
          <a:xfrm>
            <a:off x="6281664" y="3609543"/>
            <a:ext cx="5040560" cy="1200329"/>
          </a:xfrm>
          <a:prstGeom prst="rect">
            <a:avLst/>
          </a:prstGeom>
          <a:noFill/>
        </p:spPr>
        <p:txBody>
          <a:bodyPr wrap="square">
            <a:spAutoFit/>
          </a:bodyPr>
          <a:lstStyle/>
          <a:p>
            <a:r>
              <a:rPr lang="ja-JP" altLang="en-US" sz="1800" dirty="0"/>
              <a:t>現時点</a:t>
            </a:r>
            <a:r>
              <a:rPr lang="en-US" altLang="ja-JP" sz="1800" dirty="0"/>
              <a:t>(2026-03-16)</a:t>
            </a:r>
            <a:r>
              <a:rPr lang="ja-JP" altLang="en-US" sz="1800" dirty="0"/>
              <a:t>の</a:t>
            </a:r>
            <a:r>
              <a:rPr lang="en-US" altLang="ja-JP" sz="1800" dirty="0" err="1"/>
              <a:t>tidyverse</a:t>
            </a:r>
            <a:r>
              <a:rPr lang="ja-JP" altLang="en-US" sz="1800" dirty="0"/>
              <a:t> </a:t>
            </a:r>
            <a:r>
              <a:rPr lang="en-US" altLang="ja-JP" sz="1800" dirty="0"/>
              <a:t>2.0.0</a:t>
            </a:r>
            <a:r>
              <a:rPr lang="ja-JP" altLang="en-US" sz="1800" dirty="0"/>
              <a:t>では</a:t>
            </a:r>
            <a:endParaRPr lang="en-US" altLang="ja-JP" sz="1800" dirty="0"/>
          </a:p>
          <a:p>
            <a:r>
              <a:rPr lang="en-US" altLang="ja-JP" sz="1800" dirty="0"/>
              <a:t>l</a:t>
            </a:r>
            <a:r>
              <a:rPr lang="ja-JP" altLang="en-US" sz="1800" dirty="0"/>
              <a:t>ibrary(tidyverse)で</a:t>
            </a:r>
            <a:endParaRPr lang="en-US" altLang="ja-JP" sz="1800" dirty="0"/>
          </a:p>
          <a:p>
            <a:r>
              <a:rPr lang="en-US" altLang="ja-JP" sz="1800" dirty="0"/>
              <a:t>9</a:t>
            </a:r>
            <a:r>
              <a:rPr lang="ja-JP" altLang="en-US" sz="1800" dirty="0"/>
              <a:t>つのコアパッケージがアタッチされる</a:t>
            </a:r>
            <a:endParaRPr lang="en-US" altLang="ja-JP" sz="1800" dirty="0"/>
          </a:p>
          <a:p>
            <a:r>
              <a:rPr lang="ja-JP" altLang="en-US" sz="1800" dirty="0"/>
              <a:t>便利ツールのおまとめパックのイメージ</a:t>
            </a:r>
          </a:p>
        </p:txBody>
      </p:sp>
    </p:spTree>
    <p:extLst>
      <p:ext uri="{BB962C8B-B14F-4D97-AF65-F5344CB8AC3E}">
        <p14:creationId xmlns:p14="http://schemas.microsoft.com/office/powerpoint/2010/main" val="3277628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A3EB7A-C508-2BCD-F201-BCC643622D3D}"/>
              </a:ext>
            </a:extLst>
          </p:cNvPr>
          <p:cNvSpPr>
            <a:spLocks noGrp="1"/>
          </p:cNvSpPr>
          <p:nvPr>
            <p:ph type="title"/>
          </p:nvPr>
        </p:nvSpPr>
        <p:spPr/>
        <p:txBody>
          <a:bodyPr/>
          <a:lstStyle/>
          <a:p>
            <a:r>
              <a:rPr lang="en-US" altLang="ja-JP" i="0" dirty="0" err="1"/>
              <a:t>tidyverse</a:t>
            </a:r>
            <a:r>
              <a:rPr lang="ja-JP" altLang="en-US" i="0" dirty="0"/>
              <a:t>の思想・哲学周り</a:t>
            </a:r>
            <a:endParaRPr kumimoji="1" lang="ja-JP" altLang="en-US" i="0" dirty="0"/>
          </a:p>
        </p:txBody>
      </p:sp>
      <p:sp>
        <p:nvSpPr>
          <p:cNvPr id="4" name="スライド番号プレースホルダー 3">
            <a:extLst>
              <a:ext uri="{FF2B5EF4-FFF2-40B4-BE49-F238E27FC236}">
                <a16:creationId xmlns:a16="http://schemas.microsoft.com/office/drawing/2014/main" id="{FBD0855F-780F-1A55-A780-4D5337362971}"/>
              </a:ext>
            </a:extLst>
          </p:cNvPr>
          <p:cNvSpPr>
            <a:spLocks noGrp="1"/>
          </p:cNvSpPr>
          <p:nvPr>
            <p:ph type="sldNum" sz="quarter" idx="11"/>
          </p:nvPr>
        </p:nvSpPr>
        <p:spPr/>
        <p:txBody>
          <a:bodyPr/>
          <a:lstStyle/>
          <a:p>
            <a:fld id="{23B20E4E-3F95-4221-AFE5-FD1FD9CC3448}" type="slidenum">
              <a:rPr lang="en-US" altLang="ja-JP" smtClean="0"/>
              <a:pPr/>
              <a:t>3</a:t>
            </a:fld>
            <a:endParaRPr lang="en-US" altLang="ja-JP"/>
          </a:p>
        </p:txBody>
      </p:sp>
      <p:sp>
        <p:nvSpPr>
          <p:cNvPr id="7" name="テキスト ボックス 6">
            <a:extLst>
              <a:ext uri="{FF2B5EF4-FFF2-40B4-BE49-F238E27FC236}">
                <a16:creationId xmlns:a16="http://schemas.microsoft.com/office/drawing/2014/main" id="{1E38B893-B938-9315-C76B-93E0C3D8B66D}"/>
              </a:ext>
            </a:extLst>
          </p:cNvPr>
          <p:cNvSpPr txBox="1"/>
          <p:nvPr/>
        </p:nvSpPr>
        <p:spPr>
          <a:xfrm>
            <a:off x="6248872" y="1318635"/>
            <a:ext cx="6096000" cy="461665"/>
          </a:xfrm>
          <a:prstGeom prst="rect">
            <a:avLst/>
          </a:prstGeom>
          <a:noFill/>
        </p:spPr>
        <p:txBody>
          <a:bodyPr wrap="square">
            <a:spAutoFit/>
          </a:bodyPr>
          <a:lstStyle/>
          <a:p>
            <a:r>
              <a:rPr lang="en-US" altLang="ja-JP" sz="1800" dirty="0">
                <a:hlinkClick r:id="rId2"/>
              </a:rPr>
              <a:t>unifying</a:t>
            </a:r>
            <a:r>
              <a:rPr lang="ja-JP" altLang="en-US" sz="1800" dirty="0">
                <a:hlinkClick r:id="rId2"/>
              </a:rPr>
              <a:t>（</a:t>
            </a:r>
            <a:r>
              <a:rPr lang="en-US" altLang="ja-JP" sz="1800" dirty="0" err="1">
                <a:hlinkClick r:id="rId2"/>
              </a:rPr>
              <a:t>tidyverse</a:t>
            </a:r>
            <a:r>
              <a:rPr lang="ja-JP" altLang="en-US" sz="1800" dirty="0">
                <a:hlinkClick r:id="rId2"/>
              </a:rPr>
              <a:t>の設計ガイド</a:t>
            </a:r>
            <a:r>
              <a:rPr lang="en-US" altLang="ja-JP" sz="1800" dirty="0">
                <a:hlinkClick r:id="rId2"/>
              </a:rPr>
              <a:t>,</a:t>
            </a:r>
            <a:r>
              <a:rPr lang="ja-JP" altLang="en-US" sz="1800" dirty="0">
                <a:hlinkClick r:id="rId2"/>
              </a:rPr>
              <a:t>開発者向け）</a:t>
            </a:r>
            <a:r>
              <a:rPr lang="ja-JP" altLang="en-US" dirty="0">
                <a:hlinkClick r:id="rId2"/>
              </a:rPr>
              <a:t>）</a:t>
            </a:r>
            <a:endParaRPr lang="ja-JP" altLang="en-US" dirty="0"/>
          </a:p>
        </p:txBody>
      </p:sp>
      <p:pic>
        <p:nvPicPr>
          <p:cNvPr id="9" name="図 8" descr="グラフィカル ユーザー インターフェイス, テキスト, アプリケーション&#10;&#10;AI 生成コンテンツは誤りを含む可能性があります。">
            <a:extLst>
              <a:ext uri="{FF2B5EF4-FFF2-40B4-BE49-F238E27FC236}">
                <a16:creationId xmlns:a16="http://schemas.microsoft.com/office/drawing/2014/main" id="{9767B3BD-D7F4-A3AC-8112-2290F79348FB}"/>
              </a:ext>
            </a:extLst>
          </p:cNvPr>
          <p:cNvPicPr>
            <a:picLocks noChangeAspect="1"/>
          </p:cNvPicPr>
          <p:nvPr/>
        </p:nvPicPr>
        <p:blipFill>
          <a:blip r:embed="rId3"/>
          <a:stretch>
            <a:fillRect/>
          </a:stretch>
        </p:blipFill>
        <p:spPr>
          <a:xfrm>
            <a:off x="6398816" y="1813370"/>
            <a:ext cx="5760640" cy="3260634"/>
          </a:xfrm>
          <a:prstGeom prst="rect">
            <a:avLst/>
          </a:prstGeom>
        </p:spPr>
      </p:pic>
      <p:pic>
        <p:nvPicPr>
          <p:cNvPr id="11" name="図 10" descr="文字が書かれている&#10;&#10;AI 生成コンテンツは誤りを含む可能性があります。">
            <a:extLst>
              <a:ext uri="{FF2B5EF4-FFF2-40B4-BE49-F238E27FC236}">
                <a16:creationId xmlns:a16="http://schemas.microsoft.com/office/drawing/2014/main" id="{475DA9A8-EA21-60ED-1F47-4344AA81F071}"/>
              </a:ext>
            </a:extLst>
          </p:cNvPr>
          <p:cNvPicPr>
            <a:picLocks noChangeAspect="1"/>
          </p:cNvPicPr>
          <p:nvPr/>
        </p:nvPicPr>
        <p:blipFill>
          <a:blip r:embed="rId4"/>
          <a:stretch>
            <a:fillRect/>
          </a:stretch>
        </p:blipFill>
        <p:spPr>
          <a:xfrm>
            <a:off x="32544" y="1841336"/>
            <a:ext cx="5114187" cy="2815676"/>
          </a:xfrm>
          <a:prstGeom prst="rect">
            <a:avLst/>
          </a:prstGeom>
        </p:spPr>
      </p:pic>
      <p:sp>
        <p:nvSpPr>
          <p:cNvPr id="13" name="テキスト ボックス 12">
            <a:extLst>
              <a:ext uri="{FF2B5EF4-FFF2-40B4-BE49-F238E27FC236}">
                <a16:creationId xmlns:a16="http://schemas.microsoft.com/office/drawing/2014/main" id="{9CB32EDB-F0EC-87DA-E4EB-A50CC2D1C2BF}"/>
              </a:ext>
            </a:extLst>
          </p:cNvPr>
          <p:cNvSpPr txBox="1"/>
          <p:nvPr/>
        </p:nvSpPr>
        <p:spPr>
          <a:xfrm>
            <a:off x="152664" y="1364802"/>
            <a:ext cx="6096000" cy="369332"/>
          </a:xfrm>
          <a:prstGeom prst="rect">
            <a:avLst/>
          </a:prstGeom>
          <a:noFill/>
        </p:spPr>
        <p:txBody>
          <a:bodyPr wrap="square">
            <a:spAutoFit/>
          </a:bodyPr>
          <a:lstStyle/>
          <a:p>
            <a:r>
              <a:rPr lang="en-US" altLang="ja-JP" sz="1800" dirty="0">
                <a:hlinkClick r:id="rId5"/>
              </a:rPr>
              <a:t>manifesto (</a:t>
            </a:r>
            <a:r>
              <a:rPr lang="en-US" altLang="ja-JP" sz="1800" dirty="0" err="1">
                <a:hlinkClick r:id="rId5"/>
              </a:rPr>
              <a:t>tidyverse</a:t>
            </a:r>
            <a:r>
              <a:rPr lang="ja-JP" altLang="en-US" sz="1800" dirty="0">
                <a:hlinkClick r:id="rId5"/>
              </a:rPr>
              <a:t>の哲学</a:t>
            </a:r>
            <a:r>
              <a:rPr lang="en-US" altLang="ja-JP" sz="1800" dirty="0">
                <a:hlinkClick r:id="rId5"/>
              </a:rPr>
              <a:t>/</a:t>
            </a:r>
            <a:r>
              <a:rPr lang="ja-JP" altLang="en-US" sz="1800" dirty="0">
                <a:hlinkClick r:id="rId5"/>
              </a:rPr>
              <a:t>ユーザー</a:t>
            </a:r>
            <a:r>
              <a:rPr lang="en-US" altLang="ja-JP" sz="1800" dirty="0">
                <a:hlinkClick r:id="rId5"/>
              </a:rPr>
              <a:t>,</a:t>
            </a:r>
            <a:r>
              <a:rPr lang="ja-JP" altLang="en-US" sz="1800" dirty="0">
                <a:hlinkClick r:id="rId5"/>
              </a:rPr>
              <a:t>コミュニティ向け</a:t>
            </a:r>
            <a:r>
              <a:rPr lang="en-US" altLang="ja-JP" sz="1800" dirty="0">
                <a:hlinkClick r:id="rId5"/>
              </a:rPr>
              <a:t>)</a:t>
            </a:r>
            <a:endParaRPr lang="ja-JP" altLang="en-US" sz="1800" dirty="0"/>
          </a:p>
        </p:txBody>
      </p:sp>
      <p:sp>
        <p:nvSpPr>
          <p:cNvPr id="15" name="テキスト ボックス 14">
            <a:extLst>
              <a:ext uri="{FF2B5EF4-FFF2-40B4-BE49-F238E27FC236}">
                <a16:creationId xmlns:a16="http://schemas.microsoft.com/office/drawing/2014/main" id="{38592AE4-C56A-B311-9D22-BE546196388A}"/>
              </a:ext>
            </a:extLst>
          </p:cNvPr>
          <p:cNvSpPr txBox="1"/>
          <p:nvPr/>
        </p:nvSpPr>
        <p:spPr>
          <a:xfrm>
            <a:off x="81808" y="4555627"/>
            <a:ext cx="6096000" cy="2062103"/>
          </a:xfrm>
          <a:prstGeom prst="rect">
            <a:avLst/>
          </a:prstGeom>
          <a:noFill/>
        </p:spPr>
        <p:txBody>
          <a:bodyPr wrap="square">
            <a:spAutoFit/>
          </a:bodyPr>
          <a:lstStyle/>
          <a:p>
            <a:r>
              <a:rPr lang="ja-JP" altLang="en-US" sz="1600" b="1" dirty="0"/>
              <a:t>１新しい独自データ型を乱立させず、data.frame や vector など既存の構造をそのまま使う</a:t>
            </a:r>
            <a:endParaRPr lang="en-US" altLang="ja-JP" sz="1600" b="1" dirty="0"/>
          </a:p>
          <a:p>
            <a:endParaRPr lang="en-US" altLang="ja-JP" sz="1600" b="1" dirty="0"/>
          </a:p>
          <a:p>
            <a:r>
              <a:rPr lang="ja-JP" altLang="en-US" sz="1600" b="1" dirty="0"/>
              <a:t>２</a:t>
            </a:r>
            <a:r>
              <a:rPr lang="en-US" altLang="ja-JP" sz="1600" b="1" dirty="0"/>
              <a:t>.</a:t>
            </a:r>
            <a:r>
              <a:rPr lang="ja-JP" altLang="en-US" sz="1600" b="1" dirty="0"/>
              <a:t>小さな関数をパイプでつなぎ、処理を段階的に構成する]</a:t>
            </a:r>
            <a:endParaRPr lang="en-US" altLang="ja-JP" sz="1600" b="1" dirty="0"/>
          </a:p>
          <a:p>
            <a:endParaRPr lang="en-US" altLang="ja-JP" sz="1600" b="1" dirty="0"/>
          </a:p>
          <a:p>
            <a:r>
              <a:rPr lang="ja-JP" altLang="en-US" sz="1600" b="1" dirty="0"/>
              <a:t>３</a:t>
            </a:r>
            <a:r>
              <a:rPr lang="en-US" altLang="ja-JP" sz="1600" b="1" dirty="0"/>
              <a:t>.</a:t>
            </a:r>
            <a:r>
              <a:rPr lang="ja-JP" altLang="en-US" sz="1600" b="1" dirty="0"/>
              <a:t>ループよりも関数（mapなど）を使って処理を書く</a:t>
            </a:r>
            <a:endParaRPr lang="en-US" altLang="ja-JP" sz="1600" b="1" dirty="0"/>
          </a:p>
          <a:p>
            <a:endParaRPr lang="ja-JP" altLang="en-US" sz="1600" b="1" dirty="0"/>
          </a:p>
          <a:p>
            <a:r>
              <a:rPr lang="ja-JP" altLang="en-US" sz="1600" b="1" dirty="0"/>
              <a:t>４</a:t>
            </a:r>
            <a:r>
              <a:rPr lang="en-US" altLang="ja-JP" sz="1600" b="1" dirty="0"/>
              <a:t>.</a:t>
            </a:r>
            <a:r>
              <a:rPr lang="ja-JP" altLang="en-US" sz="1600" b="1" dirty="0"/>
              <a:t>人間が読みやすく理解しやすいAPIにする</a:t>
            </a:r>
          </a:p>
        </p:txBody>
      </p:sp>
    </p:spTree>
    <p:extLst>
      <p:ext uri="{BB962C8B-B14F-4D97-AF65-F5344CB8AC3E}">
        <p14:creationId xmlns:p14="http://schemas.microsoft.com/office/powerpoint/2010/main" val="335163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94E94E-6EB7-2713-027C-CFFB96D6EBBE}"/>
              </a:ext>
            </a:extLst>
          </p:cNvPr>
          <p:cNvSpPr>
            <a:spLocks noGrp="1"/>
          </p:cNvSpPr>
          <p:nvPr>
            <p:ph type="title"/>
          </p:nvPr>
        </p:nvSpPr>
        <p:spPr/>
        <p:txBody>
          <a:bodyPr/>
          <a:lstStyle/>
          <a:p>
            <a:r>
              <a:rPr lang="en-US" altLang="ja-JP" i="0" dirty="0"/>
              <a:t>Tidy Data (</a:t>
            </a:r>
            <a:r>
              <a:rPr lang="ja-JP" altLang="en-US" i="0" dirty="0"/>
              <a:t>ちゃんとしたデータ構造がすべての基礎</a:t>
            </a:r>
            <a:r>
              <a:rPr lang="en-US" altLang="ja-JP" i="0" dirty="0"/>
              <a:t>)</a:t>
            </a:r>
            <a:endParaRPr kumimoji="1" lang="ja-JP" altLang="en-US" i="0" dirty="0"/>
          </a:p>
        </p:txBody>
      </p:sp>
      <p:sp>
        <p:nvSpPr>
          <p:cNvPr id="4" name="スライド番号プレースホルダー 3">
            <a:extLst>
              <a:ext uri="{FF2B5EF4-FFF2-40B4-BE49-F238E27FC236}">
                <a16:creationId xmlns:a16="http://schemas.microsoft.com/office/drawing/2014/main" id="{9F6DBFCB-F610-8B02-870C-61EB4C5AD34C}"/>
              </a:ext>
            </a:extLst>
          </p:cNvPr>
          <p:cNvSpPr>
            <a:spLocks noGrp="1"/>
          </p:cNvSpPr>
          <p:nvPr>
            <p:ph type="sldNum" sz="quarter" idx="11"/>
          </p:nvPr>
        </p:nvSpPr>
        <p:spPr/>
        <p:txBody>
          <a:bodyPr/>
          <a:lstStyle/>
          <a:p>
            <a:fld id="{23B20E4E-3F95-4221-AFE5-FD1FD9CC3448}" type="slidenum">
              <a:rPr lang="en-US" altLang="ja-JP" smtClean="0"/>
              <a:pPr/>
              <a:t>4</a:t>
            </a:fld>
            <a:endParaRPr lang="en-US" altLang="ja-JP"/>
          </a:p>
        </p:txBody>
      </p:sp>
      <p:sp>
        <p:nvSpPr>
          <p:cNvPr id="6" name="テキスト ボックス 5">
            <a:extLst>
              <a:ext uri="{FF2B5EF4-FFF2-40B4-BE49-F238E27FC236}">
                <a16:creationId xmlns:a16="http://schemas.microsoft.com/office/drawing/2014/main" id="{6BFA1A41-FFD6-55FF-E5DC-2167DF7E88D6}"/>
              </a:ext>
            </a:extLst>
          </p:cNvPr>
          <p:cNvSpPr txBox="1"/>
          <p:nvPr/>
        </p:nvSpPr>
        <p:spPr>
          <a:xfrm>
            <a:off x="406400" y="1037912"/>
            <a:ext cx="10729192" cy="1200329"/>
          </a:xfrm>
          <a:prstGeom prst="rect">
            <a:avLst/>
          </a:prstGeom>
          <a:noFill/>
        </p:spPr>
        <p:txBody>
          <a:bodyPr wrap="square">
            <a:spAutoFit/>
          </a:bodyPr>
          <a:lstStyle/>
          <a:p>
            <a:r>
              <a:rPr lang="ja-JP" altLang="en-US" b="1" dirty="0"/>
              <a:t>幸せな家庭どれも似た形をとる</a:t>
            </a:r>
            <a:endParaRPr lang="en-US" altLang="ja-JP" b="1" dirty="0"/>
          </a:p>
          <a:p>
            <a:r>
              <a:rPr lang="ja-JP" altLang="en-US" b="1" dirty="0"/>
              <a:t>不幸な家庭はそれぞれ異なる形で不幸である　</a:t>
            </a:r>
            <a:endParaRPr lang="en-US" altLang="ja-JP" b="1" dirty="0"/>
          </a:p>
          <a:p>
            <a:r>
              <a:rPr lang="ja-JP" altLang="en-US" b="1" dirty="0"/>
              <a:t>（トルストイ，アンナ・カレーニナの書き出し）</a:t>
            </a:r>
          </a:p>
        </p:txBody>
      </p:sp>
      <p:sp>
        <p:nvSpPr>
          <p:cNvPr id="8" name="テキスト ボックス 7">
            <a:extLst>
              <a:ext uri="{FF2B5EF4-FFF2-40B4-BE49-F238E27FC236}">
                <a16:creationId xmlns:a16="http://schemas.microsoft.com/office/drawing/2014/main" id="{EFD17183-7863-E759-28ED-3AED41827872}"/>
              </a:ext>
            </a:extLst>
          </p:cNvPr>
          <p:cNvSpPr txBox="1"/>
          <p:nvPr/>
        </p:nvSpPr>
        <p:spPr>
          <a:xfrm>
            <a:off x="378792" y="3356992"/>
            <a:ext cx="10221664" cy="830997"/>
          </a:xfrm>
          <a:prstGeom prst="rect">
            <a:avLst/>
          </a:prstGeom>
          <a:noFill/>
        </p:spPr>
        <p:txBody>
          <a:bodyPr wrap="square">
            <a:spAutoFit/>
          </a:bodyPr>
          <a:lstStyle>
            <a:defPPr>
              <a:defRPr lang="ja-JP"/>
            </a:defPPr>
            <a:lvl1pPr>
              <a:defRPr b="1"/>
            </a:lvl1pPr>
          </a:lstStyle>
          <a:p>
            <a:r>
              <a:rPr lang="ja-JP" altLang="en-US" dirty="0"/>
              <a:t>ちゃんとした（</a:t>
            </a:r>
            <a:r>
              <a:rPr lang="en-US" altLang="ja-JP" dirty="0"/>
              <a:t>Tidy</a:t>
            </a:r>
            <a:r>
              <a:rPr lang="ja-JP" altLang="en-US" dirty="0"/>
              <a:t>な）データセットはどれも同じ構造をしているが，アカン（</a:t>
            </a:r>
            <a:r>
              <a:rPr lang="en-US" altLang="ja-JP" dirty="0"/>
              <a:t>Messy</a:t>
            </a:r>
            <a:r>
              <a:rPr lang="ja-JP" altLang="en-US" dirty="0"/>
              <a:t>な）データセットはそれぞれちゃう形でアカン</a:t>
            </a:r>
          </a:p>
        </p:txBody>
      </p:sp>
      <p:pic>
        <p:nvPicPr>
          <p:cNvPr id="10" name="図 9" descr="白黒の写真に写ってる男性の顔の絵&#10;&#10;AI 生成コンテンツは誤りを含む可能性があります。">
            <a:extLst>
              <a:ext uri="{FF2B5EF4-FFF2-40B4-BE49-F238E27FC236}">
                <a16:creationId xmlns:a16="http://schemas.microsoft.com/office/drawing/2014/main" id="{3096054C-FD55-9C45-25FF-B30A704025AB}"/>
              </a:ext>
            </a:extLst>
          </p:cNvPr>
          <p:cNvPicPr>
            <a:picLocks noChangeAspect="1"/>
          </p:cNvPicPr>
          <p:nvPr/>
        </p:nvPicPr>
        <p:blipFill>
          <a:blip r:embed="rId2"/>
          <a:stretch>
            <a:fillRect/>
          </a:stretch>
        </p:blipFill>
        <p:spPr>
          <a:xfrm>
            <a:off x="7680176" y="1217692"/>
            <a:ext cx="1409499" cy="1782440"/>
          </a:xfrm>
          <a:prstGeom prst="rect">
            <a:avLst/>
          </a:prstGeom>
        </p:spPr>
      </p:pic>
      <p:pic>
        <p:nvPicPr>
          <p:cNvPr id="12" name="図 11" descr="白いシャツを着ている男性&#10;&#10;AI 生成コンテンツは誤りを含む可能性があります。">
            <a:extLst>
              <a:ext uri="{FF2B5EF4-FFF2-40B4-BE49-F238E27FC236}">
                <a16:creationId xmlns:a16="http://schemas.microsoft.com/office/drawing/2014/main" id="{407B9494-2371-47AE-549C-EFEDE27558B2}"/>
              </a:ext>
            </a:extLst>
          </p:cNvPr>
          <p:cNvPicPr>
            <a:picLocks noChangeAspect="1"/>
          </p:cNvPicPr>
          <p:nvPr/>
        </p:nvPicPr>
        <p:blipFill>
          <a:blip r:embed="rId3"/>
          <a:stretch>
            <a:fillRect/>
          </a:stretch>
        </p:blipFill>
        <p:spPr>
          <a:xfrm>
            <a:off x="9624392" y="3880364"/>
            <a:ext cx="1940350" cy="1682496"/>
          </a:xfrm>
          <a:prstGeom prst="rect">
            <a:avLst/>
          </a:prstGeom>
        </p:spPr>
      </p:pic>
      <p:sp>
        <p:nvSpPr>
          <p:cNvPr id="14" name="テキスト ボックス 13">
            <a:extLst>
              <a:ext uri="{FF2B5EF4-FFF2-40B4-BE49-F238E27FC236}">
                <a16:creationId xmlns:a16="http://schemas.microsoft.com/office/drawing/2014/main" id="{4A140727-3304-36B1-1237-1D1C22B8FFFE}"/>
              </a:ext>
            </a:extLst>
          </p:cNvPr>
          <p:cNvSpPr txBox="1"/>
          <p:nvPr/>
        </p:nvSpPr>
        <p:spPr>
          <a:xfrm>
            <a:off x="244976" y="4852501"/>
            <a:ext cx="11593288" cy="1200329"/>
          </a:xfrm>
          <a:prstGeom prst="rect">
            <a:avLst/>
          </a:prstGeom>
          <a:noFill/>
        </p:spPr>
        <p:txBody>
          <a:bodyPr wrap="square">
            <a:spAutoFit/>
          </a:bodyPr>
          <a:lstStyle/>
          <a:p>
            <a:r>
              <a:rPr lang="ja-JP" altLang="en-US" sz="1800" dirty="0"/>
              <a:t>・列名が変数名ではなく値そのものを表している，[WBC], [RBC], [Hb]　みたいな</a:t>
            </a:r>
          </a:p>
          <a:p>
            <a:r>
              <a:rPr lang="ja-JP" altLang="en-US" sz="1800" dirty="0"/>
              <a:t>・1つの列に複数の意味が格納されている　[SEX_and_AGE]: “Male,45“　みたいな</a:t>
            </a:r>
          </a:p>
          <a:p>
            <a:r>
              <a:rPr lang="ja-JP" altLang="en-US" sz="1800" dirty="0"/>
              <a:t>・変数が行と列の両方に格納されている</a:t>
            </a:r>
          </a:p>
          <a:p>
            <a:r>
              <a:rPr lang="ja-JP" altLang="en-US" sz="1800" dirty="0"/>
              <a:t>・単一のオブザベーションが意味もなく複数のテーブルに分割されている</a:t>
            </a:r>
          </a:p>
        </p:txBody>
      </p:sp>
      <p:sp>
        <p:nvSpPr>
          <p:cNvPr id="16" name="テキスト ボックス 15">
            <a:extLst>
              <a:ext uri="{FF2B5EF4-FFF2-40B4-BE49-F238E27FC236}">
                <a16:creationId xmlns:a16="http://schemas.microsoft.com/office/drawing/2014/main" id="{C4AED8F5-00CD-1E28-EA4F-39C9ABFE9BED}"/>
              </a:ext>
            </a:extLst>
          </p:cNvPr>
          <p:cNvSpPr txBox="1"/>
          <p:nvPr/>
        </p:nvSpPr>
        <p:spPr>
          <a:xfrm>
            <a:off x="452154" y="4390836"/>
            <a:ext cx="6097772" cy="461665"/>
          </a:xfrm>
          <a:prstGeom prst="rect">
            <a:avLst/>
          </a:prstGeom>
          <a:noFill/>
        </p:spPr>
        <p:txBody>
          <a:bodyPr wrap="square">
            <a:spAutoFit/>
          </a:bodyPr>
          <a:lstStyle/>
          <a:p>
            <a:r>
              <a:rPr lang="en-US" altLang="ja-JP" dirty="0"/>
              <a:t>Tidy</a:t>
            </a:r>
            <a:r>
              <a:rPr lang="ja-JP" altLang="en-US" dirty="0"/>
              <a:t>ではない</a:t>
            </a:r>
            <a:r>
              <a:rPr lang="en-US" altLang="ja-JP" dirty="0"/>
              <a:t>Messy</a:t>
            </a:r>
            <a:r>
              <a:rPr lang="ja-JP" altLang="en-US" dirty="0"/>
              <a:t>なデータの例</a:t>
            </a:r>
          </a:p>
        </p:txBody>
      </p:sp>
      <p:sp>
        <p:nvSpPr>
          <p:cNvPr id="18" name="テキスト ボックス 17">
            <a:extLst>
              <a:ext uri="{FF2B5EF4-FFF2-40B4-BE49-F238E27FC236}">
                <a16:creationId xmlns:a16="http://schemas.microsoft.com/office/drawing/2014/main" id="{F6601DCC-8FEC-E792-E8FB-B4FB9EBD2AE2}"/>
              </a:ext>
            </a:extLst>
          </p:cNvPr>
          <p:cNvSpPr txBox="1"/>
          <p:nvPr/>
        </p:nvSpPr>
        <p:spPr>
          <a:xfrm>
            <a:off x="8899024" y="5855399"/>
            <a:ext cx="3212762" cy="646331"/>
          </a:xfrm>
          <a:prstGeom prst="rect">
            <a:avLst/>
          </a:prstGeom>
          <a:noFill/>
        </p:spPr>
        <p:txBody>
          <a:bodyPr wrap="square">
            <a:spAutoFit/>
          </a:bodyPr>
          <a:lstStyle/>
          <a:p>
            <a:r>
              <a:rPr lang="ja-JP" altLang="en-US" sz="1800" dirty="0"/>
              <a:t>Hadley Wickham氏らが中心となって</a:t>
            </a:r>
            <a:r>
              <a:rPr lang="en-US" altLang="ja-JP" sz="1800" dirty="0" err="1"/>
              <a:t>tidyverse</a:t>
            </a:r>
            <a:r>
              <a:rPr lang="ja-JP" altLang="en-US" sz="1800" dirty="0"/>
              <a:t>は作られた</a:t>
            </a:r>
          </a:p>
        </p:txBody>
      </p:sp>
    </p:spTree>
    <p:extLst>
      <p:ext uri="{BB962C8B-B14F-4D97-AF65-F5344CB8AC3E}">
        <p14:creationId xmlns:p14="http://schemas.microsoft.com/office/powerpoint/2010/main" val="32962777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26704FA-053D-B4C9-8E3D-48318BA2ED9B}"/>
              </a:ext>
            </a:extLst>
          </p:cNvPr>
          <p:cNvSpPr>
            <a:spLocks noGrp="1"/>
          </p:cNvSpPr>
          <p:nvPr>
            <p:ph type="title"/>
          </p:nvPr>
        </p:nvSpPr>
        <p:spPr>
          <a:xfrm>
            <a:off x="263352" y="332656"/>
            <a:ext cx="10664438" cy="533400"/>
          </a:xfrm>
        </p:spPr>
        <p:txBody>
          <a:bodyPr/>
          <a:lstStyle/>
          <a:p>
            <a:r>
              <a:rPr lang="en-US" altLang="ja-JP" i="0" dirty="0" err="1"/>
              <a:t>tibble</a:t>
            </a:r>
            <a:endParaRPr kumimoji="1" lang="ja-JP" altLang="en-US" dirty="0"/>
          </a:p>
        </p:txBody>
      </p:sp>
      <p:sp>
        <p:nvSpPr>
          <p:cNvPr id="4" name="スライド番号プレースホルダー 3">
            <a:extLst>
              <a:ext uri="{FF2B5EF4-FFF2-40B4-BE49-F238E27FC236}">
                <a16:creationId xmlns:a16="http://schemas.microsoft.com/office/drawing/2014/main" id="{D100F638-E97F-B5A2-299E-81A46FE32A9C}"/>
              </a:ext>
            </a:extLst>
          </p:cNvPr>
          <p:cNvSpPr>
            <a:spLocks noGrp="1"/>
          </p:cNvSpPr>
          <p:nvPr>
            <p:ph type="sldNum" sz="quarter" idx="11"/>
          </p:nvPr>
        </p:nvSpPr>
        <p:spPr/>
        <p:txBody>
          <a:bodyPr/>
          <a:lstStyle/>
          <a:p>
            <a:fld id="{23B20E4E-3F95-4221-AFE5-FD1FD9CC3448}" type="slidenum">
              <a:rPr lang="en-US" altLang="ja-JP" smtClean="0"/>
              <a:pPr/>
              <a:t>5</a:t>
            </a:fld>
            <a:endParaRPr lang="en-US" altLang="ja-JP"/>
          </a:p>
        </p:txBody>
      </p:sp>
      <p:pic>
        <p:nvPicPr>
          <p:cNvPr id="2050" name="Picture 2" descr="Simple Data Frames • tibble">
            <a:extLst>
              <a:ext uri="{FF2B5EF4-FFF2-40B4-BE49-F238E27FC236}">
                <a16:creationId xmlns:a16="http://schemas.microsoft.com/office/drawing/2014/main" id="{F5782D4C-AF59-D542-6E3C-915AAF5F53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11" y="1119825"/>
            <a:ext cx="1990725" cy="2305050"/>
          </a:xfrm>
          <a:prstGeom prst="rect">
            <a:avLst/>
          </a:prstGeom>
          <a:noFill/>
          <a:extLst>
            <a:ext uri="{909E8E84-426E-40DD-AFC4-6F175D3DCCD1}">
              <a14:hiddenFill xmlns:a14="http://schemas.microsoft.com/office/drawing/2010/main">
                <a:solidFill>
                  <a:srgbClr val="FFFFFF"/>
                </a:solidFill>
              </a14:hiddenFill>
            </a:ext>
          </a:extLst>
        </p:spPr>
      </p:pic>
      <p:sp>
        <p:nvSpPr>
          <p:cNvPr id="10" name="テキスト ボックス 9">
            <a:extLst>
              <a:ext uri="{FF2B5EF4-FFF2-40B4-BE49-F238E27FC236}">
                <a16:creationId xmlns:a16="http://schemas.microsoft.com/office/drawing/2014/main" id="{1CA75BC5-9DDF-AA63-5915-7C2E5C9BBB0A}"/>
              </a:ext>
            </a:extLst>
          </p:cNvPr>
          <p:cNvSpPr txBox="1"/>
          <p:nvPr/>
        </p:nvSpPr>
        <p:spPr>
          <a:xfrm>
            <a:off x="2423592" y="1093433"/>
            <a:ext cx="8640960" cy="1200329"/>
          </a:xfrm>
          <a:prstGeom prst="rect">
            <a:avLst/>
          </a:prstGeom>
          <a:noFill/>
        </p:spPr>
        <p:txBody>
          <a:bodyPr wrap="square">
            <a:spAutoFit/>
          </a:bodyPr>
          <a:lstStyle/>
          <a:p>
            <a:r>
              <a:rPr lang="ja-JP" altLang="en-US" dirty="0"/>
              <a:t>tidyverseで使うために設計されたデータフレームで、基本は data.frame と同じ「表形式」ですが、tidy data を扱いやすくするための設計がされている</a:t>
            </a:r>
          </a:p>
        </p:txBody>
      </p:sp>
      <p:sp>
        <p:nvSpPr>
          <p:cNvPr id="12" name="テキスト ボックス 11">
            <a:extLst>
              <a:ext uri="{FF2B5EF4-FFF2-40B4-BE49-F238E27FC236}">
                <a16:creationId xmlns:a16="http://schemas.microsoft.com/office/drawing/2014/main" id="{02CE07C6-4A49-8E77-0819-B301500B604C}"/>
              </a:ext>
            </a:extLst>
          </p:cNvPr>
          <p:cNvSpPr txBox="1"/>
          <p:nvPr/>
        </p:nvSpPr>
        <p:spPr>
          <a:xfrm>
            <a:off x="2495600" y="2348880"/>
            <a:ext cx="5256584" cy="1569660"/>
          </a:xfrm>
          <a:prstGeom prst="rect">
            <a:avLst/>
          </a:prstGeom>
          <a:noFill/>
        </p:spPr>
        <p:txBody>
          <a:bodyPr wrap="square">
            <a:spAutoFit/>
          </a:bodyPr>
          <a:lstStyle/>
          <a:p>
            <a:r>
              <a:rPr lang="en-US" altLang="ja-JP" dirty="0"/>
              <a:t>wk1 &lt;-  </a:t>
            </a:r>
            <a:r>
              <a:rPr lang="en-US" altLang="ja-JP" dirty="0" err="1"/>
              <a:t>tibble</a:t>
            </a:r>
            <a:r>
              <a:rPr lang="en-US" altLang="ja-JP" dirty="0"/>
              <a:t>( </a:t>
            </a:r>
          </a:p>
          <a:p>
            <a:r>
              <a:rPr lang="en-US" altLang="ja-JP" dirty="0"/>
              <a:t>SUBJID = c(“A001“,“A002“,“B001“)</a:t>
            </a:r>
          </a:p>
          <a:p>
            <a:r>
              <a:rPr lang="en-US" altLang="ja-JP" dirty="0"/>
              <a:t>,AGE = c(20, 21, 19), </a:t>
            </a:r>
          </a:p>
          <a:p>
            <a:r>
              <a:rPr lang="en-US" altLang="ja-JP" dirty="0"/>
              <a:t>SEX = c(“F“,“M“,“F“))</a:t>
            </a:r>
            <a:endParaRPr lang="ja-JP" altLang="en-US" dirty="0"/>
          </a:p>
        </p:txBody>
      </p:sp>
      <p:pic>
        <p:nvPicPr>
          <p:cNvPr id="14" name="図 13" descr="テーブル&#10;&#10;AI 生成コンテンツは誤りを含む可能性があります。">
            <a:extLst>
              <a:ext uri="{FF2B5EF4-FFF2-40B4-BE49-F238E27FC236}">
                <a16:creationId xmlns:a16="http://schemas.microsoft.com/office/drawing/2014/main" id="{AB1B9A2F-072A-E493-B395-7BBAF41D04E1}"/>
              </a:ext>
            </a:extLst>
          </p:cNvPr>
          <p:cNvPicPr>
            <a:picLocks noChangeAspect="1"/>
          </p:cNvPicPr>
          <p:nvPr/>
        </p:nvPicPr>
        <p:blipFill>
          <a:blip r:embed="rId3"/>
          <a:stretch>
            <a:fillRect/>
          </a:stretch>
        </p:blipFill>
        <p:spPr>
          <a:xfrm>
            <a:off x="7387377" y="2348880"/>
            <a:ext cx="3677175" cy="1569660"/>
          </a:xfrm>
          <a:prstGeom prst="rect">
            <a:avLst/>
          </a:prstGeom>
          <a:ln>
            <a:solidFill>
              <a:schemeClr val="accent1"/>
            </a:solidFill>
          </a:ln>
        </p:spPr>
      </p:pic>
      <p:sp>
        <p:nvSpPr>
          <p:cNvPr id="16" name="テキスト ボックス 15">
            <a:extLst>
              <a:ext uri="{FF2B5EF4-FFF2-40B4-BE49-F238E27FC236}">
                <a16:creationId xmlns:a16="http://schemas.microsoft.com/office/drawing/2014/main" id="{5C4FA1A4-7F93-AA3D-A4A3-E18D1746DCA2}"/>
              </a:ext>
            </a:extLst>
          </p:cNvPr>
          <p:cNvSpPr txBox="1"/>
          <p:nvPr/>
        </p:nvSpPr>
        <p:spPr>
          <a:xfrm>
            <a:off x="40795" y="4119198"/>
            <a:ext cx="11797469" cy="461665"/>
          </a:xfrm>
          <a:prstGeom prst="rect">
            <a:avLst/>
          </a:prstGeom>
          <a:noFill/>
        </p:spPr>
        <p:txBody>
          <a:bodyPr wrap="square">
            <a:spAutoFit/>
          </a:bodyPr>
          <a:lstStyle/>
          <a:p>
            <a:r>
              <a:rPr lang="ja-JP" altLang="en-US" dirty="0"/>
              <a:t>★文字列を勝手にfactorにしない⇒常に</a:t>
            </a:r>
            <a:r>
              <a:rPr lang="en-US" altLang="ja-JP" dirty="0"/>
              <a:t>character</a:t>
            </a:r>
            <a:r>
              <a:rPr lang="ja-JP" altLang="en-US" dirty="0"/>
              <a:t>なので御しやすい</a:t>
            </a:r>
          </a:p>
        </p:txBody>
      </p:sp>
      <p:sp>
        <p:nvSpPr>
          <p:cNvPr id="17" name="テキスト ボックス 16">
            <a:extLst>
              <a:ext uri="{FF2B5EF4-FFF2-40B4-BE49-F238E27FC236}">
                <a16:creationId xmlns:a16="http://schemas.microsoft.com/office/drawing/2014/main" id="{1F97FE9C-57BD-4941-537F-6DB6F9AC364C}"/>
              </a:ext>
            </a:extLst>
          </p:cNvPr>
          <p:cNvSpPr txBox="1"/>
          <p:nvPr/>
        </p:nvSpPr>
        <p:spPr>
          <a:xfrm>
            <a:off x="29003" y="4550688"/>
            <a:ext cx="11302974" cy="461665"/>
          </a:xfrm>
          <a:prstGeom prst="rect">
            <a:avLst/>
          </a:prstGeom>
          <a:noFill/>
        </p:spPr>
        <p:txBody>
          <a:bodyPr wrap="square">
            <a:spAutoFit/>
          </a:bodyPr>
          <a:lstStyle/>
          <a:p>
            <a:r>
              <a:rPr lang="ja-JP" altLang="en-US" dirty="0"/>
              <a:t>★列名の部分一致を許さない⇒</a:t>
            </a:r>
            <a:r>
              <a:rPr lang="en-US" altLang="ja-JP" dirty="0" err="1"/>
              <a:t>df$ag</a:t>
            </a:r>
            <a:r>
              <a:rPr lang="ja-JP" altLang="en-US" dirty="0"/>
              <a:t>で</a:t>
            </a:r>
            <a:r>
              <a:rPr lang="en-US" altLang="ja-JP" dirty="0"/>
              <a:t>age</a:t>
            </a:r>
            <a:r>
              <a:rPr lang="ja-JP" altLang="en-US" dirty="0"/>
              <a:t>がとれてしまうが</a:t>
            </a:r>
            <a:r>
              <a:rPr lang="en-US" altLang="ja-JP" dirty="0" err="1"/>
              <a:t>tb$ag</a:t>
            </a:r>
            <a:r>
              <a:rPr lang="ja-JP" altLang="en-US" dirty="0"/>
              <a:t>はエラー</a:t>
            </a:r>
          </a:p>
        </p:txBody>
      </p:sp>
      <p:sp>
        <p:nvSpPr>
          <p:cNvPr id="18" name="テキスト ボックス 17">
            <a:extLst>
              <a:ext uri="{FF2B5EF4-FFF2-40B4-BE49-F238E27FC236}">
                <a16:creationId xmlns:a16="http://schemas.microsoft.com/office/drawing/2014/main" id="{3C007590-D7ED-132F-1458-E32B794D4F7D}"/>
              </a:ext>
            </a:extLst>
          </p:cNvPr>
          <p:cNvSpPr txBox="1"/>
          <p:nvPr/>
        </p:nvSpPr>
        <p:spPr>
          <a:xfrm>
            <a:off x="0" y="4924634"/>
            <a:ext cx="11302974" cy="461665"/>
          </a:xfrm>
          <a:prstGeom prst="rect">
            <a:avLst/>
          </a:prstGeom>
          <a:noFill/>
        </p:spPr>
        <p:txBody>
          <a:bodyPr wrap="square">
            <a:spAutoFit/>
          </a:bodyPr>
          <a:lstStyle/>
          <a:p>
            <a:r>
              <a:rPr lang="ja-JP" altLang="en-US" dirty="0"/>
              <a:t>★サイズの一貫性⇒</a:t>
            </a:r>
            <a:r>
              <a:rPr lang="es-ES" altLang="ja-JP" dirty="0"/>
              <a:t>tibble( x = 1:3,  y = 1:2)</a:t>
            </a:r>
            <a:r>
              <a:rPr lang="ja-JP" altLang="en-US" dirty="0"/>
              <a:t>　</a:t>
            </a:r>
            <a:r>
              <a:rPr lang="en-US" altLang="ja-JP" dirty="0"/>
              <a:t>3</a:t>
            </a:r>
            <a:r>
              <a:rPr lang="ja-JP" altLang="en-US" dirty="0"/>
              <a:t>行と</a:t>
            </a:r>
            <a:r>
              <a:rPr lang="en-US" altLang="ja-JP" dirty="0"/>
              <a:t>2</a:t>
            </a:r>
            <a:r>
              <a:rPr lang="ja-JP" altLang="en-US" dirty="0"/>
              <a:t>行で不一致でエラー</a:t>
            </a:r>
          </a:p>
        </p:txBody>
      </p:sp>
      <p:sp>
        <p:nvSpPr>
          <p:cNvPr id="20" name="テキスト ボックス 19">
            <a:extLst>
              <a:ext uri="{FF2B5EF4-FFF2-40B4-BE49-F238E27FC236}">
                <a16:creationId xmlns:a16="http://schemas.microsoft.com/office/drawing/2014/main" id="{884B6091-8E9D-736F-6623-0B27FD7E6338}"/>
              </a:ext>
            </a:extLst>
          </p:cNvPr>
          <p:cNvSpPr txBox="1"/>
          <p:nvPr/>
        </p:nvSpPr>
        <p:spPr>
          <a:xfrm>
            <a:off x="129563" y="5927063"/>
            <a:ext cx="11043848" cy="830997"/>
          </a:xfrm>
          <a:prstGeom prst="rect">
            <a:avLst/>
          </a:prstGeom>
          <a:noFill/>
        </p:spPr>
        <p:txBody>
          <a:bodyPr wrap="square">
            <a:spAutoFit/>
          </a:bodyPr>
          <a:lstStyle/>
          <a:p>
            <a:r>
              <a:rPr lang="en-US" altLang="ja-JP" b="1" dirty="0" err="1"/>
              <a:t>data.frame</a:t>
            </a:r>
            <a:r>
              <a:rPr lang="en-US" altLang="ja-JP" b="1" dirty="0"/>
              <a:t> </a:t>
            </a:r>
            <a:r>
              <a:rPr lang="ja-JP" altLang="en-US" b="1" dirty="0"/>
              <a:t>は便利だが、挙動が不安定で </a:t>
            </a:r>
            <a:r>
              <a:rPr lang="en-US" altLang="ja-JP" b="1" dirty="0"/>
              <a:t>tidy </a:t>
            </a:r>
            <a:r>
              <a:rPr lang="ja-JP" altLang="en-US" b="1" dirty="0"/>
              <a:t>なデータ操作を妨げることがある</a:t>
            </a:r>
            <a:endParaRPr lang="en-US" altLang="ja-JP" b="1" dirty="0"/>
          </a:p>
          <a:p>
            <a:r>
              <a:rPr lang="ja-JP" altLang="en-US" b="1" dirty="0"/>
              <a:t>ので，</a:t>
            </a:r>
            <a:r>
              <a:rPr lang="en-US" altLang="ja-JP" b="1" dirty="0" err="1"/>
              <a:t>data.frame</a:t>
            </a:r>
            <a:r>
              <a:rPr lang="ja-JP" altLang="en-US" b="1" dirty="0"/>
              <a:t>を拡張して</a:t>
            </a:r>
            <a:r>
              <a:rPr lang="en-US" altLang="ja-JP" b="1" dirty="0" err="1"/>
              <a:t>tibble</a:t>
            </a:r>
            <a:r>
              <a:rPr lang="ja-JP" altLang="en-US" b="1" dirty="0"/>
              <a:t>を作った</a:t>
            </a:r>
          </a:p>
        </p:txBody>
      </p:sp>
      <p:sp>
        <p:nvSpPr>
          <p:cNvPr id="21" name="テキスト ボックス 20">
            <a:extLst>
              <a:ext uri="{FF2B5EF4-FFF2-40B4-BE49-F238E27FC236}">
                <a16:creationId xmlns:a16="http://schemas.microsoft.com/office/drawing/2014/main" id="{3FF9BF23-340F-624C-E410-9B9395CF7573}"/>
              </a:ext>
            </a:extLst>
          </p:cNvPr>
          <p:cNvSpPr txBox="1"/>
          <p:nvPr/>
        </p:nvSpPr>
        <p:spPr>
          <a:xfrm>
            <a:off x="0" y="5356124"/>
            <a:ext cx="11302974" cy="461665"/>
          </a:xfrm>
          <a:prstGeom prst="rect">
            <a:avLst/>
          </a:prstGeom>
          <a:noFill/>
        </p:spPr>
        <p:txBody>
          <a:bodyPr wrap="square">
            <a:spAutoFit/>
          </a:bodyPr>
          <a:lstStyle/>
          <a:p>
            <a:r>
              <a:rPr lang="ja-JP" altLang="en-US" dirty="0"/>
              <a:t>★リスト列を扱いやすいので，</a:t>
            </a:r>
            <a:r>
              <a:rPr lang="en-US" altLang="ja-JP" dirty="0"/>
              <a:t>JSON</a:t>
            </a:r>
            <a:r>
              <a:rPr lang="ja-JP" altLang="en-US" dirty="0"/>
              <a:t>やネスト構造，モデルを持ちやすい</a:t>
            </a:r>
          </a:p>
        </p:txBody>
      </p:sp>
    </p:spTree>
    <p:extLst>
      <p:ext uri="{BB962C8B-B14F-4D97-AF65-F5344CB8AC3E}">
        <p14:creationId xmlns:p14="http://schemas.microsoft.com/office/powerpoint/2010/main" val="39838632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FD33F80C-637D-BAE8-CBFD-1B1100A54DFA}"/>
              </a:ext>
            </a:extLst>
          </p:cNvPr>
          <p:cNvSpPr>
            <a:spLocks noGrp="1"/>
          </p:cNvSpPr>
          <p:nvPr>
            <p:ph type="sldNum" sz="quarter" idx="11"/>
          </p:nvPr>
        </p:nvSpPr>
        <p:spPr/>
        <p:txBody>
          <a:bodyPr/>
          <a:lstStyle/>
          <a:p>
            <a:fld id="{23B20E4E-3F95-4221-AFE5-FD1FD9CC3448}" type="slidenum">
              <a:rPr lang="en-US" altLang="ja-JP" smtClean="0"/>
              <a:pPr/>
              <a:t>6</a:t>
            </a:fld>
            <a:endParaRPr lang="en-US" altLang="ja-JP"/>
          </a:p>
        </p:txBody>
      </p:sp>
      <p:pic>
        <p:nvPicPr>
          <p:cNvPr id="5" name="Picture 2" descr="readr: 高速で柔軟なテーブル読み込み - Heavy Watal">
            <a:extLst>
              <a:ext uri="{FF2B5EF4-FFF2-40B4-BE49-F238E27FC236}">
                <a16:creationId xmlns:a16="http://schemas.microsoft.com/office/drawing/2014/main" id="{B7EB85AA-2897-FF08-1D53-6A53B85E32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384" y="2060848"/>
            <a:ext cx="1990725" cy="22955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tidyr: シンプルなデータ変形ツール - Heavy Watal">
            <a:extLst>
              <a:ext uri="{FF2B5EF4-FFF2-40B4-BE49-F238E27FC236}">
                <a16:creationId xmlns:a16="http://schemas.microsoft.com/office/drawing/2014/main" id="{7025E846-F1FB-F9F3-EAEF-6854FF1834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5253" y="2083499"/>
            <a:ext cx="1990725" cy="229552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dplyr: 高速data.frame処理 - Heavy Watal">
            <a:extLst>
              <a:ext uri="{FF2B5EF4-FFF2-40B4-BE49-F238E27FC236}">
                <a16:creationId xmlns:a16="http://schemas.microsoft.com/office/drawing/2014/main" id="{50D393C2-08D2-C022-3E33-0667234D2C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16993" y="2127042"/>
            <a:ext cx="1990725" cy="22955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ggplot2 - Wikipedia">
            <a:extLst>
              <a:ext uri="{FF2B5EF4-FFF2-40B4-BE49-F238E27FC236}">
                <a16:creationId xmlns:a16="http://schemas.microsoft.com/office/drawing/2014/main" id="{CEE5092D-3730-AC95-BB17-031B08ECB5F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8733" y="2127042"/>
            <a:ext cx="1990725" cy="2295525"/>
          </a:xfrm>
          <a:prstGeom prst="rect">
            <a:avLst/>
          </a:prstGeom>
          <a:noFill/>
          <a:extLst>
            <a:ext uri="{909E8E84-426E-40DD-AFC4-6F175D3DCCD1}">
              <a14:hiddenFill xmlns:a14="http://schemas.microsoft.com/office/drawing/2010/main">
                <a:solidFill>
                  <a:srgbClr val="FFFFFF"/>
                </a:solidFill>
              </a14:hiddenFill>
            </a:ext>
          </a:extLst>
        </p:spPr>
      </p:pic>
      <p:sp>
        <p:nvSpPr>
          <p:cNvPr id="7" name="矢印: 右 6">
            <a:extLst>
              <a:ext uri="{FF2B5EF4-FFF2-40B4-BE49-F238E27FC236}">
                <a16:creationId xmlns:a16="http://schemas.microsoft.com/office/drawing/2014/main" id="{4E92C284-0B9E-5187-9447-BA061F2D77A1}"/>
              </a:ext>
            </a:extLst>
          </p:cNvPr>
          <p:cNvSpPr/>
          <p:nvPr/>
        </p:nvSpPr>
        <p:spPr>
          <a:xfrm>
            <a:off x="2680415" y="3094784"/>
            <a:ext cx="666531"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328A1213-CA21-4A60-5037-CA80573E3A67}"/>
              </a:ext>
            </a:extLst>
          </p:cNvPr>
          <p:cNvSpPr/>
          <p:nvPr/>
        </p:nvSpPr>
        <p:spPr>
          <a:xfrm>
            <a:off x="5595268" y="3094784"/>
            <a:ext cx="666531"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5EEEA80C-BDAA-73B7-916C-D7EC332F2B17}"/>
              </a:ext>
            </a:extLst>
          </p:cNvPr>
          <p:cNvSpPr/>
          <p:nvPr/>
        </p:nvSpPr>
        <p:spPr>
          <a:xfrm>
            <a:off x="8362912" y="3098068"/>
            <a:ext cx="666531" cy="36004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C022A514-F6D1-0DE9-215E-7EB97AC0AEC8}"/>
              </a:ext>
            </a:extLst>
          </p:cNvPr>
          <p:cNvSpPr txBox="1"/>
          <p:nvPr/>
        </p:nvSpPr>
        <p:spPr>
          <a:xfrm>
            <a:off x="437253" y="1412776"/>
            <a:ext cx="2418387" cy="461665"/>
          </a:xfrm>
          <a:prstGeom prst="rect">
            <a:avLst/>
          </a:prstGeom>
          <a:noFill/>
        </p:spPr>
        <p:txBody>
          <a:bodyPr wrap="square">
            <a:spAutoFit/>
          </a:bodyPr>
          <a:lstStyle/>
          <a:p>
            <a:r>
              <a:rPr lang="ja-JP" altLang="en-US" dirty="0"/>
              <a:t>データ読み込み</a:t>
            </a:r>
          </a:p>
        </p:txBody>
      </p:sp>
      <p:sp>
        <p:nvSpPr>
          <p:cNvPr id="12" name="テキスト ボックス 11">
            <a:extLst>
              <a:ext uri="{FF2B5EF4-FFF2-40B4-BE49-F238E27FC236}">
                <a16:creationId xmlns:a16="http://schemas.microsoft.com/office/drawing/2014/main" id="{D802D4EC-E45D-C91E-8900-D561B9F515D6}"/>
              </a:ext>
            </a:extLst>
          </p:cNvPr>
          <p:cNvSpPr txBox="1"/>
          <p:nvPr/>
        </p:nvSpPr>
        <p:spPr>
          <a:xfrm>
            <a:off x="3461773" y="1412776"/>
            <a:ext cx="2418387" cy="461665"/>
          </a:xfrm>
          <a:prstGeom prst="rect">
            <a:avLst/>
          </a:prstGeom>
          <a:noFill/>
        </p:spPr>
        <p:txBody>
          <a:bodyPr wrap="square">
            <a:spAutoFit/>
          </a:bodyPr>
          <a:lstStyle/>
          <a:p>
            <a:r>
              <a:rPr lang="ja-JP" altLang="en-US" dirty="0"/>
              <a:t>データ整形</a:t>
            </a:r>
          </a:p>
        </p:txBody>
      </p:sp>
      <p:sp>
        <p:nvSpPr>
          <p:cNvPr id="13" name="テキスト ボックス 12">
            <a:extLst>
              <a:ext uri="{FF2B5EF4-FFF2-40B4-BE49-F238E27FC236}">
                <a16:creationId xmlns:a16="http://schemas.microsoft.com/office/drawing/2014/main" id="{49F3F0C9-2AD0-B884-D35E-06637490E1E6}"/>
              </a:ext>
            </a:extLst>
          </p:cNvPr>
          <p:cNvSpPr txBox="1"/>
          <p:nvPr/>
        </p:nvSpPr>
        <p:spPr>
          <a:xfrm>
            <a:off x="6332554" y="1412776"/>
            <a:ext cx="2418387" cy="461665"/>
          </a:xfrm>
          <a:prstGeom prst="rect">
            <a:avLst/>
          </a:prstGeom>
          <a:noFill/>
        </p:spPr>
        <p:txBody>
          <a:bodyPr wrap="square">
            <a:spAutoFit/>
          </a:bodyPr>
          <a:lstStyle/>
          <a:p>
            <a:r>
              <a:rPr lang="ja-JP" altLang="en-US" dirty="0"/>
              <a:t>データ操作</a:t>
            </a:r>
          </a:p>
        </p:txBody>
      </p:sp>
      <p:sp>
        <p:nvSpPr>
          <p:cNvPr id="14" name="テキスト ボックス 13">
            <a:extLst>
              <a:ext uri="{FF2B5EF4-FFF2-40B4-BE49-F238E27FC236}">
                <a16:creationId xmlns:a16="http://schemas.microsoft.com/office/drawing/2014/main" id="{0ACC1B00-456A-CDFA-FC77-323C08F0F9AF}"/>
              </a:ext>
            </a:extLst>
          </p:cNvPr>
          <p:cNvSpPr txBox="1"/>
          <p:nvPr/>
        </p:nvSpPr>
        <p:spPr>
          <a:xfrm>
            <a:off x="8934901" y="1453952"/>
            <a:ext cx="2418387" cy="461665"/>
          </a:xfrm>
          <a:prstGeom prst="rect">
            <a:avLst/>
          </a:prstGeom>
          <a:noFill/>
        </p:spPr>
        <p:txBody>
          <a:bodyPr wrap="square">
            <a:spAutoFit/>
          </a:bodyPr>
          <a:lstStyle/>
          <a:p>
            <a:r>
              <a:rPr lang="ja-JP" altLang="en-US" dirty="0"/>
              <a:t>データ可視化</a:t>
            </a:r>
          </a:p>
        </p:txBody>
      </p:sp>
      <p:pic>
        <p:nvPicPr>
          <p:cNvPr id="15" name="Picture 2" descr="purrr: ループ処理やapply系関数の決定版 - Heavy Watal">
            <a:extLst>
              <a:ext uri="{FF2B5EF4-FFF2-40B4-BE49-F238E27FC236}">
                <a16:creationId xmlns:a16="http://schemas.microsoft.com/office/drawing/2014/main" id="{04E2A4ED-381A-96C9-CBE2-89165605EC0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1784" y="4725144"/>
            <a:ext cx="930670" cy="1073165"/>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ボックス 15">
            <a:extLst>
              <a:ext uri="{FF2B5EF4-FFF2-40B4-BE49-F238E27FC236}">
                <a16:creationId xmlns:a16="http://schemas.microsoft.com/office/drawing/2014/main" id="{58136B87-C239-1553-4DF0-EDDEDE6AEA34}"/>
              </a:ext>
            </a:extLst>
          </p:cNvPr>
          <p:cNvSpPr txBox="1"/>
          <p:nvPr/>
        </p:nvSpPr>
        <p:spPr>
          <a:xfrm>
            <a:off x="5107799" y="4983559"/>
            <a:ext cx="2418387" cy="461665"/>
          </a:xfrm>
          <a:prstGeom prst="rect">
            <a:avLst/>
          </a:prstGeom>
          <a:noFill/>
        </p:spPr>
        <p:txBody>
          <a:bodyPr wrap="square">
            <a:spAutoFit/>
          </a:bodyPr>
          <a:lstStyle/>
          <a:p>
            <a:r>
              <a:rPr lang="ja-JP" altLang="en-US" dirty="0"/>
              <a:t>反復処理</a:t>
            </a:r>
          </a:p>
        </p:txBody>
      </p:sp>
      <p:pic>
        <p:nvPicPr>
          <p:cNvPr id="17" name="Picture 2" descr="stringr: Rの文字列をまともな方法で処理する - Heavy Watal">
            <a:extLst>
              <a:ext uri="{FF2B5EF4-FFF2-40B4-BE49-F238E27FC236}">
                <a16:creationId xmlns:a16="http://schemas.microsoft.com/office/drawing/2014/main" id="{B09E0D03-33C1-F55A-465E-551B2FEC218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17020" y="5871920"/>
            <a:ext cx="855148" cy="986080"/>
          </a:xfrm>
          <a:prstGeom prst="rect">
            <a:avLst/>
          </a:prstGeom>
          <a:noFill/>
          <a:extLst>
            <a:ext uri="{909E8E84-426E-40DD-AFC4-6F175D3DCCD1}">
              <a14:hiddenFill xmlns:a14="http://schemas.microsoft.com/office/drawing/2010/main">
                <a:solidFill>
                  <a:srgbClr val="FFFFFF"/>
                </a:solidFill>
              </a14:hiddenFill>
            </a:ext>
          </a:extLst>
        </p:spPr>
      </p:pic>
      <p:sp>
        <p:nvSpPr>
          <p:cNvPr id="18" name="テキスト ボックス 17">
            <a:extLst>
              <a:ext uri="{FF2B5EF4-FFF2-40B4-BE49-F238E27FC236}">
                <a16:creationId xmlns:a16="http://schemas.microsoft.com/office/drawing/2014/main" id="{A67ED667-59B0-0A6D-95BC-474C2979DB9D}"/>
              </a:ext>
            </a:extLst>
          </p:cNvPr>
          <p:cNvSpPr txBox="1"/>
          <p:nvPr/>
        </p:nvSpPr>
        <p:spPr>
          <a:xfrm>
            <a:off x="5107799" y="6134127"/>
            <a:ext cx="2418387" cy="461665"/>
          </a:xfrm>
          <a:prstGeom prst="rect">
            <a:avLst/>
          </a:prstGeom>
          <a:noFill/>
        </p:spPr>
        <p:txBody>
          <a:bodyPr wrap="square">
            <a:spAutoFit/>
          </a:bodyPr>
          <a:lstStyle/>
          <a:p>
            <a:r>
              <a:rPr lang="ja-JP" altLang="en-US" dirty="0"/>
              <a:t>文字列処理</a:t>
            </a:r>
          </a:p>
        </p:txBody>
      </p:sp>
      <p:pic>
        <p:nvPicPr>
          <p:cNvPr id="19" name="Picture 4" descr="Tools for Working with Categorical Variables (Factors) • forcats">
            <a:extLst>
              <a:ext uri="{FF2B5EF4-FFF2-40B4-BE49-F238E27FC236}">
                <a16:creationId xmlns:a16="http://schemas.microsoft.com/office/drawing/2014/main" id="{B976C96B-D65F-BB69-06EE-3DAE55A2035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12355" y="4725144"/>
            <a:ext cx="887331" cy="1023190"/>
          </a:xfrm>
          <a:prstGeom prst="rect">
            <a:avLst/>
          </a:prstGeom>
          <a:noFill/>
          <a:extLst>
            <a:ext uri="{909E8E84-426E-40DD-AFC4-6F175D3DCCD1}">
              <a14:hiddenFill xmlns:a14="http://schemas.microsoft.com/office/drawing/2010/main">
                <a:solidFill>
                  <a:srgbClr val="FFFFFF"/>
                </a:solidFill>
              </a14:hiddenFill>
            </a:ext>
          </a:extLst>
        </p:spPr>
      </p:pic>
      <p:sp>
        <p:nvSpPr>
          <p:cNvPr id="20" name="テキスト ボックス 19">
            <a:extLst>
              <a:ext uri="{FF2B5EF4-FFF2-40B4-BE49-F238E27FC236}">
                <a16:creationId xmlns:a16="http://schemas.microsoft.com/office/drawing/2014/main" id="{B37772E1-74EF-7C5F-2D8F-F64AA0494144}"/>
              </a:ext>
            </a:extLst>
          </p:cNvPr>
          <p:cNvSpPr txBox="1"/>
          <p:nvPr/>
        </p:nvSpPr>
        <p:spPr>
          <a:xfrm>
            <a:off x="8277238" y="4942383"/>
            <a:ext cx="2418387" cy="461665"/>
          </a:xfrm>
          <a:prstGeom prst="rect">
            <a:avLst/>
          </a:prstGeom>
          <a:noFill/>
        </p:spPr>
        <p:txBody>
          <a:bodyPr wrap="square">
            <a:spAutoFit/>
          </a:bodyPr>
          <a:lstStyle/>
          <a:p>
            <a:r>
              <a:rPr lang="ja-JP" altLang="en-US" dirty="0"/>
              <a:t>カテゴリ処理</a:t>
            </a:r>
          </a:p>
        </p:txBody>
      </p:sp>
      <p:pic>
        <p:nvPicPr>
          <p:cNvPr id="21" name="Picture 8" descr="Make Dealing with Dates a Little Easier • lubridate">
            <a:extLst>
              <a:ext uri="{FF2B5EF4-FFF2-40B4-BE49-F238E27FC236}">
                <a16:creationId xmlns:a16="http://schemas.microsoft.com/office/drawing/2014/main" id="{EBF60EB4-C37F-67AD-45DA-F1C24997B75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312355" y="5830175"/>
            <a:ext cx="887331" cy="1027825"/>
          </a:xfrm>
          <a:prstGeom prst="rect">
            <a:avLst/>
          </a:prstGeom>
          <a:noFill/>
          <a:extLst>
            <a:ext uri="{909E8E84-426E-40DD-AFC4-6F175D3DCCD1}">
              <a14:hiddenFill xmlns:a14="http://schemas.microsoft.com/office/drawing/2010/main">
                <a:solidFill>
                  <a:srgbClr val="FFFFFF"/>
                </a:solidFill>
              </a14:hiddenFill>
            </a:ext>
          </a:extLst>
        </p:spPr>
      </p:pic>
      <p:sp>
        <p:nvSpPr>
          <p:cNvPr id="22" name="テキスト ボックス 21">
            <a:extLst>
              <a:ext uri="{FF2B5EF4-FFF2-40B4-BE49-F238E27FC236}">
                <a16:creationId xmlns:a16="http://schemas.microsoft.com/office/drawing/2014/main" id="{9248B30B-2D7A-62CA-1A2D-4408EC3CB3B8}"/>
              </a:ext>
            </a:extLst>
          </p:cNvPr>
          <p:cNvSpPr txBox="1"/>
          <p:nvPr/>
        </p:nvSpPr>
        <p:spPr>
          <a:xfrm>
            <a:off x="8292131" y="6015736"/>
            <a:ext cx="2418387" cy="461665"/>
          </a:xfrm>
          <a:prstGeom prst="rect">
            <a:avLst/>
          </a:prstGeom>
          <a:noFill/>
        </p:spPr>
        <p:txBody>
          <a:bodyPr wrap="square">
            <a:spAutoFit/>
          </a:bodyPr>
          <a:lstStyle/>
          <a:p>
            <a:r>
              <a:rPr lang="ja-JP" altLang="en-US" dirty="0"/>
              <a:t>日時処理</a:t>
            </a:r>
          </a:p>
        </p:txBody>
      </p:sp>
    </p:spTree>
    <p:extLst>
      <p:ext uri="{BB962C8B-B14F-4D97-AF65-F5344CB8AC3E}">
        <p14:creationId xmlns:p14="http://schemas.microsoft.com/office/powerpoint/2010/main" val="4142304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9B8DE1F-D086-E697-2E68-64CD32C7BB1F}"/>
              </a:ext>
            </a:extLst>
          </p:cNvPr>
          <p:cNvSpPr>
            <a:spLocks noGrp="1"/>
          </p:cNvSpPr>
          <p:nvPr>
            <p:ph type="title"/>
          </p:nvPr>
        </p:nvSpPr>
        <p:spPr/>
        <p:txBody>
          <a:bodyPr/>
          <a:lstStyle/>
          <a:p>
            <a:r>
              <a:rPr kumimoji="1" lang="en-US" altLang="ja-JP" i="0" dirty="0" err="1"/>
              <a:t>readr</a:t>
            </a:r>
            <a:endParaRPr kumimoji="1" lang="ja-JP" altLang="en-US" i="0" dirty="0"/>
          </a:p>
        </p:txBody>
      </p:sp>
      <p:sp>
        <p:nvSpPr>
          <p:cNvPr id="4" name="スライド番号プレースホルダー 3">
            <a:extLst>
              <a:ext uri="{FF2B5EF4-FFF2-40B4-BE49-F238E27FC236}">
                <a16:creationId xmlns:a16="http://schemas.microsoft.com/office/drawing/2014/main" id="{BEA32F93-C339-3ADB-5A9D-A9DB69D1AD91}"/>
              </a:ext>
            </a:extLst>
          </p:cNvPr>
          <p:cNvSpPr>
            <a:spLocks noGrp="1"/>
          </p:cNvSpPr>
          <p:nvPr>
            <p:ph type="sldNum" sz="quarter" idx="11"/>
          </p:nvPr>
        </p:nvSpPr>
        <p:spPr/>
        <p:txBody>
          <a:bodyPr/>
          <a:lstStyle/>
          <a:p>
            <a:fld id="{23B20E4E-3F95-4221-AFE5-FD1FD9CC3448}" type="slidenum">
              <a:rPr lang="en-US" altLang="ja-JP" smtClean="0"/>
              <a:pPr/>
              <a:t>7</a:t>
            </a:fld>
            <a:endParaRPr lang="en-US" altLang="ja-JP"/>
          </a:p>
        </p:txBody>
      </p:sp>
      <p:pic>
        <p:nvPicPr>
          <p:cNvPr id="3074" name="Picture 2" descr="readr: 高速で柔軟なテーブル読み込み - Heavy Watal">
            <a:extLst>
              <a:ext uri="{FF2B5EF4-FFF2-40B4-BE49-F238E27FC236}">
                <a16:creationId xmlns:a16="http://schemas.microsoft.com/office/drawing/2014/main" id="{78F70E86-0A05-A068-09AC-066ED063A2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24" y="914400"/>
            <a:ext cx="1990725" cy="2295525"/>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304464E3-A6BB-51D1-77CB-16B0DAFDB9D5}"/>
              </a:ext>
            </a:extLst>
          </p:cNvPr>
          <p:cNvSpPr txBox="1"/>
          <p:nvPr/>
        </p:nvSpPr>
        <p:spPr>
          <a:xfrm>
            <a:off x="2207568" y="949856"/>
            <a:ext cx="7992888" cy="461665"/>
          </a:xfrm>
          <a:prstGeom prst="rect">
            <a:avLst/>
          </a:prstGeom>
          <a:noFill/>
        </p:spPr>
        <p:txBody>
          <a:bodyPr wrap="square">
            <a:spAutoFit/>
          </a:bodyPr>
          <a:lstStyle/>
          <a:p>
            <a:r>
              <a:rPr lang="ja-JP" altLang="en-US" dirty="0"/>
              <a:t>wk2 &lt;- read_csv(“</a:t>
            </a:r>
            <a:r>
              <a:rPr lang="fr-FR" altLang="ja-JP" dirty="0"/>
              <a:t>C:/Users/xxxxx/Documents/test.csv</a:t>
            </a:r>
            <a:r>
              <a:rPr lang="ja-JP" altLang="en-US" dirty="0"/>
              <a:t>“)</a:t>
            </a:r>
          </a:p>
        </p:txBody>
      </p:sp>
      <p:pic>
        <p:nvPicPr>
          <p:cNvPr id="8" name="図 7" descr="テキスト&#10;&#10;AI 生成コンテンツは誤りを含む可能性があります。">
            <a:extLst>
              <a:ext uri="{FF2B5EF4-FFF2-40B4-BE49-F238E27FC236}">
                <a16:creationId xmlns:a16="http://schemas.microsoft.com/office/drawing/2014/main" id="{64C6405C-CE9A-7C38-6B02-421BDB77E266}"/>
              </a:ext>
            </a:extLst>
          </p:cNvPr>
          <p:cNvPicPr>
            <a:picLocks noChangeAspect="1"/>
          </p:cNvPicPr>
          <p:nvPr/>
        </p:nvPicPr>
        <p:blipFill>
          <a:blip r:embed="rId3"/>
          <a:stretch>
            <a:fillRect/>
          </a:stretch>
        </p:blipFill>
        <p:spPr>
          <a:xfrm>
            <a:off x="2333641" y="1903090"/>
            <a:ext cx="2372056" cy="1133633"/>
          </a:xfrm>
          <a:prstGeom prst="rect">
            <a:avLst/>
          </a:prstGeom>
        </p:spPr>
      </p:pic>
      <p:pic>
        <p:nvPicPr>
          <p:cNvPr id="10" name="図 9" descr="テキスト&#10;&#10;AI 生成コンテンツは誤りを含む可能性があります。">
            <a:extLst>
              <a:ext uri="{FF2B5EF4-FFF2-40B4-BE49-F238E27FC236}">
                <a16:creationId xmlns:a16="http://schemas.microsoft.com/office/drawing/2014/main" id="{5AF4D765-98EB-A62A-1E8A-67BA1D24580E}"/>
              </a:ext>
            </a:extLst>
          </p:cNvPr>
          <p:cNvPicPr>
            <a:picLocks noChangeAspect="1"/>
          </p:cNvPicPr>
          <p:nvPr/>
        </p:nvPicPr>
        <p:blipFill>
          <a:blip r:embed="rId4"/>
          <a:stretch>
            <a:fillRect/>
          </a:stretch>
        </p:blipFill>
        <p:spPr>
          <a:xfrm>
            <a:off x="6456040" y="1411521"/>
            <a:ext cx="2467319" cy="1629002"/>
          </a:xfrm>
          <a:prstGeom prst="rect">
            <a:avLst/>
          </a:prstGeom>
          <a:ln w="12700">
            <a:solidFill>
              <a:schemeClr val="accent1">
                <a:lumMod val="50000"/>
              </a:schemeClr>
            </a:solidFill>
          </a:ln>
        </p:spPr>
      </p:pic>
      <p:sp>
        <p:nvSpPr>
          <p:cNvPr id="11" name="矢印: 右 10">
            <a:extLst>
              <a:ext uri="{FF2B5EF4-FFF2-40B4-BE49-F238E27FC236}">
                <a16:creationId xmlns:a16="http://schemas.microsoft.com/office/drawing/2014/main" id="{E9AA5478-7B6A-AEE4-B4B6-22AFA23C1B3D}"/>
              </a:ext>
            </a:extLst>
          </p:cNvPr>
          <p:cNvSpPr/>
          <p:nvPr/>
        </p:nvSpPr>
        <p:spPr>
          <a:xfrm>
            <a:off x="5447928" y="2062162"/>
            <a:ext cx="648072" cy="46166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テキスト ボックス 12">
            <a:extLst>
              <a:ext uri="{FF2B5EF4-FFF2-40B4-BE49-F238E27FC236}">
                <a16:creationId xmlns:a16="http://schemas.microsoft.com/office/drawing/2014/main" id="{EB5B09FE-3BC8-285A-02F0-41E9A814C9DF}"/>
              </a:ext>
            </a:extLst>
          </p:cNvPr>
          <p:cNvSpPr txBox="1"/>
          <p:nvPr/>
        </p:nvSpPr>
        <p:spPr>
          <a:xfrm>
            <a:off x="2207568" y="1506009"/>
            <a:ext cx="1662777" cy="461665"/>
          </a:xfrm>
          <a:prstGeom prst="rect">
            <a:avLst/>
          </a:prstGeom>
          <a:noFill/>
        </p:spPr>
        <p:txBody>
          <a:bodyPr wrap="square">
            <a:spAutoFit/>
          </a:bodyPr>
          <a:lstStyle/>
          <a:p>
            <a:r>
              <a:rPr lang="en-US" altLang="ja-JP" dirty="0"/>
              <a:t>test.csv</a:t>
            </a:r>
            <a:endParaRPr lang="ja-JP" altLang="en-US" dirty="0"/>
          </a:p>
        </p:txBody>
      </p:sp>
      <p:sp>
        <p:nvSpPr>
          <p:cNvPr id="17" name="テキスト ボックス 16">
            <a:extLst>
              <a:ext uri="{FF2B5EF4-FFF2-40B4-BE49-F238E27FC236}">
                <a16:creationId xmlns:a16="http://schemas.microsoft.com/office/drawing/2014/main" id="{099F611B-654C-AAB4-2A04-27051E342F5A}"/>
              </a:ext>
            </a:extLst>
          </p:cNvPr>
          <p:cNvSpPr txBox="1"/>
          <p:nvPr/>
        </p:nvSpPr>
        <p:spPr>
          <a:xfrm>
            <a:off x="314464" y="3860566"/>
            <a:ext cx="6106160" cy="2308324"/>
          </a:xfrm>
          <a:prstGeom prst="rect">
            <a:avLst/>
          </a:prstGeom>
          <a:noFill/>
        </p:spPr>
        <p:txBody>
          <a:bodyPr wrap="square">
            <a:spAutoFit/>
          </a:bodyPr>
          <a:lstStyle/>
          <a:p>
            <a:r>
              <a:rPr lang="ja-JP" altLang="en-US" dirty="0"/>
              <a:t>関数	            用途</a:t>
            </a:r>
          </a:p>
          <a:p>
            <a:r>
              <a:rPr lang="ja-JP" altLang="en-US" dirty="0"/>
              <a:t>read_csv()	CSV</a:t>
            </a:r>
          </a:p>
          <a:p>
            <a:r>
              <a:rPr lang="ja-JP" altLang="en-US" dirty="0"/>
              <a:t>read_tsv()	TSV</a:t>
            </a:r>
          </a:p>
          <a:p>
            <a:r>
              <a:rPr lang="ja-JP" altLang="en-US" dirty="0"/>
              <a:t>read_delim()	任意区切り</a:t>
            </a:r>
          </a:p>
          <a:p>
            <a:r>
              <a:rPr lang="ja-JP" altLang="en-US" dirty="0"/>
              <a:t>read_fwf()	固定長</a:t>
            </a:r>
          </a:p>
          <a:p>
            <a:r>
              <a:rPr lang="ja-JP" altLang="en-US" dirty="0"/>
              <a:t>read_table()	空白区切り</a:t>
            </a:r>
          </a:p>
        </p:txBody>
      </p:sp>
      <p:sp>
        <p:nvSpPr>
          <p:cNvPr id="21" name="テキスト ボックス 20">
            <a:extLst>
              <a:ext uri="{FF2B5EF4-FFF2-40B4-BE49-F238E27FC236}">
                <a16:creationId xmlns:a16="http://schemas.microsoft.com/office/drawing/2014/main" id="{F89DEDEB-359B-6A85-A8CE-A7DCD4D90662}"/>
              </a:ext>
            </a:extLst>
          </p:cNvPr>
          <p:cNvSpPr txBox="1"/>
          <p:nvPr/>
        </p:nvSpPr>
        <p:spPr>
          <a:xfrm>
            <a:off x="4799856" y="3079535"/>
            <a:ext cx="6106160" cy="461665"/>
          </a:xfrm>
          <a:prstGeom prst="rect">
            <a:avLst/>
          </a:prstGeom>
          <a:noFill/>
        </p:spPr>
        <p:txBody>
          <a:bodyPr wrap="square">
            <a:spAutoFit/>
          </a:bodyPr>
          <a:lstStyle/>
          <a:p>
            <a:r>
              <a:rPr lang="ja-JP" altLang="en-US" dirty="0"/>
              <a:t>★base R の read.csv() より 高速</a:t>
            </a:r>
          </a:p>
        </p:txBody>
      </p:sp>
      <p:sp>
        <p:nvSpPr>
          <p:cNvPr id="22" name="テキスト ボックス 21">
            <a:extLst>
              <a:ext uri="{FF2B5EF4-FFF2-40B4-BE49-F238E27FC236}">
                <a16:creationId xmlns:a16="http://schemas.microsoft.com/office/drawing/2014/main" id="{B90C773E-E6BC-8164-2F4E-FFC437BAC1A8}"/>
              </a:ext>
            </a:extLst>
          </p:cNvPr>
          <p:cNvSpPr txBox="1"/>
          <p:nvPr/>
        </p:nvSpPr>
        <p:spPr>
          <a:xfrm>
            <a:off x="4799856" y="3436588"/>
            <a:ext cx="6912768" cy="461665"/>
          </a:xfrm>
          <a:prstGeom prst="rect">
            <a:avLst/>
          </a:prstGeom>
          <a:noFill/>
        </p:spPr>
        <p:txBody>
          <a:bodyPr wrap="square">
            <a:spAutoFit/>
          </a:bodyPr>
          <a:lstStyle/>
          <a:p>
            <a:r>
              <a:rPr lang="ja-JP" altLang="en-US" dirty="0"/>
              <a:t>★ </a:t>
            </a:r>
            <a:r>
              <a:rPr lang="en-US" altLang="ja-JP" dirty="0" err="1"/>
              <a:t>tibble</a:t>
            </a:r>
            <a:r>
              <a:rPr lang="ja-JP" altLang="en-US" dirty="0"/>
              <a:t>形式で返ってくるので</a:t>
            </a:r>
            <a:r>
              <a:rPr lang="en-US" altLang="ja-JP" dirty="0" err="1"/>
              <a:t>tidyverse</a:t>
            </a:r>
            <a:r>
              <a:rPr lang="ja-JP" altLang="en-US" dirty="0"/>
              <a:t>と相性良</a:t>
            </a:r>
            <a:endParaRPr lang="en-US" altLang="ja-JP" dirty="0"/>
          </a:p>
        </p:txBody>
      </p:sp>
      <p:sp>
        <p:nvSpPr>
          <p:cNvPr id="23" name="テキスト ボックス 22">
            <a:extLst>
              <a:ext uri="{FF2B5EF4-FFF2-40B4-BE49-F238E27FC236}">
                <a16:creationId xmlns:a16="http://schemas.microsoft.com/office/drawing/2014/main" id="{7BCC47B4-2771-EE4F-7B53-0967B7B47C61}"/>
              </a:ext>
            </a:extLst>
          </p:cNvPr>
          <p:cNvSpPr txBox="1"/>
          <p:nvPr/>
        </p:nvSpPr>
        <p:spPr>
          <a:xfrm>
            <a:off x="4766920" y="3879464"/>
            <a:ext cx="6624736" cy="461665"/>
          </a:xfrm>
          <a:prstGeom prst="rect">
            <a:avLst/>
          </a:prstGeom>
          <a:noFill/>
        </p:spPr>
        <p:txBody>
          <a:bodyPr wrap="square">
            <a:spAutoFit/>
          </a:bodyPr>
          <a:lstStyle/>
          <a:p>
            <a:r>
              <a:rPr lang="ja-JP" altLang="en-US" dirty="0"/>
              <a:t>★勝手に因子型にせず文字型で読み込む</a:t>
            </a:r>
            <a:endParaRPr lang="en-US" altLang="ja-JP" dirty="0"/>
          </a:p>
        </p:txBody>
      </p:sp>
      <p:sp>
        <p:nvSpPr>
          <p:cNvPr id="27" name="テキスト ボックス 26">
            <a:extLst>
              <a:ext uri="{FF2B5EF4-FFF2-40B4-BE49-F238E27FC236}">
                <a16:creationId xmlns:a16="http://schemas.microsoft.com/office/drawing/2014/main" id="{4E323265-9637-DCF1-21A8-5B6E1B723604}"/>
              </a:ext>
            </a:extLst>
          </p:cNvPr>
          <p:cNvSpPr txBox="1"/>
          <p:nvPr/>
        </p:nvSpPr>
        <p:spPr>
          <a:xfrm>
            <a:off x="4697809" y="5113082"/>
            <a:ext cx="6106160" cy="1754326"/>
          </a:xfrm>
          <a:prstGeom prst="rect">
            <a:avLst/>
          </a:prstGeom>
          <a:noFill/>
        </p:spPr>
        <p:txBody>
          <a:bodyPr wrap="square">
            <a:spAutoFit/>
          </a:bodyPr>
          <a:lstStyle/>
          <a:p>
            <a:r>
              <a:rPr lang="ja-JP" altLang="en-US" sz="1800" dirty="0"/>
              <a:t>readxl	    .xls, .xlsxファイル</a:t>
            </a:r>
          </a:p>
          <a:p>
            <a:r>
              <a:rPr lang="ja-JP" altLang="en-US" sz="1800" dirty="0"/>
              <a:t>haven	    SPSS, Stata, SASデータ</a:t>
            </a:r>
          </a:p>
          <a:p>
            <a:r>
              <a:rPr lang="ja-JP" altLang="en-US" sz="1800" dirty="0"/>
              <a:t>jsonlite	     JSONデータ</a:t>
            </a:r>
          </a:p>
          <a:p>
            <a:r>
              <a:rPr lang="ja-JP" altLang="en-US" sz="1800" dirty="0"/>
              <a:t>xml2	    XML, HTMLデータ</a:t>
            </a:r>
          </a:p>
          <a:p>
            <a:r>
              <a:rPr lang="ja-JP" altLang="en-US" sz="1800" dirty="0"/>
              <a:t>httr	    Web API通信</a:t>
            </a:r>
          </a:p>
          <a:p>
            <a:r>
              <a:rPr lang="ja-JP" altLang="en-US" sz="1800" dirty="0"/>
              <a:t>rvest	    Webスクレイピング</a:t>
            </a:r>
          </a:p>
        </p:txBody>
      </p:sp>
      <p:sp>
        <p:nvSpPr>
          <p:cNvPr id="29" name="テキスト ボックス 28">
            <a:extLst>
              <a:ext uri="{FF2B5EF4-FFF2-40B4-BE49-F238E27FC236}">
                <a16:creationId xmlns:a16="http://schemas.microsoft.com/office/drawing/2014/main" id="{06DE8DCF-DBA0-288A-B2D2-D02E75E232FB}"/>
              </a:ext>
            </a:extLst>
          </p:cNvPr>
          <p:cNvSpPr txBox="1"/>
          <p:nvPr/>
        </p:nvSpPr>
        <p:spPr>
          <a:xfrm>
            <a:off x="4697809" y="4475208"/>
            <a:ext cx="6106160" cy="646331"/>
          </a:xfrm>
          <a:prstGeom prst="rect">
            <a:avLst/>
          </a:prstGeom>
          <a:noFill/>
        </p:spPr>
        <p:txBody>
          <a:bodyPr wrap="square">
            <a:spAutoFit/>
          </a:bodyPr>
          <a:lstStyle/>
          <a:p>
            <a:r>
              <a:rPr lang="ja-JP" altLang="en-US" sz="1800" dirty="0"/>
              <a:t>以下は</a:t>
            </a:r>
            <a:r>
              <a:rPr lang="en-US" altLang="ja-JP" sz="1800" dirty="0"/>
              <a:t>CORE</a:t>
            </a:r>
            <a:r>
              <a:rPr lang="ja-JP" altLang="en-US" sz="1800" dirty="0"/>
              <a:t>パッケージではないので</a:t>
            </a:r>
            <a:endParaRPr lang="en-US" altLang="ja-JP" sz="1800" dirty="0"/>
          </a:p>
          <a:p>
            <a:r>
              <a:rPr lang="en-US" altLang="ja-JP" sz="1800" dirty="0"/>
              <a:t>library(</a:t>
            </a:r>
            <a:r>
              <a:rPr lang="en-US" altLang="ja-JP" sz="1800" dirty="0" err="1"/>
              <a:t>readxl</a:t>
            </a:r>
            <a:r>
              <a:rPr lang="en-US" altLang="ja-JP" sz="1800" dirty="0"/>
              <a:t>)</a:t>
            </a:r>
            <a:r>
              <a:rPr lang="ja-JP" altLang="en-US" sz="1800" dirty="0"/>
              <a:t>のような明示的なアタッチが必要</a:t>
            </a:r>
          </a:p>
        </p:txBody>
      </p:sp>
      <p:pic>
        <p:nvPicPr>
          <p:cNvPr id="3076" name="Picture 4" descr="Read Excel Files • readxl">
            <a:extLst>
              <a:ext uri="{FF2B5EF4-FFF2-40B4-BE49-F238E27FC236}">
                <a16:creationId xmlns:a16="http://schemas.microsoft.com/office/drawing/2014/main" id="{7D920016-DD18-38FD-701F-95EEE2562CA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55427" y="5183666"/>
            <a:ext cx="231893" cy="267398"/>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Import and Export SPSS, Stata and SAS Files • haven">
            <a:extLst>
              <a:ext uri="{FF2B5EF4-FFF2-40B4-BE49-F238E27FC236}">
                <a16:creationId xmlns:a16="http://schemas.microsoft.com/office/drawing/2014/main" id="{F5E41FEB-5215-BE1D-C167-CBE736A3500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58181" y="5466159"/>
            <a:ext cx="219816" cy="253472"/>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D22F2CC6-84CD-622C-7828-038A36E436A1}"/>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533868" y="6260530"/>
            <a:ext cx="244129" cy="281507"/>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Easily Harvest (Scrape) Web Pages • rvest">
            <a:extLst>
              <a:ext uri="{FF2B5EF4-FFF2-40B4-BE49-F238E27FC236}">
                <a16:creationId xmlns:a16="http://schemas.microsoft.com/office/drawing/2014/main" id="{649D43BE-EA2B-3105-C90B-C6A52C683EE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533346" y="6538969"/>
            <a:ext cx="244129" cy="2815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4633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877A7E-5B62-4291-5FA9-39455D447838}"/>
              </a:ext>
            </a:extLst>
          </p:cNvPr>
          <p:cNvSpPr>
            <a:spLocks noGrp="1"/>
          </p:cNvSpPr>
          <p:nvPr>
            <p:ph type="title"/>
          </p:nvPr>
        </p:nvSpPr>
        <p:spPr/>
        <p:txBody>
          <a:bodyPr/>
          <a:lstStyle/>
          <a:p>
            <a:r>
              <a:rPr kumimoji="1" lang="en-US" altLang="ja-JP" i="0" dirty="0" err="1"/>
              <a:t>tidyr</a:t>
            </a:r>
            <a:endParaRPr kumimoji="1" lang="ja-JP" altLang="en-US" i="0" dirty="0"/>
          </a:p>
        </p:txBody>
      </p:sp>
      <p:sp>
        <p:nvSpPr>
          <p:cNvPr id="4" name="スライド番号プレースホルダー 3">
            <a:extLst>
              <a:ext uri="{FF2B5EF4-FFF2-40B4-BE49-F238E27FC236}">
                <a16:creationId xmlns:a16="http://schemas.microsoft.com/office/drawing/2014/main" id="{4AE2FE13-82AD-7DA1-6E90-5222438B85A2}"/>
              </a:ext>
            </a:extLst>
          </p:cNvPr>
          <p:cNvSpPr>
            <a:spLocks noGrp="1"/>
          </p:cNvSpPr>
          <p:nvPr>
            <p:ph type="sldNum" sz="quarter" idx="11"/>
          </p:nvPr>
        </p:nvSpPr>
        <p:spPr/>
        <p:txBody>
          <a:bodyPr/>
          <a:lstStyle/>
          <a:p>
            <a:fld id="{23B20E4E-3F95-4221-AFE5-FD1FD9CC3448}" type="slidenum">
              <a:rPr lang="en-US" altLang="ja-JP" smtClean="0"/>
              <a:pPr/>
              <a:t>8</a:t>
            </a:fld>
            <a:endParaRPr lang="en-US" altLang="ja-JP"/>
          </a:p>
        </p:txBody>
      </p:sp>
      <p:pic>
        <p:nvPicPr>
          <p:cNvPr id="4098" name="Picture 2" descr="tidyr: シンプルなデータ変形ツール - Heavy Watal">
            <a:extLst>
              <a:ext uri="{FF2B5EF4-FFF2-40B4-BE49-F238E27FC236}">
                <a16:creationId xmlns:a16="http://schemas.microsoft.com/office/drawing/2014/main" id="{859A48CC-29B2-E26C-8F73-4D40E1CF4C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353" y="1133475"/>
            <a:ext cx="1616044" cy="1863477"/>
          </a:xfrm>
          <a:prstGeom prst="rect">
            <a:avLst/>
          </a:prstGeom>
          <a:noFill/>
          <a:extLst>
            <a:ext uri="{909E8E84-426E-40DD-AFC4-6F175D3DCCD1}">
              <a14:hiddenFill xmlns:a14="http://schemas.microsoft.com/office/drawing/2010/main">
                <a:solidFill>
                  <a:srgbClr val="FFFFFF"/>
                </a:solidFill>
              </a14:hiddenFill>
            </a:ext>
          </a:extLst>
        </p:spPr>
      </p:pic>
      <p:pic>
        <p:nvPicPr>
          <p:cNvPr id="6" name="図 5" descr="テーブル&#10;&#10;AI 生成コンテンツは誤りを含む可能性があります。">
            <a:extLst>
              <a:ext uri="{FF2B5EF4-FFF2-40B4-BE49-F238E27FC236}">
                <a16:creationId xmlns:a16="http://schemas.microsoft.com/office/drawing/2014/main" id="{21D81DE0-5174-3D85-B5BE-8191BAED8B77}"/>
              </a:ext>
            </a:extLst>
          </p:cNvPr>
          <p:cNvPicPr>
            <a:picLocks noChangeAspect="1"/>
          </p:cNvPicPr>
          <p:nvPr/>
        </p:nvPicPr>
        <p:blipFill>
          <a:blip r:embed="rId3"/>
          <a:stretch>
            <a:fillRect/>
          </a:stretch>
        </p:blipFill>
        <p:spPr>
          <a:xfrm>
            <a:off x="119336" y="3501008"/>
            <a:ext cx="4582164" cy="1428949"/>
          </a:xfrm>
          <a:prstGeom prst="rect">
            <a:avLst/>
          </a:prstGeom>
          <a:ln w="19050">
            <a:solidFill>
              <a:schemeClr val="accent1">
                <a:lumMod val="50000"/>
              </a:schemeClr>
            </a:solidFill>
          </a:ln>
        </p:spPr>
      </p:pic>
      <p:pic>
        <p:nvPicPr>
          <p:cNvPr id="8" name="図 7" descr="テーブル&#10;&#10;AI 生成コンテンツは誤りを含む可能性があります。">
            <a:extLst>
              <a:ext uri="{FF2B5EF4-FFF2-40B4-BE49-F238E27FC236}">
                <a16:creationId xmlns:a16="http://schemas.microsoft.com/office/drawing/2014/main" id="{23106175-5737-206F-C418-F890311D3166}"/>
              </a:ext>
            </a:extLst>
          </p:cNvPr>
          <p:cNvPicPr>
            <a:picLocks noChangeAspect="1"/>
          </p:cNvPicPr>
          <p:nvPr/>
        </p:nvPicPr>
        <p:blipFill>
          <a:blip r:embed="rId4"/>
          <a:stretch>
            <a:fillRect/>
          </a:stretch>
        </p:blipFill>
        <p:spPr>
          <a:xfrm>
            <a:off x="7708044" y="3177112"/>
            <a:ext cx="3362794" cy="3505689"/>
          </a:xfrm>
          <a:prstGeom prst="rect">
            <a:avLst/>
          </a:prstGeom>
          <a:ln w="19050">
            <a:solidFill>
              <a:schemeClr val="accent1">
                <a:lumMod val="50000"/>
              </a:schemeClr>
            </a:solidFill>
          </a:ln>
        </p:spPr>
      </p:pic>
      <p:sp>
        <p:nvSpPr>
          <p:cNvPr id="9" name="矢印: 右 8">
            <a:extLst>
              <a:ext uri="{FF2B5EF4-FFF2-40B4-BE49-F238E27FC236}">
                <a16:creationId xmlns:a16="http://schemas.microsoft.com/office/drawing/2014/main" id="{5C70381A-B4CF-1F40-47E0-6269A2B26A94}"/>
              </a:ext>
            </a:extLst>
          </p:cNvPr>
          <p:cNvSpPr/>
          <p:nvPr/>
        </p:nvSpPr>
        <p:spPr>
          <a:xfrm>
            <a:off x="5053900" y="3457952"/>
            <a:ext cx="2160240" cy="533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2778E0DB-BC05-AD7A-2BA5-5455837EFE4C}"/>
              </a:ext>
            </a:extLst>
          </p:cNvPr>
          <p:cNvSpPr txBox="1"/>
          <p:nvPr/>
        </p:nvSpPr>
        <p:spPr>
          <a:xfrm>
            <a:off x="4405783" y="2500154"/>
            <a:ext cx="3236415" cy="784830"/>
          </a:xfrm>
          <a:prstGeom prst="rect">
            <a:avLst/>
          </a:prstGeom>
          <a:noFill/>
          <a:ln>
            <a:solidFill>
              <a:schemeClr val="accent1">
                <a:shade val="15000"/>
              </a:schemeClr>
            </a:solidFill>
          </a:ln>
        </p:spPr>
        <p:txBody>
          <a:bodyPr wrap="square">
            <a:spAutoFit/>
          </a:bodyPr>
          <a:lstStyle/>
          <a:p>
            <a:r>
              <a:rPr lang="ja-JP" altLang="en-US" sz="1500" b="1" dirty="0"/>
              <a:t>t_raw1 &lt;- pivot_longer(  raw1,  cols = VISIT1:VISIT3,  names_to = “Visit“,  </a:t>
            </a:r>
            <a:endParaRPr lang="en-US" altLang="ja-JP" sz="1500" b="1" dirty="0"/>
          </a:p>
          <a:p>
            <a:r>
              <a:rPr lang="ja-JP" altLang="en-US" sz="1500" b="1" dirty="0"/>
              <a:t>values_to = “value“)</a:t>
            </a:r>
          </a:p>
        </p:txBody>
      </p:sp>
      <p:sp>
        <p:nvSpPr>
          <p:cNvPr id="12" name="矢印: 右 11">
            <a:extLst>
              <a:ext uri="{FF2B5EF4-FFF2-40B4-BE49-F238E27FC236}">
                <a16:creationId xmlns:a16="http://schemas.microsoft.com/office/drawing/2014/main" id="{3D835218-6990-703D-875A-F01ABB7B447C}"/>
              </a:ext>
            </a:extLst>
          </p:cNvPr>
          <p:cNvSpPr/>
          <p:nvPr/>
        </p:nvSpPr>
        <p:spPr>
          <a:xfrm rot="10800000">
            <a:off x="4943872" y="4532030"/>
            <a:ext cx="2160240" cy="533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テキスト ボックス 13">
            <a:extLst>
              <a:ext uri="{FF2B5EF4-FFF2-40B4-BE49-F238E27FC236}">
                <a16:creationId xmlns:a16="http://schemas.microsoft.com/office/drawing/2014/main" id="{66500B54-C846-D69A-C4CE-A2835C61E756}"/>
              </a:ext>
            </a:extLst>
          </p:cNvPr>
          <p:cNvSpPr txBox="1"/>
          <p:nvPr/>
        </p:nvSpPr>
        <p:spPr>
          <a:xfrm>
            <a:off x="4398783" y="5398394"/>
            <a:ext cx="3236415" cy="784830"/>
          </a:xfrm>
          <a:prstGeom prst="rect">
            <a:avLst/>
          </a:prstGeom>
          <a:noFill/>
          <a:ln>
            <a:solidFill>
              <a:schemeClr val="accent1">
                <a:shade val="15000"/>
              </a:schemeClr>
            </a:solidFill>
          </a:ln>
        </p:spPr>
        <p:txBody>
          <a:bodyPr wrap="square">
            <a:spAutoFit/>
          </a:bodyPr>
          <a:lstStyle>
            <a:defPPr>
              <a:defRPr lang="ja-JP"/>
            </a:defPPr>
            <a:lvl1pPr>
              <a:defRPr sz="1500" b="1"/>
            </a:lvl1pPr>
          </a:lstStyle>
          <a:p>
            <a:r>
              <a:rPr lang="ja-JP" altLang="en-US" dirty="0"/>
              <a:t>t_raw2 &lt;- pivot_wider(  t_raw1,  names_from = Visit,  values_from = value)</a:t>
            </a:r>
          </a:p>
        </p:txBody>
      </p:sp>
      <p:sp>
        <p:nvSpPr>
          <p:cNvPr id="16" name="テキスト ボックス 15">
            <a:extLst>
              <a:ext uri="{FF2B5EF4-FFF2-40B4-BE49-F238E27FC236}">
                <a16:creationId xmlns:a16="http://schemas.microsoft.com/office/drawing/2014/main" id="{E5FE0384-ED38-54C8-B059-1ED5817E1243}"/>
              </a:ext>
            </a:extLst>
          </p:cNvPr>
          <p:cNvSpPr txBox="1"/>
          <p:nvPr/>
        </p:nvSpPr>
        <p:spPr>
          <a:xfrm>
            <a:off x="119336" y="5357343"/>
            <a:ext cx="6096000" cy="923330"/>
          </a:xfrm>
          <a:prstGeom prst="rect">
            <a:avLst/>
          </a:prstGeom>
          <a:noFill/>
        </p:spPr>
        <p:txBody>
          <a:bodyPr wrap="square">
            <a:spAutoFit/>
          </a:bodyPr>
          <a:lstStyle/>
          <a:p>
            <a:r>
              <a:rPr lang="en-US" altLang="ja-JP" sz="1800" dirty="0"/>
              <a:t>pivot</a:t>
            </a:r>
            <a:r>
              <a:rPr lang="ja-JP" altLang="en-US" sz="1800" dirty="0"/>
              <a:t>関数は代表格で</a:t>
            </a:r>
            <a:endParaRPr lang="en-US" altLang="ja-JP" sz="1800" dirty="0"/>
          </a:p>
          <a:p>
            <a:r>
              <a:rPr lang="ja-JP" altLang="en-US" sz="1800" dirty="0"/>
              <a:t>横持ち</a:t>
            </a:r>
            <a:r>
              <a:rPr lang="en-US" altLang="ja-JP" sz="1800" dirty="0"/>
              <a:t>(wide)</a:t>
            </a:r>
            <a:r>
              <a:rPr lang="ja-JP" altLang="en-US" sz="1800" dirty="0"/>
              <a:t>⇔縦持ち</a:t>
            </a:r>
            <a:r>
              <a:rPr lang="en-US" altLang="ja-JP" sz="1800" dirty="0"/>
              <a:t>(long)</a:t>
            </a:r>
            <a:r>
              <a:rPr lang="ja-JP" altLang="en-US" sz="1800" dirty="0"/>
              <a:t>の変換</a:t>
            </a:r>
            <a:endParaRPr lang="en-US" altLang="ja-JP" sz="1800" dirty="0"/>
          </a:p>
          <a:p>
            <a:r>
              <a:rPr lang="en-US" altLang="ja-JP" sz="1800" dirty="0"/>
              <a:t>SAS</a:t>
            </a:r>
            <a:r>
              <a:rPr lang="ja-JP" altLang="en-US" sz="1800" dirty="0"/>
              <a:t>でいう</a:t>
            </a:r>
            <a:r>
              <a:rPr lang="en-US" altLang="ja-JP" sz="1800" dirty="0"/>
              <a:t>proc transpose</a:t>
            </a:r>
            <a:endParaRPr lang="ja-JP" altLang="en-US" sz="1800" dirty="0"/>
          </a:p>
        </p:txBody>
      </p:sp>
      <p:sp>
        <p:nvSpPr>
          <p:cNvPr id="19" name="テキスト ボックス 18">
            <a:extLst>
              <a:ext uri="{FF2B5EF4-FFF2-40B4-BE49-F238E27FC236}">
                <a16:creationId xmlns:a16="http://schemas.microsoft.com/office/drawing/2014/main" id="{F584C1DC-1078-7299-3678-21EE69850598}"/>
              </a:ext>
            </a:extLst>
          </p:cNvPr>
          <p:cNvSpPr txBox="1"/>
          <p:nvPr/>
        </p:nvSpPr>
        <p:spPr>
          <a:xfrm>
            <a:off x="4405783" y="6303196"/>
            <a:ext cx="6096000" cy="338554"/>
          </a:xfrm>
          <a:prstGeom prst="rect">
            <a:avLst/>
          </a:prstGeom>
          <a:noFill/>
        </p:spPr>
        <p:txBody>
          <a:bodyPr wrap="square">
            <a:spAutoFit/>
          </a:bodyPr>
          <a:lstStyle/>
          <a:p>
            <a:r>
              <a:rPr lang="ja-JP" altLang="en-US" sz="1600" b="1" dirty="0"/>
              <a:t>縦持ち⇒横持ち</a:t>
            </a:r>
          </a:p>
        </p:txBody>
      </p:sp>
      <p:sp>
        <p:nvSpPr>
          <p:cNvPr id="21" name="テキスト ボックス 20">
            <a:extLst>
              <a:ext uri="{FF2B5EF4-FFF2-40B4-BE49-F238E27FC236}">
                <a16:creationId xmlns:a16="http://schemas.microsoft.com/office/drawing/2014/main" id="{663D5401-6481-7843-78F9-9EF558FF539A}"/>
              </a:ext>
            </a:extLst>
          </p:cNvPr>
          <p:cNvSpPr txBox="1"/>
          <p:nvPr/>
        </p:nvSpPr>
        <p:spPr>
          <a:xfrm>
            <a:off x="2279576" y="1122932"/>
            <a:ext cx="9649071" cy="830997"/>
          </a:xfrm>
          <a:prstGeom prst="rect">
            <a:avLst/>
          </a:prstGeom>
          <a:noFill/>
        </p:spPr>
        <p:txBody>
          <a:bodyPr wrap="square">
            <a:spAutoFit/>
          </a:bodyPr>
          <a:lstStyle/>
          <a:p>
            <a:r>
              <a:rPr lang="en-US" altLang="ja-JP" dirty="0" err="1"/>
              <a:t>tidyr</a:t>
            </a:r>
            <a:r>
              <a:rPr lang="ja-JP" altLang="en-US" dirty="0"/>
              <a:t>はデータを tidy data（ちゃんとしたデータ）構造に変換すること</a:t>
            </a:r>
            <a:endParaRPr lang="en-US" altLang="ja-JP" dirty="0"/>
          </a:p>
          <a:p>
            <a:r>
              <a:rPr lang="ja-JP" altLang="en-US" dirty="0"/>
              <a:t>を目的として，構造変換系の関数が多い</a:t>
            </a:r>
          </a:p>
        </p:txBody>
      </p:sp>
      <p:sp>
        <p:nvSpPr>
          <p:cNvPr id="3" name="テキスト ボックス 2">
            <a:extLst>
              <a:ext uri="{FF2B5EF4-FFF2-40B4-BE49-F238E27FC236}">
                <a16:creationId xmlns:a16="http://schemas.microsoft.com/office/drawing/2014/main" id="{8422AC85-21B9-0830-7E94-4979384EE62F}"/>
              </a:ext>
            </a:extLst>
          </p:cNvPr>
          <p:cNvSpPr txBox="1"/>
          <p:nvPr/>
        </p:nvSpPr>
        <p:spPr>
          <a:xfrm>
            <a:off x="4374519" y="2137582"/>
            <a:ext cx="3737705" cy="338554"/>
          </a:xfrm>
          <a:prstGeom prst="rect">
            <a:avLst/>
          </a:prstGeom>
          <a:noFill/>
        </p:spPr>
        <p:txBody>
          <a:bodyPr wrap="square">
            <a:spAutoFit/>
          </a:bodyPr>
          <a:lstStyle/>
          <a:p>
            <a:r>
              <a:rPr lang="ja-JP" altLang="en-US" sz="1600" b="1" dirty="0"/>
              <a:t>横持ち⇒縦持ち</a:t>
            </a:r>
          </a:p>
        </p:txBody>
      </p:sp>
      <p:sp>
        <p:nvSpPr>
          <p:cNvPr id="5" name="テキスト ボックス 4">
            <a:extLst>
              <a:ext uri="{FF2B5EF4-FFF2-40B4-BE49-F238E27FC236}">
                <a16:creationId xmlns:a16="http://schemas.microsoft.com/office/drawing/2014/main" id="{63669294-C532-2966-4DB3-F900BA19DBE6}"/>
              </a:ext>
            </a:extLst>
          </p:cNvPr>
          <p:cNvSpPr txBox="1"/>
          <p:nvPr/>
        </p:nvSpPr>
        <p:spPr>
          <a:xfrm>
            <a:off x="2134805" y="2892569"/>
            <a:ext cx="1969012" cy="430887"/>
          </a:xfrm>
          <a:prstGeom prst="rect">
            <a:avLst/>
          </a:prstGeom>
          <a:noFill/>
        </p:spPr>
        <p:txBody>
          <a:bodyPr wrap="square">
            <a:spAutoFit/>
          </a:bodyPr>
          <a:lstStyle/>
          <a:p>
            <a:r>
              <a:rPr lang="ja-JP" altLang="en-US" sz="2200" b="1" dirty="0">
                <a:solidFill>
                  <a:srgbClr val="FF0000"/>
                </a:solidFill>
              </a:rPr>
              <a:t>縦横転置</a:t>
            </a:r>
          </a:p>
        </p:txBody>
      </p:sp>
    </p:spTree>
    <p:extLst>
      <p:ext uri="{BB962C8B-B14F-4D97-AF65-F5344CB8AC3E}">
        <p14:creationId xmlns:p14="http://schemas.microsoft.com/office/powerpoint/2010/main" val="291988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A8190-09BD-7636-42FD-7831829EAE5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D61F2DC-2D78-B3EB-EA19-9457E126D5A7}"/>
              </a:ext>
            </a:extLst>
          </p:cNvPr>
          <p:cNvSpPr>
            <a:spLocks noGrp="1"/>
          </p:cNvSpPr>
          <p:nvPr>
            <p:ph type="title"/>
          </p:nvPr>
        </p:nvSpPr>
        <p:spPr/>
        <p:txBody>
          <a:bodyPr/>
          <a:lstStyle/>
          <a:p>
            <a:r>
              <a:rPr kumimoji="1" lang="en-US" altLang="ja-JP" i="0" dirty="0" err="1"/>
              <a:t>tidyr</a:t>
            </a:r>
            <a:endParaRPr kumimoji="1" lang="ja-JP" altLang="en-US" i="0" dirty="0"/>
          </a:p>
        </p:txBody>
      </p:sp>
      <p:sp>
        <p:nvSpPr>
          <p:cNvPr id="4" name="スライド番号プレースホルダー 3">
            <a:extLst>
              <a:ext uri="{FF2B5EF4-FFF2-40B4-BE49-F238E27FC236}">
                <a16:creationId xmlns:a16="http://schemas.microsoft.com/office/drawing/2014/main" id="{AAD724A2-4196-5EA0-6906-5241170D4CC9}"/>
              </a:ext>
            </a:extLst>
          </p:cNvPr>
          <p:cNvSpPr>
            <a:spLocks noGrp="1"/>
          </p:cNvSpPr>
          <p:nvPr>
            <p:ph type="sldNum" sz="quarter" idx="11"/>
          </p:nvPr>
        </p:nvSpPr>
        <p:spPr/>
        <p:txBody>
          <a:bodyPr/>
          <a:lstStyle/>
          <a:p>
            <a:fld id="{23B20E4E-3F95-4221-AFE5-FD1FD9CC3448}" type="slidenum">
              <a:rPr lang="en-US" altLang="ja-JP" smtClean="0"/>
              <a:pPr/>
              <a:t>9</a:t>
            </a:fld>
            <a:endParaRPr lang="en-US" altLang="ja-JP"/>
          </a:p>
        </p:txBody>
      </p:sp>
      <p:pic>
        <p:nvPicPr>
          <p:cNvPr id="4098" name="Picture 2" descr="tidyr: シンプルなデータ変形ツール - Heavy Watal">
            <a:extLst>
              <a:ext uri="{FF2B5EF4-FFF2-40B4-BE49-F238E27FC236}">
                <a16:creationId xmlns:a16="http://schemas.microsoft.com/office/drawing/2014/main" id="{1A3A6DD3-55D1-C94D-7958-CE3AE388CC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353" y="1133475"/>
            <a:ext cx="1616044" cy="1863477"/>
          </a:xfrm>
          <a:prstGeom prst="rect">
            <a:avLst/>
          </a:prstGeom>
          <a:noFill/>
          <a:extLst>
            <a:ext uri="{909E8E84-426E-40DD-AFC4-6F175D3DCCD1}">
              <a14:hiddenFill xmlns:a14="http://schemas.microsoft.com/office/drawing/2010/main">
                <a:solidFill>
                  <a:srgbClr val="FFFFFF"/>
                </a:solidFill>
              </a14:hiddenFill>
            </a:ext>
          </a:extLst>
        </p:spPr>
      </p:pic>
      <p:pic>
        <p:nvPicPr>
          <p:cNvPr id="5" name="図 4" descr="テーブル&#10;&#10;AI 生成コンテンツは誤りを含む可能性があります。">
            <a:extLst>
              <a:ext uri="{FF2B5EF4-FFF2-40B4-BE49-F238E27FC236}">
                <a16:creationId xmlns:a16="http://schemas.microsoft.com/office/drawing/2014/main" id="{4B3D2E0C-EC9B-B748-9C27-7078E25C2498}"/>
              </a:ext>
            </a:extLst>
          </p:cNvPr>
          <p:cNvPicPr>
            <a:picLocks noChangeAspect="1"/>
          </p:cNvPicPr>
          <p:nvPr/>
        </p:nvPicPr>
        <p:blipFill>
          <a:blip r:embed="rId3"/>
          <a:stretch>
            <a:fillRect/>
          </a:stretch>
        </p:blipFill>
        <p:spPr>
          <a:xfrm>
            <a:off x="551384" y="3573016"/>
            <a:ext cx="3770802" cy="1573808"/>
          </a:xfrm>
          <a:prstGeom prst="rect">
            <a:avLst/>
          </a:prstGeom>
          <a:ln w="28575">
            <a:solidFill>
              <a:schemeClr val="accent1"/>
            </a:solidFill>
          </a:ln>
        </p:spPr>
      </p:pic>
      <p:pic>
        <p:nvPicPr>
          <p:cNvPr id="8" name="図 7" descr="テーブル&#10;&#10;AI 生成コンテンツは誤りを含む可能性があります。">
            <a:extLst>
              <a:ext uri="{FF2B5EF4-FFF2-40B4-BE49-F238E27FC236}">
                <a16:creationId xmlns:a16="http://schemas.microsoft.com/office/drawing/2014/main" id="{D3F1F16F-9D08-F96A-246D-958ED3661226}"/>
              </a:ext>
            </a:extLst>
          </p:cNvPr>
          <p:cNvPicPr>
            <a:picLocks noChangeAspect="1"/>
          </p:cNvPicPr>
          <p:nvPr/>
        </p:nvPicPr>
        <p:blipFill>
          <a:blip r:embed="rId4"/>
          <a:stretch>
            <a:fillRect/>
          </a:stretch>
        </p:blipFill>
        <p:spPr>
          <a:xfrm>
            <a:off x="7320135" y="3628435"/>
            <a:ext cx="3750702" cy="1462970"/>
          </a:xfrm>
          <a:prstGeom prst="rect">
            <a:avLst/>
          </a:prstGeom>
          <a:ln w="25400">
            <a:solidFill>
              <a:schemeClr val="accent1"/>
            </a:solidFill>
          </a:ln>
        </p:spPr>
      </p:pic>
      <p:sp>
        <p:nvSpPr>
          <p:cNvPr id="9" name="テキスト ボックス 8">
            <a:extLst>
              <a:ext uri="{FF2B5EF4-FFF2-40B4-BE49-F238E27FC236}">
                <a16:creationId xmlns:a16="http://schemas.microsoft.com/office/drawing/2014/main" id="{0D79CD75-D8E1-1FB8-B4D1-44BD519E394C}"/>
              </a:ext>
            </a:extLst>
          </p:cNvPr>
          <p:cNvSpPr txBox="1"/>
          <p:nvPr/>
        </p:nvSpPr>
        <p:spPr>
          <a:xfrm>
            <a:off x="2134805" y="2892569"/>
            <a:ext cx="1969012" cy="430887"/>
          </a:xfrm>
          <a:prstGeom prst="rect">
            <a:avLst/>
          </a:prstGeom>
          <a:noFill/>
        </p:spPr>
        <p:txBody>
          <a:bodyPr wrap="square">
            <a:spAutoFit/>
          </a:bodyPr>
          <a:lstStyle/>
          <a:p>
            <a:r>
              <a:rPr lang="ja-JP" altLang="en-US" sz="2200" b="1" dirty="0">
                <a:solidFill>
                  <a:srgbClr val="FF0000"/>
                </a:solidFill>
              </a:rPr>
              <a:t>列の分割結合</a:t>
            </a:r>
          </a:p>
        </p:txBody>
      </p:sp>
      <p:sp>
        <p:nvSpPr>
          <p:cNvPr id="10" name="矢印: 右 9">
            <a:extLst>
              <a:ext uri="{FF2B5EF4-FFF2-40B4-BE49-F238E27FC236}">
                <a16:creationId xmlns:a16="http://schemas.microsoft.com/office/drawing/2014/main" id="{EB282D87-D15F-63AE-E741-61F1EF349ADB}"/>
              </a:ext>
            </a:extLst>
          </p:cNvPr>
          <p:cNvSpPr/>
          <p:nvPr/>
        </p:nvSpPr>
        <p:spPr>
          <a:xfrm>
            <a:off x="4712337" y="3573016"/>
            <a:ext cx="2160240" cy="533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矢印: 右 10">
            <a:extLst>
              <a:ext uri="{FF2B5EF4-FFF2-40B4-BE49-F238E27FC236}">
                <a16:creationId xmlns:a16="http://schemas.microsoft.com/office/drawing/2014/main" id="{AC3CA133-2F66-C166-19DB-D13B424A999F}"/>
              </a:ext>
            </a:extLst>
          </p:cNvPr>
          <p:cNvSpPr/>
          <p:nvPr/>
        </p:nvSpPr>
        <p:spPr>
          <a:xfrm rot="10800000">
            <a:off x="4741041" y="4642872"/>
            <a:ext cx="2160240" cy="5334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テキスト ボックス 11">
            <a:extLst>
              <a:ext uri="{FF2B5EF4-FFF2-40B4-BE49-F238E27FC236}">
                <a16:creationId xmlns:a16="http://schemas.microsoft.com/office/drawing/2014/main" id="{F36483E4-84DF-D7AB-8B37-8712BBB14AC8}"/>
              </a:ext>
            </a:extLst>
          </p:cNvPr>
          <p:cNvSpPr txBox="1"/>
          <p:nvPr/>
        </p:nvSpPr>
        <p:spPr>
          <a:xfrm>
            <a:off x="4558183" y="2652554"/>
            <a:ext cx="3914081" cy="784830"/>
          </a:xfrm>
          <a:prstGeom prst="rect">
            <a:avLst/>
          </a:prstGeom>
          <a:noFill/>
          <a:ln w="19050">
            <a:solidFill>
              <a:schemeClr val="accent1">
                <a:shade val="15000"/>
              </a:schemeClr>
            </a:solidFill>
          </a:ln>
        </p:spPr>
        <p:txBody>
          <a:bodyPr wrap="square">
            <a:spAutoFit/>
          </a:bodyPr>
          <a:lstStyle/>
          <a:p>
            <a:r>
              <a:rPr lang="en-US" altLang="ja-JP" sz="1500" b="1" dirty="0"/>
              <a:t>sp_raw10 &lt;- separate(raw10, col = “WEIGHT_HEIGHT“, into = c(“WEIGHT“,“HEIGHT“), </a:t>
            </a:r>
            <a:r>
              <a:rPr lang="en-US" altLang="ja-JP" sz="1500" b="1" dirty="0" err="1"/>
              <a:t>sep</a:t>
            </a:r>
            <a:r>
              <a:rPr lang="en-US" altLang="ja-JP" sz="1500" b="1" dirty="0"/>
              <a:t> = “_“)</a:t>
            </a:r>
            <a:endParaRPr lang="ja-JP" altLang="en-US" sz="1500" b="1" dirty="0"/>
          </a:p>
        </p:txBody>
      </p:sp>
      <p:sp>
        <p:nvSpPr>
          <p:cNvPr id="13" name="テキスト ボックス 12">
            <a:extLst>
              <a:ext uri="{FF2B5EF4-FFF2-40B4-BE49-F238E27FC236}">
                <a16:creationId xmlns:a16="http://schemas.microsoft.com/office/drawing/2014/main" id="{4C6B9BFA-3D4C-A3DA-F82F-1A9179A85059}"/>
              </a:ext>
            </a:extLst>
          </p:cNvPr>
          <p:cNvSpPr txBox="1"/>
          <p:nvPr/>
        </p:nvSpPr>
        <p:spPr>
          <a:xfrm>
            <a:off x="4526919" y="2289982"/>
            <a:ext cx="3737705" cy="338554"/>
          </a:xfrm>
          <a:prstGeom prst="rect">
            <a:avLst/>
          </a:prstGeom>
          <a:noFill/>
        </p:spPr>
        <p:txBody>
          <a:bodyPr wrap="square">
            <a:spAutoFit/>
          </a:bodyPr>
          <a:lstStyle/>
          <a:p>
            <a:r>
              <a:rPr lang="ja-JP" altLang="en-US" sz="1600" b="1" dirty="0"/>
              <a:t>列の分割</a:t>
            </a:r>
          </a:p>
        </p:txBody>
      </p:sp>
      <p:sp>
        <p:nvSpPr>
          <p:cNvPr id="15" name="テキスト ボックス 14">
            <a:extLst>
              <a:ext uri="{FF2B5EF4-FFF2-40B4-BE49-F238E27FC236}">
                <a16:creationId xmlns:a16="http://schemas.microsoft.com/office/drawing/2014/main" id="{DEC65925-FF67-6DA1-B906-F09F4E66C037}"/>
              </a:ext>
            </a:extLst>
          </p:cNvPr>
          <p:cNvSpPr txBox="1"/>
          <p:nvPr/>
        </p:nvSpPr>
        <p:spPr>
          <a:xfrm>
            <a:off x="4589943" y="5303808"/>
            <a:ext cx="3737705" cy="338554"/>
          </a:xfrm>
          <a:prstGeom prst="rect">
            <a:avLst/>
          </a:prstGeom>
          <a:noFill/>
        </p:spPr>
        <p:txBody>
          <a:bodyPr wrap="square">
            <a:spAutoFit/>
          </a:bodyPr>
          <a:lstStyle/>
          <a:p>
            <a:r>
              <a:rPr lang="ja-JP" altLang="en-US" sz="1600" b="1" dirty="0"/>
              <a:t>列の結合</a:t>
            </a:r>
          </a:p>
        </p:txBody>
      </p:sp>
      <p:sp>
        <p:nvSpPr>
          <p:cNvPr id="16" name="テキスト ボックス 15">
            <a:extLst>
              <a:ext uri="{FF2B5EF4-FFF2-40B4-BE49-F238E27FC236}">
                <a16:creationId xmlns:a16="http://schemas.microsoft.com/office/drawing/2014/main" id="{250F9BDA-6761-AA1C-CE27-EA85815BBD5C}"/>
              </a:ext>
            </a:extLst>
          </p:cNvPr>
          <p:cNvSpPr txBox="1"/>
          <p:nvPr/>
        </p:nvSpPr>
        <p:spPr>
          <a:xfrm>
            <a:off x="4584719" y="5653316"/>
            <a:ext cx="3236415" cy="784830"/>
          </a:xfrm>
          <a:prstGeom prst="rect">
            <a:avLst/>
          </a:prstGeom>
          <a:noFill/>
          <a:ln>
            <a:solidFill>
              <a:schemeClr val="accent1">
                <a:shade val="15000"/>
              </a:schemeClr>
            </a:solidFill>
          </a:ln>
        </p:spPr>
        <p:txBody>
          <a:bodyPr wrap="square">
            <a:spAutoFit/>
          </a:bodyPr>
          <a:lstStyle/>
          <a:p>
            <a:r>
              <a:rPr lang="en-US" altLang="ja-JP" sz="1500" b="1" dirty="0"/>
              <a:t>unite_raw10 &lt;- unite(sp_raw10, WEIGHT_HEIGHT, WEIGHT, HEIGHT, </a:t>
            </a:r>
            <a:r>
              <a:rPr lang="en-US" altLang="ja-JP" sz="1500" b="1" dirty="0" err="1"/>
              <a:t>sep</a:t>
            </a:r>
            <a:r>
              <a:rPr lang="en-US" altLang="ja-JP" sz="1500" b="1" dirty="0"/>
              <a:t> = “_“)</a:t>
            </a:r>
            <a:endParaRPr lang="ja-JP" altLang="en-US" sz="1500" b="1" dirty="0"/>
          </a:p>
        </p:txBody>
      </p:sp>
    </p:spTree>
    <p:extLst>
      <p:ext uri="{BB962C8B-B14F-4D97-AF65-F5344CB8AC3E}">
        <p14:creationId xmlns:p14="http://schemas.microsoft.com/office/powerpoint/2010/main" val="2641537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C3B34-30A3-E67D-6B74-37CBACBE6A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F17BE9B-7699-566A-2797-26A8853D27C9}"/>
              </a:ext>
            </a:extLst>
          </p:cNvPr>
          <p:cNvSpPr>
            <a:spLocks noGrp="1"/>
          </p:cNvSpPr>
          <p:nvPr>
            <p:ph type="title"/>
          </p:nvPr>
        </p:nvSpPr>
        <p:spPr/>
        <p:txBody>
          <a:bodyPr/>
          <a:lstStyle/>
          <a:p>
            <a:r>
              <a:rPr kumimoji="1" lang="en-US" altLang="ja-JP" i="0" dirty="0" err="1"/>
              <a:t>dplyr</a:t>
            </a:r>
            <a:endParaRPr kumimoji="1" lang="ja-JP" altLang="en-US" i="0" dirty="0"/>
          </a:p>
        </p:txBody>
      </p:sp>
      <p:sp>
        <p:nvSpPr>
          <p:cNvPr id="4" name="スライド番号プレースホルダー 3">
            <a:extLst>
              <a:ext uri="{FF2B5EF4-FFF2-40B4-BE49-F238E27FC236}">
                <a16:creationId xmlns:a16="http://schemas.microsoft.com/office/drawing/2014/main" id="{47FA45DD-450B-2E48-F0C3-D21D3E3FD586}"/>
              </a:ext>
            </a:extLst>
          </p:cNvPr>
          <p:cNvSpPr>
            <a:spLocks noGrp="1"/>
          </p:cNvSpPr>
          <p:nvPr>
            <p:ph type="sldNum" sz="quarter" idx="11"/>
          </p:nvPr>
        </p:nvSpPr>
        <p:spPr/>
        <p:txBody>
          <a:bodyPr/>
          <a:lstStyle/>
          <a:p>
            <a:fld id="{23B20E4E-3F95-4221-AFE5-FD1FD9CC3448}" type="slidenum">
              <a:rPr lang="en-US" altLang="ja-JP" smtClean="0"/>
              <a:pPr/>
              <a:t>10</a:t>
            </a:fld>
            <a:endParaRPr lang="en-US" altLang="ja-JP"/>
          </a:p>
        </p:txBody>
      </p:sp>
      <p:sp>
        <p:nvSpPr>
          <p:cNvPr id="21" name="テキスト ボックス 20">
            <a:extLst>
              <a:ext uri="{FF2B5EF4-FFF2-40B4-BE49-F238E27FC236}">
                <a16:creationId xmlns:a16="http://schemas.microsoft.com/office/drawing/2014/main" id="{9075FF51-F724-33F2-C6D8-4A6EF138FB29}"/>
              </a:ext>
            </a:extLst>
          </p:cNvPr>
          <p:cNvSpPr txBox="1"/>
          <p:nvPr/>
        </p:nvSpPr>
        <p:spPr>
          <a:xfrm>
            <a:off x="2135560" y="1107501"/>
            <a:ext cx="9649071" cy="830997"/>
          </a:xfrm>
          <a:prstGeom prst="rect">
            <a:avLst/>
          </a:prstGeom>
          <a:noFill/>
        </p:spPr>
        <p:txBody>
          <a:bodyPr wrap="square">
            <a:spAutoFit/>
          </a:bodyPr>
          <a:lstStyle/>
          <a:p>
            <a:r>
              <a:rPr lang="en-US" altLang="ja-JP" dirty="0" err="1"/>
              <a:t>dplyr</a:t>
            </a:r>
            <a:r>
              <a:rPr lang="ja-JP" altLang="en-US" dirty="0"/>
              <a:t>は</a:t>
            </a:r>
            <a:r>
              <a:rPr lang="en-US" altLang="ja-JP" dirty="0"/>
              <a:t> </a:t>
            </a:r>
            <a:r>
              <a:rPr lang="ja-JP" altLang="en-US" dirty="0"/>
              <a:t>データハンドリングパッケージで，抽出・変換・集計を行うために使われます</a:t>
            </a:r>
          </a:p>
        </p:txBody>
      </p:sp>
      <p:pic>
        <p:nvPicPr>
          <p:cNvPr id="7" name="Picture 2" descr="dplyr: 高速data.frame処理 - Heavy Watal">
            <a:extLst>
              <a:ext uri="{FF2B5EF4-FFF2-40B4-BE49-F238E27FC236}">
                <a16:creationId xmlns:a16="http://schemas.microsoft.com/office/drawing/2014/main" id="{C1CE45EA-FD0B-96A6-1340-A3E68927D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26" y="1079541"/>
            <a:ext cx="1572294" cy="181302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3" name="表 12">
            <a:extLst>
              <a:ext uri="{FF2B5EF4-FFF2-40B4-BE49-F238E27FC236}">
                <a16:creationId xmlns:a16="http://schemas.microsoft.com/office/drawing/2014/main" id="{2C2481F0-84FE-ACFA-C897-D9EFE4575474}"/>
              </a:ext>
            </a:extLst>
          </p:cNvPr>
          <p:cNvGraphicFramePr>
            <a:graphicFrameLocks noGrp="1"/>
          </p:cNvGraphicFramePr>
          <p:nvPr>
            <p:extLst>
              <p:ext uri="{D42A27DB-BD31-4B8C-83A1-F6EECF244321}">
                <p14:modId xmlns:p14="http://schemas.microsoft.com/office/powerpoint/2010/main" val="4003877398"/>
              </p:ext>
            </p:extLst>
          </p:nvPr>
        </p:nvGraphicFramePr>
        <p:xfrm>
          <a:off x="1219384" y="4017168"/>
          <a:ext cx="5976664" cy="2381864"/>
        </p:xfrm>
        <a:graphic>
          <a:graphicData uri="http://schemas.openxmlformats.org/drawingml/2006/table">
            <a:tbl>
              <a:tblPr firstRow="1" bandRow="1">
                <a:tableStyleId>{5C22544A-7EE6-4342-B048-85BDC9FD1C3A}</a:tableStyleId>
              </a:tblPr>
              <a:tblGrid>
                <a:gridCol w="2213579">
                  <a:extLst>
                    <a:ext uri="{9D8B030D-6E8A-4147-A177-3AD203B41FA5}">
                      <a16:colId xmlns:a16="http://schemas.microsoft.com/office/drawing/2014/main" val="3476491581"/>
                    </a:ext>
                  </a:extLst>
                </a:gridCol>
                <a:gridCol w="3763085">
                  <a:extLst>
                    <a:ext uri="{9D8B030D-6E8A-4147-A177-3AD203B41FA5}">
                      <a16:colId xmlns:a16="http://schemas.microsoft.com/office/drawing/2014/main" val="3912334491"/>
                    </a:ext>
                  </a:extLst>
                </a:gridCol>
              </a:tblGrid>
              <a:tr h="380033">
                <a:tc>
                  <a:txBody>
                    <a:bodyPr/>
                    <a:lstStyle/>
                    <a:p>
                      <a:pPr marL="0" algn="l" defTabSz="914400" rtl="0" eaLnBrk="1" fontAlgn="base" latinLnBrk="0" hangingPunct="1">
                        <a:spcBef>
                          <a:spcPct val="0"/>
                        </a:spcBef>
                        <a:spcAft>
                          <a:spcPct val="0"/>
                        </a:spcAft>
                        <a:buNone/>
                      </a:pPr>
                      <a:r>
                        <a:rPr kumimoji="1" lang="ja-JP" altLang="en-US" sz="2400" kern="1200">
                          <a:solidFill>
                            <a:schemeClr val="tx1"/>
                          </a:solidFill>
                          <a:latin typeface="Times" charset="0"/>
                          <a:ea typeface="Osaka" charset="-128"/>
                          <a:cs typeface="+mn-cs"/>
                        </a:rPr>
                        <a:t>関数</a:t>
                      </a:r>
                    </a:p>
                  </a:txBody>
                  <a:tcPr marL="6350" marR="6350" marT="6350" marB="0" anchor="ctr"/>
                </a:tc>
                <a:tc>
                  <a:txBody>
                    <a:bodyPr/>
                    <a:lstStyle/>
                    <a:p>
                      <a:pPr marL="0" algn="l" defTabSz="914400" rtl="0" eaLnBrk="1" fontAlgn="base" latinLnBrk="0" hangingPunct="1">
                        <a:spcBef>
                          <a:spcPct val="0"/>
                        </a:spcBef>
                        <a:spcAft>
                          <a:spcPct val="0"/>
                        </a:spcAft>
                        <a:buNone/>
                      </a:pPr>
                      <a:r>
                        <a:rPr kumimoji="1" lang="ja-JP" altLang="en-US" sz="2400" kern="1200" dirty="0">
                          <a:solidFill>
                            <a:schemeClr val="tx1"/>
                          </a:solidFill>
                          <a:latin typeface="Times" charset="0"/>
                          <a:ea typeface="Osaka" charset="-128"/>
                          <a:cs typeface="+mn-cs"/>
                        </a:rPr>
                        <a:t>意味</a:t>
                      </a:r>
                    </a:p>
                  </a:txBody>
                  <a:tcPr marL="6350" marR="6350" marT="6350" marB="0" anchor="ctr"/>
                </a:tc>
                <a:extLst>
                  <a:ext uri="{0D108BD9-81ED-4DB2-BD59-A6C34878D82A}">
                    <a16:rowId xmlns:a16="http://schemas.microsoft.com/office/drawing/2014/main" val="3980152723"/>
                  </a:ext>
                </a:extLst>
              </a:tr>
              <a:tr h="380033">
                <a:tc>
                  <a:txBody>
                    <a:bodyPr/>
                    <a:lstStyle/>
                    <a:p>
                      <a:pPr marL="0" algn="l" defTabSz="914400" rtl="0" eaLnBrk="1" fontAlgn="base" latinLnBrk="0" hangingPunct="1">
                        <a:spcBef>
                          <a:spcPct val="0"/>
                        </a:spcBef>
                        <a:spcAft>
                          <a:spcPct val="0"/>
                        </a:spcAft>
                        <a:buNone/>
                      </a:pPr>
                      <a:r>
                        <a:rPr kumimoji="1" lang="en-US" sz="2400" kern="1200" dirty="0">
                          <a:solidFill>
                            <a:schemeClr val="tx1"/>
                          </a:solidFill>
                          <a:latin typeface="Times" charset="0"/>
                          <a:ea typeface="Osaka" charset="-128"/>
                          <a:cs typeface="+mn-cs"/>
                        </a:rPr>
                        <a:t>filter()</a:t>
                      </a:r>
                    </a:p>
                  </a:txBody>
                  <a:tcPr marL="6350" marR="6350" marT="6350" marB="0" anchor="ctr"/>
                </a:tc>
                <a:tc>
                  <a:txBody>
                    <a:bodyPr/>
                    <a:lstStyle/>
                    <a:p>
                      <a:pPr marL="0" algn="l" defTabSz="914400" rtl="0" eaLnBrk="1" fontAlgn="base" latinLnBrk="0" hangingPunct="1">
                        <a:spcBef>
                          <a:spcPct val="0"/>
                        </a:spcBef>
                        <a:spcAft>
                          <a:spcPct val="0"/>
                        </a:spcAft>
                        <a:buNone/>
                      </a:pPr>
                      <a:r>
                        <a:rPr kumimoji="1" lang="ja-JP" altLang="en-US" sz="2400" kern="1200" dirty="0">
                          <a:solidFill>
                            <a:schemeClr val="tx1"/>
                          </a:solidFill>
                          <a:latin typeface="Times" charset="0"/>
                          <a:ea typeface="Osaka" charset="-128"/>
                          <a:cs typeface="+mn-cs"/>
                        </a:rPr>
                        <a:t>行を抽出</a:t>
                      </a:r>
                    </a:p>
                  </a:txBody>
                  <a:tcPr marL="6350" marR="6350" marT="6350" marB="0" anchor="ctr"/>
                </a:tc>
                <a:extLst>
                  <a:ext uri="{0D108BD9-81ED-4DB2-BD59-A6C34878D82A}">
                    <a16:rowId xmlns:a16="http://schemas.microsoft.com/office/drawing/2014/main" val="1940831562"/>
                  </a:ext>
                </a:extLst>
              </a:tr>
              <a:tr h="380033">
                <a:tc>
                  <a:txBody>
                    <a:bodyPr/>
                    <a:lstStyle/>
                    <a:p>
                      <a:pPr marL="0" algn="l" defTabSz="914400" rtl="0" eaLnBrk="1" fontAlgn="base" latinLnBrk="0" hangingPunct="1">
                        <a:spcBef>
                          <a:spcPct val="0"/>
                        </a:spcBef>
                        <a:spcAft>
                          <a:spcPct val="0"/>
                        </a:spcAft>
                        <a:buNone/>
                      </a:pPr>
                      <a:r>
                        <a:rPr kumimoji="1" lang="en-US" sz="2400" kern="1200">
                          <a:solidFill>
                            <a:schemeClr val="tx1"/>
                          </a:solidFill>
                          <a:latin typeface="Times" charset="0"/>
                          <a:ea typeface="Osaka" charset="-128"/>
                          <a:cs typeface="+mn-cs"/>
                        </a:rPr>
                        <a:t>select()</a:t>
                      </a:r>
                    </a:p>
                  </a:txBody>
                  <a:tcPr marL="6350" marR="6350" marT="6350" marB="0" anchor="ctr"/>
                </a:tc>
                <a:tc>
                  <a:txBody>
                    <a:bodyPr/>
                    <a:lstStyle/>
                    <a:p>
                      <a:pPr marL="0" algn="l" defTabSz="914400" rtl="0" eaLnBrk="1" fontAlgn="base" latinLnBrk="0" hangingPunct="1">
                        <a:spcBef>
                          <a:spcPct val="0"/>
                        </a:spcBef>
                        <a:spcAft>
                          <a:spcPct val="0"/>
                        </a:spcAft>
                        <a:buNone/>
                      </a:pPr>
                      <a:r>
                        <a:rPr kumimoji="1" lang="ja-JP" altLang="en-US" sz="2400" kern="1200" dirty="0">
                          <a:solidFill>
                            <a:schemeClr val="tx1"/>
                          </a:solidFill>
                          <a:latin typeface="Times" charset="0"/>
                          <a:ea typeface="Osaka" charset="-128"/>
                          <a:cs typeface="+mn-cs"/>
                        </a:rPr>
                        <a:t>列</a:t>
                      </a:r>
                      <a:r>
                        <a:rPr kumimoji="1" lang="en-US" altLang="ja-JP" sz="2400" kern="1200" dirty="0">
                          <a:solidFill>
                            <a:schemeClr val="tx1"/>
                          </a:solidFill>
                          <a:latin typeface="Times" charset="0"/>
                          <a:ea typeface="Osaka" charset="-128"/>
                          <a:cs typeface="+mn-cs"/>
                        </a:rPr>
                        <a:t>(</a:t>
                      </a:r>
                      <a:r>
                        <a:rPr kumimoji="1" lang="ja-JP" altLang="en-US" sz="2400" kern="1200" dirty="0">
                          <a:solidFill>
                            <a:schemeClr val="tx1"/>
                          </a:solidFill>
                          <a:latin typeface="Times" charset="0"/>
                          <a:ea typeface="Osaka" charset="-128"/>
                          <a:cs typeface="+mn-cs"/>
                        </a:rPr>
                        <a:t>変数</a:t>
                      </a:r>
                      <a:r>
                        <a:rPr kumimoji="1" lang="en-US" altLang="ja-JP" sz="2400" kern="1200" dirty="0">
                          <a:solidFill>
                            <a:schemeClr val="tx1"/>
                          </a:solidFill>
                          <a:latin typeface="Times" charset="0"/>
                          <a:ea typeface="Osaka" charset="-128"/>
                          <a:cs typeface="+mn-cs"/>
                        </a:rPr>
                        <a:t>)</a:t>
                      </a:r>
                      <a:r>
                        <a:rPr kumimoji="1" lang="ja-JP" altLang="en-US" sz="2400" kern="1200" dirty="0">
                          <a:solidFill>
                            <a:schemeClr val="tx1"/>
                          </a:solidFill>
                          <a:latin typeface="Times" charset="0"/>
                          <a:ea typeface="Osaka" charset="-128"/>
                          <a:cs typeface="+mn-cs"/>
                        </a:rPr>
                        <a:t>を選択</a:t>
                      </a:r>
                    </a:p>
                  </a:txBody>
                  <a:tcPr marL="6350" marR="6350" marT="6350" marB="0" anchor="ctr"/>
                </a:tc>
                <a:extLst>
                  <a:ext uri="{0D108BD9-81ED-4DB2-BD59-A6C34878D82A}">
                    <a16:rowId xmlns:a16="http://schemas.microsoft.com/office/drawing/2014/main" val="1247878774"/>
                  </a:ext>
                </a:extLst>
              </a:tr>
              <a:tr h="481699">
                <a:tc>
                  <a:txBody>
                    <a:bodyPr/>
                    <a:lstStyle/>
                    <a:p>
                      <a:pPr marL="0" algn="l" defTabSz="914400" rtl="0" eaLnBrk="1" fontAlgn="base" latinLnBrk="0" hangingPunct="1">
                        <a:spcBef>
                          <a:spcPct val="0"/>
                        </a:spcBef>
                        <a:spcAft>
                          <a:spcPct val="0"/>
                        </a:spcAft>
                        <a:buNone/>
                      </a:pPr>
                      <a:r>
                        <a:rPr kumimoji="1" lang="en-US" sz="2400" kern="1200">
                          <a:solidFill>
                            <a:schemeClr val="tx1"/>
                          </a:solidFill>
                          <a:latin typeface="Times" charset="0"/>
                          <a:ea typeface="Osaka" charset="-128"/>
                          <a:cs typeface="+mn-cs"/>
                        </a:rPr>
                        <a:t>mutate()</a:t>
                      </a:r>
                    </a:p>
                  </a:txBody>
                  <a:tcPr marL="6350" marR="6350" marT="6350" marB="0" anchor="ctr"/>
                </a:tc>
                <a:tc>
                  <a:txBody>
                    <a:bodyPr/>
                    <a:lstStyle/>
                    <a:p>
                      <a:pPr marL="0" algn="l" defTabSz="914400" rtl="0" eaLnBrk="1" fontAlgn="base" latinLnBrk="0" hangingPunct="1">
                        <a:spcBef>
                          <a:spcPct val="0"/>
                        </a:spcBef>
                        <a:spcAft>
                          <a:spcPct val="0"/>
                        </a:spcAft>
                        <a:buNone/>
                      </a:pPr>
                      <a:r>
                        <a:rPr kumimoji="1" lang="ja-JP" altLang="en-US" sz="2400" kern="1200" dirty="0">
                          <a:solidFill>
                            <a:schemeClr val="tx1"/>
                          </a:solidFill>
                          <a:latin typeface="Times" charset="0"/>
                          <a:ea typeface="Osaka" charset="-128"/>
                          <a:cs typeface="+mn-cs"/>
                        </a:rPr>
                        <a:t>新しい列</a:t>
                      </a:r>
                      <a:r>
                        <a:rPr kumimoji="1" lang="en-US" altLang="ja-JP" sz="2400" kern="1200" dirty="0">
                          <a:solidFill>
                            <a:schemeClr val="tx1"/>
                          </a:solidFill>
                          <a:latin typeface="Times" charset="0"/>
                          <a:ea typeface="Osaka" charset="-128"/>
                          <a:cs typeface="+mn-cs"/>
                        </a:rPr>
                        <a:t>(</a:t>
                      </a:r>
                      <a:r>
                        <a:rPr kumimoji="1" lang="ja-JP" altLang="en-US" sz="2400" kern="1200" dirty="0">
                          <a:solidFill>
                            <a:schemeClr val="tx1"/>
                          </a:solidFill>
                          <a:latin typeface="Times" charset="0"/>
                          <a:ea typeface="Osaka" charset="-128"/>
                          <a:cs typeface="+mn-cs"/>
                        </a:rPr>
                        <a:t>変数</a:t>
                      </a:r>
                      <a:r>
                        <a:rPr kumimoji="1" lang="en-US" altLang="ja-JP" sz="2400" kern="1200" dirty="0">
                          <a:solidFill>
                            <a:schemeClr val="tx1"/>
                          </a:solidFill>
                          <a:latin typeface="Times" charset="0"/>
                          <a:ea typeface="Osaka" charset="-128"/>
                          <a:cs typeface="+mn-cs"/>
                        </a:rPr>
                        <a:t>)</a:t>
                      </a:r>
                      <a:r>
                        <a:rPr kumimoji="1" lang="ja-JP" altLang="en-US" sz="2400" kern="1200" dirty="0">
                          <a:solidFill>
                            <a:schemeClr val="tx1"/>
                          </a:solidFill>
                          <a:latin typeface="Times" charset="0"/>
                          <a:ea typeface="Osaka" charset="-128"/>
                          <a:cs typeface="+mn-cs"/>
                        </a:rPr>
                        <a:t>を作る</a:t>
                      </a:r>
                    </a:p>
                  </a:txBody>
                  <a:tcPr marL="6350" marR="6350" marT="6350" marB="0" anchor="ctr"/>
                </a:tc>
                <a:extLst>
                  <a:ext uri="{0D108BD9-81ED-4DB2-BD59-A6C34878D82A}">
                    <a16:rowId xmlns:a16="http://schemas.microsoft.com/office/drawing/2014/main" val="1303548550"/>
                  </a:ext>
                </a:extLst>
              </a:tr>
              <a:tr h="380033">
                <a:tc>
                  <a:txBody>
                    <a:bodyPr/>
                    <a:lstStyle/>
                    <a:p>
                      <a:pPr marL="0" algn="l" defTabSz="914400" rtl="0" eaLnBrk="1" fontAlgn="base" latinLnBrk="0" hangingPunct="1">
                        <a:spcBef>
                          <a:spcPct val="0"/>
                        </a:spcBef>
                        <a:spcAft>
                          <a:spcPct val="0"/>
                        </a:spcAft>
                        <a:buNone/>
                      </a:pPr>
                      <a:r>
                        <a:rPr kumimoji="1" lang="en-US" sz="2400" kern="1200">
                          <a:solidFill>
                            <a:schemeClr val="tx1"/>
                          </a:solidFill>
                          <a:latin typeface="Times" charset="0"/>
                          <a:ea typeface="Osaka" charset="-128"/>
                          <a:cs typeface="+mn-cs"/>
                        </a:rPr>
                        <a:t>summarise()</a:t>
                      </a:r>
                    </a:p>
                  </a:txBody>
                  <a:tcPr marL="6350" marR="6350" marT="6350" marB="0" anchor="ctr"/>
                </a:tc>
                <a:tc>
                  <a:txBody>
                    <a:bodyPr/>
                    <a:lstStyle/>
                    <a:p>
                      <a:pPr marL="0" algn="l" defTabSz="914400" rtl="0" eaLnBrk="1" fontAlgn="base" latinLnBrk="0" hangingPunct="1">
                        <a:spcBef>
                          <a:spcPct val="0"/>
                        </a:spcBef>
                        <a:spcAft>
                          <a:spcPct val="0"/>
                        </a:spcAft>
                        <a:buNone/>
                      </a:pPr>
                      <a:r>
                        <a:rPr kumimoji="1" lang="ja-JP" altLang="en-US" sz="2400" kern="1200">
                          <a:solidFill>
                            <a:schemeClr val="tx1"/>
                          </a:solidFill>
                          <a:latin typeface="Times" charset="0"/>
                          <a:ea typeface="Osaka" charset="-128"/>
                          <a:cs typeface="+mn-cs"/>
                        </a:rPr>
                        <a:t>集計</a:t>
                      </a:r>
                    </a:p>
                  </a:txBody>
                  <a:tcPr marL="6350" marR="6350" marT="6350" marB="0" anchor="ctr"/>
                </a:tc>
                <a:extLst>
                  <a:ext uri="{0D108BD9-81ED-4DB2-BD59-A6C34878D82A}">
                    <a16:rowId xmlns:a16="http://schemas.microsoft.com/office/drawing/2014/main" val="4282987182"/>
                  </a:ext>
                </a:extLst>
              </a:tr>
              <a:tr h="380033">
                <a:tc>
                  <a:txBody>
                    <a:bodyPr/>
                    <a:lstStyle/>
                    <a:p>
                      <a:pPr marL="0" algn="l" defTabSz="914400" rtl="0" eaLnBrk="1" fontAlgn="base" latinLnBrk="0" hangingPunct="1">
                        <a:spcBef>
                          <a:spcPct val="0"/>
                        </a:spcBef>
                        <a:spcAft>
                          <a:spcPct val="0"/>
                        </a:spcAft>
                        <a:buNone/>
                      </a:pPr>
                      <a:r>
                        <a:rPr kumimoji="1" lang="en-US" sz="2400" kern="1200" dirty="0">
                          <a:solidFill>
                            <a:schemeClr val="tx1"/>
                          </a:solidFill>
                          <a:latin typeface="Times" charset="0"/>
                          <a:ea typeface="Osaka" charset="-128"/>
                          <a:cs typeface="+mn-cs"/>
                        </a:rPr>
                        <a:t>arrange()</a:t>
                      </a:r>
                    </a:p>
                  </a:txBody>
                  <a:tcPr marL="6350" marR="6350" marT="6350" marB="0" anchor="ctr"/>
                </a:tc>
                <a:tc>
                  <a:txBody>
                    <a:bodyPr/>
                    <a:lstStyle/>
                    <a:p>
                      <a:pPr marL="0" algn="l" defTabSz="914400" rtl="0" eaLnBrk="1" fontAlgn="base" latinLnBrk="0" hangingPunct="1">
                        <a:spcBef>
                          <a:spcPct val="0"/>
                        </a:spcBef>
                        <a:spcAft>
                          <a:spcPct val="0"/>
                        </a:spcAft>
                        <a:buNone/>
                      </a:pPr>
                      <a:r>
                        <a:rPr kumimoji="1" lang="ja-JP" altLang="en-US" sz="2400" kern="1200" dirty="0">
                          <a:solidFill>
                            <a:schemeClr val="tx1"/>
                          </a:solidFill>
                          <a:latin typeface="Times" charset="0"/>
                          <a:ea typeface="Osaka" charset="-128"/>
                          <a:cs typeface="+mn-cs"/>
                        </a:rPr>
                        <a:t>並び替え </a:t>
                      </a:r>
                    </a:p>
                  </a:txBody>
                  <a:tcPr marL="6350" marR="6350" marT="6350" marB="0" anchor="ctr"/>
                </a:tc>
                <a:extLst>
                  <a:ext uri="{0D108BD9-81ED-4DB2-BD59-A6C34878D82A}">
                    <a16:rowId xmlns:a16="http://schemas.microsoft.com/office/drawing/2014/main" val="3963252870"/>
                  </a:ext>
                </a:extLst>
              </a:tr>
            </a:tbl>
          </a:graphicData>
        </a:graphic>
      </p:graphicFrame>
      <p:sp>
        <p:nvSpPr>
          <p:cNvPr id="17" name="テキスト ボックス 16">
            <a:extLst>
              <a:ext uri="{FF2B5EF4-FFF2-40B4-BE49-F238E27FC236}">
                <a16:creationId xmlns:a16="http://schemas.microsoft.com/office/drawing/2014/main" id="{7035E0B7-5654-44B7-FB85-1529DF5B719C}"/>
              </a:ext>
            </a:extLst>
          </p:cNvPr>
          <p:cNvSpPr txBox="1"/>
          <p:nvPr/>
        </p:nvSpPr>
        <p:spPr>
          <a:xfrm>
            <a:off x="1127448" y="2961454"/>
            <a:ext cx="10225136" cy="830997"/>
          </a:xfrm>
          <a:prstGeom prst="rect">
            <a:avLst/>
          </a:prstGeom>
          <a:noFill/>
        </p:spPr>
        <p:txBody>
          <a:bodyPr wrap="square">
            <a:spAutoFit/>
          </a:bodyPr>
          <a:lstStyle/>
          <a:p>
            <a:pPr>
              <a:buNone/>
            </a:pPr>
            <a:r>
              <a:rPr lang="ja-JP" altLang="en-US" b="1" dirty="0"/>
              <a:t>基本動詞（</a:t>
            </a:r>
            <a:r>
              <a:rPr lang="en-US" altLang="ja-JP" b="1" dirty="0"/>
              <a:t>verbs</a:t>
            </a:r>
            <a:r>
              <a:rPr lang="ja-JP" altLang="en-US" b="1" dirty="0"/>
              <a:t>）</a:t>
            </a:r>
          </a:p>
          <a:p>
            <a:pPr>
              <a:buNone/>
            </a:pPr>
            <a:r>
              <a:rPr lang="en-US" altLang="ja-JP" dirty="0" err="1"/>
              <a:t>dplyr</a:t>
            </a:r>
            <a:r>
              <a:rPr lang="ja-JP" altLang="en-US" dirty="0"/>
              <a:t>には </a:t>
            </a:r>
            <a:r>
              <a:rPr lang="en-US" altLang="ja-JP" dirty="0"/>
              <a:t>verbs</a:t>
            </a:r>
            <a:r>
              <a:rPr lang="ja-JP" altLang="en-US" dirty="0"/>
              <a:t>と言われる基本操作がある</a:t>
            </a:r>
          </a:p>
        </p:txBody>
      </p:sp>
    </p:spTree>
    <p:extLst>
      <p:ext uri="{BB962C8B-B14F-4D97-AF65-F5344CB8AC3E}">
        <p14:creationId xmlns:p14="http://schemas.microsoft.com/office/powerpoint/2010/main" val="290291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87A7F-3AA6-9323-A32F-60BFAB50CB3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55C0F74A-C3FC-7B1B-E941-A5E1F58B852E}"/>
              </a:ext>
            </a:extLst>
          </p:cNvPr>
          <p:cNvSpPr>
            <a:spLocks noGrp="1"/>
          </p:cNvSpPr>
          <p:nvPr>
            <p:ph type="title"/>
          </p:nvPr>
        </p:nvSpPr>
        <p:spPr/>
        <p:txBody>
          <a:bodyPr/>
          <a:lstStyle/>
          <a:p>
            <a:r>
              <a:rPr kumimoji="1" lang="en-US" altLang="ja-JP" i="0" dirty="0" err="1"/>
              <a:t>dplyr</a:t>
            </a:r>
            <a:endParaRPr kumimoji="1" lang="ja-JP" altLang="en-US" i="0" dirty="0"/>
          </a:p>
        </p:txBody>
      </p:sp>
      <p:sp>
        <p:nvSpPr>
          <p:cNvPr id="4" name="スライド番号プレースホルダー 3">
            <a:extLst>
              <a:ext uri="{FF2B5EF4-FFF2-40B4-BE49-F238E27FC236}">
                <a16:creationId xmlns:a16="http://schemas.microsoft.com/office/drawing/2014/main" id="{D677B50D-5B9C-4F7E-6B96-36788B94205B}"/>
              </a:ext>
            </a:extLst>
          </p:cNvPr>
          <p:cNvSpPr>
            <a:spLocks noGrp="1"/>
          </p:cNvSpPr>
          <p:nvPr>
            <p:ph type="sldNum" sz="quarter" idx="11"/>
          </p:nvPr>
        </p:nvSpPr>
        <p:spPr/>
        <p:txBody>
          <a:bodyPr/>
          <a:lstStyle/>
          <a:p>
            <a:fld id="{23B20E4E-3F95-4221-AFE5-FD1FD9CC3448}" type="slidenum">
              <a:rPr lang="en-US" altLang="ja-JP" smtClean="0"/>
              <a:pPr/>
              <a:t>11</a:t>
            </a:fld>
            <a:endParaRPr lang="en-US" altLang="ja-JP"/>
          </a:p>
        </p:txBody>
      </p:sp>
      <p:pic>
        <p:nvPicPr>
          <p:cNvPr id="7" name="Picture 2" descr="dplyr: 高速data.frame処理 - Heavy Watal">
            <a:extLst>
              <a:ext uri="{FF2B5EF4-FFF2-40B4-BE49-F238E27FC236}">
                <a16:creationId xmlns:a16="http://schemas.microsoft.com/office/drawing/2014/main" id="{E9131C6F-1DE1-59A9-3C72-98B776C79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26" y="1079541"/>
            <a:ext cx="1572294" cy="1813028"/>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ボックス 4">
            <a:extLst>
              <a:ext uri="{FF2B5EF4-FFF2-40B4-BE49-F238E27FC236}">
                <a16:creationId xmlns:a16="http://schemas.microsoft.com/office/drawing/2014/main" id="{7AF04350-F5CB-DCDC-3785-F99BCCA7CEB8}"/>
              </a:ext>
            </a:extLst>
          </p:cNvPr>
          <p:cNvSpPr txBox="1"/>
          <p:nvPr/>
        </p:nvSpPr>
        <p:spPr>
          <a:xfrm>
            <a:off x="2207567" y="1196752"/>
            <a:ext cx="4752529" cy="1477328"/>
          </a:xfrm>
          <a:prstGeom prst="rect">
            <a:avLst/>
          </a:prstGeom>
          <a:noFill/>
        </p:spPr>
        <p:txBody>
          <a:bodyPr wrap="square">
            <a:spAutoFit/>
          </a:bodyPr>
          <a:lstStyle/>
          <a:p>
            <a:r>
              <a:rPr lang="ja-JP" altLang="en-US" sz="1800" dirty="0">
                <a:solidFill>
                  <a:srgbClr val="008000"/>
                </a:solidFill>
              </a:rPr>
              <a:t># </a:t>
            </a:r>
            <a:r>
              <a:rPr lang="en-US" altLang="ja-JP" sz="1800" dirty="0" err="1">
                <a:solidFill>
                  <a:srgbClr val="008000"/>
                </a:solidFill>
              </a:rPr>
              <a:t>dplyr</a:t>
            </a:r>
            <a:r>
              <a:rPr lang="ja-JP" altLang="en-US" sz="1800" dirty="0">
                <a:solidFill>
                  <a:srgbClr val="008000"/>
                </a:solidFill>
              </a:rPr>
              <a:t>説明用　サンプルデータ作成</a:t>
            </a:r>
            <a:endParaRPr lang="en-US" altLang="ja-JP" sz="1800" dirty="0">
              <a:solidFill>
                <a:srgbClr val="008000"/>
              </a:solidFill>
            </a:endParaRPr>
          </a:p>
          <a:p>
            <a:r>
              <a:rPr lang="ja-JP" altLang="en-US" sz="1800" dirty="0"/>
              <a:t>df &lt;- tibble(  SUBJID = 1:6,  </a:t>
            </a:r>
            <a:endParaRPr lang="en-US" altLang="ja-JP" sz="1800" dirty="0"/>
          </a:p>
          <a:p>
            <a:r>
              <a:rPr lang="ja-JP" altLang="en-US" sz="1800" dirty="0"/>
              <a:t>SEX = c(“F“, “M“, “F“, “M“, “F“, “M“),  </a:t>
            </a:r>
            <a:endParaRPr lang="en-US" altLang="ja-JP" sz="1800" dirty="0"/>
          </a:p>
          <a:p>
            <a:r>
              <a:rPr lang="ja-JP" altLang="en-US" sz="1800" dirty="0"/>
              <a:t>WEIGHT = c(50, 72, 60, 85, 55, 90),    </a:t>
            </a:r>
            <a:endParaRPr lang="en-US" altLang="ja-JP" sz="1800" dirty="0"/>
          </a:p>
          <a:p>
            <a:r>
              <a:rPr lang="ja-JP" altLang="en-US" sz="1800" dirty="0"/>
              <a:t>HEIGHT = c(160, 175, 165, 180, 158, 178))</a:t>
            </a:r>
          </a:p>
        </p:txBody>
      </p:sp>
      <p:pic>
        <p:nvPicPr>
          <p:cNvPr id="8" name="図 7" descr="テーブル&#10;&#10;AI 生成コンテンツは誤りを含む可能性があります。">
            <a:extLst>
              <a:ext uri="{FF2B5EF4-FFF2-40B4-BE49-F238E27FC236}">
                <a16:creationId xmlns:a16="http://schemas.microsoft.com/office/drawing/2014/main" id="{38931CB2-6A78-229D-4529-19C0359E4E19}"/>
              </a:ext>
            </a:extLst>
          </p:cNvPr>
          <p:cNvPicPr>
            <a:picLocks noChangeAspect="1"/>
          </p:cNvPicPr>
          <p:nvPr/>
        </p:nvPicPr>
        <p:blipFill>
          <a:blip r:embed="rId3"/>
          <a:stretch>
            <a:fillRect/>
          </a:stretch>
        </p:blipFill>
        <p:spPr>
          <a:xfrm>
            <a:off x="6960096" y="1058973"/>
            <a:ext cx="3384375" cy="1888436"/>
          </a:xfrm>
          <a:prstGeom prst="rect">
            <a:avLst/>
          </a:prstGeom>
          <a:ln w="25400">
            <a:solidFill>
              <a:schemeClr val="accent1">
                <a:shade val="15000"/>
              </a:schemeClr>
            </a:solidFill>
          </a:ln>
        </p:spPr>
      </p:pic>
      <p:sp>
        <p:nvSpPr>
          <p:cNvPr id="12" name="テキスト ボックス 11">
            <a:extLst>
              <a:ext uri="{FF2B5EF4-FFF2-40B4-BE49-F238E27FC236}">
                <a16:creationId xmlns:a16="http://schemas.microsoft.com/office/drawing/2014/main" id="{345D7180-62AC-762E-A7A0-4114E0151357}"/>
              </a:ext>
            </a:extLst>
          </p:cNvPr>
          <p:cNvSpPr txBox="1"/>
          <p:nvPr/>
        </p:nvSpPr>
        <p:spPr>
          <a:xfrm>
            <a:off x="203226" y="2849468"/>
            <a:ext cx="6096000" cy="2862322"/>
          </a:xfrm>
          <a:prstGeom prst="rect">
            <a:avLst/>
          </a:prstGeom>
          <a:noFill/>
        </p:spPr>
        <p:txBody>
          <a:bodyPr wrap="square">
            <a:spAutoFit/>
          </a:bodyPr>
          <a:lstStyle/>
          <a:p>
            <a:r>
              <a:rPr lang="en-US" altLang="ja-JP" sz="2000" dirty="0"/>
              <a:t>out1 &lt;- </a:t>
            </a:r>
            <a:r>
              <a:rPr lang="ja-JP" altLang="en-US" sz="2000" dirty="0"/>
              <a:t>df </a:t>
            </a:r>
            <a:endParaRPr lang="en-US" altLang="ja-JP" sz="2000" dirty="0"/>
          </a:p>
          <a:p>
            <a:r>
              <a:rPr lang="en-US" altLang="ja-JP" sz="2000" dirty="0"/>
              <a:t>  </a:t>
            </a:r>
            <a:r>
              <a:rPr lang="ja-JP" altLang="en-US" sz="2000" dirty="0"/>
              <a:t>|&gt;</a:t>
            </a:r>
          </a:p>
          <a:p>
            <a:r>
              <a:rPr lang="ja-JP" altLang="en-US" sz="2000" dirty="0"/>
              <a:t>  mutate( BMI = WEIGHT / (HEIGHT/100)^2</a:t>
            </a:r>
            <a:r>
              <a:rPr lang="en-US" altLang="ja-JP" sz="2000" dirty="0"/>
              <a:t>)</a:t>
            </a:r>
            <a:endParaRPr lang="ja-JP" altLang="en-US" sz="2000" dirty="0"/>
          </a:p>
          <a:p>
            <a:r>
              <a:rPr lang="ja-JP" altLang="en-US" sz="2000" dirty="0"/>
              <a:t>  |&gt;</a:t>
            </a:r>
          </a:p>
          <a:p>
            <a:r>
              <a:rPr lang="ja-JP" altLang="en-US" sz="2000" dirty="0"/>
              <a:t>  filter(BMI &gt;= 2</a:t>
            </a:r>
            <a:r>
              <a:rPr lang="en-US" altLang="ja-JP" sz="2000" dirty="0"/>
              <a:t>0</a:t>
            </a:r>
            <a:r>
              <a:rPr lang="ja-JP" altLang="en-US" sz="2000" dirty="0"/>
              <a:t>)</a:t>
            </a:r>
            <a:endParaRPr lang="en-US" altLang="ja-JP" sz="2000" dirty="0"/>
          </a:p>
          <a:p>
            <a:r>
              <a:rPr lang="en-US" altLang="ja-JP" sz="2000" dirty="0"/>
              <a:t>  </a:t>
            </a:r>
            <a:r>
              <a:rPr lang="ja-JP" altLang="en-US" sz="2000" dirty="0"/>
              <a:t>|&gt;</a:t>
            </a:r>
          </a:p>
          <a:p>
            <a:r>
              <a:rPr lang="ja-JP" altLang="en-US" sz="2000" dirty="0"/>
              <a:t>  arrange(SEX, BMI)</a:t>
            </a:r>
            <a:endParaRPr lang="en-US" altLang="ja-JP" sz="2000" dirty="0"/>
          </a:p>
          <a:p>
            <a:r>
              <a:rPr lang="en-US" altLang="ja-JP" sz="2000" dirty="0"/>
              <a:t>  </a:t>
            </a:r>
            <a:r>
              <a:rPr lang="ja-JP" altLang="en-US" sz="2000" dirty="0"/>
              <a:t>|&gt;</a:t>
            </a:r>
          </a:p>
          <a:p>
            <a:r>
              <a:rPr lang="ja-JP" altLang="en-US" sz="2000" dirty="0"/>
              <a:t>  select(-WEIGHT, -HEIGHT)</a:t>
            </a:r>
          </a:p>
        </p:txBody>
      </p:sp>
      <p:sp>
        <p:nvSpPr>
          <p:cNvPr id="14" name="正方形/長方形 13">
            <a:extLst>
              <a:ext uri="{FF2B5EF4-FFF2-40B4-BE49-F238E27FC236}">
                <a16:creationId xmlns:a16="http://schemas.microsoft.com/office/drawing/2014/main" id="{5750C2A6-AF37-E73A-71B7-A344F54AB5BA}"/>
              </a:ext>
            </a:extLst>
          </p:cNvPr>
          <p:cNvSpPr/>
          <p:nvPr/>
        </p:nvSpPr>
        <p:spPr>
          <a:xfrm>
            <a:off x="335360" y="3460938"/>
            <a:ext cx="4752528" cy="4001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ボックス 15">
            <a:extLst>
              <a:ext uri="{FF2B5EF4-FFF2-40B4-BE49-F238E27FC236}">
                <a16:creationId xmlns:a16="http://schemas.microsoft.com/office/drawing/2014/main" id="{C2F3F8FF-BA3E-C155-CD25-7816F25583D3}"/>
              </a:ext>
            </a:extLst>
          </p:cNvPr>
          <p:cNvSpPr txBox="1"/>
          <p:nvPr/>
        </p:nvSpPr>
        <p:spPr>
          <a:xfrm>
            <a:off x="5209117" y="3429000"/>
            <a:ext cx="4654089" cy="400110"/>
          </a:xfrm>
          <a:prstGeom prst="rect">
            <a:avLst/>
          </a:prstGeom>
          <a:noFill/>
        </p:spPr>
        <p:txBody>
          <a:bodyPr wrap="square">
            <a:spAutoFit/>
          </a:bodyPr>
          <a:lstStyle/>
          <a:p>
            <a:r>
              <a:rPr lang="en-US" altLang="ja-JP" sz="2000" dirty="0">
                <a:solidFill>
                  <a:srgbClr val="FF0000"/>
                </a:solidFill>
              </a:rPr>
              <a:t>mutate</a:t>
            </a:r>
            <a:r>
              <a:rPr lang="ja-JP" altLang="en-US" sz="2000" dirty="0">
                <a:solidFill>
                  <a:srgbClr val="FF0000"/>
                </a:solidFill>
              </a:rPr>
              <a:t>により</a:t>
            </a:r>
            <a:r>
              <a:rPr lang="en-US" altLang="ja-JP" sz="2000" dirty="0">
                <a:solidFill>
                  <a:srgbClr val="FF0000"/>
                </a:solidFill>
              </a:rPr>
              <a:t>BMI</a:t>
            </a:r>
            <a:r>
              <a:rPr lang="ja-JP" altLang="en-US" sz="2000" dirty="0">
                <a:solidFill>
                  <a:srgbClr val="FF0000"/>
                </a:solidFill>
              </a:rPr>
              <a:t>を計算して変数追加</a:t>
            </a:r>
          </a:p>
        </p:txBody>
      </p:sp>
      <p:sp>
        <p:nvSpPr>
          <p:cNvPr id="18" name="正方形/長方形 17">
            <a:extLst>
              <a:ext uri="{FF2B5EF4-FFF2-40B4-BE49-F238E27FC236}">
                <a16:creationId xmlns:a16="http://schemas.microsoft.com/office/drawing/2014/main" id="{5C269B1B-5863-9D3B-287E-91D29C0B9430}"/>
              </a:ext>
            </a:extLst>
          </p:cNvPr>
          <p:cNvSpPr/>
          <p:nvPr/>
        </p:nvSpPr>
        <p:spPr>
          <a:xfrm>
            <a:off x="335360" y="4079550"/>
            <a:ext cx="2088232" cy="400110"/>
          </a:xfrm>
          <a:prstGeom prst="rect">
            <a:avLst/>
          </a:prstGeom>
          <a:noFill/>
          <a:ln>
            <a:solidFill>
              <a:srgbClr val="0000F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331838BA-AC7D-7DFF-E98F-08F27830D7FA}"/>
              </a:ext>
            </a:extLst>
          </p:cNvPr>
          <p:cNvSpPr txBox="1"/>
          <p:nvPr/>
        </p:nvSpPr>
        <p:spPr>
          <a:xfrm>
            <a:off x="2555726" y="4072408"/>
            <a:ext cx="4654089" cy="400110"/>
          </a:xfrm>
          <a:prstGeom prst="rect">
            <a:avLst/>
          </a:prstGeom>
          <a:noFill/>
        </p:spPr>
        <p:txBody>
          <a:bodyPr wrap="square">
            <a:spAutoFit/>
          </a:bodyPr>
          <a:lstStyle/>
          <a:p>
            <a:r>
              <a:rPr lang="en-US" altLang="ja-JP" sz="2000" dirty="0">
                <a:solidFill>
                  <a:srgbClr val="0000FF"/>
                </a:solidFill>
              </a:rPr>
              <a:t>filter</a:t>
            </a:r>
            <a:r>
              <a:rPr lang="ja-JP" altLang="en-US" sz="2000" dirty="0">
                <a:solidFill>
                  <a:srgbClr val="0000FF"/>
                </a:solidFill>
              </a:rPr>
              <a:t>により</a:t>
            </a:r>
            <a:r>
              <a:rPr lang="en-US" altLang="ja-JP" sz="2000" dirty="0">
                <a:solidFill>
                  <a:srgbClr val="0000FF"/>
                </a:solidFill>
              </a:rPr>
              <a:t>BMI</a:t>
            </a:r>
            <a:r>
              <a:rPr lang="ja-JP" altLang="en-US" sz="2000" dirty="0">
                <a:solidFill>
                  <a:srgbClr val="0000FF"/>
                </a:solidFill>
              </a:rPr>
              <a:t>が</a:t>
            </a:r>
            <a:r>
              <a:rPr lang="en-US" altLang="ja-JP" sz="2000" dirty="0">
                <a:solidFill>
                  <a:srgbClr val="0000FF"/>
                </a:solidFill>
              </a:rPr>
              <a:t>20</a:t>
            </a:r>
            <a:r>
              <a:rPr lang="ja-JP" altLang="en-US" sz="2000" dirty="0">
                <a:solidFill>
                  <a:srgbClr val="0000FF"/>
                </a:solidFill>
              </a:rPr>
              <a:t>以上の行を抽出</a:t>
            </a:r>
          </a:p>
        </p:txBody>
      </p:sp>
      <p:sp>
        <p:nvSpPr>
          <p:cNvPr id="20" name="正方形/長方形 19">
            <a:extLst>
              <a:ext uri="{FF2B5EF4-FFF2-40B4-BE49-F238E27FC236}">
                <a16:creationId xmlns:a16="http://schemas.microsoft.com/office/drawing/2014/main" id="{36C00B24-C769-67E6-A2BA-87F50F4A7500}"/>
              </a:ext>
            </a:extLst>
          </p:cNvPr>
          <p:cNvSpPr/>
          <p:nvPr/>
        </p:nvSpPr>
        <p:spPr>
          <a:xfrm>
            <a:off x="297566" y="4698162"/>
            <a:ext cx="2258159" cy="385826"/>
          </a:xfrm>
          <a:prstGeom prst="rect">
            <a:avLst/>
          </a:prstGeom>
          <a:noFill/>
          <a:ln>
            <a:solidFill>
              <a:srgbClr val="008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テキスト ボックス 21">
            <a:extLst>
              <a:ext uri="{FF2B5EF4-FFF2-40B4-BE49-F238E27FC236}">
                <a16:creationId xmlns:a16="http://schemas.microsoft.com/office/drawing/2014/main" id="{991727EE-C376-11AA-090E-D335E3E8485D}"/>
              </a:ext>
            </a:extLst>
          </p:cNvPr>
          <p:cNvSpPr txBox="1"/>
          <p:nvPr/>
        </p:nvSpPr>
        <p:spPr>
          <a:xfrm>
            <a:off x="2723456" y="4682422"/>
            <a:ext cx="4654089" cy="400110"/>
          </a:xfrm>
          <a:prstGeom prst="rect">
            <a:avLst/>
          </a:prstGeom>
          <a:noFill/>
        </p:spPr>
        <p:txBody>
          <a:bodyPr wrap="square">
            <a:spAutoFit/>
          </a:bodyPr>
          <a:lstStyle/>
          <a:p>
            <a:r>
              <a:rPr lang="en-US" altLang="ja-JP" sz="2000" dirty="0">
                <a:solidFill>
                  <a:srgbClr val="008000"/>
                </a:solidFill>
              </a:rPr>
              <a:t>arrange</a:t>
            </a:r>
            <a:r>
              <a:rPr lang="ja-JP" altLang="en-US" sz="2000" dirty="0">
                <a:solidFill>
                  <a:srgbClr val="008000"/>
                </a:solidFill>
              </a:rPr>
              <a:t>により</a:t>
            </a:r>
            <a:r>
              <a:rPr lang="en-US" altLang="ja-JP" sz="2000" dirty="0">
                <a:solidFill>
                  <a:srgbClr val="008000"/>
                </a:solidFill>
              </a:rPr>
              <a:t>SEX, BMI</a:t>
            </a:r>
            <a:r>
              <a:rPr lang="ja-JP" altLang="en-US" sz="2000" dirty="0">
                <a:solidFill>
                  <a:srgbClr val="008000"/>
                </a:solidFill>
              </a:rPr>
              <a:t>で昇順ソート</a:t>
            </a:r>
          </a:p>
        </p:txBody>
      </p:sp>
      <p:sp>
        <p:nvSpPr>
          <p:cNvPr id="23" name="正方形/長方形 22">
            <a:extLst>
              <a:ext uri="{FF2B5EF4-FFF2-40B4-BE49-F238E27FC236}">
                <a16:creationId xmlns:a16="http://schemas.microsoft.com/office/drawing/2014/main" id="{030E8CD1-2EFA-2761-CF47-F07AA24BDE13}"/>
              </a:ext>
            </a:extLst>
          </p:cNvPr>
          <p:cNvSpPr/>
          <p:nvPr/>
        </p:nvSpPr>
        <p:spPr>
          <a:xfrm>
            <a:off x="297565" y="5325964"/>
            <a:ext cx="3206147" cy="400110"/>
          </a:xfrm>
          <a:prstGeom prst="rect">
            <a:avLst/>
          </a:prstGeom>
          <a:no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テキスト ボックス 23">
            <a:extLst>
              <a:ext uri="{FF2B5EF4-FFF2-40B4-BE49-F238E27FC236}">
                <a16:creationId xmlns:a16="http://schemas.microsoft.com/office/drawing/2014/main" id="{3097493B-11F6-8FBF-6426-D24AD381C1CF}"/>
              </a:ext>
            </a:extLst>
          </p:cNvPr>
          <p:cNvSpPr txBox="1"/>
          <p:nvPr/>
        </p:nvSpPr>
        <p:spPr>
          <a:xfrm>
            <a:off x="2063551" y="5767995"/>
            <a:ext cx="4654089" cy="707886"/>
          </a:xfrm>
          <a:prstGeom prst="rect">
            <a:avLst/>
          </a:prstGeom>
          <a:noFill/>
          <a:ln>
            <a:noFill/>
          </a:ln>
        </p:spPr>
        <p:txBody>
          <a:bodyPr wrap="square">
            <a:spAutoFit/>
          </a:bodyPr>
          <a:lstStyle/>
          <a:p>
            <a:r>
              <a:rPr lang="en-US" altLang="ja-JP" sz="2000" dirty="0">
                <a:solidFill>
                  <a:srgbClr val="FF6600"/>
                </a:solidFill>
              </a:rPr>
              <a:t>select</a:t>
            </a:r>
            <a:r>
              <a:rPr lang="ja-JP" altLang="en-US" sz="2000" dirty="0">
                <a:solidFill>
                  <a:srgbClr val="FF6600"/>
                </a:solidFill>
              </a:rPr>
              <a:t>のマイナス指定により</a:t>
            </a:r>
            <a:endParaRPr lang="en-US" altLang="ja-JP" sz="2000" dirty="0">
              <a:solidFill>
                <a:srgbClr val="FF6600"/>
              </a:solidFill>
            </a:endParaRPr>
          </a:p>
          <a:p>
            <a:r>
              <a:rPr lang="en-US" altLang="ja-JP" sz="2000" dirty="0">
                <a:solidFill>
                  <a:srgbClr val="FF6600"/>
                </a:solidFill>
              </a:rPr>
              <a:t>WEIGHT, HEIGHT</a:t>
            </a:r>
            <a:r>
              <a:rPr lang="ja-JP" altLang="en-US" sz="2000" dirty="0">
                <a:solidFill>
                  <a:srgbClr val="FF6600"/>
                </a:solidFill>
              </a:rPr>
              <a:t>の変数をドロップ</a:t>
            </a:r>
          </a:p>
        </p:txBody>
      </p:sp>
      <p:pic>
        <p:nvPicPr>
          <p:cNvPr id="26" name="図 25" descr="テーブル&#10;&#10;AI 生成コンテンツは誤りを含む可能性があります。">
            <a:extLst>
              <a:ext uri="{FF2B5EF4-FFF2-40B4-BE49-F238E27FC236}">
                <a16:creationId xmlns:a16="http://schemas.microsoft.com/office/drawing/2014/main" id="{9284DFA9-A288-E190-296A-EB6F39D57D8A}"/>
              </a:ext>
            </a:extLst>
          </p:cNvPr>
          <p:cNvPicPr>
            <a:picLocks noChangeAspect="1"/>
          </p:cNvPicPr>
          <p:nvPr/>
        </p:nvPicPr>
        <p:blipFill>
          <a:blip r:embed="rId4"/>
          <a:stretch>
            <a:fillRect/>
          </a:stretch>
        </p:blipFill>
        <p:spPr>
          <a:xfrm>
            <a:off x="7315944" y="4342639"/>
            <a:ext cx="3324689" cy="2086266"/>
          </a:xfrm>
          <a:prstGeom prst="rect">
            <a:avLst/>
          </a:prstGeom>
          <a:ln w="25400">
            <a:solidFill>
              <a:schemeClr val="accent1">
                <a:shade val="15000"/>
              </a:schemeClr>
            </a:solidFill>
          </a:ln>
        </p:spPr>
      </p:pic>
      <p:sp>
        <p:nvSpPr>
          <p:cNvPr id="27" name="矢印: 左カーブ 26">
            <a:extLst>
              <a:ext uri="{FF2B5EF4-FFF2-40B4-BE49-F238E27FC236}">
                <a16:creationId xmlns:a16="http://schemas.microsoft.com/office/drawing/2014/main" id="{E49F34AC-FE61-FEF8-2F11-AF5DC330DB0C}"/>
              </a:ext>
            </a:extLst>
          </p:cNvPr>
          <p:cNvSpPr/>
          <p:nvPr/>
        </p:nvSpPr>
        <p:spPr>
          <a:xfrm>
            <a:off x="10879924" y="2132856"/>
            <a:ext cx="940296" cy="2736304"/>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19984657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3D2D154-F69E-C090-38B0-782068EFBDF7}"/>
              </a:ext>
            </a:extLst>
          </p:cNvPr>
          <p:cNvSpPr>
            <a:spLocks noGrp="1"/>
          </p:cNvSpPr>
          <p:nvPr>
            <p:ph type="title"/>
          </p:nvPr>
        </p:nvSpPr>
        <p:spPr>
          <a:xfrm>
            <a:off x="263352" y="326405"/>
            <a:ext cx="10502455" cy="533400"/>
          </a:xfrm>
        </p:spPr>
        <p:txBody>
          <a:bodyPr/>
          <a:lstStyle/>
          <a:p>
            <a:r>
              <a:rPr kumimoji="1" lang="en-US" altLang="ja-JP" i="0" dirty="0"/>
              <a:t>ggplot2</a:t>
            </a:r>
            <a:endParaRPr kumimoji="1" lang="ja-JP" altLang="en-US" i="0" dirty="0"/>
          </a:p>
        </p:txBody>
      </p:sp>
      <p:sp>
        <p:nvSpPr>
          <p:cNvPr id="4" name="スライド番号プレースホルダー 3">
            <a:extLst>
              <a:ext uri="{FF2B5EF4-FFF2-40B4-BE49-F238E27FC236}">
                <a16:creationId xmlns:a16="http://schemas.microsoft.com/office/drawing/2014/main" id="{3538A2C9-4C4E-0C7F-BF7C-967936E0F4DD}"/>
              </a:ext>
            </a:extLst>
          </p:cNvPr>
          <p:cNvSpPr>
            <a:spLocks noGrp="1"/>
          </p:cNvSpPr>
          <p:nvPr>
            <p:ph type="sldNum" sz="quarter" idx="11"/>
          </p:nvPr>
        </p:nvSpPr>
        <p:spPr/>
        <p:txBody>
          <a:bodyPr/>
          <a:lstStyle/>
          <a:p>
            <a:fld id="{23B20E4E-3F95-4221-AFE5-FD1FD9CC3448}" type="slidenum">
              <a:rPr lang="en-US" altLang="ja-JP" smtClean="0"/>
              <a:pPr/>
              <a:t>12</a:t>
            </a:fld>
            <a:endParaRPr lang="en-US" altLang="ja-JP"/>
          </a:p>
        </p:txBody>
      </p:sp>
      <p:pic>
        <p:nvPicPr>
          <p:cNvPr id="2050" name="Picture 2" descr="ggplot2 - Wikipedia">
            <a:extLst>
              <a:ext uri="{FF2B5EF4-FFF2-40B4-BE49-F238E27FC236}">
                <a16:creationId xmlns:a16="http://schemas.microsoft.com/office/drawing/2014/main" id="{379DCADB-D7A2-A811-55F6-121E88BEDA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36" y="1026326"/>
            <a:ext cx="1535722" cy="1770856"/>
          </a:xfrm>
          <a:prstGeom prst="rect">
            <a:avLst/>
          </a:prstGeom>
          <a:noFill/>
          <a:extLst>
            <a:ext uri="{909E8E84-426E-40DD-AFC4-6F175D3DCCD1}">
              <a14:hiddenFill xmlns:a14="http://schemas.microsoft.com/office/drawing/2010/main">
                <a:solidFill>
                  <a:srgbClr val="FFFFFF"/>
                </a:solidFill>
              </a14:hiddenFill>
            </a:ext>
          </a:extLst>
        </p:spPr>
      </p:pic>
      <p:sp>
        <p:nvSpPr>
          <p:cNvPr id="8" name="テキスト ボックス 7">
            <a:extLst>
              <a:ext uri="{FF2B5EF4-FFF2-40B4-BE49-F238E27FC236}">
                <a16:creationId xmlns:a16="http://schemas.microsoft.com/office/drawing/2014/main" id="{3B552AED-8C1A-F359-9F83-2E882A9E634A}"/>
              </a:ext>
            </a:extLst>
          </p:cNvPr>
          <p:cNvSpPr txBox="1"/>
          <p:nvPr/>
        </p:nvSpPr>
        <p:spPr>
          <a:xfrm>
            <a:off x="263352" y="2996952"/>
            <a:ext cx="5976664" cy="2554545"/>
          </a:xfrm>
          <a:prstGeom prst="rect">
            <a:avLst/>
          </a:prstGeom>
          <a:noFill/>
        </p:spPr>
        <p:txBody>
          <a:bodyPr wrap="square">
            <a:spAutoFit/>
          </a:bodyPr>
          <a:lstStyle/>
          <a:p>
            <a:r>
              <a:rPr lang="ja-JP" altLang="en-US" sz="2000" dirty="0"/>
              <a:t>ggplot(df,</a:t>
            </a:r>
            <a:endParaRPr lang="en-US" altLang="ja-JP" sz="2000" dirty="0"/>
          </a:p>
          <a:p>
            <a:r>
              <a:rPr lang="en-US" altLang="ja-JP" sz="2000" dirty="0"/>
              <a:t>	</a:t>
            </a:r>
            <a:r>
              <a:rPr lang="ja-JP" altLang="en-US" sz="2000" dirty="0"/>
              <a:t> aes(x = HEIGHT, </a:t>
            </a:r>
            <a:endParaRPr lang="en-US" altLang="ja-JP" sz="2000" dirty="0"/>
          </a:p>
          <a:p>
            <a:r>
              <a:rPr lang="en-US" altLang="ja-JP" sz="2000" dirty="0"/>
              <a:t>	</a:t>
            </a:r>
            <a:r>
              <a:rPr lang="ja-JP" altLang="en-US" sz="2000" dirty="0"/>
              <a:t>       y = WEIGHT, </a:t>
            </a:r>
            <a:endParaRPr lang="en-US" altLang="ja-JP" sz="2000" dirty="0"/>
          </a:p>
          <a:p>
            <a:r>
              <a:rPr lang="en-US" altLang="ja-JP" sz="2000" dirty="0"/>
              <a:t>                      </a:t>
            </a:r>
            <a:r>
              <a:rPr lang="ja-JP" altLang="en-US" sz="2000" dirty="0"/>
              <a:t>shape = SEX)) </a:t>
            </a:r>
            <a:endParaRPr lang="en-US" altLang="ja-JP" sz="2000" dirty="0"/>
          </a:p>
          <a:p>
            <a:r>
              <a:rPr lang="en-US" altLang="ja-JP" sz="2000" dirty="0"/>
              <a:t>	</a:t>
            </a:r>
            <a:r>
              <a:rPr lang="ja-JP" altLang="en-US" sz="2000" dirty="0"/>
              <a:t>+  geom_point(size = 3) </a:t>
            </a:r>
            <a:endParaRPr lang="en-US" altLang="ja-JP" sz="2000" dirty="0"/>
          </a:p>
          <a:p>
            <a:r>
              <a:rPr lang="en-US" altLang="ja-JP" sz="2000" dirty="0"/>
              <a:t>	</a:t>
            </a:r>
            <a:r>
              <a:rPr lang="ja-JP" altLang="en-US" sz="2000" dirty="0"/>
              <a:t>+  labs(    x = “Height (cm)“,    </a:t>
            </a:r>
            <a:endParaRPr lang="en-US" altLang="ja-JP" sz="2000" dirty="0"/>
          </a:p>
          <a:p>
            <a:r>
              <a:rPr lang="en-US" altLang="ja-JP" sz="2000" dirty="0"/>
              <a:t> 		</a:t>
            </a:r>
            <a:r>
              <a:rPr lang="ja-JP" altLang="en-US" sz="2000" dirty="0"/>
              <a:t>y = “Weight (kg)“,   </a:t>
            </a:r>
            <a:endParaRPr lang="en-US" altLang="ja-JP" sz="2000" dirty="0"/>
          </a:p>
          <a:p>
            <a:r>
              <a:rPr lang="en-US" altLang="ja-JP" sz="2000" dirty="0"/>
              <a:t>		</a:t>
            </a:r>
            <a:r>
              <a:rPr lang="ja-JP" altLang="en-US" sz="2000" dirty="0"/>
              <a:t> title = “Height vs Weight by Sex“  )</a:t>
            </a:r>
          </a:p>
        </p:txBody>
      </p:sp>
      <p:pic>
        <p:nvPicPr>
          <p:cNvPr id="10" name="図 9" descr="グラフ, 散布図&#10;&#10;AI 生成コンテンツは誤りを含む可能性があります。">
            <a:extLst>
              <a:ext uri="{FF2B5EF4-FFF2-40B4-BE49-F238E27FC236}">
                <a16:creationId xmlns:a16="http://schemas.microsoft.com/office/drawing/2014/main" id="{48A29E5F-489C-74D5-45DE-C9F2549228BC}"/>
              </a:ext>
            </a:extLst>
          </p:cNvPr>
          <p:cNvPicPr>
            <a:picLocks noChangeAspect="1"/>
          </p:cNvPicPr>
          <p:nvPr/>
        </p:nvPicPr>
        <p:blipFill>
          <a:blip r:embed="rId3"/>
          <a:stretch>
            <a:fillRect/>
          </a:stretch>
        </p:blipFill>
        <p:spPr>
          <a:xfrm>
            <a:off x="6312024" y="2862018"/>
            <a:ext cx="4550185" cy="3816424"/>
          </a:xfrm>
          <a:prstGeom prst="rect">
            <a:avLst/>
          </a:prstGeom>
          <a:ln w="22225">
            <a:solidFill>
              <a:schemeClr val="accent1">
                <a:shade val="15000"/>
              </a:schemeClr>
            </a:solidFill>
          </a:ln>
        </p:spPr>
      </p:pic>
      <p:sp>
        <p:nvSpPr>
          <p:cNvPr id="12" name="テキスト ボックス 11">
            <a:extLst>
              <a:ext uri="{FF2B5EF4-FFF2-40B4-BE49-F238E27FC236}">
                <a16:creationId xmlns:a16="http://schemas.microsoft.com/office/drawing/2014/main" id="{2D262B54-F13D-E398-0113-ED2B3C3E8FB4}"/>
              </a:ext>
            </a:extLst>
          </p:cNvPr>
          <p:cNvSpPr txBox="1"/>
          <p:nvPr/>
        </p:nvSpPr>
        <p:spPr>
          <a:xfrm>
            <a:off x="1847528" y="1219844"/>
            <a:ext cx="10081119" cy="1200329"/>
          </a:xfrm>
          <a:prstGeom prst="rect">
            <a:avLst/>
          </a:prstGeom>
          <a:noFill/>
        </p:spPr>
        <p:txBody>
          <a:bodyPr wrap="square">
            <a:spAutoFit/>
          </a:bodyPr>
          <a:lstStyle/>
          <a:p>
            <a:r>
              <a:rPr lang="ja-JP" altLang="en-US" sz="1800" dirty="0"/>
              <a:t>ggplot2はビジュアライゼーション理論「The Grammar of Graphics </a:t>
            </a:r>
            <a:r>
              <a:rPr lang="en-US" altLang="ja-JP" sz="1800" dirty="0"/>
              <a:t>(</a:t>
            </a:r>
            <a:r>
              <a:rPr lang="ja-JP" altLang="en-US" sz="1800" dirty="0"/>
              <a:t>Leland Wilkinson</a:t>
            </a:r>
            <a:r>
              <a:rPr lang="en-US" altLang="ja-JP" sz="1800" dirty="0"/>
              <a:t>)</a:t>
            </a:r>
            <a:r>
              <a:rPr lang="ja-JP" altLang="en-US" sz="1800" dirty="0"/>
              <a:t>」に基づいていて，宣言的にグラフを作成するシステム．</a:t>
            </a:r>
            <a:endParaRPr lang="en-US" altLang="ja-JP" sz="1800" dirty="0"/>
          </a:p>
          <a:p>
            <a:r>
              <a:rPr lang="ja-JP" altLang="en-US" sz="1800" dirty="0"/>
              <a:t>ggplot2はグラフを構成要素「レイヤー（層）」に分けて，重ねていく．</a:t>
            </a:r>
            <a:endParaRPr lang="en-US" altLang="ja-JP" sz="1800" dirty="0"/>
          </a:p>
          <a:p>
            <a:r>
              <a:rPr lang="ja-JP" altLang="en-US" sz="1800" dirty="0"/>
              <a:t>Tidy Dataをキャンパスにセットして指定していくイメージ</a:t>
            </a:r>
          </a:p>
        </p:txBody>
      </p:sp>
    </p:spTree>
    <p:extLst>
      <p:ext uri="{BB962C8B-B14F-4D97-AF65-F5344CB8AC3E}">
        <p14:creationId xmlns:p14="http://schemas.microsoft.com/office/powerpoint/2010/main" val="40391005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FF8FA6-1644-E4D5-D312-F10AB069E616}"/>
              </a:ext>
            </a:extLst>
          </p:cNvPr>
          <p:cNvSpPr>
            <a:spLocks noGrp="1"/>
          </p:cNvSpPr>
          <p:nvPr>
            <p:ph type="title"/>
          </p:nvPr>
        </p:nvSpPr>
        <p:spPr>
          <a:xfrm>
            <a:off x="263352" y="332656"/>
            <a:ext cx="10664438" cy="533400"/>
          </a:xfrm>
        </p:spPr>
        <p:txBody>
          <a:bodyPr/>
          <a:lstStyle/>
          <a:p>
            <a:r>
              <a:rPr kumimoji="1" lang="en-US" altLang="ja-JP" i="0" dirty="0" err="1"/>
              <a:t>purrr</a:t>
            </a:r>
            <a:endParaRPr kumimoji="1" lang="ja-JP" altLang="en-US" i="0" dirty="0"/>
          </a:p>
        </p:txBody>
      </p:sp>
      <p:sp>
        <p:nvSpPr>
          <p:cNvPr id="4" name="スライド番号プレースホルダー 3">
            <a:extLst>
              <a:ext uri="{FF2B5EF4-FFF2-40B4-BE49-F238E27FC236}">
                <a16:creationId xmlns:a16="http://schemas.microsoft.com/office/drawing/2014/main" id="{CB493808-A54C-A876-7305-95684C75DD53}"/>
              </a:ext>
            </a:extLst>
          </p:cNvPr>
          <p:cNvSpPr>
            <a:spLocks noGrp="1"/>
          </p:cNvSpPr>
          <p:nvPr>
            <p:ph type="sldNum" sz="quarter" idx="11"/>
          </p:nvPr>
        </p:nvSpPr>
        <p:spPr/>
        <p:txBody>
          <a:bodyPr/>
          <a:lstStyle/>
          <a:p>
            <a:fld id="{23B20E4E-3F95-4221-AFE5-FD1FD9CC3448}" type="slidenum">
              <a:rPr lang="en-US" altLang="ja-JP" smtClean="0"/>
              <a:pPr/>
              <a:t>13</a:t>
            </a:fld>
            <a:endParaRPr lang="en-US" altLang="ja-JP"/>
          </a:p>
        </p:txBody>
      </p:sp>
      <p:pic>
        <p:nvPicPr>
          <p:cNvPr id="5122" name="Picture 2" descr="purrr: ループ処理やapply系関数の決定版 - Heavy Watal">
            <a:extLst>
              <a:ext uri="{FF2B5EF4-FFF2-40B4-BE49-F238E27FC236}">
                <a16:creationId xmlns:a16="http://schemas.microsoft.com/office/drawing/2014/main" id="{1F320D62-776F-5A4A-8013-94E676E6D7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352" y="1052736"/>
            <a:ext cx="1585144" cy="1827845"/>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2717AFDF-294C-07CE-8949-A2EE8D0A2D6D}"/>
              </a:ext>
            </a:extLst>
          </p:cNvPr>
          <p:cNvSpPr txBox="1"/>
          <p:nvPr/>
        </p:nvSpPr>
        <p:spPr>
          <a:xfrm>
            <a:off x="1934046" y="1196752"/>
            <a:ext cx="9904218" cy="1477328"/>
          </a:xfrm>
          <a:prstGeom prst="rect">
            <a:avLst/>
          </a:prstGeom>
          <a:noFill/>
        </p:spPr>
        <p:txBody>
          <a:bodyPr wrap="square">
            <a:spAutoFit/>
          </a:bodyPr>
          <a:lstStyle/>
          <a:p>
            <a:r>
              <a:rPr lang="ja-JP" altLang="en-US" sz="1800" dirty="0"/>
              <a:t>反復処理（ループ）を制御</a:t>
            </a:r>
            <a:endParaRPr lang="en-US" altLang="ja-JP" sz="1800" dirty="0"/>
          </a:p>
          <a:p>
            <a:r>
              <a:rPr lang="ja-JP" altLang="en-US" sz="1800" dirty="0"/>
              <a:t>R言語における伝統的なループのアプローチはforループやapply系関数を使用することでしたが，これらは複雑になりがちで，さらに戻りのデータ型が入力に依存して予期せず変化するという大きい欠点があったりした．</a:t>
            </a:r>
            <a:endParaRPr lang="en-US" altLang="ja-JP" sz="1800" dirty="0"/>
          </a:p>
          <a:p>
            <a:r>
              <a:rPr lang="ja-JP" altLang="en-US" sz="1800" dirty="0"/>
              <a:t>それを解決するための</a:t>
            </a:r>
            <a:r>
              <a:rPr lang="en-US" altLang="ja-JP" sz="1800" dirty="0" err="1"/>
              <a:t>tidyverse</a:t>
            </a:r>
            <a:r>
              <a:rPr lang="ja-JP" altLang="en-US" sz="1800" dirty="0"/>
              <a:t>の解が</a:t>
            </a:r>
            <a:r>
              <a:rPr lang="en-US" altLang="ja-JP" sz="1800" dirty="0" err="1"/>
              <a:t>purrr</a:t>
            </a:r>
            <a:r>
              <a:rPr lang="ja-JP" altLang="en-US" sz="1800" dirty="0"/>
              <a:t>パッケージ．</a:t>
            </a:r>
            <a:r>
              <a:rPr lang="en-US" altLang="ja-JP" sz="1800" dirty="0"/>
              <a:t>map</a:t>
            </a:r>
            <a:r>
              <a:rPr lang="ja-JP" altLang="en-US" sz="1800" dirty="0"/>
              <a:t>関数が中核を担う</a:t>
            </a:r>
          </a:p>
        </p:txBody>
      </p:sp>
      <p:pic>
        <p:nvPicPr>
          <p:cNvPr id="8" name="図 7" descr="テキスト&#10;&#10;AI 生成コンテンツは誤りを含む可能性があります。">
            <a:extLst>
              <a:ext uri="{FF2B5EF4-FFF2-40B4-BE49-F238E27FC236}">
                <a16:creationId xmlns:a16="http://schemas.microsoft.com/office/drawing/2014/main" id="{08F6D51D-AD2B-1B48-6F57-254CB25B64B1}"/>
              </a:ext>
            </a:extLst>
          </p:cNvPr>
          <p:cNvPicPr>
            <a:picLocks noChangeAspect="1"/>
          </p:cNvPicPr>
          <p:nvPr/>
        </p:nvPicPr>
        <p:blipFill>
          <a:blip r:embed="rId3"/>
          <a:stretch>
            <a:fillRect/>
          </a:stretch>
        </p:blipFill>
        <p:spPr>
          <a:xfrm>
            <a:off x="105550" y="3563872"/>
            <a:ext cx="2076352" cy="3294128"/>
          </a:xfrm>
          <a:prstGeom prst="rect">
            <a:avLst/>
          </a:prstGeom>
        </p:spPr>
      </p:pic>
      <p:sp>
        <p:nvSpPr>
          <p:cNvPr id="10" name="テキスト ボックス 9">
            <a:extLst>
              <a:ext uri="{FF2B5EF4-FFF2-40B4-BE49-F238E27FC236}">
                <a16:creationId xmlns:a16="http://schemas.microsoft.com/office/drawing/2014/main" id="{834FB68D-B55E-3CF0-5E40-FB11340C5CBA}"/>
              </a:ext>
            </a:extLst>
          </p:cNvPr>
          <p:cNvSpPr txBox="1"/>
          <p:nvPr/>
        </p:nvSpPr>
        <p:spPr>
          <a:xfrm>
            <a:off x="2927648" y="2783724"/>
            <a:ext cx="8208912" cy="461665"/>
          </a:xfrm>
          <a:prstGeom prst="rect">
            <a:avLst/>
          </a:prstGeom>
          <a:noFill/>
        </p:spPr>
        <p:txBody>
          <a:bodyPr wrap="square">
            <a:spAutoFit/>
          </a:bodyPr>
          <a:lstStyle/>
          <a:p>
            <a:r>
              <a:rPr lang="en-US" altLang="ja-JP" dirty="0"/>
              <a:t>map(.x, .f)</a:t>
            </a:r>
            <a:r>
              <a:rPr lang="ja-JP" altLang="en-US" dirty="0"/>
              <a:t>　繰り返し対象</a:t>
            </a:r>
            <a:r>
              <a:rPr lang="en-US" altLang="ja-JP" dirty="0"/>
              <a:t>x</a:t>
            </a:r>
            <a:r>
              <a:rPr lang="ja-JP" altLang="en-US" dirty="0"/>
              <a:t>に対して</a:t>
            </a:r>
            <a:r>
              <a:rPr lang="en-US" altLang="ja-JP" dirty="0"/>
              <a:t>f</a:t>
            </a:r>
            <a:r>
              <a:rPr lang="ja-JP" altLang="en-US" dirty="0"/>
              <a:t>の処理を行う</a:t>
            </a:r>
          </a:p>
        </p:txBody>
      </p:sp>
      <p:pic>
        <p:nvPicPr>
          <p:cNvPr id="12" name="図 11" descr="アイコン&#10;&#10;AI 生成コンテンツは誤りを含む可能性があります。">
            <a:extLst>
              <a:ext uri="{FF2B5EF4-FFF2-40B4-BE49-F238E27FC236}">
                <a16:creationId xmlns:a16="http://schemas.microsoft.com/office/drawing/2014/main" id="{01F125F8-5E61-5F54-C695-99A5EB1F6335}"/>
              </a:ext>
            </a:extLst>
          </p:cNvPr>
          <p:cNvPicPr>
            <a:picLocks noChangeAspect="1"/>
          </p:cNvPicPr>
          <p:nvPr/>
        </p:nvPicPr>
        <p:blipFill>
          <a:blip r:embed="rId4"/>
          <a:stretch>
            <a:fillRect/>
          </a:stretch>
        </p:blipFill>
        <p:spPr>
          <a:xfrm>
            <a:off x="2810064" y="3649252"/>
            <a:ext cx="2629267" cy="485843"/>
          </a:xfrm>
          <a:prstGeom prst="rect">
            <a:avLst/>
          </a:prstGeom>
        </p:spPr>
      </p:pic>
      <p:pic>
        <p:nvPicPr>
          <p:cNvPr id="16" name="図 15" descr="アイコン が含まれている画像&#10;&#10;AI 生成コンテンツは誤りを含む可能性があります。">
            <a:extLst>
              <a:ext uri="{FF2B5EF4-FFF2-40B4-BE49-F238E27FC236}">
                <a16:creationId xmlns:a16="http://schemas.microsoft.com/office/drawing/2014/main" id="{AB52EFC2-E5D5-B112-92ED-E51558D24E20}"/>
              </a:ext>
            </a:extLst>
          </p:cNvPr>
          <p:cNvPicPr>
            <a:picLocks noChangeAspect="1"/>
          </p:cNvPicPr>
          <p:nvPr/>
        </p:nvPicPr>
        <p:blipFill>
          <a:blip r:embed="rId5"/>
          <a:stretch>
            <a:fillRect/>
          </a:stretch>
        </p:blipFill>
        <p:spPr>
          <a:xfrm>
            <a:off x="2584376" y="4767430"/>
            <a:ext cx="3715268" cy="476316"/>
          </a:xfrm>
          <a:prstGeom prst="rect">
            <a:avLst/>
          </a:prstGeom>
        </p:spPr>
      </p:pic>
      <p:sp>
        <p:nvSpPr>
          <p:cNvPr id="18" name="テキスト ボックス 17">
            <a:extLst>
              <a:ext uri="{FF2B5EF4-FFF2-40B4-BE49-F238E27FC236}">
                <a16:creationId xmlns:a16="http://schemas.microsoft.com/office/drawing/2014/main" id="{689154AC-91EF-7F4F-9E17-C02B49F0E0A0}"/>
              </a:ext>
            </a:extLst>
          </p:cNvPr>
          <p:cNvSpPr txBox="1"/>
          <p:nvPr/>
        </p:nvSpPr>
        <p:spPr>
          <a:xfrm>
            <a:off x="99230" y="3173798"/>
            <a:ext cx="2612394" cy="338554"/>
          </a:xfrm>
          <a:prstGeom prst="rect">
            <a:avLst/>
          </a:prstGeom>
          <a:noFill/>
        </p:spPr>
        <p:txBody>
          <a:bodyPr wrap="square">
            <a:spAutoFit/>
          </a:bodyPr>
          <a:lstStyle/>
          <a:p>
            <a:r>
              <a:rPr lang="en-US" altLang="ja-JP" sz="1600" dirty="0"/>
              <a:t>1</a:t>
            </a:r>
            <a:r>
              <a:rPr lang="ja-JP" altLang="en-US" sz="1600" dirty="0"/>
              <a:t>から</a:t>
            </a:r>
            <a:r>
              <a:rPr lang="en-US" altLang="ja-JP" sz="1600" dirty="0"/>
              <a:t>5</a:t>
            </a:r>
            <a:r>
              <a:rPr lang="ja-JP" altLang="en-US" sz="1600" dirty="0"/>
              <a:t>までのルート計算</a:t>
            </a:r>
          </a:p>
        </p:txBody>
      </p:sp>
      <p:sp>
        <p:nvSpPr>
          <p:cNvPr id="19" name="テキスト ボックス 18">
            <a:extLst>
              <a:ext uri="{FF2B5EF4-FFF2-40B4-BE49-F238E27FC236}">
                <a16:creationId xmlns:a16="http://schemas.microsoft.com/office/drawing/2014/main" id="{20411D60-C746-4B1C-783F-66B88D8D7CE0}"/>
              </a:ext>
            </a:extLst>
          </p:cNvPr>
          <p:cNvSpPr txBox="1"/>
          <p:nvPr/>
        </p:nvSpPr>
        <p:spPr>
          <a:xfrm>
            <a:off x="2800504" y="3310698"/>
            <a:ext cx="4519631" cy="338554"/>
          </a:xfrm>
          <a:prstGeom prst="rect">
            <a:avLst/>
          </a:prstGeom>
          <a:noFill/>
        </p:spPr>
        <p:txBody>
          <a:bodyPr wrap="square">
            <a:spAutoFit/>
          </a:bodyPr>
          <a:lstStyle/>
          <a:p>
            <a:r>
              <a:rPr lang="en-US" altLang="ja-JP" sz="1600" dirty="0"/>
              <a:t>1</a:t>
            </a:r>
            <a:r>
              <a:rPr lang="ja-JP" altLang="en-US" sz="1600" dirty="0"/>
              <a:t>から</a:t>
            </a:r>
            <a:r>
              <a:rPr lang="en-US" altLang="ja-JP" sz="1600" dirty="0"/>
              <a:t>5</a:t>
            </a:r>
            <a:r>
              <a:rPr lang="ja-JP" altLang="en-US" sz="1600" dirty="0"/>
              <a:t>までの二乗</a:t>
            </a:r>
          </a:p>
        </p:txBody>
      </p:sp>
      <p:sp>
        <p:nvSpPr>
          <p:cNvPr id="20" name="テキスト ボックス 19">
            <a:extLst>
              <a:ext uri="{FF2B5EF4-FFF2-40B4-BE49-F238E27FC236}">
                <a16:creationId xmlns:a16="http://schemas.microsoft.com/office/drawing/2014/main" id="{C1BB325B-F262-9FFA-F20D-1730AA711A49}"/>
              </a:ext>
            </a:extLst>
          </p:cNvPr>
          <p:cNvSpPr txBox="1"/>
          <p:nvPr/>
        </p:nvSpPr>
        <p:spPr>
          <a:xfrm>
            <a:off x="2567608" y="4438976"/>
            <a:ext cx="4608511" cy="338554"/>
          </a:xfrm>
          <a:prstGeom prst="rect">
            <a:avLst/>
          </a:prstGeom>
          <a:noFill/>
        </p:spPr>
        <p:txBody>
          <a:bodyPr wrap="square">
            <a:spAutoFit/>
          </a:bodyPr>
          <a:lstStyle/>
          <a:p>
            <a:r>
              <a:rPr lang="en-US" altLang="ja-JP" sz="1600" dirty="0"/>
              <a:t>2</a:t>
            </a:r>
            <a:r>
              <a:rPr lang="ja-JP" altLang="en-US" sz="1600" dirty="0"/>
              <a:t>つのベクトルを足し合わせて新しいものを作る</a:t>
            </a:r>
          </a:p>
        </p:txBody>
      </p:sp>
      <p:sp>
        <p:nvSpPr>
          <p:cNvPr id="22" name="テキスト ボックス 21">
            <a:extLst>
              <a:ext uri="{FF2B5EF4-FFF2-40B4-BE49-F238E27FC236}">
                <a16:creationId xmlns:a16="http://schemas.microsoft.com/office/drawing/2014/main" id="{C1865ADF-CAEB-AEE5-305A-9DBDBB8EA4CB}"/>
              </a:ext>
            </a:extLst>
          </p:cNvPr>
          <p:cNvSpPr txBox="1"/>
          <p:nvPr/>
        </p:nvSpPr>
        <p:spPr>
          <a:xfrm>
            <a:off x="7578593" y="3889792"/>
            <a:ext cx="2696449" cy="1938992"/>
          </a:xfrm>
          <a:prstGeom prst="rect">
            <a:avLst/>
          </a:prstGeom>
          <a:noFill/>
        </p:spPr>
        <p:txBody>
          <a:bodyPr wrap="square">
            <a:spAutoFit/>
          </a:bodyPr>
          <a:lstStyle/>
          <a:p>
            <a:r>
              <a:rPr lang="ja-JP" altLang="en-US" dirty="0"/>
              <a:t>x &lt;- list(  c(1,2,3), </a:t>
            </a:r>
            <a:endParaRPr lang="en-US" altLang="ja-JP" dirty="0"/>
          </a:p>
          <a:p>
            <a:r>
              <a:rPr lang="en-US" altLang="ja-JP" dirty="0"/>
              <a:t>	</a:t>
            </a:r>
            <a:r>
              <a:rPr lang="ja-JP" altLang="en-US" dirty="0"/>
              <a:t> c(4,5,6),</a:t>
            </a:r>
            <a:endParaRPr lang="en-US" altLang="ja-JP" dirty="0"/>
          </a:p>
          <a:p>
            <a:r>
              <a:rPr lang="en-US" altLang="ja-JP" dirty="0"/>
              <a:t>	</a:t>
            </a:r>
            <a:r>
              <a:rPr lang="ja-JP" altLang="en-US" dirty="0"/>
              <a:t>  c(7,8,9))</a:t>
            </a:r>
            <a:endParaRPr lang="en-US" altLang="ja-JP" dirty="0"/>
          </a:p>
          <a:p>
            <a:endParaRPr lang="en-US" altLang="ja-JP" dirty="0"/>
          </a:p>
          <a:p>
            <a:r>
              <a:rPr lang="ja-JP" altLang="en-US" dirty="0"/>
              <a:t>map_dbl(x, mean)</a:t>
            </a:r>
          </a:p>
        </p:txBody>
      </p:sp>
      <p:pic>
        <p:nvPicPr>
          <p:cNvPr id="24" name="図 23" descr="テキスト が含まれている画像&#10;&#10;AI 生成コンテンツは誤りを含む可能性があります。">
            <a:extLst>
              <a:ext uri="{FF2B5EF4-FFF2-40B4-BE49-F238E27FC236}">
                <a16:creationId xmlns:a16="http://schemas.microsoft.com/office/drawing/2014/main" id="{98AD7DA5-8415-A507-5544-463E16B6C8ED}"/>
              </a:ext>
            </a:extLst>
          </p:cNvPr>
          <p:cNvPicPr>
            <a:picLocks noChangeAspect="1"/>
          </p:cNvPicPr>
          <p:nvPr/>
        </p:nvPicPr>
        <p:blipFill>
          <a:blip r:embed="rId6"/>
          <a:stretch>
            <a:fillRect/>
          </a:stretch>
        </p:blipFill>
        <p:spPr>
          <a:xfrm>
            <a:off x="7201975" y="6069324"/>
            <a:ext cx="3858179" cy="816153"/>
          </a:xfrm>
          <a:prstGeom prst="rect">
            <a:avLst/>
          </a:prstGeom>
        </p:spPr>
      </p:pic>
    </p:spTree>
    <p:extLst>
      <p:ext uri="{BB962C8B-B14F-4D97-AF65-F5344CB8AC3E}">
        <p14:creationId xmlns:p14="http://schemas.microsoft.com/office/powerpoint/2010/main" val="19082473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90E48B-39BC-C874-CAAD-EF5BB9918D4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70B1641-671E-10D9-D2C3-2DE979959D86}"/>
              </a:ext>
            </a:extLst>
          </p:cNvPr>
          <p:cNvSpPr>
            <a:spLocks noGrp="1"/>
          </p:cNvSpPr>
          <p:nvPr>
            <p:ph type="title"/>
          </p:nvPr>
        </p:nvSpPr>
        <p:spPr>
          <a:xfrm>
            <a:off x="263352" y="326405"/>
            <a:ext cx="10502455" cy="533400"/>
          </a:xfrm>
        </p:spPr>
        <p:txBody>
          <a:bodyPr/>
          <a:lstStyle/>
          <a:p>
            <a:r>
              <a:rPr lang="en-US" altLang="ja-JP" i="0" dirty="0"/>
              <a:t>s</a:t>
            </a:r>
            <a:r>
              <a:rPr kumimoji="1" lang="en-US" altLang="ja-JP" i="0" dirty="0"/>
              <a:t>tringer, </a:t>
            </a:r>
            <a:r>
              <a:rPr kumimoji="1" lang="en-US" altLang="ja-JP" i="0" dirty="0" err="1"/>
              <a:t>forcats</a:t>
            </a:r>
            <a:r>
              <a:rPr kumimoji="1" lang="en-US" altLang="ja-JP" i="0" dirty="0"/>
              <a:t>, </a:t>
            </a:r>
            <a:r>
              <a:rPr kumimoji="1" lang="en-US" altLang="ja-JP" i="0" dirty="0" err="1"/>
              <a:t>lubridate</a:t>
            </a:r>
            <a:endParaRPr kumimoji="1" lang="ja-JP" altLang="en-US" i="0" dirty="0"/>
          </a:p>
        </p:txBody>
      </p:sp>
      <p:sp>
        <p:nvSpPr>
          <p:cNvPr id="4" name="スライド番号プレースホルダー 3">
            <a:extLst>
              <a:ext uri="{FF2B5EF4-FFF2-40B4-BE49-F238E27FC236}">
                <a16:creationId xmlns:a16="http://schemas.microsoft.com/office/drawing/2014/main" id="{A85666BE-409B-2572-403D-551CE37FAB73}"/>
              </a:ext>
            </a:extLst>
          </p:cNvPr>
          <p:cNvSpPr>
            <a:spLocks noGrp="1"/>
          </p:cNvSpPr>
          <p:nvPr>
            <p:ph type="sldNum" sz="quarter" idx="11"/>
          </p:nvPr>
        </p:nvSpPr>
        <p:spPr/>
        <p:txBody>
          <a:bodyPr/>
          <a:lstStyle/>
          <a:p>
            <a:fld id="{23B20E4E-3F95-4221-AFE5-FD1FD9CC3448}" type="slidenum">
              <a:rPr lang="en-US" altLang="ja-JP" smtClean="0"/>
              <a:pPr/>
              <a:t>14</a:t>
            </a:fld>
            <a:endParaRPr lang="en-US" altLang="ja-JP"/>
          </a:p>
        </p:txBody>
      </p:sp>
      <p:sp>
        <p:nvSpPr>
          <p:cNvPr id="12" name="テキスト ボックス 11">
            <a:extLst>
              <a:ext uri="{FF2B5EF4-FFF2-40B4-BE49-F238E27FC236}">
                <a16:creationId xmlns:a16="http://schemas.microsoft.com/office/drawing/2014/main" id="{6855CF52-525D-C60D-C0A3-537B5CCF98A3}"/>
              </a:ext>
            </a:extLst>
          </p:cNvPr>
          <p:cNvSpPr txBox="1"/>
          <p:nvPr/>
        </p:nvSpPr>
        <p:spPr>
          <a:xfrm>
            <a:off x="1559496" y="1052736"/>
            <a:ext cx="10369152" cy="1815882"/>
          </a:xfrm>
          <a:prstGeom prst="rect">
            <a:avLst/>
          </a:prstGeom>
          <a:noFill/>
        </p:spPr>
        <p:txBody>
          <a:bodyPr wrap="square">
            <a:spAutoFit/>
          </a:bodyPr>
          <a:lstStyle/>
          <a:p>
            <a:r>
              <a:rPr lang="en-US" altLang="ja-JP" sz="1600" dirty="0"/>
              <a:t>R </a:t>
            </a:r>
            <a:r>
              <a:rPr lang="ja-JP" altLang="en-US" sz="1600" dirty="0"/>
              <a:t>にはもともと文字列処理関数がありますが</a:t>
            </a:r>
            <a:r>
              <a:rPr lang="en-US" altLang="ja-JP" sz="1600" dirty="0"/>
              <a:t>, </a:t>
            </a:r>
          </a:p>
          <a:p>
            <a:r>
              <a:rPr lang="en-US" altLang="ja-JP" sz="1600" dirty="0"/>
              <a:t>grep, </a:t>
            </a:r>
            <a:r>
              <a:rPr lang="en-US" altLang="ja-JP" sz="1600" dirty="0" err="1"/>
              <a:t>gsub</a:t>
            </a:r>
            <a:r>
              <a:rPr lang="en-US" altLang="ja-JP" sz="1600" dirty="0"/>
              <a:t>, </a:t>
            </a:r>
            <a:r>
              <a:rPr lang="en-US" altLang="ja-JP" sz="1600" dirty="0" err="1"/>
              <a:t>substr</a:t>
            </a:r>
            <a:r>
              <a:rPr lang="en-US" altLang="ja-JP" sz="1600" dirty="0"/>
              <a:t>, </a:t>
            </a:r>
            <a:r>
              <a:rPr lang="en-US" altLang="ja-JP" sz="1600" dirty="0" err="1"/>
              <a:t>nchar</a:t>
            </a:r>
            <a:r>
              <a:rPr lang="ja-JP" altLang="en-US" sz="1600" dirty="0"/>
              <a:t>などは 関数名や引数の形式が統一されていません</a:t>
            </a:r>
            <a:endParaRPr lang="en-US" altLang="ja-JP" sz="1600" dirty="0"/>
          </a:p>
          <a:p>
            <a:r>
              <a:rPr lang="en-US" altLang="ja-JP" sz="1600" dirty="0" err="1"/>
              <a:t>stringr</a:t>
            </a:r>
            <a:r>
              <a:rPr lang="en-US" altLang="ja-JP" sz="1600" dirty="0"/>
              <a:t> </a:t>
            </a:r>
            <a:r>
              <a:rPr lang="ja-JP" altLang="en-US" sz="1600" dirty="0"/>
              <a:t>はすべての関数を </a:t>
            </a:r>
            <a:r>
              <a:rPr lang="en-US" altLang="ja-JP" sz="1600" dirty="0"/>
              <a:t>str_ </a:t>
            </a:r>
            <a:r>
              <a:rPr lang="ja-JP" altLang="en-US" sz="1600" dirty="0"/>
              <a:t>で始め、一貫した書き方にすることを目的とした文字列操作パッケージ</a:t>
            </a:r>
            <a:endParaRPr lang="en-US" altLang="ja-JP" sz="1600" dirty="0"/>
          </a:p>
          <a:p>
            <a:endParaRPr lang="en-US" altLang="ja-JP" sz="1600" dirty="0"/>
          </a:p>
          <a:p>
            <a:r>
              <a:rPr lang="ja-JP" altLang="en-US" sz="1600" dirty="0"/>
              <a:t>・</a:t>
            </a:r>
            <a:r>
              <a:rPr lang="en-US" altLang="ja-JP" sz="1600" dirty="0" err="1"/>
              <a:t>str_detect</a:t>
            </a:r>
            <a:r>
              <a:rPr lang="en-US" altLang="ja-JP" sz="1600" dirty="0"/>
              <a:t>(“clinical trial“, “trial“)</a:t>
            </a:r>
            <a:r>
              <a:rPr lang="ja-JP" altLang="en-US" sz="1600" dirty="0"/>
              <a:t>　</a:t>
            </a:r>
            <a:r>
              <a:rPr lang="en-US" altLang="ja-JP" sz="1600" dirty="0"/>
              <a:t>#</a:t>
            </a:r>
            <a:r>
              <a:rPr lang="ja-JP" altLang="en-US" sz="1600" dirty="0"/>
              <a:t>文字列検出，第一引数に第二引数が含まれるか，この場合は</a:t>
            </a:r>
            <a:r>
              <a:rPr lang="en-US" altLang="ja-JP" sz="1600" dirty="0"/>
              <a:t>TRUE</a:t>
            </a:r>
          </a:p>
          <a:p>
            <a:r>
              <a:rPr lang="ja-JP" altLang="en-US" sz="1600" dirty="0"/>
              <a:t>・</a:t>
            </a:r>
            <a:r>
              <a:rPr lang="en-US" altLang="ja-JP" sz="1600" dirty="0" err="1"/>
              <a:t>str_extract</a:t>
            </a:r>
            <a:r>
              <a:rPr lang="en-US" altLang="ja-JP" sz="1600" dirty="0"/>
              <a:t>(“Subject ID: 123“, “\\d+“)</a:t>
            </a:r>
            <a:r>
              <a:rPr lang="ja-JP" altLang="en-US" sz="1600" dirty="0"/>
              <a:t>　</a:t>
            </a:r>
            <a:r>
              <a:rPr lang="en-US" altLang="ja-JP" sz="1600" dirty="0"/>
              <a:t>#</a:t>
            </a:r>
            <a:r>
              <a:rPr lang="ja-JP" altLang="en-US" sz="1600" dirty="0"/>
              <a:t>文字列抽出，この場合戻り値は</a:t>
            </a:r>
            <a:r>
              <a:rPr lang="en-US" altLang="ja-JP" sz="1600" dirty="0"/>
              <a:t>123</a:t>
            </a:r>
          </a:p>
          <a:p>
            <a:r>
              <a:rPr lang="ja-JP" altLang="en-US" sz="1600" dirty="0"/>
              <a:t>・</a:t>
            </a:r>
            <a:r>
              <a:rPr lang="en-US" altLang="ja-JP" sz="1600" dirty="0" err="1"/>
              <a:t>str_replace</a:t>
            </a:r>
            <a:r>
              <a:rPr lang="en-US" altLang="ja-JP" sz="1600" dirty="0"/>
              <a:t>(“A-B-C“, “-“, “_“)</a:t>
            </a:r>
            <a:r>
              <a:rPr lang="ja-JP" altLang="en-US" sz="1600" dirty="0"/>
              <a:t>　</a:t>
            </a:r>
            <a:r>
              <a:rPr lang="en-US" altLang="ja-JP" sz="1600" dirty="0"/>
              <a:t>#</a:t>
            </a:r>
            <a:r>
              <a:rPr lang="ja-JP" altLang="en-US" sz="1600" dirty="0"/>
              <a:t>文字列置換，この場合戻り値は</a:t>
            </a:r>
            <a:r>
              <a:rPr lang="en-US" altLang="ja-JP" sz="1600" dirty="0"/>
              <a:t>A_B_C</a:t>
            </a:r>
          </a:p>
        </p:txBody>
      </p:sp>
      <p:pic>
        <p:nvPicPr>
          <p:cNvPr id="4098" name="Picture 2" descr="stringr: Rの文字列をまともな方法で処理する - Heavy Watal">
            <a:extLst>
              <a:ext uri="{FF2B5EF4-FFF2-40B4-BE49-F238E27FC236}">
                <a16:creationId xmlns:a16="http://schemas.microsoft.com/office/drawing/2014/main" id="{E78012AC-EDB8-0DC8-EE08-3BFF12547F3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336" y="980728"/>
            <a:ext cx="1370352" cy="158016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Tools for Working with Categorical Variables (Factors) • forcats">
            <a:extLst>
              <a:ext uri="{FF2B5EF4-FFF2-40B4-BE49-F238E27FC236}">
                <a16:creationId xmlns:a16="http://schemas.microsoft.com/office/drawing/2014/main" id="{5A06110F-3447-D1C7-A652-706A19FD61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559" y="3039362"/>
            <a:ext cx="1370353" cy="1580168"/>
          </a:xfrm>
          <a:prstGeom prst="rect">
            <a:avLst/>
          </a:prstGeom>
          <a:noFill/>
          <a:extLst>
            <a:ext uri="{909E8E84-426E-40DD-AFC4-6F175D3DCCD1}">
              <a14:hiddenFill xmlns:a14="http://schemas.microsoft.com/office/drawing/2010/main">
                <a:solidFill>
                  <a:srgbClr val="FFFFFF"/>
                </a:solidFill>
              </a14:hiddenFill>
            </a:ext>
          </a:extLst>
        </p:spPr>
      </p:pic>
      <p:sp>
        <p:nvSpPr>
          <p:cNvPr id="3" name="テキスト ボックス 2">
            <a:extLst>
              <a:ext uri="{FF2B5EF4-FFF2-40B4-BE49-F238E27FC236}">
                <a16:creationId xmlns:a16="http://schemas.microsoft.com/office/drawing/2014/main" id="{BE36504D-0F87-A2D9-9029-738D94D9CD34}"/>
              </a:ext>
            </a:extLst>
          </p:cNvPr>
          <p:cNvSpPr txBox="1"/>
          <p:nvPr/>
        </p:nvSpPr>
        <p:spPr>
          <a:xfrm>
            <a:off x="1682904" y="3136612"/>
            <a:ext cx="10369152" cy="1569660"/>
          </a:xfrm>
          <a:prstGeom prst="rect">
            <a:avLst/>
          </a:prstGeom>
          <a:noFill/>
        </p:spPr>
        <p:txBody>
          <a:bodyPr wrap="square">
            <a:spAutoFit/>
          </a:bodyPr>
          <a:lstStyle/>
          <a:p>
            <a:r>
              <a:rPr lang="en-US" altLang="ja-JP" sz="1600" dirty="0"/>
              <a:t>“for categorical variables“</a:t>
            </a:r>
            <a:r>
              <a:rPr lang="ja-JP" altLang="en-US" sz="1600" dirty="0"/>
              <a:t>（カテゴリ変数のため）を目的として，</a:t>
            </a:r>
            <a:r>
              <a:rPr lang="en-US" altLang="ja-JP" sz="1600" dirty="0"/>
              <a:t>R </a:t>
            </a:r>
            <a:r>
              <a:rPr lang="ja-JP" altLang="en-US" sz="1600" dirty="0"/>
              <a:t>の </a:t>
            </a:r>
            <a:r>
              <a:rPr lang="en-US" altLang="ja-JP" sz="1600" dirty="0"/>
              <a:t>factor </a:t>
            </a:r>
            <a:r>
              <a:rPr lang="ja-JP" altLang="en-US" sz="1600" dirty="0"/>
              <a:t>を直感的に操作できるようにするためのパッケージで，</a:t>
            </a:r>
            <a:r>
              <a:rPr lang="en-US" altLang="ja-JP" sz="1600" dirty="0"/>
              <a:t>ggplot2</a:t>
            </a:r>
            <a:r>
              <a:rPr lang="ja-JP" altLang="en-US" sz="1600" dirty="0"/>
              <a:t>などでグラフにおけるカテゴリ変数を制御する際などに多用される</a:t>
            </a:r>
            <a:endParaRPr lang="en-US" altLang="ja-JP" sz="1600" dirty="0"/>
          </a:p>
          <a:p>
            <a:r>
              <a:rPr lang="en-US" altLang="ja-JP" sz="1600" dirty="0"/>
              <a:t>sex &lt;- factor(c(“F“, “M“, “F“, “F“, “M“))</a:t>
            </a:r>
          </a:p>
          <a:p>
            <a:r>
              <a:rPr lang="ja-JP" altLang="en-US" sz="1600" dirty="0"/>
              <a:t>・</a:t>
            </a:r>
            <a:r>
              <a:rPr lang="en-US" altLang="ja-JP" sz="1600" dirty="0" err="1"/>
              <a:t>fct_relevel</a:t>
            </a:r>
            <a:r>
              <a:rPr lang="en-US" altLang="ja-JP" sz="1600" dirty="0"/>
              <a:t>(sex, “M“, “F“) </a:t>
            </a:r>
            <a:r>
              <a:rPr lang="ja-JP" altLang="en-US" sz="1600" dirty="0"/>
              <a:t> </a:t>
            </a:r>
            <a:r>
              <a:rPr lang="en-US" altLang="ja-JP" sz="1600" dirty="0"/>
              <a:t>#</a:t>
            </a:r>
            <a:r>
              <a:rPr lang="ja-JP" altLang="en-US" sz="1600" dirty="0"/>
              <a:t> レベル順序変更　</a:t>
            </a:r>
            <a:endParaRPr lang="en-US" altLang="ja-JP" sz="1600" dirty="0"/>
          </a:p>
          <a:p>
            <a:r>
              <a:rPr lang="ja-JP" altLang="en-US" sz="1600" dirty="0"/>
              <a:t>・</a:t>
            </a:r>
            <a:r>
              <a:rPr lang="en-US" altLang="ja-JP" sz="1600" dirty="0" err="1"/>
              <a:t>fct_rev</a:t>
            </a:r>
            <a:r>
              <a:rPr lang="en-US" altLang="ja-JP" sz="1600" dirty="0"/>
              <a:t>(sex) #</a:t>
            </a:r>
            <a:r>
              <a:rPr lang="ja-JP" altLang="en-US" sz="1600" dirty="0"/>
              <a:t> レベル順序反転</a:t>
            </a:r>
            <a:endParaRPr lang="en-US" altLang="ja-JP" sz="1600" dirty="0"/>
          </a:p>
          <a:p>
            <a:r>
              <a:rPr lang="ja-JP" altLang="en-US" sz="1600" dirty="0"/>
              <a:t>・</a:t>
            </a:r>
            <a:r>
              <a:rPr lang="en-US" altLang="ja-JP" sz="1600" dirty="0" err="1"/>
              <a:t>fct_infreq</a:t>
            </a:r>
            <a:r>
              <a:rPr lang="en-US" altLang="ja-JP" sz="1600" dirty="0"/>
              <a:t>(sex) #</a:t>
            </a:r>
            <a:r>
              <a:rPr lang="ja-JP" altLang="en-US" sz="1600" dirty="0"/>
              <a:t>頻度順に並び変え</a:t>
            </a:r>
            <a:endParaRPr lang="en-US" altLang="ja-JP" sz="1600" dirty="0"/>
          </a:p>
        </p:txBody>
      </p:sp>
      <p:pic>
        <p:nvPicPr>
          <p:cNvPr id="4104" name="Picture 8" descr="Make Dealing with Dates a Little Easier • lubridate">
            <a:extLst>
              <a:ext uri="{FF2B5EF4-FFF2-40B4-BE49-F238E27FC236}">
                <a16:creationId xmlns:a16="http://schemas.microsoft.com/office/drawing/2014/main" id="{E73D911B-F49A-DBF4-552C-2061437336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84" y="5097998"/>
            <a:ext cx="1407904" cy="1630822"/>
          </a:xfrm>
          <a:prstGeom prst="rect">
            <a:avLst/>
          </a:prstGeom>
          <a:noFill/>
          <a:extLst>
            <a:ext uri="{909E8E84-426E-40DD-AFC4-6F175D3DCCD1}">
              <a14:hiddenFill xmlns:a14="http://schemas.microsoft.com/office/drawing/2010/main">
                <a:solidFill>
                  <a:srgbClr val="FFFFFF"/>
                </a:solidFill>
              </a14:hiddenFill>
            </a:ext>
          </a:extLst>
        </p:spPr>
      </p:pic>
      <p:sp>
        <p:nvSpPr>
          <p:cNvPr id="6" name="テキスト ボックス 5">
            <a:extLst>
              <a:ext uri="{FF2B5EF4-FFF2-40B4-BE49-F238E27FC236}">
                <a16:creationId xmlns:a16="http://schemas.microsoft.com/office/drawing/2014/main" id="{DFE26DA6-F3A1-8A22-7A10-B4D570CE0DBE}"/>
              </a:ext>
            </a:extLst>
          </p:cNvPr>
          <p:cNvSpPr txBox="1"/>
          <p:nvPr/>
        </p:nvSpPr>
        <p:spPr>
          <a:xfrm>
            <a:off x="1657648" y="5097998"/>
            <a:ext cx="9813696" cy="1323439"/>
          </a:xfrm>
          <a:prstGeom prst="rect">
            <a:avLst/>
          </a:prstGeom>
          <a:noFill/>
        </p:spPr>
        <p:txBody>
          <a:bodyPr wrap="square">
            <a:spAutoFit/>
          </a:bodyPr>
          <a:lstStyle>
            <a:defPPr>
              <a:defRPr lang="ja-JP"/>
            </a:defPPr>
            <a:lvl1pPr>
              <a:defRPr sz="1600"/>
            </a:lvl1pPr>
          </a:lstStyle>
          <a:p>
            <a:r>
              <a:rPr lang="ja-JP" altLang="en-US" dirty="0"/>
              <a:t>日付・時刻（date / time）を扱うための パッケージ</a:t>
            </a:r>
            <a:r>
              <a:rPr lang="en-US" altLang="ja-JP" dirty="0"/>
              <a:t>. </a:t>
            </a:r>
            <a:r>
              <a:rPr lang="ja-JP" altLang="en-US" dirty="0"/>
              <a:t>R の標準の日付処理は扱いにくい部分があるため，直感的な関数で日付・時間を操作できるようにすることを目的に作られている</a:t>
            </a:r>
            <a:endParaRPr lang="en-US" altLang="ja-JP" dirty="0"/>
          </a:p>
          <a:p>
            <a:r>
              <a:rPr lang="ja-JP" altLang="en-US" dirty="0"/>
              <a:t>・</a:t>
            </a:r>
            <a:r>
              <a:rPr lang="en-US" altLang="ja-JP" dirty="0"/>
              <a:t>date &lt;- </a:t>
            </a:r>
            <a:r>
              <a:rPr lang="en-US" altLang="ja-JP" dirty="0" err="1"/>
              <a:t>ymd</a:t>
            </a:r>
            <a:r>
              <a:rPr lang="en-US" altLang="ja-JP" dirty="0"/>
              <a:t>("2025-03-17")</a:t>
            </a:r>
          </a:p>
          <a:p>
            <a:r>
              <a:rPr lang="ja-JP" altLang="en-US" dirty="0"/>
              <a:t>・</a:t>
            </a:r>
            <a:r>
              <a:rPr lang="en-US" altLang="ja-JP" dirty="0" err="1"/>
              <a:t>ymd_hms</a:t>
            </a:r>
            <a:r>
              <a:rPr lang="en-US" altLang="ja-JP" dirty="0"/>
              <a:t>("2025-03-17 10:30:00")</a:t>
            </a:r>
          </a:p>
          <a:p>
            <a:r>
              <a:rPr lang="ja-JP" altLang="en-US" dirty="0"/>
              <a:t>・</a:t>
            </a:r>
            <a:r>
              <a:rPr lang="en-US" altLang="ja-JP" dirty="0"/>
              <a:t>date2 &lt;- date + days(7)</a:t>
            </a:r>
            <a:r>
              <a:rPr lang="ja-JP" altLang="en-US" dirty="0"/>
              <a:t>　</a:t>
            </a:r>
            <a:r>
              <a:rPr lang="en-US" altLang="ja-JP" dirty="0"/>
              <a:t>#</a:t>
            </a:r>
            <a:r>
              <a:rPr lang="ja-JP" altLang="en-US" dirty="0"/>
              <a:t>日付計算</a:t>
            </a:r>
          </a:p>
        </p:txBody>
      </p:sp>
    </p:spTree>
    <p:extLst>
      <p:ext uri="{BB962C8B-B14F-4D97-AF65-F5344CB8AC3E}">
        <p14:creationId xmlns:p14="http://schemas.microsoft.com/office/powerpoint/2010/main" val="30750437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0DE05F-833F-C63E-2DC1-59018FADF26B}"/>
            </a:ext>
          </a:extLst>
        </p:cNvPr>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81071BD0-98FC-6973-6C1A-31EED735ACD0}"/>
              </a:ext>
            </a:extLst>
          </p:cNvPr>
          <p:cNvSpPr>
            <a:spLocks noGrp="1"/>
          </p:cNvSpPr>
          <p:nvPr>
            <p:ph type="sldNum" sz="quarter" idx="11"/>
          </p:nvPr>
        </p:nvSpPr>
        <p:spPr/>
        <p:txBody>
          <a:bodyPr/>
          <a:lstStyle/>
          <a:p>
            <a:fld id="{23B20E4E-3F95-4221-AFE5-FD1FD9CC3448}" type="slidenum">
              <a:rPr lang="en-US" altLang="ja-JP" smtClean="0"/>
              <a:pPr/>
              <a:t>15</a:t>
            </a:fld>
            <a:endParaRPr lang="en-US" altLang="ja-JP"/>
          </a:p>
        </p:txBody>
      </p:sp>
      <p:grpSp>
        <p:nvGrpSpPr>
          <p:cNvPr id="5" name="グループ化 4">
            <a:extLst>
              <a:ext uri="{FF2B5EF4-FFF2-40B4-BE49-F238E27FC236}">
                <a16:creationId xmlns:a16="http://schemas.microsoft.com/office/drawing/2014/main" id="{947DC2C1-8E6E-47EB-3572-DFB011818015}"/>
              </a:ext>
            </a:extLst>
          </p:cNvPr>
          <p:cNvGrpSpPr>
            <a:grpSpLocks noChangeAspect="1"/>
          </p:cNvGrpSpPr>
          <p:nvPr/>
        </p:nvGrpSpPr>
        <p:grpSpPr>
          <a:xfrm>
            <a:off x="2152951" y="1110385"/>
            <a:ext cx="3223935" cy="5213295"/>
            <a:chOff x="15989246" y="26839314"/>
            <a:chExt cx="3468459" cy="5952086"/>
          </a:xfrm>
        </p:grpSpPr>
        <p:pic>
          <p:nvPicPr>
            <p:cNvPr id="7" name="図 6">
              <a:extLst>
                <a:ext uri="{FF2B5EF4-FFF2-40B4-BE49-F238E27FC236}">
                  <a16:creationId xmlns:a16="http://schemas.microsoft.com/office/drawing/2014/main" id="{EF0D2A82-27EB-6B87-AD59-229DD0284C1B}"/>
                </a:ext>
              </a:extLst>
            </p:cNvPr>
            <p:cNvPicPr>
              <a:picLocks noChangeAspect="1"/>
            </p:cNvPicPr>
            <p:nvPr/>
          </p:nvPicPr>
          <p:blipFill>
            <a:blip r:embed="rId2"/>
            <a:stretch>
              <a:fillRect/>
            </a:stretch>
          </p:blipFill>
          <p:spPr>
            <a:xfrm>
              <a:off x="15989246" y="26839314"/>
              <a:ext cx="3439005" cy="3643821"/>
            </a:xfrm>
            <a:prstGeom prst="rect">
              <a:avLst/>
            </a:prstGeom>
          </p:spPr>
        </p:pic>
        <p:pic>
          <p:nvPicPr>
            <p:cNvPr id="9" name="図 8">
              <a:extLst>
                <a:ext uri="{FF2B5EF4-FFF2-40B4-BE49-F238E27FC236}">
                  <a16:creationId xmlns:a16="http://schemas.microsoft.com/office/drawing/2014/main" id="{1D3CAF00-0EE6-6B7D-F2BD-52F834F5AEEF}"/>
                </a:ext>
              </a:extLst>
            </p:cNvPr>
            <p:cNvPicPr>
              <a:picLocks noChangeAspect="1"/>
            </p:cNvPicPr>
            <p:nvPr/>
          </p:nvPicPr>
          <p:blipFill>
            <a:blip r:embed="rId3"/>
            <a:stretch>
              <a:fillRect/>
            </a:stretch>
          </p:blipFill>
          <p:spPr>
            <a:xfrm>
              <a:off x="15989246" y="30239779"/>
              <a:ext cx="3468459" cy="2551621"/>
            </a:xfrm>
            <a:prstGeom prst="rect">
              <a:avLst/>
            </a:prstGeom>
          </p:spPr>
        </p:pic>
      </p:grpSp>
      <p:pic>
        <p:nvPicPr>
          <p:cNvPr id="11" name="Picture 8" descr="illustration">
            <a:extLst>
              <a:ext uri="{FF2B5EF4-FFF2-40B4-BE49-F238E27FC236}">
                <a16:creationId xmlns:a16="http://schemas.microsoft.com/office/drawing/2014/main" id="{56D5D13B-4F4A-59A7-36E3-BDFD246D56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60" y="1124744"/>
            <a:ext cx="2016224" cy="2016224"/>
          </a:xfrm>
          <a:prstGeom prst="rect">
            <a:avLst/>
          </a:prstGeom>
          <a:noFill/>
          <a:extLst>
            <a:ext uri="{909E8E84-426E-40DD-AFC4-6F175D3DCCD1}">
              <a14:hiddenFill xmlns:a14="http://schemas.microsoft.com/office/drawing/2010/main">
                <a:solidFill>
                  <a:srgbClr val="FFFFFF"/>
                </a:solidFill>
              </a14:hiddenFill>
            </a:ext>
          </a:extLst>
        </p:spPr>
      </p:pic>
      <p:sp>
        <p:nvSpPr>
          <p:cNvPr id="16" name="テキスト ボックス 15">
            <a:extLst>
              <a:ext uri="{FF2B5EF4-FFF2-40B4-BE49-F238E27FC236}">
                <a16:creationId xmlns:a16="http://schemas.microsoft.com/office/drawing/2014/main" id="{872D90AB-97DC-FEB0-BFAB-0CE84C59061A}"/>
              </a:ext>
            </a:extLst>
          </p:cNvPr>
          <p:cNvSpPr txBox="1"/>
          <p:nvPr/>
        </p:nvSpPr>
        <p:spPr>
          <a:xfrm>
            <a:off x="5543996" y="2475057"/>
            <a:ext cx="6437564" cy="1569660"/>
          </a:xfrm>
          <a:prstGeom prst="rect">
            <a:avLst/>
          </a:prstGeom>
          <a:noFill/>
        </p:spPr>
        <p:txBody>
          <a:bodyPr wrap="square">
            <a:spAutoFit/>
          </a:bodyPr>
          <a:lstStyle/>
          <a:p>
            <a:pPr>
              <a:buNone/>
            </a:pPr>
            <a:r>
              <a:rPr lang="en-US" altLang="ja-JP" b="1" dirty="0" err="1"/>
              <a:t>pharmaverse</a:t>
            </a:r>
            <a:r>
              <a:rPr lang="en-US" altLang="ja-JP" b="1" dirty="0"/>
              <a:t> </a:t>
            </a:r>
            <a:r>
              <a:rPr lang="ja-JP" altLang="en-US" b="1" dirty="0"/>
              <a:t>は </a:t>
            </a:r>
            <a:r>
              <a:rPr lang="en-US" altLang="ja-JP" b="1" dirty="0" err="1"/>
              <a:t>tidyverse</a:t>
            </a:r>
            <a:r>
              <a:rPr lang="ja-JP" altLang="en-US" b="1" dirty="0"/>
              <a:t>を下敷きにしている</a:t>
            </a:r>
            <a:endParaRPr lang="en-US" altLang="ja-JP" b="1" dirty="0"/>
          </a:p>
          <a:p>
            <a:pPr>
              <a:buFont typeface="Arial" panose="020B0604020202020204" pitchFamily="34" charset="0"/>
              <a:buChar char="•"/>
            </a:pPr>
            <a:r>
              <a:rPr lang="ja-JP" altLang="en-US" dirty="0"/>
              <a:t> </a:t>
            </a:r>
            <a:r>
              <a:rPr lang="en-US" altLang="ja-JP" dirty="0" err="1"/>
              <a:t>tidyverse</a:t>
            </a:r>
            <a:r>
              <a:rPr lang="ja-JP" altLang="en-US" dirty="0"/>
              <a:t>の思想を借りている</a:t>
            </a:r>
          </a:p>
          <a:p>
            <a:pPr>
              <a:buFont typeface="Arial" panose="020B0604020202020204" pitchFamily="34" charset="0"/>
              <a:buChar char="•"/>
            </a:pPr>
            <a:r>
              <a:rPr lang="en-US" altLang="ja-JP" dirty="0"/>
              <a:t> </a:t>
            </a:r>
            <a:r>
              <a:rPr lang="en-US" altLang="ja-JP" dirty="0" err="1"/>
              <a:t>tidyverse</a:t>
            </a:r>
            <a:r>
              <a:rPr lang="ja-JP" altLang="en-US" dirty="0"/>
              <a:t>上に構築されている</a:t>
            </a:r>
          </a:p>
          <a:p>
            <a:pPr>
              <a:buFont typeface="Arial" panose="020B0604020202020204" pitchFamily="34" charset="0"/>
              <a:buChar char="•"/>
            </a:pPr>
            <a:r>
              <a:rPr lang="en-US" altLang="ja-JP" dirty="0"/>
              <a:t> </a:t>
            </a:r>
            <a:r>
              <a:rPr lang="en-US" altLang="ja-JP" dirty="0" err="1"/>
              <a:t>tidyverse</a:t>
            </a:r>
            <a:r>
              <a:rPr lang="ja-JP" altLang="en-US" dirty="0"/>
              <a:t>の設計を踏襲している</a:t>
            </a:r>
          </a:p>
        </p:txBody>
      </p:sp>
      <p:sp>
        <p:nvSpPr>
          <p:cNvPr id="19" name="テキスト ボックス 18">
            <a:extLst>
              <a:ext uri="{FF2B5EF4-FFF2-40B4-BE49-F238E27FC236}">
                <a16:creationId xmlns:a16="http://schemas.microsoft.com/office/drawing/2014/main" id="{5ED47FC3-F489-4047-200F-A1102677D1CD}"/>
              </a:ext>
            </a:extLst>
          </p:cNvPr>
          <p:cNvSpPr txBox="1"/>
          <p:nvPr/>
        </p:nvSpPr>
        <p:spPr>
          <a:xfrm>
            <a:off x="5552132" y="4326195"/>
            <a:ext cx="6096000" cy="830997"/>
          </a:xfrm>
          <a:prstGeom prst="rect">
            <a:avLst/>
          </a:prstGeom>
          <a:noFill/>
        </p:spPr>
        <p:txBody>
          <a:bodyPr wrap="square">
            <a:spAutoFit/>
          </a:bodyPr>
          <a:lstStyle/>
          <a:p>
            <a:r>
              <a:rPr lang="ja-JP" altLang="en-US" b="1" dirty="0"/>
              <a:t>tidyverse = 汎用データ分析</a:t>
            </a:r>
            <a:endParaRPr lang="en-US" altLang="ja-JP" b="1" dirty="0"/>
          </a:p>
          <a:p>
            <a:r>
              <a:rPr lang="ja-JP" altLang="en-US" b="1" dirty="0"/>
              <a:t>pharmaverse = 臨床試験専用拡張</a:t>
            </a:r>
          </a:p>
        </p:txBody>
      </p:sp>
      <p:sp>
        <p:nvSpPr>
          <p:cNvPr id="21" name="テキスト ボックス 20">
            <a:extLst>
              <a:ext uri="{FF2B5EF4-FFF2-40B4-BE49-F238E27FC236}">
                <a16:creationId xmlns:a16="http://schemas.microsoft.com/office/drawing/2014/main" id="{5395E0E9-03A4-1188-35A9-FEACF5FF21F8}"/>
              </a:ext>
            </a:extLst>
          </p:cNvPr>
          <p:cNvSpPr txBox="1"/>
          <p:nvPr/>
        </p:nvSpPr>
        <p:spPr>
          <a:xfrm>
            <a:off x="5520308" y="1053018"/>
            <a:ext cx="6096000" cy="1200329"/>
          </a:xfrm>
          <a:prstGeom prst="rect">
            <a:avLst/>
          </a:prstGeom>
          <a:noFill/>
        </p:spPr>
        <p:txBody>
          <a:bodyPr wrap="square">
            <a:spAutoFit/>
          </a:bodyPr>
          <a:lstStyle/>
          <a:p>
            <a:r>
              <a:rPr lang="ja-JP" altLang="en-US" dirty="0"/>
              <a:t>臨床試験の</a:t>
            </a:r>
            <a:r>
              <a:rPr lang="en-US" altLang="ja-JP" dirty="0"/>
              <a:t>OSS</a:t>
            </a:r>
            <a:r>
              <a:rPr lang="ja-JP" altLang="en-US" dirty="0"/>
              <a:t>エコシステム</a:t>
            </a:r>
            <a:endParaRPr lang="en-US" altLang="ja-JP" dirty="0"/>
          </a:p>
          <a:p>
            <a:r>
              <a:rPr lang="en-US" altLang="ja-JP" dirty="0" err="1"/>
              <a:t>pharmaverse</a:t>
            </a:r>
            <a:r>
              <a:rPr lang="ja-JP" altLang="en-US" dirty="0"/>
              <a:t>は名前からして</a:t>
            </a:r>
            <a:r>
              <a:rPr lang="en-US" altLang="ja-JP" dirty="0" err="1"/>
              <a:t>tidyverse</a:t>
            </a:r>
            <a:r>
              <a:rPr lang="ja-JP" altLang="en-US" dirty="0"/>
              <a:t>を</a:t>
            </a:r>
            <a:endParaRPr lang="en-US" altLang="ja-JP" dirty="0"/>
          </a:p>
          <a:p>
            <a:r>
              <a:rPr lang="ja-JP" altLang="en-US" dirty="0"/>
              <a:t>パクっている！</a:t>
            </a:r>
          </a:p>
        </p:txBody>
      </p:sp>
      <p:sp>
        <p:nvSpPr>
          <p:cNvPr id="22" name="タイトル 1">
            <a:extLst>
              <a:ext uri="{FF2B5EF4-FFF2-40B4-BE49-F238E27FC236}">
                <a16:creationId xmlns:a16="http://schemas.microsoft.com/office/drawing/2014/main" id="{BFB3B017-99CD-FB55-E5CF-A136E9CD2381}"/>
              </a:ext>
            </a:extLst>
          </p:cNvPr>
          <p:cNvSpPr>
            <a:spLocks noGrp="1"/>
          </p:cNvSpPr>
          <p:nvPr>
            <p:ph type="title"/>
          </p:nvPr>
        </p:nvSpPr>
        <p:spPr>
          <a:xfrm>
            <a:off x="263352" y="332656"/>
            <a:ext cx="10664438" cy="533400"/>
          </a:xfrm>
        </p:spPr>
        <p:txBody>
          <a:bodyPr/>
          <a:lstStyle/>
          <a:p>
            <a:r>
              <a:rPr kumimoji="1" lang="en-US" altLang="ja-JP" i="0" dirty="0" err="1"/>
              <a:t>pharmaverse</a:t>
            </a:r>
            <a:endParaRPr kumimoji="1" lang="ja-JP" altLang="en-US" i="0" dirty="0"/>
          </a:p>
        </p:txBody>
      </p:sp>
      <p:sp>
        <p:nvSpPr>
          <p:cNvPr id="24" name="テキスト ボックス 23">
            <a:extLst>
              <a:ext uri="{FF2B5EF4-FFF2-40B4-BE49-F238E27FC236}">
                <a16:creationId xmlns:a16="http://schemas.microsoft.com/office/drawing/2014/main" id="{32FBBFB5-94FC-B502-559A-8A89F4FD3F26}"/>
              </a:ext>
            </a:extLst>
          </p:cNvPr>
          <p:cNvSpPr txBox="1"/>
          <p:nvPr/>
        </p:nvSpPr>
        <p:spPr>
          <a:xfrm>
            <a:off x="0" y="3390071"/>
            <a:ext cx="6096000" cy="338554"/>
          </a:xfrm>
          <a:prstGeom prst="rect">
            <a:avLst/>
          </a:prstGeom>
          <a:noFill/>
        </p:spPr>
        <p:txBody>
          <a:bodyPr wrap="square">
            <a:spAutoFit/>
          </a:bodyPr>
          <a:lstStyle/>
          <a:p>
            <a:r>
              <a:rPr lang="ja-JP" altLang="en-US" sz="1600" dirty="0">
                <a:hlinkClick r:id="rId5"/>
              </a:rPr>
              <a:t>https://pharmaverse.org/</a:t>
            </a:r>
            <a:endParaRPr lang="ja-JP" altLang="en-US" sz="1600" dirty="0"/>
          </a:p>
        </p:txBody>
      </p:sp>
    </p:spTree>
    <p:extLst>
      <p:ext uri="{BB962C8B-B14F-4D97-AF65-F5344CB8AC3E}">
        <p14:creationId xmlns:p14="http://schemas.microsoft.com/office/powerpoint/2010/main" val="1711796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9DF20B0-69E2-8D1B-9E89-C1B680076D42}"/>
              </a:ext>
            </a:extLst>
          </p:cNvPr>
          <p:cNvSpPr>
            <a:spLocks noGrp="1"/>
          </p:cNvSpPr>
          <p:nvPr>
            <p:ph type="sldNum" sz="quarter" idx="11"/>
          </p:nvPr>
        </p:nvSpPr>
        <p:spPr/>
        <p:txBody>
          <a:bodyPr/>
          <a:lstStyle/>
          <a:p>
            <a:fld id="{23B20E4E-3F95-4221-AFE5-FD1FD9CC3448}" type="slidenum">
              <a:rPr lang="en-US" altLang="ja-JP" smtClean="0"/>
              <a:pPr/>
              <a:t>16</a:t>
            </a:fld>
            <a:endParaRPr lang="en-US" altLang="ja-JP"/>
          </a:p>
        </p:txBody>
      </p:sp>
      <p:sp>
        <p:nvSpPr>
          <p:cNvPr id="5" name="タイトル 1">
            <a:extLst>
              <a:ext uri="{FF2B5EF4-FFF2-40B4-BE49-F238E27FC236}">
                <a16:creationId xmlns:a16="http://schemas.microsoft.com/office/drawing/2014/main" id="{99A55D98-374B-B744-C4EC-52DEF1DBFF8F}"/>
              </a:ext>
            </a:extLst>
          </p:cNvPr>
          <p:cNvSpPr>
            <a:spLocks noGrp="1"/>
          </p:cNvSpPr>
          <p:nvPr>
            <p:ph type="title"/>
          </p:nvPr>
        </p:nvSpPr>
        <p:spPr>
          <a:xfrm>
            <a:off x="263352" y="332656"/>
            <a:ext cx="10664438" cy="533400"/>
          </a:xfrm>
        </p:spPr>
        <p:txBody>
          <a:bodyPr/>
          <a:lstStyle/>
          <a:p>
            <a:r>
              <a:rPr kumimoji="1" lang="en-US" altLang="ja-JP" i="0" dirty="0" err="1"/>
              <a:t>tidyverse</a:t>
            </a:r>
            <a:r>
              <a:rPr kumimoji="1" lang="ja-JP" altLang="en-US" i="0" dirty="0"/>
              <a:t>と臨床試験業務への個人的な所感　</a:t>
            </a:r>
          </a:p>
        </p:txBody>
      </p:sp>
      <p:sp>
        <p:nvSpPr>
          <p:cNvPr id="6" name="テキスト ボックス 5">
            <a:extLst>
              <a:ext uri="{FF2B5EF4-FFF2-40B4-BE49-F238E27FC236}">
                <a16:creationId xmlns:a16="http://schemas.microsoft.com/office/drawing/2014/main" id="{B1DB102B-76E5-6549-0942-B094A4E17499}"/>
              </a:ext>
            </a:extLst>
          </p:cNvPr>
          <p:cNvSpPr txBox="1"/>
          <p:nvPr/>
        </p:nvSpPr>
        <p:spPr>
          <a:xfrm>
            <a:off x="273844" y="1268760"/>
            <a:ext cx="10934724" cy="5262979"/>
          </a:xfrm>
          <a:prstGeom prst="rect">
            <a:avLst/>
          </a:prstGeom>
          <a:noFill/>
        </p:spPr>
        <p:txBody>
          <a:bodyPr wrap="square">
            <a:spAutoFit/>
          </a:bodyPr>
          <a:lstStyle/>
          <a:p>
            <a:r>
              <a:rPr lang="ja-JP" altLang="en-US" dirty="0"/>
              <a:t>統制のとれたデータハンドリングのワークフローとして</a:t>
            </a:r>
            <a:r>
              <a:rPr lang="en-US" altLang="ja-JP" dirty="0" err="1"/>
              <a:t>tidyverse</a:t>
            </a:r>
            <a:r>
              <a:rPr lang="ja-JP" altLang="en-US" dirty="0"/>
              <a:t>を利用することは比較的自然で，世間的にも多分一般的といっていいはず．</a:t>
            </a:r>
            <a:endParaRPr lang="en-US" altLang="ja-JP" dirty="0"/>
          </a:p>
          <a:p>
            <a:endParaRPr lang="en-US" altLang="ja-JP" dirty="0"/>
          </a:p>
          <a:p>
            <a:r>
              <a:rPr lang="ja-JP" altLang="en-US" dirty="0"/>
              <a:t>本日午前の舟尾さんのハンズオンで</a:t>
            </a:r>
            <a:r>
              <a:rPr lang="en-US" altLang="ja-JP" dirty="0" err="1"/>
              <a:t>Base.R</a:t>
            </a:r>
            <a:r>
              <a:rPr lang="ja-JP" altLang="en-US" dirty="0"/>
              <a:t>の基礎を身に着けたうえで，次に手をだしていくのであれば　</a:t>
            </a:r>
            <a:r>
              <a:rPr lang="en-US" altLang="ja-JP" dirty="0" err="1"/>
              <a:t>tidyverse</a:t>
            </a:r>
            <a:r>
              <a:rPr lang="ja-JP" altLang="en-US" dirty="0"/>
              <a:t>に触れてみるといいかも</a:t>
            </a:r>
            <a:endParaRPr lang="en-US" altLang="ja-JP" dirty="0"/>
          </a:p>
          <a:p>
            <a:endParaRPr lang="en-US" altLang="ja-JP" dirty="0"/>
          </a:p>
          <a:p>
            <a:r>
              <a:rPr lang="en-US" altLang="ja-JP" dirty="0" err="1"/>
              <a:t>pharmaverse</a:t>
            </a:r>
            <a:r>
              <a:rPr lang="ja-JP" altLang="en-US" dirty="0"/>
              <a:t>等も明らかに</a:t>
            </a:r>
            <a:r>
              <a:rPr lang="en-US" altLang="ja-JP" dirty="0" err="1"/>
              <a:t>tidyverse</a:t>
            </a:r>
            <a:r>
              <a:rPr lang="ja-JP" altLang="en-US" dirty="0"/>
              <a:t>を下敷きにしているので，臨床試験業務に</a:t>
            </a:r>
            <a:r>
              <a:rPr lang="en-US" altLang="ja-JP" dirty="0"/>
              <a:t>R</a:t>
            </a:r>
            <a:r>
              <a:rPr lang="ja-JP" altLang="en-US" dirty="0"/>
              <a:t>をとりいれ，様々なパッケージを運用していくうえでも</a:t>
            </a:r>
            <a:r>
              <a:rPr lang="en-US" altLang="ja-JP" dirty="0" err="1"/>
              <a:t>tidyverse</a:t>
            </a:r>
            <a:r>
              <a:rPr lang="ja-JP" altLang="en-US" dirty="0"/>
              <a:t>は結構基礎知識になるはず</a:t>
            </a:r>
            <a:endParaRPr lang="en-US" altLang="ja-JP" dirty="0"/>
          </a:p>
          <a:p>
            <a:endParaRPr lang="en-US" altLang="ja-JP" dirty="0"/>
          </a:p>
          <a:p>
            <a:r>
              <a:rPr lang="en-US" altLang="ja-JP" dirty="0" err="1"/>
              <a:t>tidyverse</a:t>
            </a:r>
            <a:r>
              <a:rPr lang="ja-JP" altLang="en-US" dirty="0"/>
              <a:t>の根底にある</a:t>
            </a:r>
            <a:r>
              <a:rPr lang="en-US" altLang="ja-JP" dirty="0"/>
              <a:t>tidy</a:t>
            </a:r>
            <a:r>
              <a:rPr lang="ja-JP" altLang="en-US" dirty="0"/>
              <a:t>なデータを起点にして，わかりやすい処理をつなぐという思想は</a:t>
            </a:r>
            <a:r>
              <a:rPr lang="en-US" altLang="ja-JP" dirty="0"/>
              <a:t>CDISC</a:t>
            </a:r>
            <a:r>
              <a:rPr lang="ja-JP" altLang="en-US" dirty="0"/>
              <a:t>業務や，トレーサビリティを重視する臨床試験プログラミングとかなり相性がよい</a:t>
            </a:r>
            <a:endParaRPr lang="en-US" altLang="ja-JP" dirty="0"/>
          </a:p>
          <a:p>
            <a:endParaRPr lang="ja-JP" altLang="en-US" dirty="0"/>
          </a:p>
        </p:txBody>
      </p:sp>
    </p:spTree>
    <p:extLst>
      <p:ext uri="{BB962C8B-B14F-4D97-AF65-F5344CB8AC3E}">
        <p14:creationId xmlns:p14="http://schemas.microsoft.com/office/powerpoint/2010/main" val="2166472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61D7C-4565-8BD2-0B3E-79496865A626}"/>
              </a:ext>
            </a:extLst>
          </p:cNvPr>
          <p:cNvSpPr>
            <a:spLocks noGrp="1"/>
          </p:cNvSpPr>
          <p:nvPr>
            <p:ph type="title"/>
          </p:nvPr>
        </p:nvSpPr>
        <p:spPr/>
        <p:txBody>
          <a:bodyPr/>
          <a:lstStyle/>
          <a:p>
            <a:r>
              <a:rPr kumimoji="1" lang="en-US" altLang="ja-JP" i="0" dirty="0"/>
              <a:t>SAS</a:t>
            </a:r>
            <a:r>
              <a:rPr kumimoji="1" lang="ja-JP" altLang="en-US" i="0" dirty="0"/>
              <a:t>プログラマの</a:t>
            </a:r>
            <a:r>
              <a:rPr kumimoji="1" lang="en-US" altLang="ja-JP" i="0" dirty="0"/>
              <a:t>SAS</a:t>
            </a:r>
            <a:r>
              <a:rPr kumimoji="1" lang="ja-JP" altLang="en-US" i="0" dirty="0"/>
              <a:t>脳には</a:t>
            </a:r>
            <a:r>
              <a:rPr kumimoji="1" lang="en-US" altLang="ja-JP" i="0" dirty="0" err="1"/>
              <a:t>Base.R</a:t>
            </a:r>
            <a:r>
              <a:rPr kumimoji="1" lang="ja-JP" altLang="en-US" i="0" dirty="0"/>
              <a:t>より向いてそう</a:t>
            </a:r>
          </a:p>
        </p:txBody>
      </p:sp>
      <p:sp>
        <p:nvSpPr>
          <p:cNvPr id="4" name="スライド番号プレースホルダー 3">
            <a:extLst>
              <a:ext uri="{FF2B5EF4-FFF2-40B4-BE49-F238E27FC236}">
                <a16:creationId xmlns:a16="http://schemas.microsoft.com/office/drawing/2014/main" id="{B07A2132-DE40-51F4-C0A1-5CF31E2773FB}"/>
              </a:ext>
            </a:extLst>
          </p:cNvPr>
          <p:cNvSpPr>
            <a:spLocks noGrp="1"/>
          </p:cNvSpPr>
          <p:nvPr>
            <p:ph type="sldNum" sz="quarter" idx="11"/>
          </p:nvPr>
        </p:nvSpPr>
        <p:spPr/>
        <p:txBody>
          <a:bodyPr/>
          <a:lstStyle/>
          <a:p>
            <a:fld id="{23B20E4E-3F95-4221-AFE5-FD1FD9CC3448}" type="slidenum">
              <a:rPr lang="en-US" altLang="ja-JP" smtClean="0"/>
              <a:pPr/>
              <a:t>17</a:t>
            </a:fld>
            <a:endParaRPr lang="en-US" altLang="ja-JP"/>
          </a:p>
        </p:txBody>
      </p:sp>
      <p:sp>
        <p:nvSpPr>
          <p:cNvPr id="6" name="テキスト ボックス 5">
            <a:extLst>
              <a:ext uri="{FF2B5EF4-FFF2-40B4-BE49-F238E27FC236}">
                <a16:creationId xmlns:a16="http://schemas.microsoft.com/office/drawing/2014/main" id="{04655C18-167A-BB96-6107-7270BBFA6972}"/>
              </a:ext>
            </a:extLst>
          </p:cNvPr>
          <p:cNvSpPr txBox="1"/>
          <p:nvPr/>
        </p:nvSpPr>
        <p:spPr>
          <a:xfrm>
            <a:off x="10468" y="2420888"/>
            <a:ext cx="6096000" cy="3785652"/>
          </a:xfrm>
          <a:prstGeom prst="rect">
            <a:avLst/>
          </a:prstGeom>
          <a:noFill/>
          <a:ln>
            <a:solidFill>
              <a:schemeClr val="accent1">
                <a:shade val="15000"/>
              </a:schemeClr>
            </a:solidFill>
          </a:ln>
        </p:spPr>
        <p:txBody>
          <a:bodyPr wrap="square">
            <a:spAutoFit/>
          </a:bodyPr>
          <a:lstStyle/>
          <a:p>
            <a:r>
              <a:rPr lang="en-US" altLang="ja-JP" sz="2400" dirty="0"/>
              <a:t>out1 &lt;- </a:t>
            </a:r>
          </a:p>
          <a:p>
            <a:r>
              <a:rPr lang="ja-JP" altLang="en-US" sz="2400" dirty="0"/>
              <a:t>  df </a:t>
            </a:r>
            <a:endParaRPr lang="en-US" altLang="ja-JP" sz="2400" dirty="0"/>
          </a:p>
          <a:p>
            <a:r>
              <a:rPr lang="en-US" altLang="ja-JP" sz="2400" dirty="0"/>
              <a:t>  </a:t>
            </a:r>
            <a:r>
              <a:rPr lang="ja-JP" altLang="en-US" sz="2400" dirty="0"/>
              <a:t>|&gt;</a:t>
            </a:r>
          </a:p>
          <a:p>
            <a:r>
              <a:rPr lang="ja-JP" altLang="en-US" sz="2400" dirty="0"/>
              <a:t>  mutate( BMI = WEIGHT / (HEIGHT/100)^2</a:t>
            </a:r>
            <a:r>
              <a:rPr lang="en-US" altLang="ja-JP" sz="2400" dirty="0"/>
              <a:t>)</a:t>
            </a:r>
            <a:endParaRPr lang="ja-JP" altLang="en-US" sz="2400" dirty="0"/>
          </a:p>
          <a:p>
            <a:r>
              <a:rPr lang="ja-JP" altLang="en-US" sz="2400" dirty="0"/>
              <a:t>  |&gt;</a:t>
            </a:r>
          </a:p>
          <a:p>
            <a:r>
              <a:rPr lang="ja-JP" altLang="en-US" sz="2400" dirty="0"/>
              <a:t>  filter(BMI &gt;= 2</a:t>
            </a:r>
            <a:r>
              <a:rPr lang="en-US" altLang="ja-JP" sz="2400" dirty="0"/>
              <a:t>0</a:t>
            </a:r>
            <a:r>
              <a:rPr lang="ja-JP" altLang="en-US" sz="2400" dirty="0"/>
              <a:t>)</a:t>
            </a:r>
            <a:endParaRPr lang="en-US" altLang="ja-JP" sz="2400" dirty="0"/>
          </a:p>
          <a:p>
            <a:r>
              <a:rPr lang="en-US" altLang="ja-JP" sz="2400" dirty="0"/>
              <a:t>  </a:t>
            </a:r>
            <a:r>
              <a:rPr lang="ja-JP" altLang="en-US" sz="2400" dirty="0"/>
              <a:t>|&gt;</a:t>
            </a:r>
            <a:endParaRPr lang="en-US" altLang="ja-JP" sz="2400" dirty="0"/>
          </a:p>
          <a:p>
            <a:r>
              <a:rPr lang="ja-JP" altLang="en-US" dirty="0"/>
              <a:t>  select(-WEIGHT, -HEIGHT)</a:t>
            </a:r>
            <a:endParaRPr lang="ja-JP" altLang="en-US" sz="2400" dirty="0"/>
          </a:p>
          <a:p>
            <a:r>
              <a:rPr lang="ja-JP" altLang="en-US" sz="2400" dirty="0"/>
              <a:t>  |&gt;</a:t>
            </a:r>
          </a:p>
          <a:p>
            <a:r>
              <a:rPr lang="ja-JP" altLang="en-US" sz="2400" dirty="0"/>
              <a:t>  </a:t>
            </a:r>
            <a:r>
              <a:rPr lang="ja-JP" altLang="en-US" dirty="0"/>
              <a:t>arrange(SEX, BMI)</a:t>
            </a:r>
            <a:endParaRPr lang="en-US" altLang="ja-JP" dirty="0"/>
          </a:p>
        </p:txBody>
      </p:sp>
      <p:sp>
        <p:nvSpPr>
          <p:cNvPr id="7" name="テキスト ボックス 6">
            <a:extLst>
              <a:ext uri="{FF2B5EF4-FFF2-40B4-BE49-F238E27FC236}">
                <a16:creationId xmlns:a16="http://schemas.microsoft.com/office/drawing/2014/main" id="{9B73B9A4-B7AD-488E-D892-73970B2BE2E4}"/>
              </a:ext>
            </a:extLst>
          </p:cNvPr>
          <p:cNvSpPr txBox="1"/>
          <p:nvPr/>
        </p:nvSpPr>
        <p:spPr>
          <a:xfrm>
            <a:off x="6384032" y="2420888"/>
            <a:ext cx="5583738" cy="3785652"/>
          </a:xfrm>
          <a:prstGeom prst="rect">
            <a:avLst/>
          </a:prstGeom>
          <a:noFill/>
          <a:ln>
            <a:solidFill>
              <a:schemeClr val="accent1">
                <a:shade val="15000"/>
              </a:schemeClr>
            </a:solidFill>
          </a:ln>
        </p:spPr>
        <p:txBody>
          <a:bodyPr wrap="square">
            <a:spAutoFit/>
          </a:bodyPr>
          <a:lstStyle/>
          <a:p>
            <a:r>
              <a:rPr lang="en-US" altLang="ja-JP" dirty="0"/>
              <a:t>data out1;</a:t>
            </a:r>
          </a:p>
          <a:p>
            <a:r>
              <a:rPr lang="en-US" altLang="ja-JP" dirty="0"/>
              <a:t> set </a:t>
            </a:r>
            <a:r>
              <a:rPr lang="en-US" altLang="ja-JP" dirty="0" err="1"/>
              <a:t>df</a:t>
            </a:r>
            <a:r>
              <a:rPr lang="en-US" altLang="ja-JP" dirty="0"/>
              <a:t>;</a:t>
            </a:r>
          </a:p>
          <a:p>
            <a:r>
              <a:rPr lang="en-US" altLang="ja-JP" dirty="0"/>
              <a:t> BMI = </a:t>
            </a:r>
            <a:r>
              <a:rPr lang="ja-JP" altLang="en-US" dirty="0"/>
              <a:t>WEIGHT / (HEIGHT/100) </a:t>
            </a:r>
            <a:r>
              <a:rPr lang="en-US" altLang="ja-JP" dirty="0"/>
              <a:t>** </a:t>
            </a:r>
            <a:r>
              <a:rPr lang="ja-JP" altLang="en-US" dirty="0"/>
              <a:t>2</a:t>
            </a:r>
            <a:r>
              <a:rPr lang="en-US" altLang="ja-JP" dirty="0"/>
              <a:t>;</a:t>
            </a:r>
          </a:p>
          <a:p>
            <a:r>
              <a:rPr lang="en-US" altLang="ja-JP" dirty="0"/>
              <a:t> if 20 &lt;= BMI;</a:t>
            </a:r>
          </a:p>
          <a:p>
            <a:r>
              <a:rPr lang="en-US" altLang="ja-JP" dirty="0"/>
              <a:t> drop WEIGHT HEIGHT;</a:t>
            </a:r>
          </a:p>
          <a:p>
            <a:r>
              <a:rPr lang="en-US" altLang="ja-JP" dirty="0"/>
              <a:t>run;</a:t>
            </a:r>
          </a:p>
          <a:p>
            <a:endParaRPr lang="en-US" altLang="ja-JP" dirty="0"/>
          </a:p>
          <a:p>
            <a:r>
              <a:rPr lang="en-US" altLang="ja-JP" dirty="0"/>
              <a:t>proc sort data = out1;</a:t>
            </a:r>
          </a:p>
          <a:p>
            <a:r>
              <a:rPr lang="en-US" altLang="ja-JP" dirty="0"/>
              <a:t> by SEX BMI;</a:t>
            </a:r>
          </a:p>
          <a:p>
            <a:r>
              <a:rPr lang="en-US" altLang="ja-JP" dirty="0"/>
              <a:t>run;</a:t>
            </a:r>
          </a:p>
        </p:txBody>
      </p:sp>
      <p:pic>
        <p:nvPicPr>
          <p:cNvPr id="10" name="図 9" descr="ロゴ, 会社名&#10;&#10;AI 生成コンテンツは誤りを含む可能性があります。">
            <a:extLst>
              <a:ext uri="{FF2B5EF4-FFF2-40B4-BE49-F238E27FC236}">
                <a16:creationId xmlns:a16="http://schemas.microsoft.com/office/drawing/2014/main" id="{E71A2BE3-133C-F5C7-CB65-703D2457460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16309" y="2441600"/>
            <a:ext cx="1448433" cy="720080"/>
          </a:xfrm>
          <a:prstGeom prst="rect">
            <a:avLst/>
          </a:prstGeom>
        </p:spPr>
      </p:pic>
      <p:sp>
        <p:nvSpPr>
          <p:cNvPr id="12" name="テキスト ボックス 11">
            <a:extLst>
              <a:ext uri="{FF2B5EF4-FFF2-40B4-BE49-F238E27FC236}">
                <a16:creationId xmlns:a16="http://schemas.microsoft.com/office/drawing/2014/main" id="{0EB40108-E981-1B8C-5E83-23907975EB55}"/>
              </a:ext>
            </a:extLst>
          </p:cNvPr>
          <p:cNvSpPr txBox="1"/>
          <p:nvPr/>
        </p:nvSpPr>
        <p:spPr>
          <a:xfrm>
            <a:off x="119336" y="1139214"/>
            <a:ext cx="11640566" cy="1200329"/>
          </a:xfrm>
          <a:prstGeom prst="rect">
            <a:avLst/>
          </a:prstGeom>
          <a:noFill/>
        </p:spPr>
        <p:txBody>
          <a:bodyPr wrap="square">
            <a:spAutoFit/>
          </a:bodyPr>
          <a:lstStyle/>
          <a:p>
            <a:r>
              <a:rPr lang="en-US" altLang="ja-JP" dirty="0" err="1"/>
              <a:t>tidyverse</a:t>
            </a:r>
            <a:r>
              <a:rPr lang="ja-JP" altLang="en-US" dirty="0"/>
              <a:t>スタイルでハンドリングすると処理をパイプでつないでいくと</a:t>
            </a:r>
            <a:endParaRPr lang="en-US" altLang="ja-JP" dirty="0"/>
          </a:p>
          <a:p>
            <a:r>
              <a:rPr lang="ja-JP" altLang="en-US" dirty="0"/>
              <a:t>手続き型っぽくなるので，</a:t>
            </a:r>
            <a:r>
              <a:rPr lang="en-US" altLang="ja-JP" dirty="0"/>
              <a:t>SAS</a:t>
            </a:r>
            <a:r>
              <a:rPr lang="ja-JP" altLang="en-US" dirty="0"/>
              <a:t>のデータステップ，プロシジャステップと似る．</a:t>
            </a:r>
            <a:endParaRPr lang="en-US" altLang="ja-JP" dirty="0"/>
          </a:p>
          <a:p>
            <a:r>
              <a:rPr lang="ja-JP" altLang="en-US" dirty="0"/>
              <a:t>今まで</a:t>
            </a:r>
            <a:r>
              <a:rPr lang="en-US" altLang="ja-JP" dirty="0"/>
              <a:t>R</a:t>
            </a:r>
            <a:r>
              <a:rPr lang="ja-JP" altLang="en-US" dirty="0"/>
              <a:t>に挫折してきた人にも案外すんなる刺さるかも？？</a:t>
            </a:r>
          </a:p>
        </p:txBody>
      </p:sp>
      <p:pic>
        <p:nvPicPr>
          <p:cNvPr id="13" name="Picture 2" descr="dplyr: 高速data.frame処理 - Heavy Watal">
            <a:extLst>
              <a:ext uri="{FF2B5EF4-FFF2-40B4-BE49-F238E27FC236}">
                <a16:creationId xmlns:a16="http://schemas.microsoft.com/office/drawing/2014/main" id="{ADC031C1-F531-DD70-56D4-AA120C1FBEF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19002" y="2483892"/>
            <a:ext cx="819617" cy="945108"/>
          </a:xfrm>
          <a:prstGeom prst="rect">
            <a:avLst/>
          </a:prstGeom>
          <a:noFill/>
          <a:extLst>
            <a:ext uri="{909E8E84-426E-40DD-AFC4-6F175D3DCCD1}">
              <a14:hiddenFill xmlns:a14="http://schemas.microsoft.com/office/drawing/2010/main">
                <a:solidFill>
                  <a:srgbClr val="FFFFFF"/>
                </a:solidFill>
              </a14:hiddenFill>
            </a:ext>
          </a:extLst>
        </p:spPr>
      </p:pic>
      <p:sp>
        <p:nvSpPr>
          <p:cNvPr id="15" name="テキスト ボックス 14">
            <a:extLst>
              <a:ext uri="{FF2B5EF4-FFF2-40B4-BE49-F238E27FC236}">
                <a16:creationId xmlns:a16="http://schemas.microsoft.com/office/drawing/2014/main" id="{CE28234F-8FD7-A4DD-4C3A-7AF5CB7D3720}"/>
              </a:ext>
            </a:extLst>
          </p:cNvPr>
          <p:cNvSpPr txBox="1"/>
          <p:nvPr/>
        </p:nvSpPr>
        <p:spPr>
          <a:xfrm>
            <a:off x="4966707" y="6269544"/>
            <a:ext cx="6140450" cy="461665"/>
          </a:xfrm>
          <a:prstGeom prst="rect">
            <a:avLst/>
          </a:prstGeom>
          <a:noFill/>
        </p:spPr>
        <p:txBody>
          <a:bodyPr wrap="square">
            <a:spAutoFit/>
          </a:bodyPr>
          <a:lstStyle/>
          <a:p>
            <a:r>
              <a:rPr lang="ja-JP" altLang="en-US" b="1" dirty="0">
                <a:solidFill>
                  <a:srgbClr val="FF0000"/>
                </a:solidFill>
              </a:rPr>
              <a:t>どこか似ている</a:t>
            </a:r>
          </a:p>
        </p:txBody>
      </p:sp>
    </p:spTree>
    <p:extLst>
      <p:ext uri="{BB962C8B-B14F-4D97-AF65-F5344CB8AC3E}">
        <p14:creationId xmlns:p14="http://schemas.microsoft.com/office/powerpoint/2010/main" val="1542448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4857DBC3-BE8E-EE8F-1419-6F1BEA98296C}"/>
              </a:ext>
            </a:extLst>
          </p:cNvPr>
          <p:cNvSpPr>
            <a:spLocks noGrp="1"/>
          </p:cNvSpPr>
          <p:nvPr>
            <p:ph type="sldNum" sz="quarter" idx="11"/>
          </p:nvPr>
        </p:nvSpPr>
        <p:spPr/>
        <p:txBody>
          <a:bodyPr/>
          <a:lstStyle/>
          <a:p>
            <a:fld id="{23B20E4E-3F95-4221-AFE5-FD1FD9CC3448}" type="slidenum">
              <a:rPr lang="en-US" altLang="ja-JP" smtClean="0"/>
              <a:pPr/>
              <a:t>18</a:t>
            </a:fld>
            <a:endParaRPr lang="en-US" altLang="ja-JP"/>
          </a:p>
        </p:txBody>
      </p:sp>
      <p:sp>
        <p:nvSpPr>
          <p:cNvPr id="6" name="テキスト ボックス 5">
            <a:extLst>
              <a:ext uri="{FF2B5EF4-FFF2-40B4-BE49-F238E27FC236}">
                <a16:creationId xmlns:a16="http://schemas.microsoft.com/office/drawing/2014/main" id="{556738D3-6780-B9DD-C616-110869686FB9}"/>
              </a:ext>
            </a:extLst>
          </p:cNvPr>
          <p:cNvSpPr txBox="1"/>
          <p:nvPr/>
        </p:nvSpPr>
        <p:spPr>
          <a:xfrm>
            <a:off x="767408" y="2823518"/>
            <a:ext cx="10797334" cy="769441"/>
          </a:xfrm>
          <a:prstGeom prst="rect">
            <a:avLst/>
          </a:prstGeom>
          <a:noFill/>
        </p:spPr>
        <p:txBody>
          <a:bodyPr wrap="square">
            <a:spAutoFit/>
          </a:bodyPr>
          <a:lstStyle/>
          <a:p>
            <a:r>
              <a:rPr lang="ja-JP" altLang="en-US" sz="4400" dirty="0"/>
              <a:t>ご清聴ありがとうございました！！！</a:t>
            </a:r>
          </a:p>
        </p:txBody>
      </p:sp>
    </p:spTree>
    <p:extLst>
      <p:ext uri="{BB962C8B-B14F-4D97-AF65-F5344CB8AC3E}">
        <p14:creationId xmlns:p14="http://schemas.microsoft.com/office/powerpoint/2010/main" val="4184014872"/>
      </p:ext>
    </p:extLst>
  </p:cSld>
  <p:clrMapOvr>
    <a:masterClrMapping/>
  </p:clrMapOvr>
</p:sld>
</file>

<file path=ppt/theme/theme1.xml><?xml version="1.0" encoding="utf-8"?>
<a:theme xmlns:a="http://schemas.openxmlformats.org/drawingml/2006/main" name="スライド雛形4">
  <a:themeElements>
    <a:clrScheme name="Office ​​テーマ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テーマ">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ffice ​​テーマ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ffice ​​テーマ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ffice ​​テーマ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ffice ​​テーマ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ffice ​​テーマ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ffice ​​テーマ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ffice ​​テーマ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ffice ​​テーマ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ffice ​​テーマ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ffice ​​テーマ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ffice ​​テーマ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ffice ​​テーマ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2057</Words>
  <Application>Microsoft Office PowerPoint</Application>
  <PresentationFormat>ワイド画面</PresentationFormat>
  <Paragraphs>237</Paragraphs>
  <Slides>18</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18</vt:i4>
      </vt:variant>
    </vt:vector>
  </HeadingPairs>
  <TitlesOfParts>
    <vt:vector size="25" baseType="lpstr">
      <vt:lpstr>ＭＳ Ｐゴシック</vt:lpstr>
      <vt:lpstr>Arial</vt:lpstr>
      <vt:lpstr>Century Gothic</vt:lpstr>
      <vt:lpstr>Times</vt:lpstr>
      <vt:lpstr>Times New Roman</vt:lpstr>
      <vt:lpstr>Wingdings</vt:lpstr>
      <vt:lpstr>スライド雛形4</vt:lpstr>
      <vt:lpstr>PowerPoint プレゼンテーション</vt:lpstr>
      <vt:lpstr>tidyverse</vt:lpstr>
      <vt:lpstr>tidyverseの思想・哲学周り</vt:lpstr>
      <vt:lpstr>Tidy Data (ちゃんとしたデータ構造がすべての基礎)</vt:lpstr>
      <vt:lpstr>tibble</vt:lpstr>
      <vt:lpstr>PowerPoint プレゼンテーション</vt:lpstr>
      <vt:lpstr>readr</vt:lpstr>
      <vt:lpstr>tidyr</vt:lpstr>
      <vt:lpstr>tidyr</vt:lpstr>
      <vt:lpstr>dplyr</vt:lpstr>
      <vt:lpstr>dplyr</vt:lpstr>
      <vt:lpstr>ggplot2</vt:lpstr>
      <vt:lpstr>purrr</vt:lpstr>
      <vt:lpstr>stringer, forcats, lubridate</vt:lpstr>
      <vt:lpstr>pharmaverse</vt:lpstr>
      <vt:lpstr>tidyverseと臨床試験業務への個人的な所感　</vt:lpstr>
      <vt:lpstr>SASプログラマのSAS脳にはBase.Rより向いてそう</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2025-12-11T13:56:03Z</dcterms:created>
  <dcterms:modified xsi:type="dcterms:W3CDTF">2026-04-02T22:39:18Z</dcterms:modified>
</cp:coreProperties>
</file>