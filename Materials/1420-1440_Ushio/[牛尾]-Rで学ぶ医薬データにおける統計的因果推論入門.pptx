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31"/>
  </p:notesMasterIdLst>
  <p:sldIdLst>
    <p:sldId id="257" r:id="rId2"/>
    <p:sldId id="498" r:id="rId3"/>
    <p:sldId id="1571" r:id="rId4"/>
    <p:sldId id="1572" r:id="rId5"/>
    <p:sldId id="1573" r:id="rId6"/>
    <p:sldId id="1574" r:id="rId7"/>
    <p:sldId id="1575" r:id="rId8"/>
    <p:sldId id="1582" r:id="rId9"/>
    <p:sldId id="1583" r:id="rId10"/>
    <p:sldId id="1585" r:id="rId11"/>
    <p:sldId id="1579" r:id="rId12"/>
    <p:sldId id="1576" r:id="rId13"/>
    <p:sldId id="1578" r:id="rId14"/>
    <p:sldId id="1599" r:id="rId15"/>
    <p:sldId id="1598" r:id="rId16"/>
    <p:sldId id="1577" r:id="rId17"/>
    <p:sldId id="1600" r:id="rId18"/>
    <p:sldId id="1580" r:id="rId19"/>
    <p:sldId id="1586" r:id="rId20"/>
    <p:sldId id="1588" r:id="rId21"/>
    <p:sldId id="1602" r:id="rId22"/>
    <p:sldId id="1603" r:id="rId23"/>
    <p:sldId id="1589" r:id="rId24"/>
    <p:sldId id="1593" r:id="rId25"/>
    <p:sldId id="1594" r:id="rId26"/>
    <p:sldId id="1591" r:id="rId27"/>
    <p:sldId id="1592" r:id="rId28"/>
    <p:sldId id="1587" r:id="rId29"/>
    <p:sldId id="258" r:id="rId30"/>
  </p:sldIdLst>
  <p:sldSz cx="12192000" cy="6858000"/>
  <p:notesSz cx="6858000" cy="9144000"/>
  <p:defaultTextStyle>
    <a:defPPr>
      <a:defRPr lang="ja-JP"/>
    </a:defPPr>
    <a:lvl1pPr algn="l" rtl="0" fontAlgn="base">
      <a:spcBef>
        <a:spcPct val="0"/>
      </a:spcBef>
      <a:spcAft>
        <a:spcPct val="0"/>
      </a:spcAft>
      <a:defRPr kumimoji="1" sz="2400" kern="1200">
        <a:solidFill>
          <a:schemeClr val="tx1"/>
        </a:solidFill>
        <a:latin typeface="Times" charset="0"/>
        <a:ea typeface="Osaka" charset="-128"/>
        <a:cs typeface="+mn-cs"/>
      </a:defRPr>
    </a:lvl1pPr>
    <a:lvl2pPr marL="457200" algn="l" rtl="0" fontAlgn="base">
      <a:spcBef>
        <a:spcPct val="0"/>
      </a:spcBef>
      <a:spcAft>
        <a:spcPct val="0"/>
      </a:spcAft>
      <a:defRPr kumimoji="1" sz="2400" kern="1200">
        <a:solidFill>
          <a:schemeClr val="tx1"/>
        </a:solidFill>
        <a:latin typeface="Times" charset="0"/>
        <a:ea typeface="Osaka" charset="-128"/>
        <a:cs typeface="+mn-cs"/>
      </a:defRPr>
    </a:lvl2pPr>
    <a:lvl3pPr marL="914400" algn="l" rtl="0" fontAlgn="base">
      <a:spcBef>
        <a:spcPct val="0"/>
      </a:spcBef>
      <a:spcAft>
        <a:spcPct val="0"/>
      </a:spcAft>
      <a:defRPr kumimoji="1" sz="2400" kern="1200">
        <a:solidFill>
          <a:schemeClr val="tx1"/>
        </a:solidFill>
        <a:latin typeface="Times" charset="0"/>
        <a:ea typeface="Osaka" charset="-128"/>
        <a:cs typeface="+mn-cs"/>
      </a:defRPr>
    </a:lvl3pPr>
    <a:lvl4pPr marL="1371600" algn="l" rtl="0" fontAlgn="base">
      <a:spcBef>
        <a:spcPct val="0"/>
      </a:spcBef>
      <a:spcAft>
        <a:spcPct val="0"/>
      </a:spcAft>
      <a:defRPr kumimoji="1" sz="2400" kern="1200">
        <a:solidFill>
          <a:schemeClr val="tx1"/>
        </a:solidFill>
        <a:latin typeface="Times" charset="0"/>
        <a:ea typeface="Osaka" charset="-128"/>
        <a:cs typeface="+mn-cs"/>
      </a:defRPr>
    </a:lvl4pPr>
    <a:lvl5pPr marL="1828800" algn="l" rtl="0" fontAlgn="base">
      <a:spcBef>
        <a:spcPct val="0"/>
      </a:spcBef>
      <a:spcAft>
        <a:spcPct val="0"/>
      </a:spcAft>
      <a:defRPr kumimoji="1" sz="2400" kern="1200">
        <a:solidFill>
          <a:schemeClr val="tx1"/>
        </a:solidFill>
        <a:latin typeface="Times" charset="0"/>
        <a:ea typeface="Osaka" charset="-128"/>
        <a:cs typeface="+mn-cs"/>
      </a:defRPr>
    </a:lvl5pPr>
    <a:lvl6pPr marL="2286000" algn="l" defTabSz="914400" rtl="0" eaLnBrk="1" latinLnBrk="0" hangingPunct="1">
      <a:defRPr kumimoji="1" sz="2400" kern="1200">
        <a:solidFill>
          <a:schemeClr val="tx1"/>
        </a:solidFill>
        <a:latin typeface="Times" charset="0"/>
        <a:ea typeface="Osaka" charset="-128"/>
        <a:cs typeface="+mn-cs"/>
      </a:defRPr>
    </a:lvl6pPr>
    <a:lvl7pPr marL="2743200" algn="l" defTabSz="914400" rtl="0" eaLnBrk="1" latinLnBrk="0" hangingPunct="1">
      <a:defRPr kumimoji="1" sz="2400" kern="1200">
        <a:solidFill>
          <a:schemeClr val="tx1"/>
        </a:solidFill>
        <a:latin typeface="Times" charset="0"/>
        <a:ea typeface="Osaka" charset="-128"/>
        <a:cs typeface="+mn-cs"/>
      </a:defRPr>
    </a:lvl7pPr>
    <a:lvl8pPr marL="3200400" algn="l" defTabSz="914400" rtl="0" eaLnBrk="1" latinLnBrk="0" hangingPunct="1">
      <a:defRPr kumimoji="1" sz="2400" kern="1200">
        <a:solidFill>
          <a:schemeClr val="tx1"/>
        </a:solidFill>
        <a:latin typeface="Times" charset="0"/>
        <a:ea typeface="Osaka" charset="-128"/>
        <a:cs typeface="+mn-cs"/>
      </a:defRPr>
    </a:lvl8pPr>
    <a:lvl9pPr marL="3657600" algn="l" defTabSz="914400" rtl="0" eaLnBrk="1" latinLnBrk="0" hangingPunct="1">
      <a:defRPr kumimoji="1" sz="2400" kern="1200">
        <a:solidFill>
          <a:schemeClr val="tx1"/>
        </a:solidFill>
        <a:latin typeface="Times" charset="0"/>
        <a:ea typeface="Osaka"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0000FF"/>
    <a:srgbClr val="3366CC"/>
    <a:srgbClr val="FF6600"/>
    <a:srgbClr val="FF99FF"/>
    <a:srgbClr val="0066FF"/>
    <a:srgbClr val="CCFFFF"/>
    <a:srgbClr val="008000"/>
    <a:srgbClr val="3366FF"/>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03" autoAdjust="0"/>
    <p:restoredTop sz="90929"/>
  </p:normalViewPr>
  <p:slideViewPr>
    <p:cSldViewPr>
      <p:cViewPr varScale="1">
        <p:scale>
          <a:sx n="110" d="100"/>
          <a:sy n="110" d="100"/>
        </p:scale>
        <p:origin x="1020" y="114"/>
      </p:cViewPr>
      <p:guideLst>
        <p:guide orient="horz" pos="2160"/>
        <p:guide pos="3840"/>
      </p:guideLst>
    </p:cSldViewPr>
  </p:slideViewPr>
  <p:notesTextViewPr>
    <p:cViewPr>
      <p:scale>
        <a:sx n="1" d="1"/>
        <a:sy n="1" d="1"/>
      </p:scale>
      <p:origin x="0" y="0"/>
    </p:cViewPr>
  </p:notesTextViewPr>
  <p:sorterViewPr>
    <p:cViewPr>
      <p:scale>
        <a:sx n="100" d="100"/>
        <a:sy n="100" d="100"/>
      </p:scale>
      <p:origin x="0" y="-4637"/>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ＭＳ Ｐゴシック" pitchFamily="50" charset="-128"/>
              </a:defRPr>
            </a:lvl1pPr>
          </a:lstStyle>
          <a:p>
            <a:endParaRPr lang="en-US" altLang="ja-JP"/>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endParaRPr lang="ja-JP" altLang="en-US"/>
          </a:p>
        </p:txBody>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ＭＳ Ｐゴシック" pitchFamily="50" charset="-128"/>
              </a:defRPr>
            </a:lvl1pPr>
          </a:lstStyle>
          <a:p>
            <a:fld id="{442BAA3F-557D-4B17-AE9E-1755FE9972DC}" type="slidenum">
              <a:rPr lang="en-US" altLang="ja-JP"/>
              <a:pPr/>
              <a:t>‹#›</a:t>
            </a:fld>
            <a:endParaRPr lang="en-US" altLang="ja-JP"/>
          </a:p>
        </p:txBody>
      </p:sp>
    </p:spTree>
    <p:extLst>
      <p:ext uri="{BB962C8B-B14F-4D97-AF65-F5344CB8AC3E}">
        <p14:creationId xmlns:p14="http://schemas.microsoft.com/office/powerpoint/2010/main" val="19764086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42BAA3F-557D-4B17-AE9E-1755FE9972DC}" type="slidenum">
              <a:rPr lang="en-US" altLang="ja-JP" smtClean="0"/>
              <a:pPr/>
              <a:t>2</a:t>
            </a:fld>
            <a:endParaRPr lang="en-US" altLang="ja-JP"/>
          </a:p>
        </p:txBody>
      </p:sp>
    </p:spTree>
    <p:extLst>
      <p:ext uri="{BB962C8B-B14F-4D97-AF65-F5344CB8AC3E}">
        <p14:creationId xmlns:p14="http://schemas.microsoft.com/office/powerpoint/2010/main" val="1050584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42BAA3F-557D-4B17-AE9E-1755FE9972DC}" type="slidenum">
              <a:rPr lang="en-US" altLang="ja-JP" smtClean="0"/>
              <a:pPr/>
              <a:t>6</a:t>
            </a:fld>
            <a:endParaRPr lang="en-US" altLang="ja-JP"/>
          </a:p>
        </p:txBody>
      </p:sp>
    </p:spTree>
    <p:extLst>
      <p:ext uri="{BB962C8B-B14F-4D97-AF65-F5344CB8AC3E}">
        <p14:creationId xmlns:p14="http://schemas.microsoft.com/office/powerpoint/2010/main" val="2053660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42BAA3F-557D-4B17-AE9E-1755FE9972DC}" type="slidenum">
              <a:rPr lang="en-US" altLang="ja-JP" smtClean="0"/>
              <a:pPr/>
              <a:t>10</a:t>
            </a:fld>
            <a:endParaRPr lang="en-US" altLang="ja-JP"/>
          </a:p>
        </p:txBody>
      </p:sp>
    </p:spTree>
    <p:extLst>
      <p:ext uri="{BB962C8B-B14F-4D97-AF65-F5344CB8AC3E}">
        <p14:creationId xmlns:p14="http://schemas.microsoft.com/office/powerpoint/2010/main" val="2296368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8223" name="AutoShape 31"/>
          <p:cNvSpPr>
            <a:spLocks noChangeArrowheads="1"/>
          </p:cNvSpPr>
          <p:nvPr/>
        </p:nvSpPr>
        <p:spPr bwMode="auto">
          <a:xfrm rot="5400000">
            <a:off x="506414" y="2305580"/>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4" name="AutoShape 32"/>
          <p:cNvSpPr>
            <a:spLocks noChangeArrowheads="1"/>
          </p:cNvSpPr>
          <p:nvPr/>
        </p:nvSpPr>
        <p:spPr bwMode="auto">
          <a:xfrm rot="5400000">
            <a:off x="511704" y="3349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5" name="AutoShape 33"/>
          <p:cNvSpPr>
            <a:spLocks noChangeArrowheads="1"/>
          </p:cNvSpPr>
          <p:nvPr/>
        </p:nvSpPr>
        <p:spPr bwMode="auto">
          <a:xfrm rot="5400000">
            <a:off x="289455" y="47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6" name="AutoShape 34"/>
          <p:cNvSpPr>
            <a:spLocks noChangeArrowheads="1"/>
          </p:cNvSpPr>
          <p:nvPr/>
        </p:nvSpPr>
        <p:spPr bwMode="auto">
          <a:xfrm rot="5400000">
            <a:off x="216430" y="665693"/>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7" name="AutoShape 35"/>
          <p:cNvSpPr>
            <a:spLocks noChangeArrowheads="1"/>
          </p:cNvSpPr>
          <p:nvPr/>
        </p:nvSpPr>
        <p:spPr bwMode="auto">
          <a:xfrm rot="5400000">
            <a:off x="511704" y="9985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8" name="AutoShape 36"/>
          <p:cNvSpPr>
            <a:spLocks noChangeArrowheads="1"/>
          </p:cNvSpPr>
          <p:nvPr/>
        </p:nvSpPr>
        <p:spPr bwMode="auto">
          <a:xfrm rot="5400000">
            <a:off x="804069" y="1328474"/>
            <a:ext cx="442913" cy="510117"/>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9" name="AutoShape 37"/>
          <p:cNvSpPr>
            <a:spLocks noChangeArrowheads="1"/>
          </p:cNvSpPr>
          <p:nvPr/>
        </p:nvSpPr>
        <p:spPr bwMode="auto">
          <a:xfrm rot="5400000">
            <a:off x="511704" y="1660526"/>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1" name="AutoShape 39"/>
          <p:cNvSpPr>
            <a:spLocks noChangeArrowheads="1"/>
          </p:cNvSpPr>
          <p:nvPr/>
        </p:nvSpPr>
        <p:spPr bwMode="auto">
          <a:xfrm rot="5400000">
            <a:off x="234422" y="1968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2" name="AutoShape 40"/>
          <p:cNvSpPr>
            <a:spLocks noChangeArrowheads="1"/>
          </p:cNvSpPr>
          <p:nvPr/>
        </p:nvSpPr>
        <p:spPr bwMode="auto">
          <a:xfrm rot="5400000">
            <a:off x="776288" y="26463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3" name="AutoShape 41"/>
          <p:cNvSpPr>
            <a:spLocks noChangeArrowheads="1"/>
          </p:cNvSpPr>
          <p:nvPr/>
        </p:nvSpPr>
        <p:spPr bwMode="auto">
          <a:xfrm rot="5400000">
            <a:off x="505355" y="2984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4" name="AutoShape 42"/>
          <p:cNvSpPr>
            <a:spLocks noChangeArrowheads="1"/>
          </p:cNvSpPr>
          <p:nvPr/>
        </p:nvSpPr>
        <p:spPr bwMode="auto">
          <a:xfrm rot="5400000">
            <a:off x="234422" y="3322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5" name="AutoShape 43"/>
          <p:cNvSpPr>
            <a:spLocks noChangeArrowheads="1"/>
          </p:cNvSpPr>
          <p:nvPr/>
        </p:nvSpPr>
        <p:spPr bwMode="auto">
          <a:xfrm rot="5400000">
            <a:off x="505620" y="3660511"/>
            <a:ext cx="442912" cy="510116"/>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6" name="AutoShape 44"/>
          <p:cNvSpPr>
            <a:spLocks noChangeArrowheads="1"/>
          </p:cNvSpPr>
          <p:nvPr/>
        </p:nvSpPr>
        <p:spPr bwMode="auto">
          <a:xfrm rot="5400000">
            <a:off x="234422" y="4000501"/>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7" name="AutoShape 45"/>
          <p:cNvSpPr>
            <a:spLocks noChangeArrowheads="1"/>
          </p:cNvSpPr>
          <p:nvPr/>
        </p:nvSpPr>
        <p:spPr bwMode="auto">
          <a:xfrm rot="5400000">
            <a:off x="505355" y="4338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9" name="AutoShape 47"/>
          <p:cNvSpPr>
            <a:spLocks noChangeArrowheads="1"/>
          </p:cNvSpPr>
          <p:nvPr/>
        </p:nvSpPr>
        <p:spPr bwMode="auto">
          <a:xfrm rot="5400000">
            <a:off x="234422" y="4676776"/>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0" name="AutoShape 48"/>
          <p:cNvSpPr>
            <a:spLocks noChangeArrowheads="1"/>
          </p:cNvSpPr>
          <p:nvPr/>
        </p:nvSpPr>
        <p:spPr bwMode="auto">
          <a:xfrm rot="5400000">
            <a:off x="506414" y="5015443"/>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1" name="AutoShape 49"/>
          <p:cNvSpPr>
            <a:spLocks noChangeArrowheads="1"/>
          </p:cNvSpPr>
          <p:nvPr/>
        </p:nvSpPr>
        <p:spPr bwMode="auto">
          <a:xfrm rot="5400000">
            <a:off x="777347" y="5353580"/>
            <a:ext cx="441325" cy="510116"/>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3" name="AutoShape 51"/>
          <p:cNvSpPr>
            <a:spLocks noChangeArrowheads="1"/>
          </p:cNvSpPr>
          <p:nvPr/>
        </p:nvSpPr>
        <p:spPr bwMode="auto">
          <a:xfrm rot="5400000">
            <a:off x="236538" y="53387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4" name="AutoShape 52"/>
          <p:cNvSpPr>
            <a:spLocks noChangeArrowheads="1"/>
          </p:cNvSpPr>
          <p:nvPr/>
        </p:nvSpPr>
        <p:spPr bwMode="auto">
          <a:xfrm rot="5400000">
            <a:off x="490538" y="5694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5" name="AutoShape 53"/>
          <p:cNvSpPr>
            <a:spLocks noChangeArrowheads="1"/>
          </p:cNvSpPr>
          <p:nvPr/>
        </p:nvSpPr>
        <p:spPr bwMode="auto">
          <a:xfrm rot="5400000">
            <a:off x="236538" y="60372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6" name="AutoShape 54"/>
          <p:cNvSpPr>
            <a:spLocks noChangeArrowheads="1"/>
          </p:cNvSpPr>
          <p:nvPr/>
        </p:nvSpPr>
        <p:spPr bwMode="auto">
          <a:xfrm rot="5400000">
            <a:off x="542396" y="6369580"/>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196" name="Rectangle 4"/>
          <p:cNvSpPr>
            <a:spLocks noGrp="1" noChangeArrowheads="1"/>
          </p:cNvSpPr>
          <p:nvPr>
            <p:ph type="dt" sz="half" idx="2"/>
          </p:nvPr>
        </p:nvSpPr>
        <p:spPr>
          <a:xfrm>
            <a:off x="1930400" y="6553200"/>
            <a:ext cx="2336800" cy="457200"/>
          </a:xfrm>
        </p:spPr>
        <p:txBody>
          <a:bodyPr/>
          <a:lstStyle>
            <a:lvl1pPr algn="ctr">
              <a:defRPr kumimoji="1" b="0">
                <a:solidFill>
                  <a:schemeClr val="tx1"/>
                </a:solidFill>
                <a:effectLst/>
                <a:latin typeface="+mn-lt"/>
                <a:ea typeface="+mn-ea"/>
              </a:defRPr>
            </a:lvl1pPr>
          </a:lstStyle>
          <a:p>
            <a:endParaRPr lang="en-US" altLang="ja-JP"/>
          </a:p>
        </p:txBody>
      </p:sp>
      <p:sp>
        <p:nvSpPr>
          <p:cNvPr id="8197" name="Rectangle 5"/>
          <p:cNvSpPr>
            <a:spLocks noGrp="1" noChangeArrowheads="1"/>
          </p:cNvSpPr>
          <p:nvPr>
            <p:ph type="ftr" sz="quarter" idx="3"/>
          </p:nvPr>
        </p:nvSpPr>
        <p:spPr bwMode="auto">
          <a:xfrm>
            <a:off x="4320118" y="6553200"/>
            <a:ext cx="3551767"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endParaRPr lang="en-US" altLang="ja-JP"/>
          </a:p>
        </p:txBody>
      </p:sp>
      <p:sp>
        <p:nvSpPr>
          <p:cNvPr id="8221" name="Rectangle 29"/>
          <p:cNvSpPr>
            <a:spLocks noGrp="1" noChangeArrowheads="1"/>
          </p:cNvSpPr>
          <p:nvPr>
            <p:ph type="ctrTitle" sz="quarter"/>
          </p:nvPr>
        </p:nvSpPr>
        <p:spPr>
          <a:xfrm>
            <a:off x="1274236" y="1752600"/>
            <a:ext cx="9681630" cy="1143000"/>
          </a:xfrm>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lvl1pPr algn="ctr">
              <a:defRPr sz="4400" i="0"/>
            </a:lvl1pPr>
          </a:lstStyle>
          <a:p>
            <a:pPr lvl="0"/>
            <a:r>
              <a:rPr lang="ja-JP" altLang="en-US" noProof="0"/>
              <a:t>マスター タイトルの書式設定</a:t>
            </a:r>
            <a:endParaRPr lang="ja-JP" altLang="en-US" noProof="0" dirty="0"/>
          </a:p>
        </p:txBody>
      </p:sp>
      <p:sp>
        <p:nvSpPr>
          <p:cNvPr id="8222" name="Rectangle 30"/>
          <p:cNvSpPr>
            <a:spLocks noGrp="1" noChangeArrowheads="1"/>
          </p:cNvSpPr>
          <p:nvPr>
            <p:ph type="subTitle" sz="quarter" idx="1"/>
          </p:nvPr>
        </p:nvSpPr>
        <p:spPr>
          <a:xfrm>
            <a:off x="1274235" y="4038600"/>
            <a:ext cx="9679513" cy="762000"/>
          </a:xfrm>
        </p:spPr>
        <p:txBody>
          <a:bodyPr/>
          <a:lstStyle>
            <a:lvl1pPr marL="0" indent="0" algn="ctr">
              <a:defRPr/>
            </a:lvl1pPr>
          </a:lstStyle>
          <a:p>
            <a:pPr lvl="0"/>
            <a:r>
              <a:rPr lang="ja-JP" altLang="en-US" noProof="0"/>
              <a:t>マスター サブタイトルの書式設定</a:t>
            </a:r>
            <a:endParaRPr lang="ja-JP" altLang="en-US" noProof="0" dirty="0"/>
          </a:p>
        </p:txBody>
      </p:sp>
      <p:sp>
        <p:nvSpPr>
          <p:cNvPr id="8248" name="AutoShape 56"/>
          <p:cNvSpPr>
            <a:spLocks noChangeArrowheads="1"/>
          </p:cNvSpPr>
          <p:nvPr/>
        </p:nvSpPr>
        <p:spPr bwMode="auto">
          <a:xfrm rot="5400000">
            <a:off x="11295063" y="6369580"/>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9" name="AutoShape 57"/>
          <p:cNvSpPr>
            <a:spLocks noChangeArrowheads="1"/>
          </p:cNvSpPr>
          <p:nvPr/>
        </p:nvSpPr>
        <p:spPr bwMode="auto">
          <a:xfrm rot="5400000">
            <a:off x="11024130"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0" name="AutoShape 58"/>
          <p:cNvSpPr>
            <a:spLocks noChangeArrowheads="1"/>
          </p:cNvSpPr>
          <p:nvPr/>
        </p:nvSpPr>
        <p:spPr bwMode="auto">
          <a:xfrm rot="5400000">
            <a:off x="11294004" y="56816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1" name="AutoShape 59"/>
          <p:cNvSpPr>
            <a:spLocks noChangeArrowheads="1"/>
          </p:cNvSpPr>
          <p:nvPr/>
        </p:nvSpPr>
        <p:spPr bwMode="auto">
          <a:xfrm rot="5400000">
            <a:off x="11006138" y="5329238"/>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2" name="AutoShape 60"/>
          <p:cNvSpPr>
            <a:spLocks noChangeArrowheads="1"/>
          </p:cNvSpPr>
          <p:nvPr/>
        </p:nvSpPr>
        <p:spPr bwMode="auto">
          <a:xfrm rot="5400000">
            <a:off x="11260138" y="4970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3" name="AutoShape 61"/>
          <p:cNvSpPr>
            <a:spLocks noChangeArrowheads="1"/>
          </p:cNvSpPr>
          <p:nvPr/>
        </p:nvSpPr>
        <p:spPr bwMode="auto">
          <a:xfrm rot="5400000">
            <a:off x="10989204" y="46275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4" name="AutoShape 62"/>
          <p:cNvSpPr>
            <a:spLocks noChangeArrowheads="1"/>
          </p:cNvSpPr>
          <p:nvPr/>
        </p:nvSpPr>
        <p:spPr bwMode="auto">
          <a:xfrm rot="5400000">
            <a:off x="11277071" y="4297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5" name="AutoShape 63"/>
          <p:cNvSpPr>
            <a:spLocks noChangeArrowheads="1"/>
          </p:cNvSpPr>
          <p:nvPr/>
        </p:nvSpPr>
        <p:spPr bwMode="auto">
          <a:xfrm rot="5400000">
            <a:off x="11564938" y="3954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6" name="AutoShape 64"/>
          <p:cNvSpPr>
            <a:spLocks noChangeArrowheads="1"/>
          </p:cNvSpPr>
          <p:nvPr/>
        </p:nvSpPr>
        <p:spPr bwMode="auto">
          <a:xfrm rot="5400000">
            <a:off x="11278130" y="3610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7" name="AutoShape 65"/>
          <p:cNvSpPr>
            <a:spLocks noChangeArrowheads="1"/>
          </p:cNvSpPr>
          <p:nvPr/>
        </p:nvSpPr>
        <p:spPr bwMode="auto">
          <a:xfrm rot="5400000">
            <a:off x="11565996"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06400" y="381000"/>
            <a:ext cx="10370120" cy="533400"/>
          </a:xfrm>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23B20E4E-3F95-4221-AFE5-FD1FD9CC3448}" type="slidenum">
              <a:rPr lang="en-US" altLang="ja-JP"/>
              <a:pPr/>
              <a:t>‹#›</a:t>
            </a:fld>
            <a:endParaRPr lang="en-US" altLang="ja-JP"/>
          </a:p>
        </p:txBody>
      </p:sp>
    </p:spTree>
    <p:extLst>
      <p:ext uri="{BB962C8B-B14F-4D97-AF65-F5344CB8AC3E}">
        <p14:creationId xmlns:p14="http://schemas.microsoft.com/office/powerpoint/2010/main" val="67354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59B327E7-9605-4B1F-A86B-23630CCB1D76}" type="slidenum">
              <a:rPr lang="en-US" altLang="ja-JP"/>
              <a:pPr/>
              <a:t>‹#›</a:t>
            </a:fld>
            <a:endParaRPr lang="en-US" altLang="ja-JP"/>
          </a:p>
        </p:txBody>
      </p:sp>
    </p:spTree>
    <p:extLst>
      <p:ext uri="{BB962C8B-B14F-4D97-AF65-F5344CB8AC3E}">
        <p14:creationId xmlns:p14="http://schemas.microsoft.com/office/powerpoint/2010/main" val="2795626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510117" y="1219200"/>
            <a:ext cx="5484283"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1" y="1219200"/>
            <a:ext cx="5484284"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80724435-5351-4F85-AB21-E011B281C3F4}" type="slidenum">
              <a:rPr lang="en-US" altLang="ja-JP"/>
              <a:pPr/>
              <a:t>‹#›</a:t>
            </a:fld>
            <a:endParaRPr lang="en-US" altLang="ja-JP"/>
          </a:p>
        </p:txBody>
      </p:sp>
    </p:spTree>
    <p:extLst>
      <p:ext uri="{BB962C8B-B14F-4D97-AF65-F5344CB8AC3E}">
        <p14:creationId xmlns:p14="http://schemas.microsoft.com/office/powerpoint/2010/main" val="311713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591942" y="0"/>
            <a:ext cx="10400602" cy="908720"/>
          </a:xfrm>
        </p:spPr>
        <p:txBody>
          <a:bodyPr/>
          <a:lstStyle>
            <a:lvl1pPr>
              <a:defRPr/>
            </a:lvl1pPr>
          </a:lstStyle>
          <a:p>
            <a:r>
              <a:rPr lang="ja-JP" altLang="en-US"/>
              <a:t>マスター タイトルの書式設定</a:t>
            </a:r>
            <a:endParaRPr lang="ja-JP" altLang="en-US" dirty="0"/>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6"/>
          <p:cNvSpPr>
            <a:spLocks noGrp="1"/>
          </p:cNvSpPr>
          <p:nvPr>
            <p:ph type="dt" sz="half" idx="10"/>
          </p:nvPr>
        </p:nvSpPr>
        <p:spPr/>
        <p:txBody>
          <a:bodyPr/>
          <a:lstStyle>
            <a:lvl1pPr>
              <a:defRPr/>
            </a:lvl1pPr>
          </a:lstStyle>
          <a:p>
            <a:endParaRPr lang="en-US" altLang="ja-JP"/>
          </a:p>
        </p:txBody>
      </p:sp>
      <p:sp>
        <p:nvSpPr>
          <p:cNvPr id="8" name="スライド番号プレースホルダー 7"/>
          <p:cNvSpPr>
            <a:spLocks noGrp="1"/>
          </p:cNvSpPr>
          <p:nvPr>
            <p:ph type="sldNum" sz="quarter" idx="11"/>
          </p:nvPr>
        </p:nvSpPr>
        <p:spPr/>
        <p:txBody>
          <a:bodyPr/>
          <a:lstStyle>
            <a:lvl1pPr>
              <a:defRPr/>
            </a:lvl1pPr>
          </a:lstStyle>
          <a:p>
            <a:fld id="{5FBBB600-0FC1-4824-A895-1F4A3020CA10}" type="slidenum">
              <a:rPr lang="en-US" altLang="ja-JP"/>
              <a:pPr/>
              <a:t>‹#›</a:t>
            </a:fld>
            <a:endParaRPr lang="en-US" altLang="ja-JP"/>
          </a:p>
        </p:txBody>
      </p:sp>
    </p:spTree>
    <p:extLst>
      <p:ext uri="{BB962C8B-B14F-4D97-AF65-F5344CB8AC3E}">
        <p14:creationId xmlns:p14="http://schemas.microsoft.com/office/powerpoint/2010/main" val="366198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2"/>
          <p:cNvSpPr>
            <a:spLocks noGrp="1"/>
          </p:cNvSpPr>
          <p:nvPr>
            <p:ph type="dt" sz="half" idx="10"/>
          </p:nvPr>
        </p:nvSpPr>
        <p:spPr/>
        <p:txBody>
          <a:bodyPr/>
          <a:lstStyle>
            <a:lvl1pPr>
              <a:defRPr/>
            </a:lvl1pPr>
          </a:lstStyle>
          <a:p>
            <a:endParaRPr lang="en-US" altLang="ja-JP"/>
          </a:p>
        </p:txBody>
      </p:sp>
      <p:sp>
        <p:nvSpPr>
          <p:cNvPr id="4" name="スライド番号プレースホルダー 3"/>
          <p:cNvSpPr>
            <a:spLocks noGrp="1"/>
          </p:cNvSpPr>
          <p:nvPr>
            <p:ph type="sldNum" sz="quarter" idx="11"/>
          </p:nvPr>
        </p:nvSpPr>
        <p:spPr/>
        <p:txBody>
          <a:bodyPr/>
          <a:lstStyle>
            <a:lvl1pPr>
              <a:defRPr/>
            </a:lvl1pPr>
          </a:lstStyle>
          <a:p>
            <a:fld id="{8AB6CAD0-26EA-44DC-A34E-525D1C843D86}" type="slidenum">
              <a:rPr lang="en-US" altLang="ja-JP"/>
              <a:pPr/>
              <a:t>‹#›</a:t>
            </a:fld>
            <a:endParaRPr lang="en-US" altLang="ja-JP"/>
          </a:p>
        </p:txBody>
      </p:sp>
    </p:spTree>
    <p:extLst>
      <p:ext uri="{BB962C8B-B14F-4D97-AF65-F5344CB8AC3E}">
        <p14:creationId xmlns:p14="http://schemas.microsoft.com/office/powerpoint/2010/main" val="820034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lvl1pPr>
              <a:defRPr/>
            </a:lvl1pPr>
          </a:lstStyle>
          <a:p>
            <a:endParaRPr lang="en-US" altLang="ja-JP"/>
          </a:p>
        </p:txBody>
      </p:sp>
      <p:sp>
        <p:nvSpPr>
          <p:cNvPr id="3" name="スライド番号プレースホルダー 2"/>
          <p:cNvSpPr>
            <a:spLocks noGrp="1"/>
          </p:cNvSpPr>
          <p:nvPr>
            <p:ph type="sldNum" sz="quarter" idx="11"/>
          </p:nvPr>
        </p:nvSpPr>
        <p:spPr/>
        <p:txBody>
          <a:bodyPr/>
          <a:lstStyle>
            <a:lvl1pPr>
              <a:defRPr/>
            </a:lvl1pPr>
          </a:lstStyle>
          <a:p>
            <a:fld id="{57B969C8-B00C-423B-B7C2-865033CB3CDB}" type="slidenum">
              <a:rPr lang="en-US" altLang="ja-JP"/>
              <a:pPr/>
              <a:t>‹#›</a:t>
            </a:fld>
            <a:endParaRPr lang="en-US" altLang="ja-JP"/>
          </a:p>
        </p:txBody>
      </p:sp>
    </p:spTree>
    <p:extLst>
      <p:ext uri="{BB962C8B-B14F-4D97-AF65-F5344CB8AC3E}">
        <p14:creationId xmlns:p14="http://schemas.microsoft.com/office/powerpoint/2010/main" val="424923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970866"/>
            <a:ext cx="4011084" cy="526380"/>
          </a:xfrm>
        </p:spPr>
        <p:txBody>
          <a:bodyPr anchor="b"/>
          <a:lstStyle>
            <a:lvl1pPr algn="l">
              <a:defRPr sz="2000" b="1"/>
            </a:lvl1pPr>
          </a:lstStyle>
          <a:p>
            <a:r>
              <a:rPr lang="ja-JP" altLang="en-US"/>
              <a:t>マスター タイトルの書式設定</a:t>
            </a:r>
            <a:endParaRPr lang="ja-JP" altLang="en-US" dirty="0"/>
          </a:p>
        </p:txBody>
      </p:sp>
      <p:sp>
        <p:nvSpPr>
          <p:cNvPr id="3" name="コンテンツ プレースホルダー 2"/>
          <p:cNvSpPr>
            <a:spLocks noGrp="1"/>
          </p:cNvSpPr>
          <p:nvPr>
            <p:ph idx="1"/>
          </p:nvPr>
        </p:nvSpPr>
        <p:spPr>
          <a:xfrm>
            <a:off x="4766733" y="970866"/>
            <a:ext cx="6815667" cy="52174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4" name="テキスト プレースホルダー 3"/>
          <p:cNvSpPr>
            <a:spLocks noGrp="1"/>
          </p:cNvSpPr>
          <p:nvPr>
            <p:ph type="body" sz="half" idx="2"/>
          </p:nvPr>
        </p:nvSpPr>
        <p:spPr>
          <a:xfrm>
            <a:off x="609601" y="1497247"/>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27517061-3919-4886-BB04-892603DCDF1C}" type="slidenum">
              <a:rPr lang="en-US" altLang="ja-JP"/>
              <a:pPr/>
              <a:t>‹#›</a:t>
            </a:fld>
            <a:endParaRPr lang="en-US" altLang="ja-JP"/>
          </a:p>
        </p:txBody>
      </p:sp>
    </p:spTree>
    <p:extLst>
      <p:ext uri="{BB962C8B-B14F-4D97-AF65-F5344CB8AC3E}">
        <p14:creationId xmlns:p14="http://schemas.microsoft.com/office/powerpoint/2010/main" val="1322185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1052735"/>
            <a:ext cx="7315200" cy="36748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3675D8CF-DD1E-4EAB-BC58-2A87F58CC84A}" type="slidenum">
              <a:rPr lang="en-US" altLang="ja-JP"/>
              <a:pPr/>
              <a:t>‹#›</a:t>
            </a:fld>
            <a:endParaRPr lang="en-US" altLang="ja-JP"/>
          </a:p>
        </p:txBody>
      </p:sp>
    </p:spTree>
    <p:extLst>
      <p:ext uri="{BB962C8B-B14F-4D97-AF65-F5344CB8AC3E}">
        <p14:creationId xmlns:p14="http://schemas.microsoft.com/office/powerpoint/2010/main" val="407430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39210B1D-38D9-4389-8774-02EB9DE2EE2A}" type="slidenum">
              <a:rPr lang="en-US" altLang="ja-JP"/>
              <a:pPr/>
              <a:t>‹#›</a:t>
            </a:fld>
            <a:endParaRPr lang="en-US" altLang="ja-JP"/>
          </a:p>
        </p:txBody>
      </p:sp>
    </p:spTree>
    <p:extLst>
      <p:ext uri="{BB962C8B-B14F-4D97-AF65-F5344CB8AC3E}">
        <p14:creationId xmlns:p14="http://schemas.microsoft.com/office/powerpoint/2010/main" val="89055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40800" y="980728"/>
            <a:ext cx="2844800" cy="5420072"/>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06400" y="980728"/>
            <a:ext cx="8331200" cy="5420072"/>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EEB424A9-2B98-46EE-806E-1DC4FA4740DF}" type="slidenum">
              <a:rPr lang="en-US" altLang="ja-JP"/>
              <a:pPr/>
              <a:t>‹#›</a:t>
            </a:fld>
            <a:endParaRPr lang="en-US" altLang="ja-JP"/>
          </a:p>
        </p:txBody>
      </p:sp>
    </p:spTree>
    <p:extLst>
      <p:ext uri="{BB962C8B-B14F-4D97-AF65-F5344CB8AC3E}">
        <p14:creationId xmlns:p14="http://schemas.microsoft.com/office/powerpoint/2010/main" val="1574242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dt" sz="half" idx="2"/>
          </p:nvPr>
        </p:nvSpPr>
        <p:spPr bwMode="auto">
          <a:xfrm>
            <a:off x="0" y="64770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endParaRPr lang="en-US" altLang="ja-JP"/>
          </a:p>
        </p:txBody>
      </p:sp>
      <p:sp>
        <p:nvSpPr>
          <p:cNvPr id="7171" name="Rectangle 3"/>
          <p:cNvSpPr>
            <a:spLocks noGrp="1" noChangeArrowheads="1"/>
          </p:cNvSpPr>
          <p:nvPr>
            <p:ph type="sldNum" sz="quarter" idx="4"/>
          </p:nvPr>
        </p:nvSpPr>
        <p:spPr bwMode="auto">
          <a:xfrm>
            <a:off x="11564742" y="6477401"/>
            <a:ext cx="547044" cy="28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lvl1pPr algn="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fld id="{9E14BAE2-246D-40C8-99B9-BF4FC5F3B658}" type="slidenum">
              <a:rPr lang="en-US" altLang="ja-JP"/>
              <a:pPr/>
              <a:t>‹#›</a:t>
            </a:fld>
            <a:endParaRPr lang="en-US" altLang="ja-JP" dirty="0"/>
          </a:p>
        </p:txBody>
      </p:sp>
      <p:sp>
        <p:nvSpPr>
          <p:cNvPr id="7172" name="Rectangle 4"/>
          <p:cNvSpPr>
            <a:spLocks noGrp="1" noChangeArrowheads="1"/>
          </p:cNvSpPr>
          <p:nvPr>
            <p:ph type="title"/>
          </p:nvPr>
        </p:nvSpPr>
        <p:spPr bwMode="auto">
          <a:xfrm>
            <a:off x="406400" y="381000"/>
            <a:ext cx="106644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7174" name="Rectangle 6"/>
          <p:cNvSpPr>
            <a:spLocks noGrp="1" noChangeArrowheads="1"/>
          </p:cNvSpPr>
          <p:nvPr>
            <p:ph type="body" idx="1"/>
          </p:nvPr>
        </p:nvSpPr>
        <p:spPr bwMode="auto">
          <a:xfrm>
            <a:off x="510118" y="1219200"/>
            <a:ext cx="11171767"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第</a:t>
            </a:r>
            <a:r>
              <a:rPr lang="en-US" altLang="ja-JP"/>
              <a:t>1</a:t>
            </a:r>
            <a:r>
              <a:rPr lang="ja-JP" altLang="en-US"/>
              <a:t>レベル</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195" name="AutoShape 27"/>
          <p:cNvSpPr>
            <a:spLocks noChangeArrowheads="1"/>
          </p:cNvSpPr>
          <p:nvPr/>
        </p:nvSpPr>
        <p:spPr bwMode="auto">
          <a:xfrm rot="5400000">
            <a:off x="11664034" y="5675919"/>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8" name="AutoShape 30"/>
          <p:cNvSpPr>
            <a:spLocks noChangeArrowheads="1"/>
          </p:cNvSpPr>
          <p:nvPr/>
        </p:nvSpPr>
        <p:spPr bwMode="auto">
          <a:xfrm rot="5400000">
            <a:off x="11376167" y="60188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9" name="AutoShape 31"/>
          <p:cNvSpPr>
            <a:spLocks noChangeArrowheads="1"/>
          </p:cNvSpPr>
          <p:nvPr/>
        </p:nvSpPr>
        <p:spPr bwMode="auto">
          <a:xfrm rot="5400000">
            <a:off x="11647100" y="63617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200" name="Line 32"/>
          <p:cNvSpPr>
            <a:spLocks noChangeShapeType="1"/>
          </p:cNvSpPr>
          <p:nvPr/>
        </p:nvSpPr>
        <p:spPr bwMode="auto">
          <a:xfrm>
            <a:off x="0" y="914400"/>
            <a:ext cx="10972800" cy="0"/>
          </a:xfrm>
          <a:prstGeom prst="line">
            <a:avLst/>
          </a:prstGeom>
          <a:noFill/>
          <a:ln w="571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2400"/>
          </a:p>
        </p:txBody>
      </p:sp>
      <p:sp>
        <p:nvSpPr>
          <p:cNvPr id="7201" name="AutoShape 33"/>
          <p:cNvSpPr>
            <a:spLocks noChangeArrowheads="1"/>
          </p:cNvSpPr>
          <p:nvPr/>
        </p:nvSpPr>
        <p:spPr bwMode="auto">
          <a:xfrm rot="5400000">
            <a:off x="11105234" y="6361719"/>
            <a:ext cx="441325" cy="510117"/>
          </a:xfrm>
          <a:prstGeom prst="hexagon">
            <a:avLst>
              <a:gd name="adj" fmla="val 2883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pic>
        <p:nvPicPr>
          <p:cNvPr id="4" name="図 3">
            <a:extLst>
              <a:ext uri="{FF2B5EF4-FFF2-40B4-BE49-F238E27FC236}">
                <a16:creationId xmlns:a16="http://schemas.microsoft.com/office/drawing/2014/main" id="{A2460E87-9CF7-4B1F-1772-B456971EFF47}"/>
              </a:ext>
            </a:extLst>
          </p:cNvPr>
          <p:cNvPicPr>
            <a:picLocks noChangeAspect="1"/>
          </p:cNvPicPr>
          <p:nvPr userDrawn="1"/>
        </p:nvPicPr>
        <p:blipFill>
          <a:blip r:embed="rId13"/>
          <a:stretch>
            <a:fillRect/>
          </a:stretch>
        </p:blipFill>
        <p:spPr>
          <a:xfrm>
            <a:off x="10783120" y="70502"/>
            <a:ext cx="1335818" cy="649386"/>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rtl="0" eaLnBrk="1" fontAlgn="base" hangingPunct="1">
        <a:spcBef>
          <a:spcPct val="0"/>
        </a:spcBef>
        <a:spcAft>
          <a:spcPct val="0"/>
        </a:spcAft>
        <a:defRPr kumimoji="1" sz="3200" b="1" i="1">
          <a:solidFill>
            <a:srgbClr val="4D4D4D"/>
          </a:solidFill>
          <a:latin typeface="+mj-lt"/>
          <a:ea typeface="+mj-ea"/>
          <a:cs typeface="+mj-cs"/>
        </a:defRPr>
      </a:lvl1pPr>
      <a:lvl2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9pPr>
    </p:titleStyle>
    <p:body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publicdomainq.net/nurse-health-care-0006573/" TargetMode="Externa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publicdomainq.net/nurse-health-care-0006573/"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nounai-librarian.com/causalintro/"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mailto:pj@p-pro.info"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2" name="Rectangle 18"/>
          <p:cNvSpPr>
            <a:spLocks noGrp="1" noChangeArrowheads="1"/>
          </p:cNvSpPr>
          <p:nvPr>
            <p:ph type="ctrTitle"/>
          </p:nvPr>
        </p:nvSpPr>
        <p:spPr>
          <a:xfrm>
            <a:off x="1343472" y="2034627"/>
            <a:ext cx="9681630" cy="1143000"/>
          </a:xfrm>
        </p:spPr>
        <p:txBody>
          <a:bodyPr/>
          <a:lstStyle/>
          <a:p>
            <a:r>
              <a:rPr lang="en-US" altLang="ja-JP" dirty="0">
                <a:solidFill>
                  <a:srgbClr val="004A82"/>
                </a:solidFill>
                <a:latin typeface="メイリオ" panose="020B0604030504040204" pitchFamily="50" charset="-128"/>
                <a:ea typeface="メイリオ" panose="020B0604030504040204" pitchFamily="50" charset="-128"/>
              </a:rPr>
              <a:t>R</a:t>
            </a:r>
            <a:r>
              <a:rPr lang="ja-JP" altLang="en-US" dirty="0">
                <a:solidFill>
                  <a:srgbClr val="004A82"/>
                </a:solidFill>
                <a:latin typeface="メイリオ" panose="020B0604030504040204" pitchFamily="50" charset="-128"/>
                <a:ea typeface="メイリオ" panose="020B0604030504040204" pitchFamily="50" charset="-128"/>
              </a:rPr>
              <a:t>で学ぶ医薬データにおける</a:t>
            </a:r>
            <a:br>
              <a:rPr lang="en-US" altLang="ja-JP" dirty="0">
                <a:solidFill>
                  <a:srgbClr val="004A82"/>
                </a:solidFill>
                <a:latin typeface="メイリオ" panose="020B0604030504040204" pitchFamily="50" charset="-128"/>
                <a:ea typeface="メイリオ" panose="020B0604030504040204" pitchFamily="50" charset="-128"/>
              </a:rPr>
            </a:br>
            <a:r>
              <a:rPr lang="ja-JP" altLang="en-US" dirty="0">
                <a:solidFill>
                  <a:srgbClr val="004A82"/>
                </a:solidFill>
                <a:latin typeface="メイリオ" panose="020B0604030504040204" pitchFamily="50" charset="-128"/>
                <a:ea typeface="メイリオ" panose="020B0604030504040204" pitchFamily="50" charset="-128"/>
              </a:rPr>
              <a:t>統計的因果推論入門</a:t>
            </a:r>
            <a:r>
              <a:rPr lang="en-US" altLang="ja-JP" dirty="0">
                <a:solidFill>
                  <a:srgbClr val="004A82"/>
                </a:solidFill>
                <a:latin typeface="メイリオ" panose="020B0604030504040204" pitchFamily="50" charset="-128"/>
                <a:ea typeface="メイリオ" panose="020B0604030504040204" pitchFamily="50" charset="-128"/>
              </a:rPr>
              <a:t> </a:t>
            </a:r>
            <a:endParaRPr lang="ja-JP" altLang="ja-JP" dirty="0"/>
          </a:p>
        </p:txBody>
      </p:sp>
      <p:sp>
        <p:nvSpPr>
          <p:cNvPr id="2" name="字幕 2">
            <a:extLst>
              <a:ext uri="{FF2B5EF4-FFF2-40B4-BE49-F238E27FC236}">
                <a16:creationId xmlns:a16="http://schemas.microsoft.com/office/drawing/2014/main" id="{A6565E18-8CEF-20E1-1359-CDB46CD0DF34}"/>
              </a:ext>
            </a:extLst>
          </p:cNvPr>
          <p:cNvSpPr txBox="1">
            <a:spLocks/>
          </p:cNvSpPr>
          <p:nvPr/>
        </p:nvSpPr>
        <p:spPr>
          <a:xfrm>
            <a:off x="2250831" y="543020"/>
            <a:ext cx="7690338" cy="4578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sz="3600" b="1" dirty="0">
                <a:solidFill>
                  <a:srgbClr val="004A82"/>
                </a:solidFill>
                <a:latin typeface="メイリオ" panose="020B0604030504040204" pitchFamily="50" charset="-128"/>
                <a:ea typeface="メイリオ" panose="020B0604030504040204" pitchFamily="50" charset="-128"/>
              </a:rPr>
              <a:t>R with Pharma Lab Meetup #1</a:t>
            </a:r>
          </a:p>
          <a:p>
            <a:pPr marL="0" indent="0" algn="ctr">
              <a:buNone/>
            </a:pPr>
            <a:r>
              <a:rPr lang="en-US" altLang="ja-JP" sz="3600" b="1" dirty="0">
                <a:solidFill>
                  <a:srgbClr val="004A82"/>
                </a:solidFill>
                <a:latin typeface="メイリオ" panose="020B0604030504040204" pitchFamily="50" charset="-128"/>
                <a:ea typeface="メイリオ" panose="020B0604030504040204" pitchFamily="50" charset="-128"/>
              </a:rPr>
              <a:t>2026</a:t>
            </a:r>
            <a:r>
              <a:rPr lang="ja-JP" altLang="en-US" sz="3600" b="1" dirty="0">
                <a:solidFill>
                  <a:srgbClr val="004A82"/>
                </a:solidFill>
                <a:latin typeface="メイリオ" panose="020B0604030504040204" pitchFamily="50" charset="-128"/>
                <a:ea typeface="メイリオ" panose="020B0604030504040204" pitchFamily="50" charset="-128"/>
              </a:rPr>
              <a:t>年</a:t>
            </a:r>
            <a:r>
              <a:rPr lang="en-US" altLang="ja-JP" sz="3600" b="1" dirty="0">
                <a:solidFill>
                  <a:srgbClr val="004A82"/>
                </a:solidFill>
                <a:latin typeface="メイリオ" panose="020B0604030504040204" pitchFamily="50" charset="-128"/>
                <a:ea typeface="メイリオ" panose="020B0604030504040204" pitchFamily="50" charset="-128"/>
              </a:rPr>
              <a:t>04</a:t>
            </a:r>
            <a:r>
              <a:rPr lang="ja-JP" altLang="en-US" sz="3600" b="1" dirty="0">
                <a:solidFill>
                  <a:srgbClr val="004A82"/>
                </a:solidFill>
                <a:latin typeface="メイリオ" panose="020B0604030504040204" pitchFamily="50" charset="-128"/>
                <a:ea typeface="メイリオ" panose="020B0604030504040204" pitchFamily="50" charset="-128"/>
              </a:rPr>
              <a:t>月</a:t>
            </a:r>
            <a:r>
              <a:rPr lang="en-US" altLang="ja-JP" sz="3600" b="1" dirty="0">
                <a:solidFill>
                  <a:srgbClr val="004A82"/>
                </a:solidFill>
                <a:latin typeface="メイリオ" panose="020B0604030504040204" pitchFamily="50" charset="-128"/>
                <a:ea typeface="メイリオ" panose="020B0604030504040204" pitchFamily="50" charset="-128"/>
              </a:rPr>
              <a:t>08</a:t>
            </a:r>
            <a:r>
              <a:rPr lang="ja-JP" altLang="en-US" sz="3600" b="1" dirty="0">
                <a:solidFill>
                  <a:srgbClr val="004A82"/>
                </a:solidFill>
                <a:latin typeface="メイリオ" panose="020B0604030504040204" pitchFamily="50" charset="-128"/>
                <a:ea typeface="メイリオ" panose="020B0604030504040204" pitchFamily="50" charset="-128"/>
              </a:rPr>
              <a:t>日</a:t>
            </a:r>
            <a:r>
              <a:rPr lang="ja-JP" altLang="en-US" sz="3600" b="1" dirty="0">
                <a:solidFill>
                  <a:srgbClr val="0070C0"/>
                </a:solidFill>
                <a:latin typeface="メイリオ" panose="020B0604030504040204" pitchFamily="50" charset="-128"/>
                <a:ea typeface="メイリオ" panose="020B0604030504040204" pitchFamily="50" charset="-128"/>
              </a:rPr>
              <a:t>　</a:t>
            </a:r>
          </a:p>
        </p:txBody>
      </p:sp>
      <p:sp>
        <p:nvSpPr>
          <p:cNvPr id="3" name="コンテンツ プレースホルダー 2">
            <a:extLst>
              <a:ext uri="{FF2B5EF4-FFF2-40B4-BE49-F238E27FC236}">
                <a16:creationId xmlns:a16="http://schemas.microsoft.com/office/drawing/2014/main" id="{7DC4D23D-69AB-3235-56CA-E3A18ABEE703}"/>
              </a:ext>
            </a:extLst>
          </p:cNvPr>
          <p:cNvSpPr txBox="1">
            <a:spLocks/>
          </p:cNvSpPr>
          <p:nvPr/>
        </p:nvSpPr>
        <p:spPr bwMode="auto">
          <a:xfrm>
            <a:off x="5209856" y="4639139"/>
            <a:ext cx="5503978" cy="1675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pPr algn="r">
              <a:spcBef>
                <a:spcPts val="1200"/>
              </a:spcBef>
            </a:pPr>
            <a:r>
              <a:rPr lang="ja-JP" altLang="ja-JP" sz="3200" b="1" kern="0" dirty="0">
                <a:latin typeface="メイリオ" panose="020B0604030504040204" pitchFamily="50" charset="-128"/>
                <a:ea typeface="メイリオ" panose="020B0604030504040204" pitchFamily="50" charset="-128"/>
              </a:rPr>
              <a:t>株式会社ピープロ・ジャパン</a:t>
            </a:r>
          </a:p>
          <a:p>
            <a:pPr algn="l"/>
            <a:r>
              <a:rPr lang="en-US" altLang="ja-JP" sz="3200" b="1" kern="0" dirty="0">
                <a:latin typeface="メイリオ" panose="020B0604030504040204" pitchFamily="50" charset="-128"/>
                <a:ea typeface="メイリオ" panose="020B0604030504040204" pitchFamily="50" charset="-128"/>
              </a:rPr>
              <a:t>DM/</a:t>
            </a:r>
            <a:r>
              <a:rPr lang="ja-JP" altLang="en-US" sz="3200" b="1" kern="0" dirty="0">
                <a:latin typeface="メイリオ" panose="020B0604030504040204" pitchFamily="50" charset="-128"/>
                <a:ea typeface="メイリオ" panose="020B0604030504040204" pitchFamily="50" charset="-128"/>
              </a:rPr>
              <a:t>統計解析</a:t>
            </a:r>
            <a:r>
              <a:rPr lang="ja-JP" altLang="ja-JP" sz="3200" b="1" kern="0" dirty="0">
                <a:latin typeface="メイリオ" panose="020B0604030504040204" pitchFamily="50" charset="-128"/>
                <a:ea typeface="メイリオ" panose="020B0604030504040204" pitchFamily="50" charset="-128"/>
              </a:rPr>
              <a:t>グループ</a:t>
            </a:r>
            <a:endParaRPr lang="en-US" altLang="ja-JP" sz="3200" b="1" kern="0" dirty="0">
              <a:latin typeface="メイリオ" panose="020B0604030504040204" pitchFamily="50" charset="-128"/>
              <a:ea typeface="メイリオ" panose="020B0604030504040204" pitchFamily="50" charset="-128"/>
            </a:endParaRPr>
          </a:p>
          <a:p>
            <a:pPr algn="l"/>
            <a:r>
              <a:rPr lang="ja-JP" altLang="en-US" sz="3200" b="1" kern="0" dirty="0">
                <a:latin typeface="メイリオ" panose="020B0604030504040204" pitchFamily="50" charset="-128"/>
                <a:ea typeface="メイリオ" panose="020B0604030504040204" pitchFamily="50" charset="-128"/>
              </a:rPr>
              <a:t>牛尾　英孝</a:t>
            </a:r>
            <a:endParaRPr lang="ja-JP" altLang="ja-JP" sz="3200" b="1" kern="0" dirty="0">
              <a:latin typeface="メイリオ" panose="020B0604030504040204" pitchFamily="50" charset="-128"/>
              <a:ea typeface="メイリオ" panose="020B0604030504040204" pitchFamily="50" charset="-128"/>
            </a:endParaRPr>
          </a:p>
        </p:txBody>
      </p:sp>
      <p:grpSp>
        <p:nvGrpSpPr>
          <p:cNvPr id="4" name="グループ化 3">
            <a:extLst>
              <a:ext uri="{FF2B5EF4-FFF2-40B4-BE49-F238E27FC236}">
                <a16:creationId xmlns:a16="http://schemas.microsoft.com/office/drawing/2014/main" id="{8737F712-7622-D259-5992-E19E0164B839}"/>
              </a:ext>
            </a:extLst>
          </p:cNvPr>
          <p:cNvGrpSpPr/>
          <p:nvPr/>
        </p:nvGrpSpPr>
        <p:grpSpPr>
          <a:xfrm>
            <a:off x="1487488" y="3023423"/>
            <a:ext cx="3277111" cy="3717945"/>
            <a:chOff x="3449905" y="3088261"/>
            <a:chExt cx="3277111" cy="3717945"/>
          </a:xfrm>
        </p:grpSpPr>
        <p:pic>
          <p:nvPicPr>
            <p:cNvPr id="5" name="図 4" descr="ロゴ&#10;&#10;自動的に生成された説明">
              <a:extLst>
                <a:ext uri="{FF2B5EF4-FFF2-40B4-BE49-F238E27FC236}">
                  <a16:creationId xmlns:a16="http://schemas.microsoft.com/office/drawing/2014/main" id="{D0CC38F5-368D-A47F-CB87-A35488F479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49905" y="3088261"/>
              <a:ext cx="3277111" cy="3281327"/>
            </a:xfrm>
            <a:prstGeom prst="rect">
              <a:avLst/>
            </a:prstGeom>
          </p:spPr>
        </p:pic>
        <p:sp>
          <p:nvSpPr>
            <p:cNvPr id="6" name="正方形/長方形 5">
              <a:extLst>
                <a:ext uri="{FF2B5EF4-FFF2-40B4-BE49-F238E27FC236}">
                  <a16:creationId xmlns:a16="http://schemas.microsoft.com/office/drawing/2014/main" id="{787B045E-0D0B-B4D1-A30B-043079293418}"/>
                </a:ext>
              </a:extLst>
            </p:cNvPr>
            <p:cNvSpPr/>
            <p:nvPr/>
          </p:nvSpPr>
          <p:spPr>
            <a:xfrm>
              <a:off x="3613022" y="6436874"/>
              <a:ext cx="2579552" cy="369332"/>
            </a:xfrm>
            <a:prstGeom prst="rect">
              <a:avLst/>
            </a:prstGeom>
            <a:noFill/>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i="1" dirty="0" err="1">
                  <a:solidFill>
                    <a:srgbClr val="0070C0"/>
                  </a:solidFill>
                  <a:latin typeface="Lucida Calligraphy" panose="03010101010101010101" pitchFamily="66" charset="0"/>
                </a:rPr>
                <a:t>Ppro</a:t>
              </a:r>
              <a:r>
                <a:rPr lang="en-US" altLang="ja-JP" i="1" dirty="0">
                  <a:solidFill>
                    <a:srgbClr val="0070C0"/>
                  </a:solidFill>
                  <a:latin typeface="Lucida Calligraphy" panose="03010101010101010101" pitchFamily="66" charset="0"/>
                </a:rPr>
                <a:t>-Japan </a:t>
              </a:r>
              <a:r>
                <a:rPr lang="en-US" altLang="ja-JP" i="1" dirty="0" err="1">
                  <a:solidFill>
                    <a:srgbClr val="0070C0"/>
                  </a:solidFill>
                  <a:latin typeface="Lucida Calligraphy" panose="03010101010101010101" pitchFamily="66" charset="0"/>
                </a:rPr>
                <a:t>Co.,Ltd</a:t>
              </a:r>
              <a:r>
                <a:rPr lang="en-US" altLang="ja-JP" i="1" dirty="0">
                  <a:solidFill>
                    <a:srgbClr val="0070C0"/>
                  </a:solidFill>
                  <a:latin typeface="Lucida Calligraphy" panose="03010101010101010101" pitchFamily="66" charset="0"/>
                </a:rPr>
                <a:t>.</a:t>
              </a:r>
              <a:endParaRPr lang="ja-JP" altLang="en-US" i="1" dirty="0">
                <a:solidFill>
                  <a:srgbClr val="0070C0"/>
                </a:solidFill>
                <a:latin typeface="Lucida Calligraphy" panose="03010101010101010101" pitchFamily="66" charset="0"/>
              </a:endParaRPr>
            </a:p>
          </p:txBody>
        </p:sp>
      </p:grpSp>
    </p:spTree>
    <p:extLst>
      <p:ext uri="{BB962C8B-B14F-4D97-AF65-F5344CB8AC3E}">
        <p14:creationId xmlns:p14="http://schemas.microsoft.com/office/powerpoint/2010/main" val="1039152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a:xfrm>
            <a:off x="406400" y="381000"/>
            <a:ext cx="10370120" cy="533400"/>
          </a:xfrm>
        </p:spPr>
        <p:txBody>
          <a:bodyPr/>
          <a:lstStyle/>
          <a:p>
            <a:r>
              <a:rPr kumimoji="1" lang="ja-JP" altLang="en-US" dirty="0"/>
              <a:t>免責事項</a:t>
            </a:r>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2</a:t>
            </a:fld>
            <a:endParaRPr lang="en-US" altLang="ja-JP"/>
          </a:p>
        </p:txBody>
      </p:sp>
      <p:sp>
        <p:nvSpPr>
          <p:cNvPr id="5" name="吹き出し: 四角形 4">
            <a:extLst>
              <a:ext uri="{FF2B5EF4-FFF2-40B4-BE49-F238E27FC236}">
                <a16:creationId xmlns:a16="http://schemas.microsoft.com/office/drawing/2014/main" id="{944EAB91-2819-9292-BF8C-F2B58EE1AC9F}"/>
              </a:ext>
            </a:extLst>
          </p:cNvPr>
          <p:cNvSpPr/>
          <p:nvPr/>
        </p:nvSpPr>
        <p:spPr>
          <a:xfrm>
            <a:off x="255418" y="2304662"/>
            <a:ext cx="11681163" cy="1716372"/>
          </a:xfrm>
          <a:prstGeom prst="wedgeRectCallout">
            <a:avLst>
              <a:gd name="adj1" fmla="val 15053"/>
              <a:gd name="adj2" fmla="val -4038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ja-JP" altLang="en-US" sz="3200" dirty="0">
                <a:solidFill>
                  <a:schemeClr val="tx1"/>
                </a:solidFill>
                <a:latin typeface="メイリオ" panose="020B0604030504040204" pitchFamily="50" charset="-128"/>
                <a:ea typeface="メイリオ" panose="020B0604030504040204" pitchFamily="50" charset="-128"/>
              </a:rPr>
              <a:t>本発表で述べる意見や見解は</a:t>
            </a:r>
            <a:r>
              <a:rPr lang="en-US" altLang="ja-JP" sz="3200" dirty="0">
                <a:solidFill>
                  <a:schemeClr val="tx1"/>
                </a:solidFill>
                <a:latin typeface="メイリオ" panose="020B0604030504040204" pitchFamily="50" charset="-128"/>
                <a:ea typeface="メイリオ" panose="020B0604030504040204" pitchFamily="50" charset="-128"/>
              </a:rPr>
              <a:t>, </a:t>
            </a:r>
            <a:r>
              <a:rPr lang="ja-JP" altLang="en-US" sz="3200" dirty="0">
                <a:solidFill>
                  <a:schemeClr val="tx1"/>
                </a:solidFill>
                <a:latin typeface="メイリオ" panose="020B0604030504040204" pitchFamily="50" charset="-128"/>
                <a:ea typeface="メイリオ" panose="020B0604030504040204" pitchFamily="50" charset="-128"/>
              </a:rPr>
              <a:t>演題発表者個人のものです</a:t>
            </a:r>
            <a:r>
              <a:rPr lang="en-US" altLang="ja-JP" sz="3200" dirty="0">
                <a:solidFill>
                  <a:schemeClr val="tx1"/>
                </a:solidFill>
                <a:latin typeface="メイリオ" panose="020B0604030504040204" pitchFamily="50" charset="-128"/>
                <a:ea typeface="メイリオ" panose="020B0604030504040204" pitchFamily="50" charset="-128"/>
              </a:rPr>
              <a:t>.</a:t>
            </a:r>
          </a:p>
          <a:p>
            <a:pPr lvl="0"/>
            <a:r>
              <a:rPr lang="ja-JP" altLang="en-US" sz="3200" dirty="0">
                <a:solidFill>
                  <a:schemeClr val="tx1"/>
                </a:solidFill>
                <a:latin typeface="メイリオ" panose="020B0604030504040204" pitchFamily="50" charset="-128"/>
                <a:ea typeface="メイリオ" panose="020B0604030504040204" pitchFamily="50" charset="-128"/>
              </a:rPr>
              <a:t>所属する組織の意見を代表するものではありません</a:t>
            </a:r>
            <a:r>
              <a:rPr lang="en-US" altLang="ja-JP" sz="3200" dirty="0">
                <a:solidFill>
                  <a:schemeClr val="tx1"/>
                </a:solidFill>
                <a:latin typeface="メイリオ" panose="020B0604030504040204" pitchFamily="50" charset="-128"/>
                <a:ea typeface="メイリオ" panose="020B0604030504040204" pitchFamily="50" charset="-128"/>
              </a:rPr>
              <a:t>.</a:t>
            </a:r>
          </a:p>
        </p:txBody>
      </p:sp>
      <p:sp>
        <p:nvSpPr>
          <p:cNvPr id="6" name="テキスト ボックス 5">
            <a:extLst>
              <a:ext uri="{FF2B5EF4-FFF2-40B4-BE49-F238E27FC236}">
                <a16:creationId xmlns:a16="http://schemas.microsoft.com/office/drawing/2014/main" id="{CE6CC6AE-DCE7-9FF7-9388-F19E0D7AA55C}"/>
              </a:ext>
            </a:extLst>
          </p:cNvPr>
          <p:cNvSpPr txBox="1"/>
          <p:nvPr/>
        </p:nvSpPr>
        <p:spPr>
          <a:xfrm rot="1250623">
            <a:off x="8637112" y="4306368"/>
            <a:ext cx="3019543" cy="1077218"/>
          </a:xfrm>
          <a:prstGeom prst="rect">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vert="horz" wrap="square" rtlCol="0">
            <a:spAutoFit/>
          </a:bodyPr>
          <a:lstStyle/>
          <a:p>
            <a:r>
              <a:rPr lang="en-US" altLang="ja-JP" sz="3200" dirty="0">
                <a:latin typeface="Times New Roman" panose="02020603050405020304" pitchFamily="18" charset="0"/>
                <a:ea typeface="HGP行書体" panose="03000600000000000000" pitchFamily="66" charset="-128"/>
                <a:cs typeface="Times New Roman" panose="02020603050405020304" pitchFamily="18" charset="0"/>
              </a:rPr>
              <a:t>R</a:t>
            </a:r>
            <a:r>
              <a:rPr lang="ja-JP" altLang="en-US" sz="3200" dirty="0">
                <a:latin typeface="Times New Roman" panose="02020603050405020304" pitchFamily="18" charset="0"/>
                <a:ea typeface="HGP行書体" panose="03000600000000000000" pitchFamily="66" charset="-128"/>
                <a:cs typeface="Times New Roman" panose="02020603050405020304" pitchFamily="18" charset="0"/>
              </a:rPr>
              <a:t>の実行環境は</a:t>
            </a:r>
            <a:endParaRPr lang="en-US" altLang="ja-JP" sz="3200" dirty="0">
              <a:latin typeface="Times New Roman" panose="02020603050405020304" pitchFamily="18" charset="0"/>
              <a:ea typeface="HGP行書体" panose="03000600000000000000" pitchFamily="66" charset="-128"/>
              <a:cs typeface="Times New Roman" panose="02020603050405020304" pitchFamily="18" charset="0"/>
            </a:endParaRPr>
          </a:p>
          <a:p>
            <a:r>
              <a:rPr lang="en-US" altLang="ja-JP" sz="3200" dirty="0">
                <a:latin typeface="Times New Roman" panose="02020603050405020304" pitchFamily="18" charset="0"/>
                <a:ea typeface="HGP行書体" panose="03000600000000000000" pitchFamily="66" charset="-128"/>
                <a:cs typeface="Times New Roman" panose="02020603050405020304" pitchFamily="18" charset="0"/>
              </a:rPr>
              <a:t>Version4.5.3</a:t>
            </a:r>
            <a:r>
              <a:rPr lang="ja-JP" altLang="en-US" sz="3200" dirty="0">
                <a:latin typeface="Times New Roman" panose="02020603050405020304" pitchFamily="18" charset="0"/>
                <a:ea typeface="HGP行書体" panose="03000600000000000000" pitchFamily="66" charset="-128"/>
                <a:cs typeface="Times New Roman" panose="02020603050405020304" pitchFamily="18" charset="0"/>
              </a:rPr>
              <a:t>です</a:t>
            </a:r>
            <a:endParaRPr kumimoji="1" lang="ja-JP" altLang="en-US" sz="3200" dirty="0">
              <a:latin typeface="Times New Roman" panose="02020603050405020304" pitchFamily="18" charset="0"/>
              <a:ea typeface="HGP行書体" panose="03000600000000000000" pitchFamily="66" charset="-128"/>
              <a:cs typeface="Times New Roman" panose="02020603050405020304" pitchFamily="18" charset="0"/>
            </a:endParaRPr>
          </a:p>
        </p:txBody>
      </p:sp>
      <p:pic>
        <p:nvPicPr>
          <p:cNvPr id="8" name="図 7" descr="ロゴ&#10;&#10;自動的に生成された説明">
            <a:extLst>
              <a:ext uri="{FF2B5EF4-FFF2-40B4-BE49-F238E27FC236}">
                <a16:creationId xmlns:a16="http://schemas.microsoft.com/office/drawing/2014/main" id="{5AB4BD29-051B-E39B-0F3D-97AFF31A14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Tree>
    <p:extLst>
      <p:ext uri="{BB962C8B-B14F-4D97-AF65-F5344CB8AC3E}">
        <p14:creationId xmlns:p14="http://schemas.microsoft.com/office/powerpoint/2010/main" val="334361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80218-33C1-596E-6D3D-93E9EE8E93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FE67CB-DE73-214D-5EB9-059F5C33845F}"/>
              </a:ext>
            </a:extLst>
          </p:cNvPr>
          <p:cNvSpPr>
            <a:spLocks noGrp="1"/>
          </p:cNvSpPr>
          <p:nvPr>
            <p:ph type="title"/>
          </p:nvPr>
        </p:nvSpPr>
        <p:spPr/>
        <p:txBody>
          <a:bodyPr/>
          <a:lstStyle/>
          <a:p>
            <a:r>
              <a:rPr kumimoji="1" lang="ja-JP" altLang="en-US" dirty="0"/>
              <a:t>本演題の内容</a:t>
            </a:r>
          </a:p>
        </p:txBody>
      </p:sp>
      <p:sp>
        <p:nvSpPr>
          <p:cNvPr id="4" name="スライド番号プレースホルダー 3">
            <a:extLst>
              <a:ext uri="{FF2B5EF4-FFF2-40B4-BE49-F238E27FC236}">
                <a16:creationId xmlns:a16="http://schemas.microsoft.com/office/drawing/2014/main" id="{9F4E132A-3BA0-4BE5-6AC3-D3ADCD5ED958}"/>
              </a:ext>
            </a:extLst>
          </p:cNvPr>
          <p:cNvSpPr>
            <a:spLocks noGrp="1"/>
          </p:cNvSpPr>
          <p:nvPr>
            <p:ph type="sldNum" sz="quarter" idx="11"/>
          </p:nvPr>
        </p:nvSpPr>
        <p:spPr/>
        <p:txBody>
          <a:bodyPr/>
          <a:lstStyle/>
          <a:p>
            <a:fld id="{23B20E4E-3F95-4221-AFE5-FD1FD9CC3448}" type="slidenum">
              <a:rPr lang="en-US" altLang="ja-JP" smtClean="0"/>
              <a:pPr/>
              <a:t>3</a:t>
            </a:fld>
            <a:endParaRPr lang="en-US" altLang="ja-JP"/>
          </a:p>
        </p:txBody>
      </p:sp>
      <p:pic>
        <p:nvPicPr>
          <p:cNvPr id="5" name="図 4" descr="ロゴ&#10;&#10;自動的に生成された説明">
            <a:extLst>
              <a:ext uri="{FF2B5EF4-FFF2-40B4-BE49-F238E27FC236}">
                <a16:creationId xmlns:a16="http://schemas.microsoft.com/office/drawing/2014/main" id="{B34E650C-D00A-EDDD-3337-3662FE0F4C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pic>
        <p:nvPicPr>
          <p:cNvPr id="6" name="図 5">
            <a:extLst>
              <a:ext uri="{FF2B5EF4-FFF2-40B4-BE49-F238E27FC236}">
                <a16:creationId xmlns:a16="http://schemas.microsoft.com/office/drawing/2014/main" id="{856B8E9B-015D-3E31-3952-DB4D77C430F0}"/>
              </a:ext>
            </a:extLst>
          </p:cNvPr>
          <p:cNvPicPr>
            <a:picLocks noChangeAspect="1"/>
          </p:cNvPicPr>
          <p:nvPr/>
        </p:nvPicPr>
        <p:blipFill rotWithShape="1">
          <a:blip r:embed="rId3"/>
          <a:srcRect l="10033" r="48877"/>
          <a:stretch/>
        </p:blipFill>
        <p:spPr>
          <a:xfrm>
            <a:off x="210504" y="2674714"/>
            <a:ext cx="1637024" cy="2988000"/>
          </a:xfrm>
          <a:prstGeom prst="rect">
            <a:avLst/>
          </a:prstGeom>
        </p:spPr>
      </p:pic>
      <p:sp>
        <p:nvSpPr>
          <p:cNvPr id="7" name="テキスト ボックス 6">
            <a:extLst>
              <a:ext uri="{FF2B5EF4-FFF2-40B4-BE49-F238E27FC236}">
                <a16:creationId xmlns:a16="http://schemas.microsoft.com/office/drawing/2014/main" id="{A8860B0B-FC9B-392C-F1FC-591668DFD908}"/>
              </a:ext>
            </a:extLst>
          </p:cNvPr>
          <p:cNvSpPr txBox="1"/>
          <p:nvPr/>
        </p:nvSpPr>
        <p:spPr>
          <a:xfrm>
            <a:off x="1847528" y="1221047"/>
            <a:ext cx="9073008" cy="5209118"/>
          </a:xfrm>
          <a:prstGeom prst="rect">
            <a:avLst/>
          </a:prstGeom>
          <a:blipFill dpi="0" rotWithShape="1">
            <a:blip r:embed="rId4">
              <a:alphaModFix amt="63000"/>
            </a:blip>
            <a:srcRect/>
            <a:tile tx="0" ty="0" sx="100000" sy="100000" flip="none" algn="tl"/>
          </a:blipFill>
        </p:spPr>
        <p:txBody>
          <a:bodyPr wrap="square" rtlCol="0">
            <a:spAutoFit/>
          </a:bodyPr>
          <a:lstStyle/>
          <a:p>
            <a:pPr>
              <a:lnSpc>
                <a:spcPct val="150000"/>
              </a:lnSpc>
            </a:pPr>
            <a:r>
              <a:rPr lang="ja-JP" altLang="en-US" sz="2800" dirty="0">
                <a:latin typeface="メイリオ" panose="020B0604030504040204" pitchFamily="50" charset="-128"/>
                <a:ea typeface="メイリオ" panose="020B0604030504040204" pitchFamily="50" charset="-128"/>
              </a:rPr>
              <a:t>　統計的因果推論では</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単なる相関ではなく</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処置の有無により結果がどのように変化するかという因果効果の推定を目的とするが</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観察研究においては交絡の影響により</a:t>
            </a:r>
            <a:r>
              <a:rPr lang="en-US" altLang="ja-JP" sz="2800" dirty="0">
                <a:latin typeface="メイリオ" panose="020B0604030504040204" pitchFamily="50" charset="-128"/>
                <a:ea typeface="メイリオ" panose="020B0604030504040204" pitchFamily="50" charset="-128"/>
              </a:rPr>
              <a:t>,</a:t>
            </a:r>
            <a:r>
              <a:rPr lang="ja-JP" altLang="en-US" sz="2800" dirty="0">
                <a:latin typeface="メイリオ" panose="020B0604030504040204" pitchFamily="50" charset="-128"/>
                <a:ea typeface="メイリオ" panose="020B0604030504040204" pitchFamily="50" charset="-128"/>
              </a:rPr>
              <a:t> 因果効果を適切に評価できないという問題がある</a:t>
            </a:r>
            <a:r>
              <a:rPr lang="en-US" altLang="ja-JP" sz="2800" dirty="0">
                <a:latin typeface="メイリオ" panose="020B0604030504040204" pitchFamily="50" charset="-128"/>
                <a:ea typeface="メイリオ" panose="020B0604030504040204" pitchFamily="50" charset="-128"/>
              </a:rPr>
              <a:t>.</a:t>
            </a:r>
          </a:p>
          <a:p>
            <a:pPr>
              <a:lnSpc>
                <a:spcPct val="150000"/>
              </a:lnSpc>
            </a:pPr>
            <a:r>
              <a:rPr lang="ja-JP" altLang="en-US" sz="2800" dirty="0">
                <a:latin typeface="メイリオ" panose="020B0604030504040204" pitchFamily="50" charset="-128"/>
                <a:ea typeface="メイリオ" panose="020B0604030504040204" pitchFamily="50" charset="-128"/>
              </a:rPr>
              <a:t>　本演題では</a:t>
            </a:r>
            <a:r>
              <a:rPr lang="en-US" altLang="ja-JP" sz="2800" dirty="0">
                <a:latin typeface="メイリオ" panose="020B0604030504040204" pitchFamily="50" charset="-128"/>
                <a:ea typeface="メイリオ" panose="020B0604030504040204" pitchFamily="50" charset="-128"/>
              </a:rPr>
              <a:t>,</a:t>
            </a:r>
            <a:r>
              <a:rPr lang="ja-JP" altLang="en-US" sz="2800" dirty="0">
                <a:latin typeface="メイリオ" panose="020B0604030504040204" pitchFamily="50" charset="-128"/>
                <a:ea typeface="メイリオ" panose="020B0604030504040204" pitchFamily="50" charset="-128"/>
              </a:rPr>
              <a:t> 因果推論の基本的な考え方である共変量調整について</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その目的と直感的な理解及び</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代表的な手法である層別解析と共変量マッチングについて</a:t>
            </a:r>
            <a:r>
              <a:rPr lang="en-US" altLang="ja-JP" sz="2800" dirty="0">
                <a:latin typeface="メイリオ" panose="020B0604030504040204" pitchFamily="50" charset="-128"/>
                <a:ea typeface="メイリオ" panose="020B0604030504040204" pitchFamily="50" charset="-128"/>
              </a:rPr>
              <a:t>,</a:t>
            </a:r>
            <a:r>
              <a:rPr lang="ja-JP" altLang="en-US" sz="2800" dirty="0">
                <a:latin typeface="メイリオ" panose="020B0604030504040204" pitchFamily="50" charset="-128"/>
                <a:ea typeface="メイリオ" panose="020B0604030504040204" pitchFamily="50" charset="-128"/>
              </a:rPr>
              <a:t> 簡易な具体例を</a:t>
            </a:r>
            <a:r>
              <a:rPr lang="en-US" altLang="ja-JP" sz="2800" dirty="0">
                <a:latin typeface="メイリオ" panose="020B0604030504040204" pitchFamily="50" charset="-128"/>
                <a:ea typeface="メイリオ" panose="020B0604030504040204" pitchFamily="50" charset="-128"/>
              </a:rPr>
              <a:t>R</a:t>
            </a:r>
            <a:r>
              <a:rPr lang="ja-JP" altLang="en-US" sz="2800" dirty="0">
                <a:latin typeface="メイリオ" panose="020B0604030504040204" pitchFamily="50" charset="-128"/>
                <a:ea typeface="メイリオ" panose="020B0604030504040204" pitchFamily="50" charset="-128"/>
              </a:rPr>
              <a:t>の実装例を交えて解説する</a:t>
            </a:r>
            <a:r>
              <a:rPr lang="en-US" altLang="ja-JP" sz="28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697325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A7CE-572F-531D-EA88-0106494DE8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8F2138-36E6-D884-C3C8-62B5FF5C9FB1}"/>
              </a:ext>
            </a:extLst>
          </p:cNvPr>
          <p:cNvSpPr>
            <a:spLocks noGrp="1"/>
          </p:cNvSpPr>
          <p:nvPr>
            <p:ph type="title"/>
          </p:nvPr>
        </p:nvSpPr>
        <p:spPr/>
        <p:txBody>
          <a:bodyPr/>
          <a:lstStyle/>
          <a:p>
            <a:r>
              <a:rPr kumimoji="1" lang="ja-JP" altLang="en-US" dirty="0"/>
              <a:t>本演題の内容</a:t>
            </a:r>
            <a:r>
              <a:rPr kumimoji="1" lang="en-US" altLang="ja-JP" dirty="0"/>
              <a:t>/</a:t>
            </a:r>
            <a:r>
              <a:rPr kumimoji="1" lang="ja-JP" altLang="en-US" dirty="0"/>
              <a:t>目次</a:t>
            </a:r>
          </a:p>
        </p:txBody>
      </p:sp>
      <p:sp>
        <p:nvSpPr>
          <p:cNvPr id="4" name="スライド番号プレースホルダー 3">
            <a:extLst>
              <a:ext uri="{FF2B5EF4-FFF2-40B4-BE49-F238E27FC236}">
                <a16:creationId xmlns:a16="http://schemas.microsoft.com/office/drawing/2014/main" id="{24CF051B-9FB2-9EE0-A3AD-D057F92D2EAC}"/>
              </a:ext>
            </a:extLst>
          </p:cNvPr>
          <p:cNvSpPr>
            <a:spLocks noGrp="1"/>
          </p:cNvSpPr>
          <p:nvPr>
            <p:ph type="sldNum" sz="quarter" idx="11"/>
          </p:nvPr>
        </p:nvSpPr>
        <p:spPr/>
        <p:txBody>
          <a:bodyPr/>
          <a:lstStyle/>
          <a:p>
            <a:fld id="{23B20E4E-3F95-4221-AFE5-FD1FD9CC3448}" type="slidenum">
              <a:rPr lang="en-US" altLang="ja-JP" smtClean="0"/>
              <a:pPr/>
              <a:t>4</a:t>
            </a:fld>
            <a:endParaRPr lang="en-US" altLang="ja-JP"/>
          </a:p>
        </p:txBody>
      </p:sp>
      <p:pic>
        <p:nvPicPr>
          <p:cNvPr id="5" name="図 4" descr="ロゴ&#10;&#10;自動的に生成された説明">
            <a:extLst>
              <a:ext uri="{FF2B5EF4-FFF2-40B4-BE49-F238E27FC236}">
                <a16:creationId xmlns:a16="http://schemas.microsoft.com/office/drawing/2014/main" id="{EE9BC957-1533-E276-7724-41FEF5595D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43" name="タイトル 1">
            <a:extLst>
              <a:ext uri="{FF2B5EF4-FFF2-40B4-BE49-F238E27FC236}">
                <a16:creationId xmlns:a16="http://schemas.microsoft.com/office/drawing/2014/main" id="{BF10C358-DA95-3325-A6EB-65FB9DBB0BCE}"/>
              </a:ext>
            </a:extLst>
          </p:cNvPr>
          <p:cNvSpPr txBox="1">
            <a:spLocks/>
          </p:cNvSpPr>
          <p:nvPr/>
        </p:nvSpPr>
        <p:spPr bwMode="auto">
          <a:xfrm>
            <a:off x="169199" y="2961522"/>
            <a:ext cx="1836000" cy="995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lvl1pPr algn="l" rtl="0" eaLnBrk="1" fontAlgn="base" hangingPunct="1">
              <a:spcBef>
                <a:spcPct val="0"/>
              </a:spcBef>
              <a:spcAft>
                <a:spcPct val="0"/>
              </a:spcAft>
              <a:defRPr kumimoji="1" sz="3200" b="1" i="1">
                <a:solidFill>
                  <a:srgbClr val="4D4D4D"/>
                </a:solidFill>
                <a:latin typeface="+mj-lt"/>
                <a:ea typeface="+mj-ea"/>
                <a:cs typeface="+mj-cs"/>
              </a:defRPr>
            </a:lvl1pPr>
            <a:lvl2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9pPr>
          </a:lstStyle>
          <a:p>
            <a:pPr algn="ctr"/>
            <a:r>
              <a:rPr lang="ja-JP" altLang="en-US" sz="5400" kern="0">
                <a:solidFill>
                  <a:schemeClr val="bg1"/>
                </a:solidFill>
                <a:latin typeface="メイリオ" panose="020B0604030504040204" pitchFamily="50" charset="-128"/>
                <a:ea typeface="メイリオ" panose="020B0604030504040204" pitchFamily="50" charset="-128"/>
              </a:rPr>
              <a:t>目次</a:t>
            </a:r>
            <a:endParaRPr lang="ja-JP" altLang="en-US" sz="5400" kern="0" dirty="0">
              <a:solidFill>
                <a:schemeClr val="bg1"/>
              </a:solidFill>
              <a:latin typeface="メイリオ" panose="020B0604030504040204" pitchFamily="50" charset="-128"/>
              <a:ea typeface="メイリオ" panose="020B0604030504040204" pitchFamily="50" charset="-128"/>
            </a:endParaRPr>
          </a:p>
        </p:txBody>
      </p:sp>
      <p:sp>
        <p:nvSpPr>
          <p:cNvPr id="44" name="タイトル 1">
            <a:extLst>
              <a:ext uri="{FF2B5EF4-FFF2-40B4-BE49-F238E27FC236}">
                <a16:creationId xmlns:a16="http://schemas.microsoft.com/office/drawing/2014/main" id="{490A46E4-BD31-C969-1EDD-86574AED0A66}"/>
              </a:ext>
            </a:extLst>
          </p:cNvPr>
          <p:cNvSpPr txBox="1">
            <a:spLocks/>
          </p:cNvSpPr>
          <p:nvPr/>
        </p:nvSpPr>
        <p:spPr>
          <a:xfrm>
            <a:off x="2207568" y="1632651"/>
            <a:ext cx="8133370" cy="720000"/>
          </a:xfrm>
          <a:prstGeom prst="rect">
            <a:avLst/>
          </a:prstGeom>
          <a:ln w="12700">
            <a:solidFill>
              <a:schemeClr val="accent1">
                <a:lumMod val="75000"/>
              </a:schemeClr>
            </a:solidFill>
          </a:ln>
        </p:spPr>
        <p:txBody>
          <a:bodyPr vert="horz" lIns="91440" tIns="216000" rIns="91440" bIns="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dirty="0">
                <a:latin typeface="メイリオ" panose="020B0604030504040204" pitchFamily="50" charset="-128"/>
                <a:ea typeface="メイリオ" panose="020B0604030504040204" pitchFamily="50" charset="-128"/>
              </a:rPr>
              <a:t>観察研究の事例と交絡</a:t>
            </a:r>
          </a:p>
        </p:txBody>
      </p:sp>
      <p:sp>
        <p:nvSpPr>
          <p:cNvPr id="45" name="テキスト ボックス 44">
            <a:extLst>
              <a:ext uri="{FF2B5EF4-FFF2-40B4-BE49-F238E27FC236}">
                <a16:creationId xmlns:a16="http://schemas.microsoft.com/office/drawing/2014/main" id="{3816F0E4-CF9F-3DD0-751D-16A672160132}"/>
              </a:ext>
            </a:extLst>
          </p:cNvPr>
          <p:cNvSpPr txBox="1"/>
          <p:nvPr/>
        </p:nvSpPr>
        <p:spPr>
          <a:xfrm>
            <a:off x="1384907" y="1632651"/>
            <a:ext cx="822661" cy="720000"/>
          </a:xfrm>
          <a:prstGeom prst="rect">
            <a:avLst/>
          </a:prstGeom>
          <a:solidFill>
            <a:schemeClr val="accent5"/>
          </a:solidFill>
          <a:ln w="12700">
            <a:solidFill>
              <a:schemeClr val="accent1">
                <a:lumMod val="75000"/>
              </a:schemeClr>
            </a:solidFill>
          </a:ln>
        </p:spPr>
        <p:txBody>
          <a:bodyPr vert="horz" lIns="108000" tIns="36000" rIns="91440" bIns="0" rtlCol="0" anchor="ctr" anchorCtr="1">
            <a:noAutofit/>
          </a:bodyPr>
          <a:lstStyle>
            <a:defPPr>
              <a:defRPr lang="ja-JP"/>
            </a:defPPr>
            <a:lvl1pPr>
              <a:lnSpc>
                <a:spcPct val="90000"/>
              </a:lnSpc>
              <a:spcBef>
                <a:spcPct val="0"/>
              </a:spcBef>
              <a:buNone/>
              <a:defRPr sz="4000">
                <a:solidFill>
                  <a:srgbClr val="FFAA1C"/>
                </a:solidFill>
                <a:latin typeface="メイリオ" panose="020B0604030504040204" pitchFamily="50" charset="-128"/>
                <a:ea typeface="メイリオ" panose="020B0604030504040204" pitchFamily="50" charset="-128"/>
                <a:cs typeface="+mj-cs"/>
              </a:defRPr>
            </a:lvl1pPr>
          </a:lstStyle>
          <a:p>
            <a:r>
              <a:rPr lang="en-US" altLang="ja-JP" sz="3600" dirty="0">
                <a:solidFill>
                  <a:schemeClr val="tx1"/>
                </a:solidFill>
                <a:latin typeface="Segoe UI" panose="020B0502040204020203" pitchFamily="34" charset="0"/>
                <a:cs typeface="Segoe UI" panose="020B0502040204020203" pitchFamily="34" charset="0"/>
              </a:rPr>
              <a:t>1</a:t>
            </a:r>
            <a:endParaRPr lang="ja-JP" altLang="en-US" sz="3600" dirty="0">
              <a:solidFill>
                <a:schemeClr val="tx1"/>
              </a:solidFill>
              <a:latin typeface="Segoe UI" panose="020B0502040204020203" pitchFamily="34" charset="0"/>
              <a:cs typeface="Segoe UI" panose="020B0502040204020203" pitchFamily="34" charset="0"/>
            </a:endParaRPr>
          </a:p>
        </p:txBody>
      </p:sp>
      <p:sp>
        <p:nvSpPr>
          <p:cNvPr id="46" name="タイトル 1">
            <a:extLst>
              <a:ext uri="{FF2B5EF4-FFF2-40B4-BE49-F238E27FC236}">
                <a16:creationId xmlns:a16="http://schemas.microsoft.com/office/drawing/2014/main" id="{B05A6141-366E-800E-3DAE-E3D1B7408229}"/>
              </a:ext>
            </a:extLst>
          </p:cNvPr>
          <p:cNvSpPr txBox="1">
            <a:spLocks/>
          </p:cNvSpPr>
          <p:nvPr/>
        </p:nvSpPr>
        <p:spPr>
          <a:xfrm>
            <a:off x="2207568" y="2621427"/>
            <a:ext cx="8133370" cy="720000"/>
          </a:xfrm>
          <a:prstGeom prst="rect">
            <a:avLst/>
          </a:prstGeom>
          <a:ln w="12700">
            <a:solidFill>
              <a:schemeClr val="accent1">
                <a:lumMod val="75000"/>
              </a:schemeClr>
            </a:solidFill>
          </a:ln>
        </p:spPr>
        <p:txBody>
          <a:bodyPr vert="horz" lIns="91440" tIns="216000" rIns="91440" bIns="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dirty="0">
                <a:latin typeface="メイリオ" panose="020B0604030504040204" pitchFamily="50" charset="-128"/>
                <a:ea typeface="メイリオ" panose="020B0604030504040204" pitchFamily="50" charset="-128"/>
              </a:rPr>
              <a:t>層別解析と共変量調整</a:t>
            </a:r>
            <a:r>
              <a:rPr lang="en-US" altLang="ja-JP" sz="3600" dirty="0">
                <a:latin typeface="メイリオ" panose="020B0604030504040204" pitchFamily="50" charset="-128"/>
                <a:ea typeface="メイリオ" panose="020B0604030504040204" pitchFamily="50" charset="-128"/>
              </a:rPr>
              <a:t>/R</a:t>
            </a:r>
            <a:r>
              <a:rPr lang="ja-JP" altLang="en-US" sz="3600" dirty="0">
                <a:latin typeface="メイリオ" panose="020B0604030504040204" pitchFamily="50" charset="-128"/>
                <a:ea typeface="メイリオ" panose="020B0604030504040204" pitchFamily="50" charset="-128"/>
              </a:rPr>
              <a:t>による実装例</a:t>
            </a:r>
          </a:p>
        </p:txBody>
      </p:sp>
      <p:sp>
        <p:nvSpPr>
          <p:cNvPr id="47" name="テキスト ボックス 46">
            <a:extLst>
              <a:ext uri="{FF2B5EF4-FFF2-40B4-BE49-F238E27FC236}">
                <a16:creationId xmlns:a16="http://schemas.microsoft.com/office/drawing/2014/main" id="{BDBAC35E-DD58-2CD1-7EE5-F188AEE85446}"/>
              </a:ext>
            </a:extLst>
          </p:cNvPr>
          <p:cNvSpPr txBox="1"/>
          <p:nvPr/>
        </p:nvSpPr>
        <p:spPr>
          <a:xfrm>
            <a:off x="1384907" y="2621427"/>
            <a:ext cx="822661" cy="720000"/>
          </a:xfrm>
          <a:prstGeom prst="rect">
            <a:avLst/>
          </a:prstGeom>
          <a:solidFill>
            <a:schemeClr val="accent5"/>
          </a:solidFill>
          <a:ln w="12700">
            <a:solidFill>
              <a:schemeClr val="accent1">
                <a:lumMod val="75000"/>
              </a:schemeClr>
            </a:solidFill>
          </a:ln>
        </p:spPr>
        <p:txBody>
          <a:bodyPr vert="horz" lIns="108000" tIns="36000" rIns="91440" bIns="0" rtlCol="0" anchor="ctr" anchorCtr="1">
            <a:noAutofit/>
          </a:bodyPr>
          <a:lstStyle>
            <a:defPPr>
              <a:defRPr lang="ja-JP"/>
            </a:defPPr>
            <a:lvl1pPr>
              <a:lnSpc>
                <a:spcPct val="90000"/>
              </a:lnSpc>
              <a:spcBef>
                <a:spcPct val="0"/>
              </a:spcBef>
              <a:buNone/>
              <a:defRPr sz="4000">
                <a:solidFill>
                  <a:srgbClr val="FFAA1C"/>
                </a:solidFill>
                <a:latin typeface="メイリオ" panose="020B0604030504040204" pitchFamily="50" charset="-128"/>
                <a:ea typeface="メイリオ" panose="020B0604030504040204" pitchFamily="50" charset="-128"/>
                <a:cs typeface="+mj-cs"/>
              </a:defRPr>
            </a:lvl1pPr>
          </a:lstStyle>
          <a:p>
            <a:r>
              <a:rPr lang="en-US" altLang="ja-JP" sz="3600" dirty="0">
                <a:solidFill>
                  <a:schemeClr val="tx1"/>
                </a:solidFill>
                <a:latin typeface="Segoe UI" panose="020B0502040204020203" pitchFamily="34" charset="0"/>
                <a:cs typeface="Segoe UI" panose="020B0502040204020203" pitchFamily="34" charset="0"/>
              </a:rPr>
              <a:t>2</a:t>
            </a:r>
            <a:endParaRPr lang="ja-JP" altLang="en-US" sz="3600" dirty="0">
              <a:solidFill>
                <a:schemeClr val="tx1"/>
              </a:solidFill>
              <a:latin typeface="Segoe UI" panose="020B0502040204020203" pitchFamily="34" charset="0"/>
              <a:cs typeface="Segoe UI" panose="020B0502040204020203" pitchFamily="34" charset="0"/>
            </a:endParaRPr>
          </a:p>
        </p:txBody>
      </p:sp>
      <p:sp>
        <p:nvSpPr>
          <p:cNvPr id="48" name="タイトル 1">
            <a:extLst>
              <a:ext uri="{FF2B5EF4-FFF2-40B4-BE49-F238E27FC236}">
                <a16:creationId xmlns:a16="http://schemas.microsoft.com/office/drawing/2014/main" id="{FDA47DE7-530C-D0DE-DEB2-5C4DC917D3C2}"/>
              </a:ext>
            </a:extLst>
          </p:cNvPr>
          <p:cNvSpPr txBox="1">
            <a:spLocks/>
          </p:cNvSpPr>
          <p:nvPr/>
        </p:nvSpPr>
        <p:spPr>
          <a:xfrm>
            <a:off x="2207568" y="3610203"/>
            <a:ext cx="8133370" cy="720000"/>
          </a:xfrm>
          <a:prstGeom prst="rect">
            <a:avLst/>
          </a:prstGeom>
          <a:ln w="12700">
            <a:solidFill>
              <a:schemeClr val="accent1">
                <a:lumMod val="75000"/>
              </a:schemeClr>
            </a:solidFill>
          </a:ln>
        </p:spPr>
        <p:txBody>
          <a:bodyPr vert="horz" lIns="91440" tIns="216000" rIns="91440" bIns="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dirty="0">
                <a:latin typeface="メイリオ" panose="020B0604030504040204" pitchFamily="50" charset="-128"/>
                <a:ea typeface="メイリオ" panose="020B0604030504040204" pitchFamily="50" charset="-128"/>
              </a:rPr>
              <a:t>共変量マッチング</a:t>
            </a:r>
            <a:r>
              <a:rPr lang="en-US" altLang="ja-JP" sz="3600" dirty="0">
                <a:latin typeface="メイリオ" panose="020B0604030504040204" pitchFamily="50" charset="-128"/>
                <a:ea typeface="メイリオ" panose="020B0604030504040204" pitchFamily="50" charset="-128"/>
              </a:rPr>
              <a:t>/R</a:t>
            </a:r>
            <a:r>
              <a:rPr lang="ja-JP" altLang="en-US" sz="3600" dirty="0">
                <a:latin typeface="メイリオ" panose="020B0604030504040204" pitchFamily="50" charset="-128"/>
                <a:ea typeface="メイリオ" panose="020B0604030504040204" pitchFamily="50" charset="-128"/>
              </a:rPr>
              <a:t>による実装例</a:t>
            </a:r>
          </a:p>
        </p:txBody>
      </p:sp>
      <p:sp>
        <p:nvSpPr>
          <p:cNvPr id="49" name="テキスト ボックス 48">
            <a:extLst>
              <a:ext uri="{FF2B5EF4-FFF2-40B4-BE49-F238E27FC236}">
                <a16:creationId xmlns:a16="http://schemas.microsoft.com/office/drawing/2014/main" id="{D9CF1969-2087-2D2B-9DF9-D8AC87E1BD1F}"/>
              </a:ext>
            </a:extLst>
          </p:cNvPr>
          <p:cNvSpPr txBox="1"/>
          <p:nvPr/>
        </p:nvSpPr>
        <p:spPr>
          <a:xfrm>
            <a:off x="1384907" y="3610203"/>
            <a:ext cx="822661" cy="720000"/>
          </a:xfrm>
          <a:prstGeom prst="rect">
            <a:avLst/>
          </a:prstGeom>
          <a:solidFill>
            <a:schemeClr val="accent5"/>
          </a:solidFill>
          <a:ln w="12700">
            <a:solidFill>
              <a:schemeClr val="accent1">
                <a:lumMod val="75000"/>
              </a:schemeClr>
            </a:solidFill>
          </a:ln>
        </p:spPr>
        <p:txBody>
          <a:bodyPr vert="horz" lIns="108000" tIns="36000" rIns="91440" bIns="0" rtlCol="0" anchor="ctr" anchorCtr="1">
            <a:noAutofit/>
          </a:bodyPr>
          <a:lstStyle>
            <a:defPPr>
              <a:defRPr lang="ja-JP"/>
            </a:defPPr>
            <a:lvl1pPr>
              <a:lnSpc>
                <a:spcPct val="90000"/>
              </a:lnSpc>
              <a:spcBef>
                <a:spcPct val="0"/>
              </a:spcBef>
              <a:buNone/>
              <a:defRPr sz="4000">
                <a:solidFill>
                  <a:srgbClr val="FFAA1C"/>
                </a:solidFill>
                <a:latin typeface="メイリオ" panose="020B0604030504040204" pitchFamily="50" charset="-128"/>
                <a:ea typeface="メイリオ" panose="020B0604030504040204" pitchFamily="50" charset="-128"/>
                <a:cs typeface="+mj-cs"/>
              </a:defRPr>
            </a:lvl1pPr>
          </a:lstStyle>
          <a:p>
            <a:r>
              <a:rPr lang="en-US" altLang="ja-JP" sz="3600" dirty="0">
                <a:solidFill>
                  <a:schemeClr val="tx1"/>
                </a:solidFill>
                <a:latin typeface="Segoe UI" panose="020B0502040204020203" pitchFamily="34" charset="0"/>
                <a:cs typeface="Segoe UI" panose="020B0502040204020203" pitchFamily="34" charset="0"/>
              </a:rPr>
              <a:t>3</a:t>
            </a:r>
            <a:endParaRPr lang="ja-JP" altLang="en-US" sz="3600" dirty="0">
              <a:solidFill>
                <a:schemeClr val="tx1"/>
              </a:solidFill>
              <a:latin typeface="Segoe UI" panose="020B0502040204020203" pitchFamily="34" charset="0"/>
              <a:cs typeface="Segoe UI" panose="020B0502040204020203" pitchFamily="34" charset="0"/>
            </a:endParaRPr>
          </a:p>
        </p:txBody>
      </p:sp>
      <p:sp>
        <p:nvSpPr>
          <p:cNvPr id="50" name="タイトル 1">
            <a:extLst>
              <a:ext uri="{FF2B5EF4-FFF2-40B4-BE49-F238E27FC236}">
                <a16:creationId xmlns:a16="http://schemas.microsoft.com/office/drawing/2014/main" id="{29F58D15-F37F-4C5E-0B7A-9BE128B53A6D}"/>
              </a:ext>
            </a:extLst>
          </p:cNvPr>
          <p:cNvSpPr txBox="1">
            <a:spLocks/>
          </p:cNvSpPr>
          <p:nvPr/>
        </p:nvSpPr>
        <p:spPr>
          <a:xfrm>
            <a:off x="2207568" y="4581208"/>
            <a:ext cx="8133370" cy="720000"/>
          </a:xfrm>
          <a:prstGeom prst="rect">
            <a:avLst/>
          </a:prstGeom>
          <a:ln w="12700">
            <a:solidFill>
              <a:schemeClr val="accent1">
                <a:lumMod val="75000"/>
              </a:schemeClr>
            </a:solidFill>
          </a:ln>
        </p:spPr>
        <p:txBody>
          <a:bodyPr vert="horz" lIns="91440" tIns="216000" rIns="91440" bIns="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dirty="0">
                <a:latin typeface="メイリオ" panose="020B0604030504040204" pitchFamily="50" charset="-128"/>
                <a:ea typeface="メイリオ" panose="020B0604030504040204" pitchFamily="50" charset="-128"/>
              </a:rPr>
              <a:t>まとめ</a:t>
            </a:r>
          </a:p>
        </p:txBody>
      </p:sp>
      <p:sp>
        <p:nvSpPr>
          <p:cNvPr id="51" name="テキスト ボックス 50">
            <a:extLst>
              <a:ext uri="{FF2B5EF4-FFF2-40B4-BE49-F238E27FC236}">
                <a16:creationId xmlns:a16="http://schemas.microsoft.com/office/drawing/2014/main" id="{94E0294F-7A5A-42D6-4EEF-47556C12D4D5}"/>
              </a:ext>
            </a:extLst>
          </p:cNvPr>
          <p:cNvSpPr txBox="1"/>
          <p:nvPr/>
        </p:nvSpPr>
        <p:spPr>
          <a:xfrm>
            <a:off x="1384907" y="4581208"/>
            <a:ext cx="822661" cy="720000"/>
          </a:xfrm>
          <a:prstGeom prst="rect">
            <a:avLst/>
          </a:prstGeom>
          <a:solidFill>
            <a:schemeClr val="accent5"/>
          </a:solidFill>
          <a:ln w="12700">
            <a:solidFill>
              <a:schemeClr val="accent1">
                <a:lumMod val="75000"/>
              </a:schemeClr>
            </a:solidFill>
          </a:ln>
        </p:spPr>
        <p:txBody>
          <a:bodyPr vert="horz" lIns="108000" tIns="36000" rIns="91440" bIns="0" rtlCol="0" anchor="ctr" anchorCtr="1">
            <a:noAutofit/>
          </a:bodyPr>
          <a:lstStyle>
            <a:defPPr>
              <a:defRPr lang="ja-JP"/>
            </a:defPPr>
            <a:lvl1pPr>
              <a:lnSpc>
                <a:spcPct val="90000"/>
              </a:lnSpc>
              <a:spcBef>
                <a:spcPct val="0"/>
              </a:spcBef>
              <a:buNone/>
              <a:defRPr sz="4000">
                <a:solidFill>
                  <a:srgbClr val="FFAA1C"/>
                </a:solidFill>
                <a:latin typeface="メイリオ" panose="020B0604030504040204" pitchFamily="50" charset="-128"/>
                <a:ea typeface="メイリオ" panose="020B0604030504040204" pitchFamily="50" charset="-128"/>
                <a:cs typeface="+mj-cs"/>
              </a:defRPr>
            </a:lvl1pPr>
          </a:lstStyle>
          <a:p>
            <a:r>
              <a:rPr lang="en-US" altLang="ja-JP" sz="3600" dirty="0">
                <a:solidFill>
                  <a:schemeClr val="tx1"/>
                </a:solidFill>
                <a:latin typeface="Segoe UI" panose="020B0502040204020203" pitchFamily="34" charset="0"/>
                <a:cs typeface="Segoe UI" panose="020B0502040204020203" pitchFamily="34" charset="0"/>
              </a:rPr>
              <a:t>4</a:t>
            </a:r>
            <a:endParaRPr lang="ja-JP" altLang="en-US" sz="360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11270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7BA1-C073-1D5D-4DB9-262DA54CF4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CCCBFD-E855-A1F1-A824-F18F0510842F}"/>
              </a:ext>
            </a:extLst>
          </p:cNvPr>
          <p:cNvSpPr>
            <a:spLocks noGrp="1"/>
          </p:cNvSpPr>
          <p:nvPr>
            <p:ph type="title"/>
          </p:nvPr>
        </p:nvSpPr>
        <p:spPr/>
        <p:txBody>
          <a:bodyPr/>
          <a:lstStyle/>
          <a:p>
            <a:r>
              <a:rPr kumimoji="1" lang="ja-JP" altLang="en-US" dirty="0"/>
              <a:t>観察研究の具体的な事例</a:t>
            </a:r>
          </a:p>
        </p:txBody>
      </p:sp>
      <p:sp>
        <p:nvSpPr>
          <p:cNvPr id="4" name="スライド番号プレースホルダー 3">
            <a:extLst>
              <a:ext uri="{FF2B5EF4-FFF2-40B4-BE49-F238E27FC236}">
                <a16:creationId xmlns:a16="http://schemas.microsoft.com/office/drawing/2014/main" id="{2DDF91BD-5261-F3E4-439C-C3734C8E0AD1}"/>
              </a:ext>
            </a:extLst>
          </p:cNvPr>
          <p:cNvSpPr>
            <a:spLocks noGrp="1"/>
          </p:cNvSpPr>
          <p:nvPr>
            <p:ph type="sldNum" sz="quarter" idx="11"/>
          </p:nvPr>
        </p:nvSpPr>
        <p:spPr/>
        <p:txBody>
          <a:bodyPr/>
          <a:lstStyle/>
          <a:p>
            <a:fld id="{23B20E4E-3F95-4221-AFE5-FD1FD9CC3448}" type="slidenum">
              <a:rPr lang="en-US" altLang="ja-JP" smtClean="0"/>
              <a:pPr/>
              <a:t>5</a:t>
            </a:fld>
            <a:endParaRPr lang="en-US" altLang="ja-JP"/>
          </a:p>
        </p:txBody>
      </p:sp>
      <p:pic>
        <p:nvPicPr>
          <p:cNvPr id="5" name="図 4" descr="ロゴ&#10;&#10;自動的に生成された説明">
            <a:extLst>
              <a:ext uri="{FF2B5EF4-FFF2-40B4-BE49-F238E27FC236}">
                <a16:creationId xmlns:a16="http://schemas.microsoft.com/office/drawing/2014/main" id="{3CA4B1F6-562F-D981-0662-CCA2EBE520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6" name="テキスト ボックス 5">
            <a:extLst>
              <a:ext uri="{FF2B5EF4-FFF2-40B4-BE49-F238E27FC236}">
                <a16:creationId xmlns:a16="http://schemas.microsoft.com/office/drawing/2014/main" id="{59C2E53B-D086-7D40-C74C-CFC51196B90F}"/>
              </a:ext>
            </a:extLst>
          </p:cNvPr>
          <p:cNvSpPr txBox="1"/>
          <p:nvPr/>
        </p:nvSpPr>
        <p:spPr>
          <a:xfrm>
            <a:off x="712872" y="1413604"/>
            <a:ext cx="10657184" cy="2623795"/>
          </a:xfrm>
          <a:prstGeom prst="rect">
            <a:avLst/>
          </a:prstGeom>
          <a:blipFill dpi="0" rotWithShape="1">
            <a:blip r:embed="rId3">
              <a:alphaModFix amt="63000"/>
            </a:blip>
            <a:srcRect/>
            <a:tile tx="0" ty="0" sx="100000" sy="100000" flip="none" algn="tl"/>
          </a:blipFill>
        </p:spPr>
        <p:txBody>
          <a:bodyPr wrap="square" rtlCol="0">
            <a:spAutoFit/>
          </a:bodyPr>
          <a:lstStyle/>
          <a:p>
            <a:pPr marL="171450" indent="-171450">
              <a:lnSpc>
                <a:spcPct val="150000"/>
              </a:lnSpc>
              <a:buFont typeface="Wingdings" panose="05000000000000000000" pitchFamily="2" charset="2"/>
              <a:buChar char="ü"/>
            </a:pPr>
            <a:r>
              <a:rPr lang="ja-JP" altLang="en-US" sz="2800" dirty="0">
                <a:latin typeface="メイリオ" panose="020B0604030504040204" pitchFamily="50" charset="-128"/>
                <a:ea typeface="メイリオ" panose="020B0604030504040204" pitchFamily="50" charset="-128"/>
              </a:rPr>
              <a:t>ある疾患</a:t>
            </a:r>
            <a:r>
              <a:rPr lang="en-US" altLang="ja-JP" sz="2800" dirty="0">
                <a:latin typeface="メイリオ" panose="020B0604030504040204" pitchFamily="50" charset="-128"/>
                <a:ea typeface="メイリオ" panose="020B0604030504040204" pitchFamily="50" charset="-128"/>
              </a:rPr>
              <a:t>X</a:t>
            </a:r>
            <a:r>
              <a:rPr lang="ja-JP" altLang="en-US" sz="2800" dirty="0">
                <a:latin typeface="メイリオ" panose="020B0604030504040204" pitchFamily="50" charset="-128"/>
                <a:ea typeface="メイリオ" panose="020B0604030504040204" pitchFamily="50" charset="-128"/>
              </a:rPr>
              <a:t>に罹患している研究対象者に対して新薬</a:t>
            </a:r>
            <a:r>
              <a:rPr lang="en-US" altLang="ja-JP" sz="2800" dirty="0">
                <a:latin typeface="メイリオ" panose="020B0604030504040204" pitchFamily="50" charset="-128"/>
                <a:ea typeface="メイリオ" panose="020B0604030504040204" pitchFamily="50" charset="-128"/>
              </a:rPr>
              <a:t>D</a:t>
            </a:r>
            <a:r>
              <a:rPr lang="ja-JP" altLang="en-US" sz="2800" dirty="0">
                <a:latin typeface="メイリオ" panose="020B0604030504040204" pitchFamily="50" charset="-128"/>
                <a:ea typeface="メイリオ" panose="020B0604030504040204" pitchFamily="50" charset="-128"/>
              </a:rPr>
              <a:t>を投与</a:t>
            </a:r>
            <a:r>
              <a:rPr kumimoji="1" lang="en-US" altLang="ja-JP" sz="2800" dirty="0">
                <a:latin typeface="メイリオ" panose="020B0604030504040204" pitchFamily="50" charset="-128"/>
                <a:ea typeface="メイリオ" panose="020B0604030504040204" pitchFamily="50" charset="-128"/>
              </a:rPr>
              <a:t>.</a:t>
            </a:r>
          </a:p>
          <a:p>
            <a:pPr marL="171450" indent="-171450">
              <a:lnSpc>
                <a:spcPct val="150000"/>
              </a:lnSpc>
              <a:buFont typeface="Wingdings" panose="05000000000000000000" pitchFamily="2" charset="2"/>
              <a:buChar char="ü"/>
            </a:pPr>
            <a:r>
              <a:rPr lang="ja-JP" altLang="en-US" sz="2800" dirty="0">
                <a:latin typeface="メイリオ" panose="020B0604030504040204" pitchFamily="50" charset="-128"/>
                <a:ea typeface="メイリオ" panose="020B0604030504040204" pitchFamily="50" charset="-128"/>
              </a:rPr>
              <a:t>症状</a:t>
            </a:r>
            <a:r>
              <a:rPr lang="en-US" altLang="ja-JP" sz="2800" dirty="0">
                <a:latin typeface="メイリオ" panose="020B0604030504040204" pitchFamily="50" charset="-128"/>
                <a:ea typeface="メイリオ" panose="020B0604030504040204" pitchFamily="50" charset="-128"/>
              </a:rPr>
              <a:t>Y</a:t>
            </a:r>
            <a:r>
              <a:rPr lang="ja-JP" altLang="en-US" sz="2800" dirty="0">
                <a:latin typeface="メイリオ" panose="020B0604030504040204" pitchFamily="50" charset="-128"/>
                <a:ea typeface="メイリオ" panose="020B0604030504040204" pitchFamily="50" charset="-128"/>
              </a:rPr>
              <a:t>を改善させることができるかどうかを調査</a:t>
            </a:r>
            <a:r>
              <a:rPr lang="en-US" altLang="ja-JP" sz="2800" dirty="0">
                <a:latin typeface="メイリオ" panose="020B0604030504040204" pitchFamily="50" charset="-128"/>
                <a:ea typeface="メイリオ" panose="020B0604030504040204" pitchFamily="50" charset="-128"/>
              </a:rPr>
              <a:t>.</a:t>
            </a:r>
          </a:p>
          <a:p>
            <a:pPr marL="171450" indent="-171450">
              <a:lnSpc>
                <a:spcPct val="150000"/>
              </a:lnSpc>
              <a:buFont typeface="Wingdings" panose="05000000000000000000" pitchFamily="2" charset="2"/>
              <a:buChar char="ü"/>
            </a:pPr>
            <a:r>
              <a:rPr lang="ja-JP" altLang="en-US" sz="2800" dirty="0">
                <a:latin typeface="メイリオ" panose="020B0604030504040204" pitchFamily="50" charset="-128"/>
                <a:ea typeface="メイリオ" panose="020B0604030504040204" pitchFamily="50" charset="-128"/>
              </a:rPr>
              <a:t>新薬</a:t>
            </a:r>
            <a:r>
              <a:rPr lang="en-US" altLang="ja-JP" sz="2800" dirty="0">
                <a:latin typeface="メイリオ" panose="020B0604030504040204" pitchFamily="50" charset="-128"/>
                <a:ea typeface="メイリオ" panose="020B0604030504040204" pitchFamily="50" charset="-128"/>
              </a:rPr>
              <a:t>D</a:t>
            </a:r>
            <a:r>
              <a:rPr lang="ja-JP" altLang="en-US" sz="2800" dirty="0">
                <a:latin typeface="メイリオ" panose="020B0604030504040204" pitchFamily="50" charset="-128"/>
                <a:ea typeface="メイリオ" panose="020B0604030504040204" pitchFamily="50" charset="-128"/>
              </a:rPr>
              <a:t>投与群を</a:t>
            </a:r>
            <a:r>
              <a:rPr lang="en-US" altLang="ja-JP" sz="2800" dirty="0">
                <a:latin typeface="メイリオ" panose="020B0604030504040204" pitchFamily="50" charset="-128"/>
                <a:ea typeface="メイリオ" panose="020B0604030504040204" pitchFamily="50" charset="-128"/>
              </a:rPr>
              <a:t>40</a:t>
            </a:r>
            <a:r>
              <a:rPr lang="ja-JP" altLang="en-US" sz="2800" dirty="0">
                <a:latin typeface="メイリオ" panose="020B0604030504040204" pitchFamily="50" charset="-128"/>
                <a:ea typeface="メイリオ" panose="020B0604030504040204" pitchFamily="50" charset="-128"/>
              </a:rPr>
              <a:t>名</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非投与群を</a:t>
            </a:r>
            <a:r>
              <a:rPr lang="en-US" altLang="ja-JP" sz="2800" dirty="0">
                <a:latin typeface="メイリオ" panose="020B0604030504040204" pitchFamily="50" charset="-128"/>
                <a:ea typeface="メイリオ" panose="020B0604030504040204" pitchFamily="50" charset="-128"/>
              </a:rPr>
              <a:t>40</a:t>
            </a:r>
            <a:r>
              <a:rPr lang="ja-JP" altLang="en-US" sz="2800" dirty="0">
                <a:latin typeface="メイリオ" panose="020B0604030504040204" pitchFamily="50" charset="-128"/>
                <a:ea typeface="メイリオ" panose="020B0604030504040204" pitchFamily="50" charset="-128"/>
              </a:rPr>
              <a:t>名ずつ計</a:t>
            </a:r>
            <a:r>
              <a:rPr lang="en-US" altLang="ja-JP" sz="2800" dirty="0">
                <a:latin typeface="メイリオ" panose="020B0604030504040204" pitchFamily="50" charset="-128"/>
                <a:ea typeface="メイリオ" panose="020B0604030504040204" pitchFamily="50" charset="-128"/>
              </a:rPr>
              <a:t>80</a:t>
            </a:r>
            <a:r>
              <a:rPr lang="ja-JP" altLang="en-US" sz="2800" dirty="0">
                <a:latin typeface="メイリオ" panose="020B0604030504040204" pitchFamily="50" charset="-128"/>
                <a:ea typeface="メイリオ" panose="020B0604030504040204" pitchFamily="50" charset="-128"/>
              </a:rPr>
              <a:t>名ほど集積</a:t>
            </a:r>
            <a:r>
              <a:rPr lang="en-US" altLang="ja-JP" sz="2800" dirty="0">
                <a:latin typeface="メイリオ" panose="020B0604030504040204" pitchFamily="50" charset="-128"/>
                <a:ea typeface="メイリオ" panose="020B0604030504040204" pitchFamily="50" charset="-128"/>
              </a:rPr>
              <a:t>.</a:t>
            </a:r>
          </a:p>
          <a:p>
            <a:pPr marL="171450" indent="-171450">
              <a:lnSpc>
                <a:spcPct val="150000"/>
              </a:lnSpc>
              <a:buFont typeface="Wingdings" panose="05000000000000000000" pitchFamily="2" charset="2"/>
              <a:buChar char="ü"/>
            </a:pPr>
            <a:r>
              <a:rPr lang="ja-JP" altLang="en-US" sz="2800" b="1" dirty="0">
                <a:solidFill>
                  <a:srgbClr val="0070C0"/>
                </a:solidFill>
                <a:latin typeface="メイリオ" panose="020B0604030504040204" pitchFamily="50" charset="-128"/>
                <a:ea typeface="メイリオ" panose="020B0604030504040204" pitchFamily="50" charset="-128"/>
              </a:rPr>
              <a:t>研究対象者を重症度</a:t>
            </a:r>
            <a:r>
              <a:rPr lang="en-US" altLang="ja-JP" sz="2800" b="1" dirty="0">
                <a:solidFill>
                  <a:srgbClr val="0070C0"/>
                </a:solidFill>
                <a:latin typeface="メイリオ" panose="020B0604030504040204" pitchFamily="50" charset="-128"/>
                <a:ea typeface="メイリオ" panose="020B0604030504040204" pitchFamily="50" charset="-128"/>
              </a:rPr>
              <a:t>(</a:t>
            </a:r>
            <a:r>
              <a:rPr lang="ja-JP" altLang="en-US" sz="2800" b="1" dirty="0">
                <a:solidFill>
                  <a:srgbClr val="0070C0"/>
                </a:solidFill>
                <a:latin typeface="メイリオ" panose="020B0604030504040204" pitchFamily="50" charset="-128"/>
                <a:ea typeface="メイリオ" panose="020B0604030504040204" pitchFamily="50" charset="-128"/>
              </a:rPr>
              <a:t>軽度</a:t>
            </a:r>
            <a:r>
              <a:rPr lang="en-US" altLang="ja-JP" sz="2800" b="1" dirty="0">
                <a:solidFill>
                  <a:srgbClr val="0070C0"/>
                </a:solidFill>
                <a:latin typeface="メイリオ" panose="020B0604030504040204" pitchFamily="50" charset="-128"/>
                <a:ea typeface="メイリオ" panose="020B0604030504040204" pitchFamily="50" charset="-128"/>
              </a:rPr>
              <a:t>/</a:t>
            </a:r>
            <a:r>
              <a:rPr lang="ja-JP" altLang="en-US" sz="2800" b="1" dirty="0">
                <a:solidFill>
                  <a:srgbClr val="0070C0"/>
                </a:solidFill>
                <a:latin typeface="メイリオ" panose="020B0604030504040204" pitchFamily="50" charset="-128"/>
                <a:ea typeface="メイリオ" panose="020B0604030504040204" pitchFamily="50" charset="-128"/>
              </a:rPr>
              <a:t>重度</a:t>
            </a:r>
            <a:r>
              <a:rPr lang="en-US" altLang="ja-JP" sz="2800" b="1" dirty="0">
                <a:solidFill>
                  <a:srgbClr val="0070C0"/>
                </a:solidFill>
                <a:latin typeface="メイリオ" panose="020B0604030504040204" pitchFamily="50" charset="-128"/>
                <a:ea typeface="メイリオ" panose="020B0604030504040204" pitchFamily="50" charset="-128"/>
              </a:rPr>
              <a:t>)</a:t>
            </a:r>
            <a:r>
              <a:rPr lang="ja-JP" altLang="en-US" sz="2800" b="1" dirty="0">
                <a:solidFill>
                  <a:srgbClr val="0070C0"/>
                </a:solidFill>
                <a:latin typeface="メイリオ" panose="020B0604030504040204" pitchFamily="50" charset="-128"/>
                <a:ea typeface="メイリオ" panose="020B0604030504040204" pitchFamily="50" charset="-128"/>
              </a:rPr>
              <a:t>に応じて</a:t>
            </a:r>
            <a:r>
              <a:rPr lang="en-US" altLang="ja-JP" sz="2800" b="1" dirty="0">
                <a:solidFill>
                  <a:srgbClr val="0070C0"/>
                </a:solidFill>
                <a:latin typeface="メイリオ" panose="020B0604030504040204" pitchFamily="50" charset="-128"/>
                <a:ea typeface="メイリオ" panose="020B0604030504040204" pitchFamily="50" charset="-128"/>
              </a:rPr>
              <a:t>2</a:t>
            </a:r>
            <a:r>
              <a:rPr lang="ja-JP" altLang="en-US" sz="2800" b="1" dirty="0">
                <a:solidFill>
                  <a:srgbClr val="0070C0"/>
                </a:solidFill>
                <a:latin typeface="メイリオ" panose="020B0604030504040204" pitchFamily="50" charset="-128"/>
                <a:ea typeface="メイリオ" panose="020B0604030504040204" pitchFamily="50" charset="-128"/>
              </a:rPr>
              <a:t>層に分類</a:t>
            </a:r>
            <a:r>
              <a:rPr lang="en-US" altLang="ja-JP" sz="2800" dirty="0">
                <a:latin typeface="メイリオ" panose="020B0604030504040204" pitchFamily="50" charset="-128"/>
                <a:ea typeface="メイリオ" panose="020B0604030504040204" pitchFamily="50" charset="-128"/>
              </a:rPr>
              <a:t>.</a:t>
            </a:r>
          </a:p>
        </p:txBody>
      </p:sp>
      <p:graphicFrame>
        <p:nvGraphicFramePr>
          <p:cNvPr id="7" name="表 6">
            <a:extLst>
              <a:ext uri="{FF2B5EF4-FFF2-40B4-BE49-F238E27FC236}">
                <a16:creationId xmlns:a16="http://schemas.microsoft.com/office/drawing/2014/main" id="{22B0E50E-4CBE-CD89-E4BA-ABC8C4AC37E8}"/>
              </a:ext>
            </a:extLst>
          </p:cNvPr>
          <p:cNvGraphicFramePr>
            <a:graphicFrameLocks noGrp="1"/>
          </p:cNvGraphicFramePr>
          <p:nvPr>
            <p:extLst>
              <p:ext uri="{D42A27DB-BD31-4B8C-83A1-F6EECF244321}">
                <p14:modId xmlns:p14="http://schemas.microsoft.com/office/powerpoint/2010/main" val="1205654345"/>
              </p:ext>
            </p:extLst>
          </p:nvPr>
        </p:nvGraphicFramePr>
        <p:xfrm>
          <a:off x="2423464" y="4529996"/>
          <a:ext cx="7236000" cy="1828800"/>
        </p:xfrm>
        <a:graphic>
          <a:graphicData uri="http://schemas.openxmlformats.org/drawingml/2006/table">
            <a:tbl>
              <a:tblPr firstRow="1" lastRow="1" bandRow="1">
                <a:tableStyleId>{72833802-FEF1-4C79-8D5D-14CF1EAF98D9}</a:tableStyleId>
              </a:tblPr>
              <a:tblGrid>
                <a:gridCol w="2232000">
                  <a:extLst>
                    <a:ext uri="{9D8B030D-6E8A-4147-A177-3AD203B41FA5}">
                      <a16:colId xmlns:a16="http://schemas.microsoft.com/office/drawing/2014/main" val="2921360576"/>
                    </a:ext>
                  </a:extLst>
                </a:gridCol>
                <a:gridCol w="1764000">
                  <a:extLst>
                    <a:ext uri="{9D8B030D-6E8A-4147-A177-3AD203B41FA5}">
                      <a16:colId xmlns:a16="http://schemas.microsoft.com/office/drawing/2014/main" val="628765754"/>
                    </a:ext>
                  </a:extLst>
                </a:gridCol>
                <a:gridCol w="1980000">
                  <a:extLst>
                    <a:ext uri="{9D8B030D-6E8A-4147-A177-3AD203B41FA5}">
                      <a16:colId xmlns:a16="http://schemas.microsoft.com/office/drawing/2014/main" val="2425332903"/>
                    </a:ext>
                  </a:extLst>
                </a:gridCol>
                <a:gridCol w="1260000">
                  <a:extLst>
                    <a:ext uri="{9D8B030D-6E8A-4147-A177-3AD203B41FA5}">
                      <a16:colId xmlns:a16="http://schemas.microsoft.com/office/drawing/2014/main" val="2951463833"/>
                    </a:ext>
                  </a:extLst>
                </a:gridCol>
              </a:tblGrid>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集計①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spTree>
    <p:extLst>
      <p:ext uri="{BB962C8B-B14F-4D97-AF65-F5344CB8AC3E}">
        <p14:creationId xmlns:p14="http://schemas.microsoft.com/office/powerpoint/2010/main" val="197779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D9290-4A3B-546B-5652-1C6E9D4736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ED3B3D-C620-A679-364B-C4B8C1DF3949}"/>
              </a:ext>
            </a:extLst>
          </p:cNvPr>
          <p:cNvSpPr>
            <a:spLocks noGrp="1"/>
          </p:cNvSpPr>
          <p:nvPr>
            <p:ph type="title"/>
          </p:nvPr>
        </p:nvSpPr>
        <p:spPr/>
        <p:txBody>
          <a:bodyPr/>
          <a:lstStyle/>
          <a:p>
            <a:r>
              <a:rPr kumimoji="1" lang="ja-JP" altLang="en-US" dirty="0"/>
              <a:t>観察研究の具体的な事例</a:t>
            </a:r>
          </a:p>
        </p:txBody>
      </p:sp>
      <p:sp>
        <p:nvSpPr>
          <p:cNvPr id="4" name="スライド番号プレースホルダー 3">
            <a:extLst>
              <a:ext uri="{FF2B5EF4-FFF2-40B4-BE49-F238E27FC236}">
                <a16:creationId xmlns:a16="http://schemas.microsoft.com/office/drawing/2014/main" id="{48492A93-3421-DAC0-2CD8-6FDC481B43E6}"/>
              </a:ext>
            </a:extLst>
          </p:cNvPr>
          <p:cNvSpPr>
            <a:spLocks noGrp="1"/>
          </p:cNvSpPr>
          <p:nvPr>
            <p:ph type="sldNum" sz="quarter" idx="11"/>
          </p:nvPr>
        </p:nvSpPr>
        <p:spPr/>
        <p:txBody>
          <a:bodyPr/>
          <a:lstStyle/>
          <a:p>
            <a:fld id="{23B20E4E-3F95-4221-AFE5-FD1FD9CC3448}" type="slidenum">
              <a:rPr lang="en-US" altLang="ja-JP" smtClean="0"/>
              <a:pPr/>
              <a:t>6</a:t>
            </a:fld>
            <a:endParaRPr lang="en-US" altLang="ja-JP"/>
          </a:p>
        </p:txBody>
      </p:sp>
      <p:pic>
        <p:nvPicPr>
          <p:cNvPr id="5" name="図 4" descr="ロゴ&#10;&#10;自動的に生成された説明">
            <a:extLst>
              <a:ext uri="{FF2B5EF4-FFF2-40B4-BE49-F238E27FC236}">
                <a16:creationId xmlns:a16="http://schemas.microsoft.com/office/drawing/2014/main" id="{18229726-418A-5CB4-D766-8DD30D668B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pic>
        <p:nvPicPr>
          <p:cNvPr id="7" name="図 6" descr="クリップアート が含まれている画像&#10;&#10;自動的に生成された説明">
            <a:extLst>
              <a:ext uri="{FF2B5EF4-FFF2-40B4-BE49-F238E27FC236}">
                <a16:creationId xmlns:a16="http://schemas.microsoft.com/office/drawing/2014/main" id="{8407896C-E69B-024C-057E-9A5C9C1990F7}"/>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91344" y="3303968"/>
            <a:ext cx="1057372" cy="1440000"/>
          </a:xfrm>
          <a:prstGeom prst="rect">
            <a:avLst/>
          </a:prstGeom>
          <a:solidFill>
            <a:schemeClr val="accent5"/>
          </a:solidFill>
        </p:spPr>
      </p:pic>
      <p:sp>
        <p:nvSpPr>
          <p:cNvPr id="8" name="吹き出し: 角を丸めた四角形 7">
            <a:extLst>
              <a:ext uri="{FF2B5EF4-FFF2-40B4-BE49-F238E27FC236}">
                <a16:creationId xmlns:a16="http://schemas.microsoft.com/office/drawing/2014/main" id="{B0ED4BA2-82B4-7014-1BC9-189C48C67F35}"/>
              </a:ext>
            </a:extLst>
          </p:cNvPr>
          <p:cNvSpPr/>
          <p:nvPr/>
        </p:nvSpPr>
        <p:spPr>
          <a:xfrm>
            <a:off x="1527155" y="3429000"/>
            <a:ext cx="9551601" cy="1512168"/>
          </a:xfrm>
          <a:prstGeom prst="wedgeRoundRectCallout">
            <a:avLst>
              <a:gd name="adj1" fmla="val -53404"/>
              <a:gd name="adj2" fmla="val -13448"/>
              <a:gd name="adj3" fmla="val 16667"/>
            </a:avLst>
          </a:prstGeom>
          <a:solidFill>
            <a:schemeClr val="accent5"/>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dirty="0">
                <a:solidFill>
                  <a:schemeClr val="tx1"/>
                </a:solidFill>
                <a:latin typeface="メイリオ" panose="020B0604030504040204" pitchFamily="50" charset="-128"/>
                <a:ea typeface="メイリオ" panose="020B0604030504040204" pitchFamily="50" charset="-128"/>
              </a:rPr>
              <a:t>クロス集計①の結果から</a:t>
            </a:r>
            <a:r>
              <a:rPr lang="en-US" altLang="ja-JP" sz="2600" dirty="0">
                <a:solidFill>
                  <a:schemeClr val="tx1"/>
                </a:solidFill>
                <a:latin typeface="メイリオ" panose="020B0604030504040204" pitchFamily="50" charset="-128"/>
                <a:ea typeface="メイリオ" panose="020B0604030504040204" pitchFamily="50" charset="-128"/>
              </a:rPr>
              <a:t>,</a:t>
            </a:r>
            <a:r>
              <a:rPr lang="ja-JP" altLang="en-US" sz="2600" dirty="0">
                <a:solidFill>
                  <a:schemeClr val="tx1"/>
                </a:solidFill>
                <a:latin typeface="メイリオ" panose="020B0604030504040204" pitchFamily="50" charset="-128"/>
                <a:ea typeface="メイリオ" panose="020B0604030504040204" pitchFamily="50" charset="-128"/>
              </a:rPr>
              <a:t> 新薬</a:t>
            </a:r>
            <a:r>
              <a:rPr lang="en-US" altLang="ja-JP" sz="2600" dirty="0">
                <a:solidFill>
                  <a:schemeClr val="tx1"/>
                </a:solidFill>
                <a:latin typeface="メイリオ" panose="020B0604030504040204" pitchFamily="50" charset="-128"/>
                <a:ea typeface="メイリオ" panose="020B0604030504040204" pitchFamily="50" charset="-128"/>
              </a:rPr>
              <a:t>D</a:t>
            </a:r>
            <a:r>
              <a:rPr lang="ja-JP" altLang="en-US" sz="2600" dirty="0">
                <a:solidFill>
                  <a:schemeClr val="tx1"/>
                </a:solidFill>
                <a:latin typeface="メイリオ" panose="020B0604030504040204" pitchFamily="50" charset="-128"/>
                <a:ea typeface="メイリオ" panose="020B0604030504040204" pitchFamily="50" charset="-128"/>
              </a:rPr>
              <a:t>投与群の方が非投与群と比較して症状Ｙの改善率が</a:t>
            </a:r>
            <a:r>
              <a:rPr lang="en-US" altLang="ja-JP" sz="2600" b="1" u="sng" dirty="0">
                <a:solidFill>
                  <a:schemeClr val="tx1"/>
                </a:solidFill>
                <a:highlight>
                  <a:srgbClr val="FFFF00"/>
                </a:highlight>
                <a:latin typeface="メイリオ" panose="020B0604030504040204" pitchFamily="50" charset="-128"/>
                <a:ea typeface="メイリオ" panose="020B0604030504040204" pitchFamily="50" charset="-128"/>
              </a:rPr>
              <a:t>15%</a:t>
            </a:r>
            <a:r>
              <a:rPr lang="en-US" altLang="ja-JP" sz="2600" dirty="0">
                <a:solidFill>
                  <a:schemeClr val="tx1"/>
                </a:solidFill>
                <a:latin typeface="メイリオ" panose="020B0604030504040204" pitchFamily="50" charset="-128"/>
                <a:ea typeface="メイリオ" panose="020B0604030504040204" pitchFamily="50" charset="-128"/>
              </a:rPr>
              <a:t>(42.5%-27.5%)</a:t>
            </a:r>
            <a:r>
              <a:rPr lang="ja-JP" altLang="en-US" sz="2600" dirty="0">
                <a:solidFill>
                  <a:schemeClr val="tx1"/>
                </a:solidFill>
                <a:latin typeface="メイリオ" panose="020B0604030504040204" pitchFamily="50" charset="-128"/>
                <a:ea typeface="メイリオ" panose="020B0604030504040204" pitchFamily="50" charset="-128"/>
              </a:rPr>
              <a:t>ほどよくなっている傾向にあるようです</a:t>
            </a:r>
            <a:r>
              <a:rPr lang="en-US" altLang="ja-JP" sz="2600" dirty="0">
                <a:solidFill>
                  <a:schemeClr val="tx1"/>
                </a:solidFill>
                <a:latin typeface="メイリオ" panose="020B0604030504040204" pitchFamily="50" charset="-128"/>
                <a:ea typeface="メイリオ" panose="020B0604030504040204" pitchFamily="50" charset="-128"/>
              </a:rPr>
              <a:t>.</a:t>
            </a:r>
            <a:endParaRPr kumimoji="1" lang="ja-JP" altLang="en-US" sz="2600" b="1" dirty="0">
              <a:solidFill>
                <a:schemeClr val="bg2"/>
              </a:solidFill>
              <a:latin typeface="メイリオ" panose="020B0604030504040204" pitchFamily="50" charset="-128"/>
              <a:ea typeface="メイリオ" panose="020B0604030504040204" pitchFamily="50" charset="-128"/>
            </a:endParaRPr>
          </a:p>
        </p:txBody>
      </p:sp>
      <p:sp>
        <p:nvSpPr>
          <p:cNvPr id="10" name="吹き出し: 角を丸めた四角形 9">
            <a:extLst>
              <a:ext uri="{FF2B5EF4-FFF2-40B4-BE49-F238E27FC236}">
                <a16:creationId xmlns:a16="http://schemas.microsoft.com/office/drawing/2014/main" id="{C8381DC0-419F-E344-CD4F-1433BCC66014}"/>
              </a:ext>
            </a:extLst>
          </p:cNvPr>
          <p:cNvSpPr/>
          <p:nvPr/>
        </p:nvSpPr>
        <p:spPr>
          <a:xfrm>
            <a:off x="1164789" y="5124508"/>
            <a:ext cx="9691751" cy="1040795"/>
          </a:xfrm>
          <a:prstGeom prst="wedgeRoundRectCallout">
            <a:avLst>
              <a:gd name="adj1" fmla="val 51703"/>
              <a:gd name="adj2" fmla="val -30176"/>
              <a:gd name="adj3" fmla="val 16667"/>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dirty="0">
                <a:solidFill>
                  <a:schemeClr val="tx1"/>
                </a:solidFill>
                <a:latin typeface="メイリオ" panose="020B0604030504040204" pitchFamily="50" charset="-128"/>
                <a:ea typeface="メイリオ" panose="020B0604030504040204" pitchFamily="50" charset="-128"/>
              </a:rPr>
              <a:t>本観察研究では</a:t>
            </a:r>
            <a:r>
              <a:rPr lang="en-US" altLang="ja-JP" sz="2600" dirty="0">
                <a:solidFill>
                  <a:schemeClr val="tx1"/>
                </a:solidFill>
                <a:latin typeface="メイリオ" panose="020B0604030504040204" pitchFamily="50" charset="-128"/>
                <a:ea typeface="メイリオ" panose="020B0604030504040204" pitchFamily="50" charset="-128"/>
              </a:rPr>
              <a:t>, </a:t>
            </a:r>
            <a:r>
              <a:rPr lang="ja-JP" altLang="en-US" sz="2600" dirty="0">
                <a:solidFill>
                  <a:schemeClr val="tx1"/>
                </a:solidFill>
                <a:latin typeface="メイリオ" panose="020B0604030504040204" pitchFamily="50" charset="-128"/>
                <a:ea typeface="メイリオ" panose="020B0604030504040204" pitchFamily="50" charset="-128"/>
              </a:rPr>
              <a:t>研究対象者を重症度</a:t>
            </a:r>
            <a:r>
              <a:rPr lang="en-US" altLang="ja-JP" sz="2600" dirty="0">
                <a:solidFill>
                  <a:schemeClr val="tx1"/>
                </a:solidFill>
                <a:latin typeface="メイリオ" panose="020B0604030504040204" pitchFamily="50" charset="-128"/>
                <a:ea typeface="メイリオ" panose="020B0604030504040204" pitchFamily="50" charset="-128"/>
              </a:rPr>
              <a:t>(</a:t>
            </a:r>
            <a:r>
              <a:rPr lang="ja-JP" altLang="en-US" sz="2600" dirty="0">
                <a:solidFill>
                  <a:schemeClr val="tx1"/>
                </a:solidFill>
                <a:latin typeface="メイリオ" panose="020B0604030504040204" pitchFamily="50" charset="-128"/>
                <a:ea typeface="メイリオ" panose="020B0604030504040204" pitchFamily="50" charset="-128"/>
              </a:rPr>
              <a:t>軽度</a:t>
            </a:r>
            <a:r>
              <a:rPr lang="en-US" altLang="ja-JP" sz="2600" dirty="0">
                <a:solidFill>
                  <a:schemeClr val="tx1"/>
                </a:solidFill>
                <a:latin typeface="メイリオ" panose="020B0604030504040204" pitchFamily="50" charset="-128"/>
                <a:ea typeface="メイリオ" panose="020B0604030504040204" pitchFamily="50" charset="-128"/>
              </a:rPr>
              <a:t>/</a:t>
            </a:r>
            <a:r>
              <a:rPr lang="ja-JP" altLang="en-US" sz="2600" dirty="0">
                <a:solidFill>
                  <a:schemeClr val="tx1"/>
                </a:solidFill>
                <a:latin typeface="メイリオ" panose="020B0604030504040204" pitchFamily="50" charset="-128"/>
                <a:ea typeface="メイリオ" panose="020B0604030504040204" pitchFamily="50" charset="-128"/>
              </a:rPr>
              <a:t>重度</a:t>
            </a:r>
            <a:r>
              <a:rPr lang="en-US" altLang="ja-JP" sz="2600" dirty="0">
                <a:solidFill>
                  <a:schemeClr val="tx1"/>
                </a:solidFill>
                <a:latin typeface="メイリオ" panose="020B0604030504040204" pitchFamily="50" charset="-128"/>
                <a:ea typeface="メイリオ" panose="020B0604030504040204" pitchFamily="50" charset="-128"/>
              </a:rPr>
              <a:t>)</a:t>
            </a:r>
            <a:r>
              <a:rPr lang="ja-JP" altLang="en-US" sz="2600" dirty="0">
                <a:solidFill>
                  <a:schemeClr val="tx1"/>
                </a:solidFill>
                <a:latin typeface="メイリオ" panose="020B0604030504040204" pitchFamily="50" charset="-128"/>
                <a:ea typeface="メイリオ" panose="020B0604030504040204" pitchFamily="50" charset="-128"/>
              </a:rPr>
              <a:t>に応じて</a:t>
            </a:r>
            <a:r>
              <a:rPr lang="en-US" altLang="ja-JP" sz="2600" dirty="0">
                <a:solidFill>
                  <a:schemeClr val="tx1"/>
                </a:solidFill>
                <a:latin typeface="メイリオ" panose="020B0604030504040204" pitchFamily="50" charset="-128"/>
                <a:ea typeface="メイリオ" panose="020B0604030504040204" pitchFamily="50" charset="-128"/>
              </a:rPr>
              <a:t>2</a:t>
            </a:r>
            <a:r>
              <a:rPr lang="ja-JP" altLang="en-US" sz="2600" dirty="0">
                <a:solidFill>
                  <a:schemeClr val="tx1"/>
                </a:solidFill>
                <a:latin typeface="メイリオ" panose="020B0604030504040204" pitchFamily="50" charset="-128"/>
                <a:ea typeface="メイリオ" panose="020B0604030504040204" pitchFamily="50" charset="-128"/>
              </a:rPr>
              <a:t>層に分類していますね</a:t>
            </a:r>
            <a:r>
              <a:rPr lang="en-US" altLang="ja-JP" sz="2600" dirty="0">
                <a:solidFill>
                  <a:schemeClr val="tx1"/>
                </a:solidFill>
                <a:latin typeface="メイリオ" panose="020B0604030504040204" pitchFamily="50" charset="-128"/>
                <a:ea typeface="メイリオ" panose="020B0604030504040204" pitchFamily="50" charset="-128"/>
              </a:rPr>
              <a:t>. </a:t>
            </a:r>
            <a:r>
              <a:rPr lang="ja-JP" altLang="en-US" sz="2600" dirty="0">
                <a:solidFill>
                  <a:schemeClr val="tx1"/>
                </a:solidFill>
                <a:latin typeface="メイリオ" panose="020B0604030504040204" pitchFamily="50" charset="-128"/>
                <a:ea typeface="メイリオ" panose="020B0604030504040204" pitchFamily="50" charset="-128"/>
              </a:rPr>
              <a:t>層を考慮するとどうなるでしょうか</a:t>
            </a:r>
            <a:r>
              <a:rPr lang="en-US" altLang="ja-JP" sz="2600" dirty="0">
                <a:solidFill>
                  <a:schemeClr val="tx1"/>
                </a:solidFill>
                <a:latin typeface="メイリオ" panose="020B0604030504040204" pitchFamily="50" charset="-128"/>
                <a:ea typeface="メイリオ" panose="020B0604030504040204" pitchFamily="50" charset="-128"/>
              </a:rPr>
              <a:t>.</a:t>
            </a:r>
            <a:endParaRPr kumimoji="1" lang="ja-JP" altLang="en-US" sz="2600" b="1" dirty="0">
              <a:solidFill>
                <a:schemeClr val="bg2"/>
              </a:solidFill>
              <a:latin typeface="メイリオ" panose="020B0604030504040204" pitchFamily="50" charset="-128"/>
              <a:ea typeface="メイリオ" panose="020B0604030504040204" pitchFamily="50" charset="-128"/>
            </a:endParaRPr>
          </a:p>
        </p:txBody>
      </p:sp>
      <p:pic>
        <p:nvPicPr>
          <p:cNvPr id="11" name="図 10" descr="図形&#10;&#10;低い精度で自動的に生成された説明">
            <a:extLst>
              <a:ext uri="{FF2B5EF4-FFF2-40B4-BE49-F238E27FC236}">
                <a16:creationId xmlns:a16="http://schemas.microsoft.com/office/drawing/2014/main" id="{8351FCEF-F655-7BF6-7083-68EA43B6BF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44951" y="4152679"/>
            <a:ext cx="966835" cy="1440000"/>
          </a:xfrm>
          <a:prstGeom prst="rect">
            <a:avLst/>
          </a:prstGeom>
        </p:spPr>
      </p:pic>
      <p:graphicFrame>
        <p:nvGraphicFramePr>
          <p:cNvPr id="12" name="表 11">
            <a:extLst>
              <a:ext uri="{FF2B5EF4-FFF2-40B4-BE49-F238E27FC236}">
                <a16:creationId xmlns:a16="http://schemas.microsoft.com/office/drawing/2014/main" id="{36C213E3-9A02-FA1C-D938-3CDACA1626CD}"/>
              </a:ext>
            </a:extLst>
          </p:cNvPr>
          <p:cNvGraphicFramePr>
            <a:graphicFrameLocks noGrp="1"/>
          </p:cNvGraphicFramePr>
          <p:nvPr>
            <p:extLst>
              <p:ext uri="{D42A27DB-BD31-4B8C-83A1-F6EECF244321}">
                <p14:modId xmlns:p14="http://schemas.microsoft.com/office/powerpoint/2010/main" val="3076520462"/>
              </p:ext>
            </p:extLst>
          </p:nvPr>
        </p:nvGraphicFramePr>
        <p:xfrm>
          <a:off x="1044845" y="1280154"/>
          <a:ext cx="9540000" cy="1828800"/>
        </p:xfrm>
        <a:graphic>
          <a:graphicData uri="http://schemas.openxmlformats.org/drawingml/2006/table">
            <a:tbl>
              <a:tblPr firstRow="1" lastRow="1" bandRow="1">
                <a:tableStyleId>{72833802-FEF1-4C79-8D5D-14CF1EAF98D9}</a:tableStyleId>
              </a:tblPr>
              <a:tblGrid>
                <a:gridCol w="2232000">
                  <a:extLst>
                    <a:ext uri="{9D8B030D-6E8A-4147-A177-3AD203B41FA5}">
                      <a16:colId xmlns:a16="http://schemas.microsoft.com/office/drawing/2014/main" val="2921360576"/>
                    </a:ext>
                  </a:extLst>
                </a:gridCol>
                <a:gridCol w="1764000">
                  <a:extLst>
                    <a:ext uri="{9D8B030D-6E8A-4147-A177-3AD203B41FA5}">
                      <a16:colId xmlns:a16="http://schemas.microsoft.com/office/drawing/2014/main" val="628765754"/>
                    </a:ext>
                  </a:extLst>
                </a:gridCol>
                <a:gridCol w="1980000">
                  <a:extLst>
                    <a:ext uri="{9D8B030D-6E8A-4147-A177-3AD203B41FA5}">
                      <a16:colId xmlns:a16="http://schemas.microsoft.com/office/drawing/2014/main" val="2425332903"/>
                    </a:ext>
                  </a:extLst>
                </a:gridCol>
                <a:gridCol w="1260000">
                  <a:extLst>
                    <a:ext uri="{9D8B030D-6E8A-4147-A177-3AD203B41FA5}">
                      <a16:colId xmlns:a16="http://schemas.microsoft.com/office/drawing/2014/main" val="2951463833"/>
                    </a:ext>
                  </a:extLst>
                </a:gridCol>
                <a:gridCol w="2304000">
                  <a:extLst>
                    <a:ext uri="{9D8B030D-6E8A-4147-A177-3AD203B41FA5}">
                      <a16:colId xmlns:a16="http://schemas.microsoft.com/office/drawing/2014/main" val="3521260282"/>
                    </a:ext>
                  </a:extLst>
                </a:gridCol>
              </a:tblGrid>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集計①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CCFFFF"/>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42.5% (17/40)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CCFFFF"/>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27.5 (11/40)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CCFFFF"/>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spTree>
    <p:extLst>
      <p:ext uri="{BB962C8B-B14F-4D97-AF65-F5344CB8AC3E}">
        <p14:creationId xmlns:p14="http://schemas.microsoft.com/office/powerpoint/2010/main" val="2632116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73CD6-3324-480F-28F1-C744817BA2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5C5B2E-3F2A-A7F8-4478-1F126A9BF1DD}"/>
              </a:ext>
            </a:extLst>
          </p:cNvPr>
          <p:cNvSpPr>
            <a:spLocks noGrp="1"/>
          </p:cNvSpPr>
          <p:nvPr>
            <p:ph type="title"/>
          </p:nvPr>
        </p:nvSpPr>
        <p:spPr/>
        <p:txBody>
          <a:bodyPr/>
          <a:lstStyle/>
          <a:p>
            <a:r>
              <a:rPr lang="ja-JP" altLang="en-US" dirty="0"/>
              <a:t>観察研究における層別のクロス集計表</a:t>
            </a:r>
            <a:endParaRPr kumimoji="1" lang="ja-JP" altLang="en-US" dirty="0"/>
          </a:p>
        </p:txBody>
      </p:sp>
      <p:sp>
        <p:nvSpPr>
          <p:cNvPr id="4" name="スライド番号プレースホルダー 3">
            <a:extLst>
              <a:ext uri="{FF2B5EF4-FFF2-40B4-BE49-F238E27FC236}">
                <a16:creationId xmlns:a16="http://schemas.microsoft.com/office/drawing/2014/main" id="{CE1CD9D1-58DA-D433-829C-C69560CE6EF3}"/>
              </a:ext>
            </a:extLst>
          </p:cNvPr>
          <p:cNvSpPr>
            <a:spLocks noGrp="1"/>
          </p:cNvSpPr>
          <p:nvPr>
            <p:ph type="sldNum" sz="quarter" idx="11"/>
          </p:nvPr>
        </p:nvSpPr>
        <p:spPr/>
        <p:txBody>
          <a:bodyPr/>
          <a:lstStyle/>
          <a:p>
            <a:fld id="{23B20E4E-3F95-4221-AFE5-FD1FD9CC3448}" type="slidenum">
              <a:rPr lang="en-US" altLang="ja-JP" smtClean="0"/>
              <a:pPr/>
              <a:t>7</a:t>
            </a:fld>
            <a:endParaRPr lang="en-US" altLang="ja-JP"/>
          </a:p>
        </p:txBody>
      </p:sp>
      <p:pic>
        <p:nvPicPr>
          <p:cNvPr id="5" name="図 4" descr="ロゴ&#10;&#10;自動的に生成された説明">
            <a:extLst>
              <a:ext uri="{FF2B5EF4-FFF2-40B4-BE49-F238E27FC236}">
                <a16:creationId xmlns:a16="http://schemas.microsoft.com/office/drawing/2014/main" id="{F3105322-6DE5-F222-E9B6-71E06A86B5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aphicFrame>
        <p:nvGraphicFramePr>
          <p:cNvPr id="6" name="表 5">
            <a:extLst>
              <a:ext uri="{FF2B5EF4-FFF2-40B4-BE49-F238E27FC236}">
                <a16:creationId xmlns:a16="http://schemas.microsoft.com/office/drawing/2014/main" id="{F1948435-BAC8-9AEF-6D8E-53CF773584A3}"/>
              </a:ext>
            </a:extLst>
          </p:cNvPr>
          <p:cNvGraphicFramePr>
            <a:graphicFrameLocks noGrp="1"/>
          </p:cNvGraphicFramePr>
          <p:nvPr>
            <p:extLst>
              <p:ext uri="{D42A27DB-BD31-4B8C-83A1-F6EECF244321}">
                <p14:modId xmlns:p14="http://schemas.microsoft.com/office/powerpoint/2010/main" val="2194745948"/>
              </p:ext>
            </p:extLst>
          </p:nvPr>
        </p:nvGraphicFramePr>
        <p:xfrm>
          <a:off x="2567608" y="1340768"/>
          <a:ext cx="6912000" cy="1828800"/>
        </p:xfrm>
        <a:graphic>
          <a:graphicData uri="http://schemas.openxmlformats.org/drawingml/2006/table">
            <a:tbl>
              <a:tblPr firstRow="1" lastRow="1" bandRow="1">
                <a:tableStyleId>{72833802-FEF1-4C79-8D5D-14CF1EAF98D9}</a:tableStyleId>
              </a:tblPr>
              <a:tblGrid>
                <a:gridCol w="2232000">
                  <a:extLst>
                    <a:ext uri="{9D8B030D-6E8A-4147-A177-3AD203B41FA5}">
                      <a16:colId xmlns:a16="http://schemas.microsoft.com/office/drawing/2014/main" val="2921360576"/>
                    </a:ext>
                  </a:extLst>
                </a:gridCol>
                <a:gridCol w="1692000">
                  <a:extLst>
                    <a:ext uri="{9D8B030D-6E8A-4147-A177-3AD203B41FA5}">
                      <a16:colId xmlns:a16="http://schemas.microsoft.com/office/drawing/2014/main" val="628765754"/>
                    </a:ext>
                  </a:extLst>
                </a:gridCol>
                <a:gridCol w="1944000">
                  <a:extLst>
                    <a:ext uri="{9D8B030D-6E8A-4147-A177-3AD203B41FA5}">
                      <a16:colId xmlns:a16="http://schemas.microsoft.com/office/drawing/2014/main" val="2425332903"/>
                    </a:ext>
                  </a:extLst>
                </a:gridCol>
                <a:gridCol w="1044000">
                  <a:extLst>
                    <a:ext uri="{9D8B030D-6E8A-4147-A177-3AD203B41FA5}">
                      <a16:colId xmlns:a16="http://schemas.microsoft.com/office/drawing/2014/main" val="2951463833"/>
                    </a:ext>
                  </a:extLst>
                </a:gridCol>
              </a:tblGrid>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集計①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graphicFrame>
        <p:nvGraphicFramePr>
          <p:cNvPr id="10" name="表 9">
            <a:extLst>
              <a:ext uri="{FF2B5EF4-FFF2-40B4-BE49-F238E27FC236}">
                <a16:creationId xmlns:a16="http://schemas.microsoft.com/office/drawing/2014/main" id="{B91EDF8F-5F56-7629-FC4C-9E00905021C1}"/>
              </a:ext>
            </a:extLst>
          </p:cNvPr>
          <p:cNvGraphicFramePr>
            <a:graphicFrameLocks noGrp="1"/>
          </p:cNvGraphicFramePr>
          <p:nvPr>
            <p:extLst>
              <p:ext uri="{D42A27DB-BD31-4B8C-83A1-F6EECF244321}">
                <p14:modId xmlns:p14="http://schemas.microsoft.com/office/powerpoint/2010/main" val="4002659783"/>
              </p:ext>
            </p:extLst>
          </p:nvPr>
        </p:nvGraphicFramePr>
        <p:xfrm>
          <a:off x="1362000" y="4311352"/>
          <a:ext cx="9468000" cy="2286000"/>
        </p:xfrm>
        <a:graphic>
          <a:graphicData uri="http://schemas.openxmlformats.org/drawingml/2006/table">
            <a:tbl>
              <a:tblPr firstRow="1" lastRow="1" bandRow="1">
                <a:tableStyleId>{72833802-FEF1-4C79-8D5D-14CF1EAF98D9}</a:tableStyleId>
              </a:tblPr>
              <a:tblGrid>
                <a:gridCol w="2268000">
                  <a:extLst>
                    <a:ext uri="{9D8B030D-6E8A-4147-A177-3AD203B41FA5}">
                      <a16:colId xmlns:a16="http://schemas.microsoft.com/office/drawing/2014/main" val="2921360576"/>
                    </a:ext>
                  </a:extLst>
                </a:gridCol>
                <a:gridCol w="1620000">
                  <a:extLst>
                    <a:ext uri="{9D8B030D-6E8A-4147-A177-3AD203B41FA5}">
                      <a16:colId xmlns:a16="http://schemas.microsoft.com/office/drawing/2014/main" val="628765754"/>
                    </a:ext>
                  </a:extLst>
                </a:gridCol>
                <a:gridCol w="1980000">
                  <a:extLst>
                    <a:ext uri="{9D8B030D-6E8A-4147-A177-3AD203B41FA5}">
                      <a16:colId xmlns:a16="http://schemas.microsoft.com/office/drawing/2014/main" val="2425332903"/>
                    </a:ext>
                  </a:extLst>
                </a:gridCol>
                <a:gridCol w="1620000">
                  <a:extLst>
                    <a:ext uri="{9D8B030D-6E8A-4147-A177-3AD203B41FA5}">
                      <a16:colId xmlns:a16="http://schemas.microsoft.com/office/drawing/2014/main" val="1382634185"/>
                    </a:ext>
                  </a:extLst>
                </a:gridCol>
                <a:gridCol w="1980000">
                  <a:extLst>
                    <a:ext uri="{9D8B030D-6E8A-4147-A177-3AD203B41FA5}">
                      <a16:colId xmlns:a16="http://schemas.microsoft.com/office/drawing/2014/main" val="214437269"/>
                    </a:ext>
                  </a:extLst>
                </a:gridCol>
              </a:tblGrid>
              <a:tr h="38153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集計②</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軽度</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重度</a:t>
                      </a:r>
                      <a:endParaRPr kumimoji="1" lang="en-US" altLang="ja-JP"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27730378"/>
                  </a:ext>
                </a:extLst>
              </a:tr>
              <a:tr h="381538">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症状</a:t>
                      </a:r>
                      <a:r>
                        <a:rPr kumimoji="1" lang="en-US" altLang="ja-JP" sz="2400" b="1" dirty="0">
                          <a:solidFill>
                            <a:schemeClr val="tx1"/>
                          </a:solidFill>
                          <a:latin typeface="+mn-ea"/>
                          <a:ea typeface="+mn-ea"/>
                        </a:rPr>
                        <a:t>Y</a:t>
                      </a:r>
                      <a:r>
                        <a:rPr kumimoji="1" lang="ja-JP" altLang="en-US" sz="24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新薬</a:t>
                      </a:r>
                      <a:r>
                        <a:rPr kumimoji="1" lang="en-US" altLang="ja-JP" sz="2400" b="1" dirty="0">
                          <a:solidFill>
                            <a:schemeClr val="tx1"/>
                          </a:solidFill>
                          <a:latin typeface="+mn-ea"/>
                          <a:ea typeface="+mn-ea"/>
                        </a:rPr>
                        <a:t>D</a:t>
                      </a:r>
                      <a:r>
                        <a:rPr kumimoji="1" lang="ja-JP" altLang="en-US" sz="2400" b="1" dirty="0">
                          <a:solidFill>
                            <a:schemeClr val="tx1"/>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sp>
        <p:nvSpPr>
          <p:cNvPr id="3" name="テキスト ボックス 2">
            <a:extLst>
              <a:ext uri="{FF2B5EF4-FFF2-40B4-BE49-F238E27FC236}">
                <a16:creationId xmlns:a16="http://schemas.microsoft.com/office/drawing/2014/main" id="{3D7F16E2-D0A1-40BF-FCC6-3A5E36D656D3}"/>
              </a:ext>
            </a:extLst>
          </p:cNvPr>
          <p:cNvSpPr txBox="1"/>
          <p:nvPr/>
        </p:nvSpPr>
        <p:spPr>
          <a:xfrm>
            <a:off x="1604236" y="3464277"/>
            <a:ext cx="8983528" cy="684803"/>
          </a:xfrm>
          <a:prstGeom prst="rect">
            <a:avLst/>
          </a:prstGeom>
          <a:blipFill dpi="0" rotWithShape="1">
            <a:blip r:embed="rId3">
              <a:alphaModFix amt="63000"/>
            </a:blip>
            <a:srcRect/>
            <a:tile tx="0" ty="0" sx="100000" sy="100000" flip="none" algn="tl"/>
          </a:blipFill>
        </p:spPr>
        <p:txBody>
          <a:bodyPr wrap="square" rtlCol="0">
            <a:spAutoFit/>
          </a:bodyPr>
          <a:lstStyle/>
          <a:p>
            <a:pPr marL="171450" indent="-171450">
              <a:lnSpc>
                <a:spcPct val="150000"/>
              </a:lnSpc>
              <a:buFont typeface="Wingdings" panose="05000000000000000000" pitchFamily="2" charset="2"/>
              <a:buChar char="ü"/>
            </a:pPr>
            <a:r>
              <a:rPr lang="ja-JP" altLang="en-US" sz="2800" b="1" dirty="0">
                <a:solidFill>
                  <a:srgbClr val="0070C0"/>
                </a:solidFill>
                <a:latin typeface="メイリオ" panose="020B0604030504040204" pitchFamily="50" charset="-128"/>
                <a:ea typeface="メイリオ" panose="020B0604030504040204" pitchFamily="50" charset="-128"/>
              </a:rPr>
              <a:t>研究対象者を重症度</a:t>
            </a:r>
            <a:r>
              <a:rPr lang="en-US" altLang="ja-JP" sz="2800" b="1" dirty="0">
                <a:solidFill>
                  <a:srgbClr val="0070C0"/>
                </a:solidFill>
                <a:latin typeface="メイリオ" panose="020B0604030504040204" pitchFamily="50" charset="-128"/>
                <a:ea typeface="メイリオ" panose="020B0604030504040204" pitchFamily="50" charset="-128"/>
              </a:rPr>
              <a:t>(</a:t>
            </a:r>
            <a:r>
              <a:rPr lang="ja-JP" altLang="en-US" sz="2800" b="1" dirty="0">
                <a:solidFill>
                  <a:srgbClr val="0070C0"/>
                </a:solidFill>
                <a:latin typeface="メイリオ" panose="020B0604030504040204" pitchFamily="50" charset="-128"/>
                <a:ea typeface="メイリオ" panose="020B0604030504040204" pitchFamily="50" charset="-128"/>
              </a:rPr>
              <a:t>軽度</a:t>
            </a:r>
            <a:r>
              <a:rPr lang="en-US" altLang="ja-JP" sz="2800" b="1" dirty="0">
                <a:solidFill>
                  <a:srgbClr val="0070C0"/>
                </a:solidFill>
                <a:latin typeface="メイリオ" panose="020B0604030504040204" pitchFamily="50" charset="-128"/>
                <a:ea typeface="メイリオ" panose="020B0604030504040204" pitchFamily="50" charset="-128"/>
              </a:rPr>
              <a:t>/</a:t>
            </a:r>
            <a:r>
              <a:rPr lang="ja-JP" altLang="en-US" sz="2800" b="1" dirty="0">
                <a:solidFill>
                  <a:srgbClr val="0070C0"/>
                </a:solidFill>
                <a:latin typeface="メイリオ" panose="020B0604030504040204" pitchFamily="50" charset="-128"/>
                <a:ea typeface="メイリオ" panose="020B0604030504040204" pitchFamily="50" charset="-128"/>
              </a:rPr>
              <a:t>重度</a:t>
            </a:r>
            <a:r>
              <a:rPr lang="en-US" altLang="ja-JP" sz="2800" b="1" dirty="0">
                <a:solidFill>
                  <a:srgbClr val="0070C0"/>
                </a:solidFill>
                <a:latin typeface="メイリオ" panose="020B0604030504040204" pitchFamily="50" charset="-128"/>
                <a:ea typeface="メイリオ" panose="020B0604030504040204" pitchFamily="50" charset="-128"/>
              </a:rPr>
              <a:t>)</a:t>
            </a:r>
            <a:r>
              <a:rPr lang="ja-JP" altLang="en-US" sz="2800" b="1" dirty="0">
                <a:solidFill>
                  <a:srgbClr val="0070C0"/>
                </a:solidFill>
                <a:latin typeface="メイリオ" panose="020B0604030504040204" pitchFamily="50" charset="-128"/>
                <a:ea typeface="メイリオ" panose="020B0604030504040204" pitchFamily="50" charset="-128"/>
              </a:rPr>
              <a:t>に応じて</a:t>
            </a:r>
            <a:r>
              <a:rPr lang="en-US" altLang="ja-JP" sz="2800" b="1" dirty="0">
                <a:solidFill>
                  <a:srgbClr val="0070C0"/>
                </a:solidFill>
                <a:latin typeface="メイリオ" panose="020B0604030504040204" pitchFamily="50" charset="-128"/>
                <a:ea typeface="メイリオ" panose="020B0604030504040204" pitchFamily="50" charset="-128"/>
              </a:rPr>
              <a:t>2</a:t>
            </a:r>
            <a:r>
              <a:rPr lang="ja-JP" altLang="en-US" sz="2800" b="1" dirty="0">
                <a:solidFill>
                  <a:srgbClr val="0070C0"/>
                </a:solidFill>
                <a:latin typeface="メイリオ" panose="020B0604030504040204" pitchFamily="50" charset="-128"/>
                <a:ea typeface="メイリオ" panose="020B0604030504040204" pitchFamily="50" charset="-128"/>
              </a:rPr>
              <a:t>層に分類</a:t>
            </a:r>
            <a:r>
              <a:rPr lang="en-US" altLang="ja-JP" sz="28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1559696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4DDE-0F2E-E568-A7B7-5A9D93CC1C8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AEBD91-2D19-AAC1-B215-FE8DD255B6D1}"/>
              </a:ext>
            </a:extLst>
          </p:cNvPr>
          <p:cNvSpPr>
            <a:spLocks noGrp="1"/>
          </p:cNvSpPr>
          <p:nvPr>
            <p:ph type="title"/>
          </p:nvPr>
        </p:nvSpPr>
        <p:spPr/>
        <p:txBody>
          <a:bodyPr/>
          <a:lstStyle/>
          <a:p>
            <a:r>
              <a:rPr kumimoji="1" lang="ja-JP" altLang="en-US" dirty="0"/>
              <a:t>観察研究における層別のクロス集計表</a:t>
            </a:r>
          </a:p>
        </p:txBody>
      </p:sp>
      <p:sp>
        <p:nvSpPr>
          <p:cNvPr id="4" name="スライド番号プレースホルダー 3">
            <a:extLst>
              <a:ext uri="{FF2B5EF4-FFF2-40B4-BE49-F238E27FC236}">
                <a16:creationId xmlns:a16="http://schemas.microsoft.com/office/drawing/2014/main" id="{3E80B80F-DC42-8622-7A26-36D5A09F5E43}"/>
              </a:ext>
            </a:extLst>
          </p:cNvPr>
          <p:cNvSpPr>
            <a:spLocks noGrp="1"/>
          </p:cNvSpPr>
          <p:nvPr>
            <p:ph type="sldNum" sz="quarter" idx="11"/>
          </p:nvPr>
        </p:nvSpPr>
        <p:spPr/>
        <p:txBody>
          <a:bodyPr/>
          <a:lstStyle/>
          <a:p>
            <a:fld id="{23B20E4E-3F95-4221-AFE5-FD1FD9CC3448}" type="slidenum">
              <a:rPr lang="en-US" altLang="ja-JP" smtClean="0"/>
              <a:pPr/>
              <a:t>8</a:t>
            </a:fld>
            <a:endParaRPr lang="en-US" altLang="ja-JP"/>
          </a:p>
        </p:txBody>
      </p:sp>
      <p:pic>
        <p:nvPicPr>
          <p:cNvPr id="5" name="図 4" descr="ロゴ&#10;&#10;自動的に生成された説明">
            <a:extLst>
              <a:ext uri="{FF2B5EF4-FFF2-40B4-BE49-F238E27FC236}">
                <a16:creationId xmlns:a16="http://schemas.microsoft.com/office/drawing/2014/main" id="{3E7A9DB6-C12B-12C0-8C7C-B3C4907182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aphicFrame>
        <p:nvGraphicFramePr>
          <p:cNvPr id="3" name="表 2">
            <a:extLst>
              <a:ext uri="{FF2B5EF4-FFF2-40B4-BE49-F238E27FC236}">
                <a16:creationId xmlns:a16="http://schemas.microsoft.com/office/drawing/2014/main" id="{6C06927D-B5D0-2EA0-2CF4-EE33EBCD6CBD}"/>
              </a:ext>
            </a:extLst>
          </p:cNvPr>
          <p:cNvGraphicFramePr>
            <a:graphicFrameLocks noGrp="1"/>
          </p:cNvGraphicFramePr>
          <p:nvPr>
            <p:extLst>
              <p:ext uri="{D42A27DB-BD31-4B8C-83A1-F6EECF244321}">
                <p14:modId xmlns:p14="http://schemas.microsoft.com/office/powerpoint/2010/main" val="3649378781"/>
              </p:ext>
            </p:extLst>
          </p:nvPr>
        </p:nvGraphicFramePr>
        <p:xfrm>
          <a:off x="569435" y="1556792"/>
          <a:ext cx="10836000" cy="2008293"/>
        </p:xfrm>
        <a:graphic>
          <a:graphicData uri="http://schemas.openxmlformats.org/drawingml/2006/table">
            <a:tbl>
              <a:tblPr firstRow="1" lastRow="1" bandRow="1">
                <a:tableStyleId>{72833802-FEF1-4C79-8D5D-14CF1EAF98D9}</a:tableStyleId>
              </a:tblPr>
              <a:tblGrid>
                <a:gridCol w="1908000">
                  <a:extLst>
                    <a:ext uri="{9D8B030D-6E8A-4147-A177-3AD203B41FA5}">
                      <a16:colId xmlns:a16="http://schemas.microsoft.com/office/drawing/2014/main" val="2921360576"/>
                    </a:ext>
                  </a:extLst>
                </a:gridCol>
                <a:gridCol w="1368000">
                  <a:extLst>
                    <a:ext uri="{9D8B030D-6E8A-4147-A177-3AD203B41FA5}">
                      <a16:colId xmlns:a16="http://schemas.microsoft.com/office/drawing/2014/main" val="628765754"/>
                    </a:ext>
                  </a:extLst>
                </a:gridCol>
                <a:gridCol w="1620000">
                  <a:extLst>
                    <a:ext uri="{9D8B030D-6E8A-4147-A177-3AD203B41FA5}">
                      <a16:colId xmlns:a16="http://schemas.microsoft.com/office/drawing/2014/main" val="2425332903"/>
                    </a:ext>
                  </a:extLst>
                </a:gridCol>
                <a:gridCol w="1476000">
                  <a:extLst>
                    <a:ext uri="{9D8B030D-6E8A-4147-A177-3AD203B41FA5}">
                      <a16:colId xmlns:a16="http://schemas.microsoft.com/office/drawing/2014/main" val="1827376317"/>
                    </a:ext>
                  </a:extLst>
                </a:gridCol>
                <a:gridCol w="1368000">
                  <a:extLst>
                    <a:ext uri="{9D8B030D-6E8A-4147-A177-3AD203B41FA5}">
                      <a16:colId xmlns:a16="http://schemas.microsoft.com/office/drawing/2014/main" val="1382634185"/>
                    </a:ext>
                  </a:extLst>
                </a:gridCol>
                <a:gridCol w="1620000">
                  <a:extLst>
                    <a:ext uri="{9D8B030D-6E8A-4147-A177-3AD203B41FA5}">
                      <a16:colId xmlns:a16="http://schemas.microsoft.com/office/drawing/2014/main" val="214437269"/>
                    </a:ext>
                  </a:extLst>
                </a:gridCol>
                <a:gridCol w="1476000">
                  <a:extLst>
                    <a:ext uri="{9D8B030D-6E8A-4147-A177-3AD203B41FA5}">
                      <a16:colId xmlns:a16="http://schemas.microsoft.com/office/drawing/2014/main" val="667543525"/>
                    </a:ext>
                  </a:extLst>
                </a:gridCol>
              </a:tblGrid>
              <a:tr h="38153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集計②</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軽度</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重度</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83279325"/>
                  </a:ext>
                </a:extLst>
              </a:tr>
              <a:tr h="381538">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chemeClr val="tx1"/>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8</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 (2/10)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50% (15/30)</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chemeClr val="tx1"/>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6</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24</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 (6/30)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50% (5/10)</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8</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32</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sp>
        <p:nvSpPr>
          <p:cNvPr id="6" name="吹き出し: 四角形 5">
            <a:extLst>
              <a:ext uri="{FF2B5EF4-FFF2-40B4-BE49-F238E27FC236}">
                <a16:creationId xmlns:a16="http://schemas.microsoft.com/office/drawing/2014/main" id="{86A858ED-D22F-BD20-463F-46A0F9CC54B2}"/>
              </a:ext>
            </a:extLst>
          </p:cNvPr>
          <p:cNvSpPr/>
          <p:nvPr/>
        </p:nvSpPr>
        <p:spPr>
          <a:xfrm>
            <a:off x="1903541" y="3996554"/>
            <a:ext cx="8384917" cy="2024187"/>
          </a:xfrm>
          <a:prstGeom prst="wedgeRectCallout">
            <a:avLst>
              <a:gd name="adj1" fmla="val -27923"/>
              <a:gd name="adj2" fmla="val -9122"/>
            </a:avLst>
          </a:prstGeom>
          <a:solidFill>
            <a:schemeClr val="bg1"/>
          </a:solidFill>
          <a:ln w="38100">
            <a:solidFill>
              <a:srgbClr val="F8D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2400" b="1" dirty="0">
              <a:solidFill>
                <a:schemeClr val="tx1"/>
              </a:solidFill>
              <a:latin typeface="Meiryo" panose="020B0604030504040204" pitchFamily="50" charset="-128"/>
              <a:ea typeface="Meiryo" panose="020B0604030504040204" pitchFamily="50" charset="-128"/>
            </a:endParaRPr>
          </a:p>
          <a:p>
            <a:r>
              <a:rPr lang="ja-JP" altLang="en-US" sz="2400" b="1" dirty="0">
                <a:solidFill>
                  <a:schemeClr val="tx1"/>
                </a:solidFill>
                <a:latin typeface="Meiryo" panose="020B0604030504040204" pitchFamily="50" charset="-128"/>
                <a:ea typeface="Meiryo" panose="020B0604030504040204" pitchFamily="50" charset="-128"/>
              </a:rPr>
              <a:t>軽度の層</a:t>
            </a:r>
            <a:r>
              <a:rPr lang="ja-JP" altLang="en-US" b="1" dirty="0">
                <a:solidFill>
                  <a:schemeClr val="tx1"/>
                </a:solidFill>
                <a:latin typeface="Meiryo" panose="020B0604030504040204" pitchFamily="50" charset="-128"/>
                <a:ea typeface="Meiryo" panose="020B0604030504040204" pitchFamily="50" charset="-128"/>
              </a:rPr>
              <a:t>：</a:t>
            </a:r>
            <a:r>
              <a:rPr lang="ja-JP" altLang="en-US" sz="2400" b="1" dirty="0">
                <a:solidFill>
                  <a:schemeClr val="tx1"/>
                </a:solidFill>
                <a:latin typeface="Meiryo" panose="020B0604030504040204" pitchFamily="50" charset="-128"/>
                <a:ea typeface="Meiryo" panose="020B0604030504040204" pitchFamily="50" charset="-128"/>
              </a:rPr>
              <a:t>投与群</a:t>
            </a:r>
            <a:r>
              <a:rPr lang="en-US" altLang="ja-JP" sz="2400" b="1" dirty="0">
                <a:solidFill>
                  <a:schemeClr val="tx1"/>
                </a:solidFill>
                <a:latin typeface="Meiryo" panose="020B0604030504040204" pitchFamily="50" charset="-128"/>
                <a:ea typeface="Meiryo" panose="020B0604030504040204" pitchFamily="50" charset="-128"/>
              </a:rPr>
              <a:t>, </a:t>
            </a:r>
            <a:r>
              <a:rPr lang="ja-JP" altLang="en-US" sz="2400" b="1" dirty="0">
                <a:solidFill>
                  <a:schemeClr val="tx1"/>
                </a:solidFill>
                <a:latin typeface="Meiryo" panose="020B0604030504040204" pitchFamily="50" charset="-128"/>
                <a:ea typeface="Meiryo" panose="020B0604030504040204" pitchFamily="50" charset="-128"/>
              </a:rPr>
              <a:t>非投与群の改善率はいずれも</a:t>
            </a:r>
            <a:r>
              <a:rPr lang="en-US" altLang="ja-JP" b="1" dirty="0">
                <a:solidFill>
                  <a:schemeClr val="tx1"/>
                </a:solidFill>
                <a:latin typeface="Meiryo" panose="020B0604030504040204" pitchFamily="50" charset="-128"/>
                <a:ea typeface="Meiryo" panose="020B0604030504040204" pitchFamily="50" charset="-128"/>
              </a:rPr>
              <a:t>20</a:t>
            </a:r>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a:p>
            <a:r>
              <a:rPr lang="ja-JP" altLang="en-US" sz="2400" b="1" dirty="0">
                <a:solidFill>
                  <a:schemeClr val="tx1"/>
                </a:solidFill>
                <a:latin typeface="Meiryo" panose="020B0604030504040204" pitchFamily="50" charset="-128"/>
                <a:ea typeface="Meiryo" panose="020B0604030504040204" pitchFamily="50" charset="-128"/>
              </a:rPr>
              <a:t>重度の層</a:t>
            </a:r>
            <a:r>
              <a:rPr lang="ja-JP" altLang="en-US" b="1" dirty="0">
                <a:solidFill>
                  <a:schemeClr val="tx1"/>
                </a:solidFill>
                <a:latin typeface="Meiryo" panose="020B0604030504040204" pitchFamily="50" charset="-128"/>
                <a:ea typeface="Meiryo" panose="020B0604030504040204" pitchFamily="50" charset="-128"/>
              </a:rPr>
              <a:t>：</a:t>
            </a:r>
            <a:r>
              <a:rPr lang="ja-JP" altLang="en-US" sz="2400" b="1" dirty="0">
                <a:solidFill>
                  <a:schemeClr val="tx1"/>
                </a:solidFill>
                <a:latin typeface="Meiryo" panose="020B0604030504040204" pitchFamily="50" charset="-128"/>
                <a:ea typeface="Meiryo" panose="020B0604030504040204" pitchFamily="50" charset="-128"/>
              </a:rPr>
              <a:t>投与群</a:t>
            </a:r>
            <a:r>
              <a:rPr lang="en-US" altLang="ja-JP" sz="2400" b="1" dirty="0">
                <a:solidFill>
                  <a:schemeClr val="tx1"/>
                </a:solidFill>
                <a:latin typeface="Meiryo" panose="020B0604030504040204" pitchFamily="50" charset="-128"/>
                <a:ea typeface="Meiryo" panose="020B0604030504040204" pitchFamily="50" charset="-128"/>
              </a:rPr>
              <a:t>, </a:t>
            </a:r>
            <a:r>
              <a:rPr lang="ja-JP" altLang="en-US" sz="2400" b="1" dirty="0">
                <a:solidFill>
                  <a:schemeClr val="tx1"/>
                </a:solidFill>
                <a:latin typeface="Meiryo" panose="020B0604030504040204" pitchFamily="50" charset="-128"/>
                <a:ea typeface="Meiryo" panose="020B0604030504040204" pitchFamily="50" charset="-128"/>
              </a:rPr>
              <a:t>非投与群の改善率はいずれも</a:t>
            </a:r>
            <a:r>
              <a:rPr lang="en-US" altLang="ja-JP" sz="2400" b="1" dirty="0">
                <a:solidFill>
                  <a:schemeClr val="tx1"/>
                </a:solidFill>
                <a:latin typeface="Meiryo" panose="020B0604030504040204" pitchFamily="50" charset="-128"/>
                <a:ea typeface="Meiryo" panose="020B0604030504040204" pitchFamily="50" charset="-128"/>
              </a:rPr>
              <a:t>50</a:t>
            </a:r>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a:p>
            <a:endParaRPr lang="en-US" altLang="ja-JP" b="1" dirty="0">
              <a:solidFill>
                <a:schemeClr val="tx1"/>
              </a:solidFill>
              <a:latin typeface="Meiryo" panose="020B0604030504040204" pitchFamily="50" charset="-128"/>
              <a:ea typeface="Meiryo" panose="020B0604030504040204" pitchFamily="50" charset="-128"/>
            </a:endParaRPr>
          </a:p>
          <a:p>
            <a:r>
              <a:rPr lang="en-US" altLang="ja-JP" b="1"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層のサンプル数で重み付き平均した改善率の差</a:t>
            </a:r>
            <a:r>
              <a:rPr lang="en-US" altLang="ja-JP" b="1" dirty="0">
                <a:solidFill>
                  <a:schemeClr val="tx1"/>
                </a:solidFill>
                <a:latin typeface="Meiryo" panose="020B0604030504040204" pitchFamily="50" charset="-128"/>
                <a:ea typeface="Meiryo" panose="020B0604030504040204" pitchFamily="50" charset="-128"/>
              </a:rPr>
              <a:t>】</a:t>
            </a:r>
          </a:p>
          <a:p>
            <a:r>
              <a:rPr lang="en-US" altLang="ja-JP" b="1" dirty="0">
                <a:solidFill>
                  <a:schemeClr val="tx1"/>
                </a:solidFill>
                <a:latin typeface="Meiryo" panose="020B0604030504040204" pitchFamily="50" charset="-128"/>
                <a:ea typeface="Meiryo" panose="020B0604030504040204" pitchFamily="50" charset="-128"/>
              </a:rPr>
              <a:t>(40/80)×(20%-20%)+(40/80)×(50%-50%)=</a:t>
            </a:r>
            <a:r>
              <a:rPr lang="en-US" altLang="ja-JP" b="1" dirty="0">
                <a:solidFill>
                  <a:schemeClr val="tx1"/>
                </a:solidFill>
                <a:highlight>
                  <a:srgbClr val="FFFF00"/>
                </a:highlight>
                <a:latin typeface="Meiryo" panose="020B0604030504040204" pitchFamily="50" charset="-128"/>
                <a:ea typeface="Meiryo" panose="020B0604030504040204" pitchFamily="50" charset="-128"/>
              </a:rPr>
              <a:t>0%</a:t>
            </a:r>
          </a:p>
          <a:p>
            <a:endParaRPr lang="en-US" altLang="ja-JP" b="1" dirty="0">
              <a:solidFill>
                <a:schemeClr val="tx1"/>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93289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CD2F0-2DFB-2540-1357-489C11226B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D24C0D-4F07-A4D8-1F57-C12614D1206F}"/>
              </a:ext>
            </a:extLst>
          </p:cNvPr>
          <p:cNvSpPr>
            <a:spLocks noGrp="1"/>
          </p:cNvSpPr>
          <p:nvPr>
            <p:ph type="title"/>
          </p:nvPr>
        </p:nvSpPr>
        <p:spPr/>
        <p:txBody>
          <a:bodyPr/>
          <a:lstStyle/>
          <a:p>
            <a:r>
              <a:rPr kumimoji="1" lang="ja-JP" altLang="en-US" dirty="0"/>
              <a:t>観察研究における層別のクロス集計表</a:t>
            </a:r>
          </a:p>
        </p:txBody>
      </p:sp>
      <p:sp>
        <p:nvSpPr>
          <p:cNvPr id="4" name="スライド番号プレースホルダー 3">
            <a:extLst>
              <a:ext uri="{FF2B5EF4-FFF2-40B4-BE49-F238E27FC236}">
                <a16:creationId xmlns:a16="http://schemas.microsoft.com/office/drawing/2014/main" id="{14ED8D2A-5A2A-ED81-818C-F3D5B767B73A}"/>
              </a:ext>
            </a:extLst>
          </p:cNvPr>
          <p:cNvSpPr>
            <a:spLocks noGrp="1"/>
          </p:cNvSpPr>
          <p:nvPr>
            <p:ph type="sldNum" sz="quarter" idx="11"/>
          </p:nvPr>
        </p:nvSpPr>
        <p:spPr/>
        <p:txBody>
          <a:bodyPr/>
          <a:lstStyle/>
          <a:p>
            <a:fld id="{23B20E4E-3F95-4221-AFE5-FD1FD9CC3448}" type="slidenum">
              <a:rPr lang="en-US" altLang="ja-JP" smtClean="0"/>
              <a:pPr/>
              <a:t>9</a:t>
            </a:fld>
            <a:endParaRPr lang="en-US" altLang="ja-JP"/>
          </a:p>
        </p:txBody>
      </p:sp>
      <p:pic>
        <p:nvPicPr>
          <p:cNvPr id="5" name="図 4" descr="ロゴ&#10;&#10;自動的に生成された説明">
            <a:extLst>
              <a:ext uri="{FF2B5EF4-FFF2-40B4-BE49-F238E27FC236}">
                <a16:creationId xmlns:a16="http://schemas.microsoft.com/office/drawing/2014/main" id="{BE46F854-C93E-3587-2D73-856F82378C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pic>
        <p:nvPicPr>
          <p:cNvPr id="7" name="図 6" descr="クリップアート が含まれている画像&#10;&#10;自動的に生成された説明">
            <a:extLst>
              <a:ext uri="{FF2B5EF4-FFF2-40B4-BE49-F238E27FC236}">
                <a16:creationId xmlns:a16="http://schemas.microsoft.com/office/drawing/2014/main" id="{475C8525-A42F-44D4-03A4-92B3D56C3912}"/>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10096" y="3658900"/>
            <a:ext cx="1057372" cy="1440000"/>
          </a:xfrm>
          <a:prstGeom prst="rect">
            <a:avLst/>
          </a:prstGeom>
          <a:solidFill>
            <a:schemeClr val="accent5"/>
          </a:solidFill>
        </p:spPr>
      </p:pic>
      <p:sp>
        <p:nvSpPr>
          <p:cNvPr id="8" name="吹き出し: 角を丸めた四角形 7">
            <a:extLst>
              <a:ext uri="{FF2B5EF4-FFF2-40B4-BE49-F238E27FC236}">
                <a16:creationId xmlns:a16="http://schemas.microsoft.com/office/drawing/2014/main" id="{DFAD87A5-9825-3D28-6637-E81EEF31C613}"/>
              </a:ext>
            </a:extLst>
          </p:cNvPr>
          <p:cNvSpPr/>
          <p:nvPr/>
        </p:nvSpPr>
        <p:spPr>
          <a:xfrm>
            <a:off x="1415480" y="3429000"/>
            <a:ext cx="10225136" cy="1872207"/>
          </a:xfrm>
          <a:prstGeom prst="wedgeRoundRectCallout">
            <a:avLst>
              <a:gd name="adj1" fmla="val -52560"/>
              <a:gd name="adj2" fmla="val -6141"/>
              <a:gd name="adj3" fmla="val 16667"/>
            </a:avLst>
          </a:prstGeom>
          <a:solidFill>
            <a:schemeClr val="accent5"/>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dirty="0">
                <a:solidFill>
                  <a:schemeClr val="tx1"/>
                </a:solidFill>
                <a:latin typeface="メイリオ" panose="020B0604030504040204" pitchFamily="50" charset="-128"/>
                <a:ea typeface="メイリオ" panose="020B0604030504040204" pitchFamily="50" charset="-128"/>
              </a:rPr>
              <a:t>クロス集計②の結果からは</a:t>
            </a:r>
            <a:r>
              <a:rPr lang="en-US" altLang="ja-JP" sz="2600" dirty="0">
                <a:solidFill>
                  <a:schemeClr val="tx1"/>
                </a:solidFill>
                <a:latin typeface="メイリオ" panose="020B0604030504040204" pitchFamily="50" charset="-128"/>
                <a:ea typeface="メイリオ" panose="020B0604030504040204" pitchFamily="50" charset="-128"/>
              </a:rPr>
              <a:t>, </a:t>
            </a:r>
            <a:r>
              <a:rPr lang="ja-JP" altLang="en-US" sz="2600" dirty="0">
                <a:solidFill>
                  <a:schemeClr val="tx1"/>
                </a:solidFill>
                <a:latin typeface="メイリオ" panose="020B0604030504040204" pitchFamily="50" charset="-128"/>
                <a:ea typeface="メイリオ" panose="020B0604030504040204" pitchFamily="50" charset="-128"/>
              </a:rPr>
              <a:t>投与群</a:t>
            </a:r>
            <a:r>
              <a:rPr lang="en-US" altLang="ja-JP" sz="2600" dirty="0">
                <a:solidFill>
                  <a:schemeClr val="tx1"/>
                </a:solidFill>
                <a:latin typeface="メイリオ" panose="020B0604030504040204" pitchFamily="50" charset="-128"/>
                <a:ea typeface="メイリオ" panose="020B0604030504040204" pitchFamily="50" charset="-128"/>
              </a:rPr>
              <a:t>/</a:t>
            </a:r>
            <a:r>
              <a:rPr lang="ja-JP" altLang="en-US" sz="2600" dirty="0">
                <a:solidFill>
                  <a:schemeClr val="tx1"/>
                </a:solidFill>
                <a:latin typeface="メイリオ" panose="020B0604030504040204" pitchFamily="50" charset="-128"/>
                <a:ea typeface="メイリオ" panose="020B0604030504040204" pitchFamily="50" charset="-128"/>
              </a:rPr>
              <a:t>非投与群において</a:t>
            </a:r>
            <a:r>
              <a:rPr lang="en-US" altLang="ja-JP" sz="2600" dirty="0">
                <a:solidFill>
                  <a:schemeClr val="tx1"/>
                </a:solidFill>
                <a:latin typeface="メイリオ" panose="020B0604030504040204" pitchFamily="50" charset="-128"/>
                <a:ea typeface="メイリオ" panose="020B0604030504040204" pitchFamily="50" charset="-128"/>
              </a:rPr>
              <a:t>, </a:t>
            </a:r>
            <a:r>
              <a:rPr lang="ja-JP" altLang="en-US" sz="2600" dirty="0">
                <a:solidFill>
                  <a:schemeClr val="tx1"/>
                </a:solidFill>
                <a:latin typeface="メイリオ" panose="020B0604030504040204" pitchFamily="50" charset="-128"/>
                <a:ea typeface="メイリオ" panose="020B0604030504040204" pitchFamily="50" charset="-128"/>
              </a:rPr>
              <a:t>軽度の層はいずれも改善率</a:t>
            </a:r>
            <a:r>
              <a:rPr lang="en-US" altLang="ja-JP" sz="2600" dirty="0">
                <a:solidFill>
                  <a:schemeClr val="tx1"/>
                </a:solidFill>
                <a:latin typeface="メイリオ" panose="020B0604030504040204" pitchFamily="50" charset="-128"/>
                <a:ea typeface="メイリオ" panose="020B0604030504040204" pitchFamily="50" charset="-128"/>
              </a:rPr>
              <a:t>20</a:t>
            </a:r>
            <a:r>
              <a:rPr lang="ja-JP" altLang="en-US" sz="2600" dirty="0">
                <a:solidFill>
                  <a:schemeClr val="tx1"/>
                </a:solidFill>
                <a:latin typeface="メイリオ" panose="020B0604030504040204" pitchFamily="50" charset="-128"/>
                <a:ea typeface="メイリオ" panose="020B0604030504040204" pitchFamily="50" charset="-128"/>
              </a:rPr>
              <a:t>％</a:t>
            </a:r>
            <a:r>
              <a:rPr lang="en-US" altLang="ja-JP" sz="2600" dirty="0">
                <a:solidFill>
                  <a:schemeClr val="tx1"/>
                </a:solidFill>
                <a:latin typeface="メイリオ" panose="020B0604030504040204" pitchFamily="50" charset="-128"/>
                <a:ea typeface="メイリオ" panose="020B0604030504040204" pitchFamily="50" charset="-128"/>
              </a:rPr>
              <a:t>,</a:t>
            </a:r>
            <a:r>
              <a:rPr lang="ja-JP" altLang="en-US" sz="2600" dirty="0">
                <a:solidFill>
                  <a:schemeClr val="tx1"/>
                </a:solidFill>
                <a:latin typeface="メイリオ" panose="020B0604030504040204" pitchFamily="50" charset="-128"/>
                <a:ea typeface="メイリオ" panose="020B0604030504040204" pitchFamily="50" charset="-128"/>
              </a:rPr>
              <a:t> 重度の層はいずれも改善率</a:t>
            </a:r>
            <a:r>
              <a:rPr lang="en-US" altLang="ja-JP" sz="2600" dirty="0">
                <a:solidFill>
                  <a:schemeClr val="tx1"/>
                </a:solidFill>
                <a:latin typeface="メイリオ" panose="020B0604030504040204" pitchFamily="50" charset="-128"/>
                <a:ea typeface="メイリオ" panose="020B0604030504040204" pitchFamily="50" charset="-128"/>
              </a:rPr>
              <a:t>50%</a:t>
            </a:r>
            <a:r>
              <a:rPr lang="ja-JP" altLang="en-US" sz="2600" dirty="0">
                <a:solidFill>
                  <a:schemeClr val="tx1"/>
                </a:solidFill>
                <a:latin typeface="メイリオ" panose="020B0604030504040204" pitchFamily="50" charset="-128"/>
                <a:ea typeface="メイリオ" panose="020B0604030504040204" pitchFamily="50" charset="-128"/>
              </a:rPr>
              <a:t>で改善率に差は見られません</a:t>
            </a:r>
            <a:r>
              <a:rPr lang="en-US" altLang="ja-JP" sz="2600" dirty="0">
                <a:solidFill>
                  <a:schemeClr val="tx1"/>
                </a:solidFill>
                <a:latin typeface="メイリオ" panose="020B0604030504040204" pitchFamily="50" charset="-128"/>
                <a:ea typeface="メイリオ" panose="020B0604030504040204" pitchFamily="50" charset="-128"/>
              </a:rPr>
              <a:t>. </a:t>
            </a:r>
            <a:r>
              <a:rPr lang="ja-JP" altLang="en-US" sz="2600" dirty="0">
                <a:solidFill>
                  <a:schemeClr val="tx1"/>
                </a:solidFill>
                <a:latin typeface="メイリオ" panose="020B0604030504040204" pitchFamily="50" charset="-128"/>
                <a:ea typeface="メイリオ" panose="020B0604030504040204" pitchFamily="50" charset="-128"/>
              </a:rPr>
              <a:t>層のサンプル数で重み付き平均した改善率の差は</a:t>
            </a:r>
            <a:r>
              <a:rPr lang="en-US" altLang="ja-JP" sz="2600" b="1" dirty="0">
                <a:solidFill>
                  <a:schemeClr val="tx1"/>
                </a:solidFill>
                <a:highlight>
                  <a:srgbClr val="FFFF00"/>
                </a:highlight>
                <a:latin typeface="メイリオ" panose="020B0604030504040204" pitchFamily="50" charset="-128"/>
                <a:ea typeface="メイリオ" panose="020B0604030504040204" pitchFamily="50" charset="-128"/>
              </a:rPr>
              <a:t>0%</a:t>
            </a:r>
            <a:r>
              <a:rPr lang="ja-JP" altLang="en-US" sz="2600" dirty="0">
                <a:solidFill>
                  <a:schemeClr val="tx1"/>
                </a:solidFill>
                <a:latin typeface="メイリオ" panose="020B0604030504040204" pitchFamily="50" charset="-128"/>
                <a:ea typeface="メイリオ" panose="020B0604030504040204" pitchFamily="50" charset="-128"/>
              </a:rPr>
              <a:t>（前スライド参照）です</a:t>
            </a:r>
            <a:r>
              <a:rPr lang="en-US" altLang="ja-JP" sz="2600" dirty="0">
                <a:solidFill>
                  <a:schemeClr val="tx1"/>
                </a:solidFill>
                <a:latin typeface="メイリオ" panose="020B0604030504040204" pitchFamily="50" charset="-128"/>
                <a:ea typeface="メイリオ" panose="020B0604030504040204" pitchFamily="50" charset="-128"/>
              </a:rPr>
              <a:t>.</a:t>
            </a:r>
            <a:endParaRPr kumimoji="1" lang="ja-JP" altLang="en-US" sz="2600" b="1" dirty="0">
              <a:solidFill>
                <a:schemeClr val="bg2"/>
              </a:solidFill>
              <a:latin typeface="メイリオ" panose="020B0604030504040204" pitchFamily="50" charset="-128"/>
              <a:ea typeface="メイリオ" panose="020B0604030504040204" pitchFamily="50" charset="-128"/>
            </a:endParaRPr>
          </a:p>
        </p:txBody>
      </p:sp>
      <p:sp>
        <p:nvSpPr>
          <p:cNvPr id="10" name="吹き出し: 角を丸めた四角形 9">
            <a:extLst>
              <a:ext uri="{FF2B5EF4-FFF2-40B4-BE49-F238E27FC236}">
                <a16:creationId xmlns:a16="http://schemas.microsoft.com/office/drawing/2014/main" id="{D5778496-48C7-4EE7-AB97-2BF08E2F57E1}"/>
              </a:ext>
            </a:extLst>
          </p:cNvPr>
          <p:cNvSpPr/>
          <p:nvPr/>
        </p:nvSpPr>
        <p:spPr>
          <a:xfrm>
            <a:off x="1283373" y="5513541"/>
            <a:ext cx="8124995" cy="1083811"/>
          </a:xfrm>
          <a:prstGeom prst="wedgeRoundRectCallout">
            <a:avLst>
              <a:gd name="adj1" fmla="val 51703"/>
              <a:gd name="adj2" fmla="val -30176"/>
              <a:gd name="adj3" fmla="val 16667"/>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dirty="0">
                <a:solidFill>
                  <a:schemeClr val="tx1"/>
                </a:solidFill>
                <a:latin typeface="メイリオ" panose="020B0604030504040204" pitchFamily="50" charset="-128"/>
                <a:ea typeface="メイリオ" panose="020B0604030504040204" pitchFamily="50" charset="-128"/>
              </a:rPr>
              <a:t>クロス集計①と②では</a:t>
            </a:r>
            <a:r>
              <a:rPr lang="en-US" altLang="ja-JP" sz="2600" dirty="0">
                <a:solidFill>
                  <a:schemeClr val="tx1"/>
                </a:solidFill>
                <a:latin typeface="メイリオ" panose="020B0604030504040204" pitchFamily="50" charset="-128"/>
                <a:ea typeface="メイリオ" panose="020B0604030504040204" pitchFamily="50" charset="-128"/>
              </a:rPr>
              <a:t>, </a:t>
            </a:r>
            <a:r>
              <a:rPr lang="ja-JP" altLang="en-US" sz="2600" dirty="0">
                <a:solidFill>
                  <a:schemeClr val="tx1"/>
                </a:solidFill>
                <a:latin typeface="メイリオ" panose="020B0604030504040204" pitchFamily="50" charset="-128"/>
                <a:ea typeface="メイリオ" panose="020B0604030504040204" pitchFamily="50" charset="-128"/>
              </a:rPr>
              <a:t>どちらの結果が平均因果効果の推定値として適切でしょうか</a:t>
            </a:r>
            <a:r>
              <a:rPr lang="en-US" altLang="ja-JP" sz="2600" dirty="0">
                <a:solidFill>
                  <a:schemeClr val="tx1"/>
                </a:solidFill>
                <a:latin typeface="メイリオ" panose="020B0604030504040204" pitchFamily="50" charset="-128"/>
                <a:ea typeface="メイリオ" panose="020B0604030504040204" pitchFamily="50" charset="-128"/>
              </a:rPr>
              <a:t>.</a:t>
            </a:r>
            <a:endParaRPr kumimoji="1" lang="ja-JP" altLang="en-US" sz="2600" b="1" dirty="0">
              <a:solidFill>
                <a:schemeClr val="bg2"/>
              </a:solidFill>
              <a:latin typeface="メイリオ" panose="020B0604030504040204" pitchFamily="50" charset="-128"/>
              <a:ea typeface="メイリオ" panose="020B0604030504040204" pitchFamily="50" charset="-128"/>
            </a:endParaRPr>
          </a:p>
        </p:txBody>
      </p:sp>
      <p:pic>
        <p:nvPicPr>
          <p:cNvPr id="11" name="図 10" descr="図形&#10;&#10;低い精度で自動的に生成された説明">
            <a:extLst>
              <a:ext uri="{FF2B5EF4-FFF2-40B4-BE49-F238E27FC236}">
                <a16:creationId xmlns:a16="http://schemas.microsoft.com/office/drawing/2014/main" id="{8CAF3D62-D607-B0E7-51C9-60CAD19CE3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09685" y="5373376"/>
            <a:ext cx="966835" cy="1440000"/>
          </a:xfrm>
          <a:prstGeom prst="rect">
            <a:avLst/>
          </a:prstGeom>
        </p:spPr>
      </p:pic>
      <p:graphicFrame>
        <p:nvGraphicFramePr>
          <p:cNvPr id="3" name="表 2">
            <a:extLst>
              <a:ext uri="{FF2B5EF4-FFF2-40B4-BE49-F238E27FC236}">
                <a16:creationId xmlns:a16="http://schemas.microsoft.com/office/drawing/2014/main" id="{F52E301D-C5FF-9300-2A3E-B66F3DE199C1}"/>
              </a:ext>
            </a:extLst>
          </p:cNvPr>
          <p:cNvGraphicFramePr>
            <a:graphicFrameLocks noGrp="1"/>
          </p:cNvGraphicFramePr>
          <p:nvPr>
            <p:extLst>
              <p:ext uri="{D42A27DB-BD31-4B8C-83A1-F6EECF244321}">
                <p14:modId xmlns:p14="http://schemas.microsoft.com/office/powerpoint/2010/main" val="4294339609"/>
              </p:ext>
            </p:extLst>
          </p:nvPr>
        </p:nvGraphicFramePr>
        <p:xfrm>
          <a:off x="569435" y="1204973"/>
          <a:ext cx="10836000" cy="2008293"/>
        </p:xfrm>
        <a:graphic>
          <a:graphicData uri="http://schemas.openxmlformats.org/drawingml/2006/table">
            <a:tbl>
              <a:tblPr firstRow="1" lastRow="1" bandRow="1">
                <a:tableStyleId>{72833802-FEF1-4C79-8D5D-14CF1EAF98D9}</a:tableStyleId>
              </a:tblPr>
              <a:tblGrid>
                <a:gridCol w="1908000">
                  <a:extLst>
                    <a:ext uri="{9D8B030D-6E8A-4147-A177-3AD203B41FA5}">
                      <a16:colId xmlns:a16="http://schemas.microsoft.com/office/drawing/2014/main" val="2921360576"/>
                    </a:ext>
                  </a:extLst>
                </a:gridCol>
                <a:gridCol w="1368000">
                  <a:extLst>
                    <a:ext uri="{9D8B030D-6E8A-4147-A177-3AD203B41FA5}">
                      <a16:colId xmlns:a16="http://schemas.microsoft.com/office/drawing/2014/main" val="628765754"/>
                    </a:ext>
                  </a:extLst>
                </a:gridCol>
                <a:gridCol w="1620000">
                  <a:extLst>
                    <a:ext uri="{9D8B030D-6E8A-4147-A177-3AD203B41FA5}">
                      <a16:colId xmlns:a16="http://schemas.microsoft.com/office/drawing/2014/main" val="2425332903"/>
                    </a:ext>
                  </a:extLst>
                </a:gridCol>
                <a:gridCol w="1476000">
                  <a:extLst>
                    <a:ext uri="{9D8B030D-6E8A-4147-A177-3AD203B41FA5}">
                      <a16:colId xmlns:a16="http://schemas.microsoft.com/office/drawing/2014/main" val="1827376317"/>
                    </a:ext>
                  </a:extLst>
                </a:gridCol>
                <a:gridCol w="1368000">
                  <a:extLst>
                    <a:ext uri="{9D8B030D-6E8A-4147-A177-3AD203B41FA5}">
                      <a16:colId xmlns:a16="http://schemas.microsoft.com/office/drawing/2014/main" val="1382634185"/>
                    </a:ext>
                  </a:extLst>
                </a:gridCol>
                <a:gridCol w="1620000">
                  <a:extLst>
                    <a:ext uri="{9D8B030D-6E8A-4147-A177-3AD203B41FA5}">
                      <a16:colId xmlns:a16="http://schemas.microsoft.com/office/drawing/2014/main" val="214437269"/>
                    </a:ext>
                  </a:extLst>
                </a:gridCol>
                <a:gridCol w="1476000">
                  <a:extLst>
                    <a:ext uri="{9D8B030D-6E8A-4147-A177-3AD203B41FA5}">
                      <a16:colId xmlns:a16="http://schemas.microsoft.com/office/drawing/2014/main" val="667543525"/>
                    </a:ext>
                  </a:extLst>
                </a:gridCol>
              </a:tblGrid>
              <a:tr h="38153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集計②</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軽度</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重度</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83279325"/>
                  </a:ext>
                </a:extLst>
              </a:tr>
              <a:tr h="381538">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chemeClr val="tx1"/>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8</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 (2/10)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50% (15/30)</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chemeClr val="tx1"/>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6</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24</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 (6/30)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50% (5/10)</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8</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32</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spTree>
    <p:extLst>
      <p:ext uri="{BB962C8B-B14F-4D97-AF65-F5344CB8AC3E}">
        <p14:creationId xmlns:p14="http://schemas.microsoft.com/office/powerpoint/2010/main" val="3629074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09A93-6C25-0812-AE7A-77B9245F2E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57097E-446B-AE1C-9B89-0E8818AE3363}"/>
              </a:ext>
            </a:extLst>
          </p:cNvPr>
          <p:cNvSpPr>
            <a:spLocks noGrp="1"/>
          </p:cNvSpPr>
          <p:nvPr>
            <p:ph type="title"/>
          </p:nvPr>
        </p:nvSpPr>
        <p:spPr/>
        <p:txBody>
          <a:bodyPr/>
          <a:lstStyle/>
          <a:p>
            <a:r>
              <a:rPr kumimoji="1" lang="ja-JP" altLang="en-US" dirty="0"/>
              <a:t>観察研究における層別のクロス集計表</a:t>
            </a:r>
          </a:p>
        </p:txBody>
      </p:sp>
      <p:sp>
        <p:nvSpPr>
          <p:cNvPr id="4" name="スライド番号プレースホルダー 3">
            <a:extLst>
              <a:ext uri="{FF2B5EF4-FFF2-40B4-BE49-F238E27FC236}">
                <a16:creationId xmlns:a16="http://schemas.microsoft.com/office/drawing/2014/main" id="{5933E0B9-3586-EF9E-7F75-4E6767722D58}"/>
              </a:ext>
            </a:extLst>
          </p:cNvPr>
          <p:cNvSpPr>
            <a:spLocks noGrp="1"/>
          </p:cNvSpPr>
          <p:nvPr>
            <p:ph type="sldNum" sz="quarter" idx="11"/>
          </p:nvPr>
        </p:nvSpPr>
        <p:spPr/>
        <p:txBody>
          <a:bodyPr/>
          <a:lstStyle/>
          <a:p>
            <a:fld id="{23B20E4E-3F95-4221-AFE5-FD1FD9CC3448}" type="slidenum">
              <a:rPr lang="en-US" altLang="ja-JP" smtClean="0"/>
              <a:pPr/>
              <a:t>10</a:t>
            </a:fld>
            <a:endParaRPr lang="en-US" altLang="ja-JP"/>
          </a:p>
        </p:txBody>
      </p:sp>
      <p:pic>
        <p:nvPicPr>
          <p:cNvPr id="5" name="図 4" descr="ロゴ&#10;&#10;自動的に生成された説明">
            <a:extLst>
              <a:ext uri="{FF2B5EF4-FFF2-40B4-BE49-F238E27FC236}">
                <a16:creationId xmlns:a16="http://schemas.microsoft.com/office/drawing/2014/main" id="{3613565B-6C4B-491F-83AF-CF29528C68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aphicFrame>
        <p:nvGraphicFramePr>
          <p:cNvPr id="6" name="表 5">
            <a:extLst>
              <a:ext uri="{FF2B5EF4-FFF2-40B4-BE49-F238E27FC236}">
                <a16:creationId xmlns:a16="http://schemas.microsoft.com/office/drawing/2014/main" id="{AFD68FAC-AA81-BE7B-D20C-CB4E5A905626}"/>
              </a:ext>
            </a:extLst>
          </p:cNvPr>
          <p:cNvGraphicFramePr>
            <a:graphicFrameLocks noGrp="1"/>
          </p:cNvGraphicFramePr>
          <p:nvPr>
            <p:extLst>
              <p:ext uri="{D42A27DB-BD31-4B8C-83A1-F6EECF244321}">
                <p14:modId xmlns:p14="http://schemas.microsoft.com/office/powerpoint/2010/main" val="2384015923"/>
              </p:ext>
            </p:extLst>
          </p:nvPr>
        </p:nvGraphicFramePr>
        <p:xfrm>
          <a:off x="624224" y="1052736"/>
          <a:ext cx="7488000" cy="1621084"/>
        </p:xfrm>
        <a:graphic>
          <a:graphicData uri="http://schemas.openxmlformats.org/drawingml/2006/table">
            <a:tbl>
              <a:tblPr firstRow="1" lastRow="1" bandRow="1">
                <a:tableStyleId>{72833802-FEF1-4C79-8D5D-14CF1EAF98D9}</a:tableStyleId>
              </a:tblPr>
              <a:tblGrid>
                <a:gridCol w="1908000">
                  <a:extLst>
                    <a:ext uri="{9D8B030D-6E8A-4147-A177-3AD203B41FA5}">
                      <a16:colId xmlns:a16="http://schemas.microsoft.com/office/drawing/2014/main" val="2921360576"/>
                    </a:ext>
                  </a:extLst>
                </a:gridCol>
                <a:gridCol w="1368000">
                  <a:extLst>
                    <a:ext uri="{9D8B030D-6E8A-4147-A177-3AD203B41FA5}">
                      <a16:colId xmlns:a16="http://schemas.microsoft.com/office/drawing/2014/main" val="628765754"/>
                    </a:ext>
                  </a:extLst>
                </a:gridCol>
                <a:gridCol w="1620000">
                  <a:extLst>
                    <a:ext uri="{9D8B030D-6E8A-4147-A177-3AD203B41FA5}">
                      <a16:colId xmlns:a16="http://schemas.microsoft.com/office/drawing/2014/main" val="2425332903"/>
                    </a:ext>
                  </a:extLst>
                </a:gridCol>
                <a:gridCol w="864000">
                  <a:extLst>
                    <a:ext uri="{9D8B030D-6E8A-4147-A177-3AD203B41FA5}">
                      <a16:colId xmlns:a16="http://schemas.microsoft.com/office/drawing/2014/main" val="2951463833"/>
                    </a:ext>
                  </a:extLst>
                </a:gridCol>
                <a:gridCol w="1728000">
                  <a:extLst>
                    <a:ext uri="{9D8B030D-6E8A-4147-A177-3AD203B41FA5}">
                      <a16:colId xmlns:a16="http://schemas.microsoft.com/office/drawing/2014/main" val="3521260282"/>
                    </a:ext>
                  </a:extLst>
                </a:gridCol>
              </a:tblGrid>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集計①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CCFFFF"/>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chemeClr val="tx1"/>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17</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23</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40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42.5% (17/40)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CCFFFF"/>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chemeClr val="tx1"/>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11</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29</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40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27.5 (11/40)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CCFFFF"/>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28</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52</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80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graphicFrame>
        <p:nvGraphicFramePr>
          <p:cNvPr id="3" name="表 2">
            <a:extLst>
              <a:ext uri="{FF2B5EF4-FFF2-40B4-BE49-F238E27FC236}">
                <a16:creationId xmlns:a16="http://schemas.microsoft.com/office/drawing/2014/main" id="{F7BE2B7C-67C6-959F-EAA1-618705BBC558}"/>
              </a:ext>
            </a:extLst>
          </p:cNvPr>
          <p:cNvGraphicFramePr>
            <a:graphicFrameLocks noGrp="1"/>
          </p:cNvGraphicFramePr>
          <p:nvPr>
            <p:extLst>
              <p:ext uri="{D42A27DB-BD31-4B8C-83A1-F6EECF244321}">
                <p14:modId xmlns:p14="http://schemas.microsoft.com/office/powerpoint/2010/main" val="4090276066"/>
              </p:ext>
            </p:extLst>
          </p:nvPr>
        </p:nvGraphicFramePr>
        <p:xfrm>
          <a:off x="623392" y="2780928"/>
          <a:ext cx="10836000" cy="2008293"/>
        </p:xfrm>
        <a:graphic>
          <a:graphicData uri="http://schemas.openxmlformats.org/drawingml/2006/table">
            <a:tbl>
              <a:tblPr firstRow="1" lastRow="1" bandRow="1">
                <a:tableStyleId>{72833802-FEF1-4C79-8D5D-14CF1EAF98D9}</a:tableStyleId>
              </a:tblPr>
              <a:tblGrid>
                <a:gridCol w="1908000">
                  <a:extLst>
                    <a:ext uri="{9D8B030D-6E8A-4147-A177-3AD203B41FA5}">
                      <a16:colId xmlns:a16="http://schemas.microsoft.com/office/drawing/2014/main" val="2921360576"/>
                    </a:ext>
                  </a:extLst>
                </a:gridCol>
                <a:gridCol w="1368000">
                  <a:extLst>
                    <a:ext uri="{9D8B030D-6E8A-4147-A177-3AD203B41FA5}">
                      <a16:colId xmlns:a16="http://schemas.microsoft.com/office/drawing/2014/main" val="628765754"/>
                    </a:ext>
                  </a:extLst>
                </a:gridCol>
                <a:gridCol w="1620000">
                  <a:extLst>
                    <a:ext uri="{9D8B030D-6E8A-4147-A177-3AD203B41FA5}">
                      <a16:colId xmlns:a16="http://schemas.microsoft.com/office/drawing/2014/main" val="2425332903"/>
                    </a:ext>
                  </a:extLst>
                </a:gridCol>
                <a:gridCol w="1476000">
                  <a:extLst>
                    <a:ext uri="{9D8B030D-6E8A-4147-A177-3AD203B41FA5}">
                      <a16:colId xmlns:a16="http://schemas.microsoft.com/office/drawing/2014/main" val="1827376317"/>
                    </a:ext>
                  </a:extLst>
                </a:gridCol>
                <a:gridCol w="1368000">
                  <a:extLst>
                    <a:ext uri="{9D8B030D-6E8A-4147-A177-3AD203B41FA5}">
                      <a16:colId xmlns:a16="http://schemas.microsoft.com/office/drawing/2014/main" val="1382634185"/>
                    </a:ext>
                  </a:extLst>
                </a:gridCol>
                <a:gridCol w="1620000">
                  <a:extLst>
                    <a:ext uri="{9D8B030D-6E8A-4147-A177-3AD203B41FA5}">
                      <a16:colId xmlns:a16="http://schemas.microsoft.com/office/drawing/2014/main" val="214437269"/>
                    </a:ext>
                  </a:extLst>
                </a:gridCol>
                <a:gridCol w="1476000">
                  <a:extLst>
                    <a:ext uri="{9D8B030D-6E8A-4147-A177-3AD203B41FA5}">
                      <a16:colId xmlns:a16="http://schemas.microsoft.com/office/drawing/2014/main" val="667543525"/>
                    </a:ext>
                  </a:extLst>
                </a:gridCol>
              </a:tblGrid>
              <a:tr h="38153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集計②</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軽度</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重度</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83279325"/>
                  </a:ext>
                </a:extLst>
              </a:tr>
              <a:tr h="381538">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症状</a:t>
                      </a:r>
                      <a:r>
                        <a:rPr kumimoji="1" lang="en-US" altLang="ja-JP" sz="2000" b="1" dirty="0">
                          <a:solidFill>
                            <a:schemeClr val="tx1"/>
                          </a:solidFill>
                          <a:latin typeface="+mn-ea"/>
                          <a:ea typeface="+mn-ea"/>
                        </a:rPr>
                        <a:t>Y</a:t>
                      </a:r>
                      <a:r>
                        <a:rPr kumimoji="1" lang="ja-JP" altLang="en-US" sz="2000" b="1" dirty="0">
                          <a:solidFill>
                            <a:schemeClr val="tx1"/>
                          </a:solidFill>
                          <a:latin typeface="+mn-ea"/>
                          <a:ea typeface="+mn-ea"/>
                        </a:rPr>
                        <a:t>非改善</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改善率</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00584065"/>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rgbClr val="FF0000"/>
                          </a:solidFill>
                          <a:latin typeface="+mn-ea"/>
                          <a:ea typeface="+mn-ea"/>
                        </a:rPr>
                        <a:t>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8</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 (2/10)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15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50% (15/30)</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19029186"/>
                  </a:ext>
                </a:extLst>
              </a:tr>
              <a:tr h="4052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新薬</a:t>
                      </a:r>
                      <a:r>
                        <a:rPr kumimoji="1" lang="en-US" altLang="ja-JP" sz="2000" b="1" dirty="0">
                          <a:solidFill>
                            <a:schemeClr val="tx1"/>
                          </a:solidFill>
                          <a:latin typeface="+mn-ea"/>
                          <a:ea typeface="+mn-ea"/>
                        </a:rPr>
                        <a:t>D</a:t>
                      </a:r>
                      <a:r>
                        <a:rPr kumimoji="1" lang="ja-JP" altLang="en-US" sz="2000" b="1" dirty="0">
                          <a:solidFill>
                            <a:srgbClr val="0070C0"/>
                          </a:solidFill>
                          <a:latin typeface="+mn-ea"/>
                          <a:ea typeface="+mn-ea"/>
                        </a:rPr>
                        <a:t>非投与群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6</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24</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 (6/30)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50% (5/10)</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44659610"/>
                  </a:ext>
                </a:extLst>
              </a:tr>
              <a:tr h="4052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latin typeface="+mn-ea"/>
                          <a:ea typeface="+mn-ea"/>
                        </a:rPr>
                        <a:t>合計</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8</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32</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tx1"/>
                          </a:solidFill>
                          <a:latin typeface="+mn-ea"/>
                          <a:ea typeface="+mn-ea"/>
                        </a:rPr>
                        <a:t>20</a:t>
                      </a: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sp>
        <p:nvSpPr>
          <p:cNvPr id="9" name="正方形/長方形 8">
            <a:extLst>
              <a:ext uri="{FF2B5EF4-FFF2-40B4-BE49-F238E27FC236}">
                <a16:creationId xmlns:a16="http://schemas.microsoft.com/office/drawing/2014/main" id="{FE4D28B7-E9BB-BBB3-4092-7F1ABAC60D23}"/>
              </a:ext>
            </a:extLst>
          </p:cNvPr>
          <p:cNvSpPr/>
          <p:nvPr/>
        </p:nvSpPr>
        <p:spPr>
          <a:xfrm>
            <a:off x="6960097" y="3566619"/>
            <a:ext cx="3024335" cy="43204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sz="2000" b="1" dirty="0">
              <a:noFill/>
              <a:highlight>
                <a:srgbClr val="FFFF00"/>
              </a:highlight>
            </a:endParaRPr>
          </a:p>
        </p:txBody>
      </p:sp>
      <p:sp>
        <p:nvSpPr>
          <p:cNvPr id="12" name="正方形/長方形 11">
            <a:extLst>
              <a:ext uri="{FF2B5EF4-FFF2-40B4-BE49-F238E27FC236}">
                <a16:creationId xmlns:a16="http://schemas.microsoft.com/office/drawing/2014/main" id="{5B2896AF-7163-541C-6BD5-A78F3FF9089E}"/>
              </a:ext>
            </a:extLst>
          </p:cNvPr>
          <p:cNvSpPr/>
          <p:nvPr/>
        </p:nvSpPr>
        <p:spPr>
          <a:xfrm>
            <a:off x="2508247" y="3966592"/>
            <a:ext cx="3024335" cy="432048"/>
          </a:xfrm>
          <a:prstGeom prst="rect">
            <a:avLst/>
          </a:prstGeom>
          <a:noFill/>
          <a:ln w="762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sz="2000" b="1" dirty="0">
              <a:noFill/>
              <a:highlight>
                <a:srgbClr val="FFFF00"/>
              </a:highlight>
            </a:endParaRPr>
          </a:p>
        </p:txBody>
      </p:sp>
      <p:sp>
        <p:nvSpPr>
          <p:cNvPr id="13" name="吹き出し: 四角形 12">
            <a:extLst>
              <a:ext uri="{FF2B5EF4-FFF2-40B4-BE49-F238E27FC236}">
                <a16:creationId xmlns:a16="http://schemas.microsoft.com/office/drawing/2014/main" id="{BB9AAD4E-5BD2-ACF8-FE16-D673CED6F063}"/>
              </a:ext>
            </a:extLst>
          </p:cNvPr>
          <p:cNvSpPr/>
          <p:nvPr/>
        </p:nvSpPr>
        <p:spPr>
          <a:xfrm>
            <a:off x="1265668" y="4965266"/>
            <a:ext cx="9660664" cy="1690483"/>
          </a:xfrm>
          <a:prstGeom prst="wedgeRectCallout">
            <a:avLst>
              <a:gd name="adj1" fmla="val -27923"/>
              <a:gd name="adj2" fmla="val -9122"/>
            </a:avLst>
          </a:prstGeom>
          <a:solidFill>
            <a:schemeClr val="bg1"/>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集計①では「重度の層は</a:t>
            </a:r>
            <a:r>
              <a:rPr lang="ja-JP" altLang="en-US" b="1" dirty="0">
                <a:solidFill>
                  <a:srgbClr val="FF0000"/>
                </a:solidFill>
                <a:latin typeface="Meiryo" panose="020B0604030504040204" pitchFamily="50" charset="-128"/>
                <a:ea typeface="Meiryo" panose="020B0604030504040204" pitchFamily="50" charset="-128"/>
              </a:rPr>
              <a:t>投与</a:t>
            </a:r>
            <a:r>
              <a:rPr lang="ja-JP" altLang="en-US" b="1" dirty="0">
                <a:solidFill>
                  <a:schemeClr val="tx1"/>
                </a:solidFill>
                <a:latin typeface="Meiryo" panose="020B0604030504040204" pitchFamily="50" charset="-128"/>
                <a:ea typeface="Meiryo" panose="020B0604030504040204" pitchFamily="50" charset="-128"/>
              </a:rPr>
              <a:t>が選択される傾向</a:t>
            </a:r>
            <a:r>
              <a:rPr lang="en-US" altLang="ja-JP" b="1" dirty="0">
                <a:solidFill>
                  <a:schemeClr val="tx1"/>
                </a:solidFill>
                <a:latin typeface="Meiryo" panose="020B0604030504040204" pitchFamily="50" charset="-128"/>
                <a:ea typeface="Meiryo"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軽度の層は</a:t>
            </a:r>
            <a:r>
              <a:rPr lang="ja-JP" altLang="en-US" b="1" dirty="0">
                <a:solidFill>
                  <a:srgbClr val="0070C0"/>
                </a:solidFill>
                <a:latin typeface="Meiryo" panose="020B0604030504040204" pitchFamily="50" charset="-128"/>
                <a:ea typeface="Meiryo" panose="020B0604030504040204" pitchFamily="50" charset="-128"/>
              </a:rPr>
              <a:t>非投与</a:t>
            </a:r>
            <a:r>
              <a:rPr lang="ja-JP" altLang="en-US" b="1" dirty="0">
                <a:solidFill>
                  <a:schemeClr val="tx1"/>
                </a:solidFill>
                <a:latin typeface="Meiryo" panose="020B0604030504040204" pitchFamily="50" charset="-128"/>
                <a:ea typeface="Meiryo" panose="020B0604030504040204" pitchFamily="50" charset="-128"/>
              </a:rPr>
              <a:t>が選択される傾向」という共変量の偏りが含まれているため</a:t>
            </a:r>
            <a:r>
              <a:rPr lang="en-US" altLang="ja-JP" b="1" dirty="0">
                <a:solidFill>
                  <a:schemeClr val="tx1"/>
                </a:solidFill>
                <a:latin typeface="Meiryo" panose="020B0604030504040204" pitchFamily="50" charset="-128"/>
                <a:ea typeface="Meiryo"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平均因果効果を正しく推定できていないが</a:t>
            </a:r>
            <a:r>
              <a:rPr lang="en-US" altLang="ja-JP" b="1" dirty="0">
                <a:solidFill>
                  <a:schemeClr val="tx1"/>
                </a:solidFill>
                <a:latin typeface="Meiryo" panose="020B0604030504040204" pitchFamily="50" charset="-128"/>
                <a:ea typeface="Meiryo"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集計②では</a:t>
            </a:r>
            <a:r>
              <a:rPr lang="en-US" altLang="ja-JP" b="1" dirty="0">
                <a:solidFill>
                  <a:schemeClr val="tx1"/>
                </a:solidFill>
                <a:latin typeface="Meiryo" panose="020B0604030504040204" pitchFamily="50" charset="-128"/>
                <a:ea typeface="Meiryo"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重症度別に改善率を算出することで</a:t>
            </a:r>
            <a:r>
              <a:rPr lang="en-US" altLang="ja-JP" b="1" dirty="0">
                <a:solidFill>
                  <a:schemeClr val="tx1"/>
                </a:solidFill>
                <a:latin typeface="Meiryo" panose="020B0604030504040204" pitchFamily="50" charset="-128"/>
                <a:ea typeface="Meiryo"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共変量から生じる偏りを調整</a:t>
            </a:r>
            <a:r>
              <a:rPr lang="en-US" altLang="ja-JP" b="1" dirty="0">
                <a:solidFill>
                  <a:schemeClr val="tx1"/>
                </a:solidFill>
                <a:latin typeface="Meiryo" panose="020B0604030504040204" pitchFamily="50" charset="-128"/>
                <a:ea typeface="Meiryo" panose="020B0604030504040204" pitchFamily="50" charset="-128"/>
              </a:rPr>
              <a:t>.</a:t>
            </a:r>
            <a:endParaRPr lang="ja-JP" altLang="en-US" b="1" dirty="0">
              <a:solidFill>
                <a:schemeClr val="tx1"/>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874778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4F866-0F1D-72D3-13F2-E7469505FF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9B2761-376C-5932-4955-0E408F98DF1E}"/>
              </a:ext>
            </a:extLst>
          </p:cNvPr>
          <p:cNvSpPr>
            <a:spLocks noGrp="1"/>
          </p:cNvSpPr>
          <p:nvPr>
            <p:ph type="title"/>
          </p:nvPr>
        </p:nvSpPr>
        <p:spPr/>
        <p:txBody>
          <a:bodyPr/>
          <a:lstStyle/>
          <a:p>
            <a:r>
              <a:rPr lang="ja-JP" altLang="en-US" dirty="0"/>
              <a:t>層別解析による平均因果効果の推定</a:t>
            </a:r>
            <a:endParaRPr kumimoji="1" lang="ja-JP" altLang="en-US" dirty="0"/>
          </a:p>
        </p:txBody>
      </p:sp>
      <p:sp>
        <p:nvSpPr>
          <p:cNvPr id="4" name="スライド番号プレースホルダー 3">
            <a:extLst>
              <a:ext uri="{FF2B5EF4-FFF2-40B4-BE49-F238E27FC236}">
                <a16:creationId xmlns:a16="http://schemas.microsoft.com/office/drawing/2014/main" id="{15876080-4D2F-A5B4-AFAA-B6F64D131129}"/>
              </a:ext>
            </a:extLst>
          </p:cNvPr>
          <p:cNvSpPr>
            <a:spLocks noGrp="1"/>
          </p:cNvSpPr>
          <p:nvPr>
            <p:ph type="sldNum" sz="quarter" idx="11"/>
          </p:nvPr>
        </p:nvSpPr>
        <p:spPr/>
        <p:txBody>
          <a:bodyPr/>
          <a:lstStyle/>
          <a:p>
            <a:fld id="{23B20E4E-3F95-4221-AFE5-FD1FD9CC3448}" type="slidenum">
              <a:rPr lang="en-US" altLang="ja-JP" smtClean="0"/>
              <a:pPr/>
              <a:t>11</a:t>
            </a:fld>
            <a:endParaRPr lang="en-US" altLang="ja-JP"/>
          </a:p>
        </p:txBody>
      </p:sp>
      <p:pic>
        <p:nvPicPr>
          <p:cNvPr id="5" name="図 4" descr="ロゴ&#10;&#10;自動的に生成された説明">
            <a:extLst>
              <a:ext uri="{FF2B5EF4-FFF2-40B4-BE49-F238E27FC236}">
                <a16:creationId xmlns:a16="http://schemas.microsoft.com/office/drawing/2014/main" id="{9D6FD860-CD95-61C0-B42E-3851603F63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6" name="吹き出し: 四角形 5">
            <a:extLst>
              <a:ext uri="{FF2B5EF4-FFF2-40B4-BE49-F238E27FC236}">
                <a16:creationId xmlns:a16="http://schemas.microsoft.com/office/drawing/2014/main" id="{D3A8DC31-E6B9-7B8F-0FE3-1159B0CC9827}"/>
              </a:ext>
            </a:extLst>
          </p:cNvPr>
          <p:cNvSpPr/>
          <p:nvPr/>
        </p:nvSpPr>
        <p:spPr>
          <a:xfrm>
            <a:off x="263353" y="1757849"/>
            <a:ext cx="9577064" cy="915202"/>
          </a:xfrm>
          <a:prstGeom prst="wedgeRectCallout">
            <a:avLst>
              <a:gd name="adj1" fmla="val -27923"/>
              <a:gd name="adj2" fmla="val -9122"/>
            </a:avLst>
          </a:prstGeom>
          <a:solidFill>
            <a:schemeClr val="bg1"/>
          </a:solidFill>
          <a:ln w="38100">
            <a:solidFill>
              <a:srgbClr val="F8D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投与群</a:t>
            </a:r>
            <a:r>
              <a:rPr lang="en-US" altLang="ja-JP" b="1"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非投与群を交絡因子ごとに層に分け</a:t>
            </a:r>
            <a:r>
              <a:rPr lang="en-US" altLang="ja-JP" dirty="0">
                <a:solidFill>
                  <a:schemeClr val="tx1"/>
                </a:solidFill>
                <a:latin typeface="メイリオ" panose="020B0604030504040204" pitchFamily="50" charset="-128"/>
                <a:ea typeface="メイリオ"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各層内で効果量を比較</a:t>
            </a:r>
            <a:r>
              <a:rPr lang="en-US" altLang="ja-JP" b="1" dirty="0">
                <a:solidFill>
                  <a:schemeClr val="tx1"/>
                </a:solidFill>
                <a:latin typeface="Meiryo" panose="020B0604030504040204" pitchFamily="50" charset="-128"/>
                <a:ea typeface="Meiryo" panose="020B0604030504040204" pitchFamily="50" charset="-128"/>
              </a:rPr>
              <a:t>.</a:t>
            </a:r>
          </a:p>
          <a:p>
            <a:r>
              <a:rPr lang="ja-JP" altLang="en-US" b="1" dirty="0">
                <a:solidFill>
                  <a:schemeClr val="tx1"/>
                </a:solidFill>
                <a:latin typeface="Meiryo" panose="020B0604030504040204" pitchFamily="50" charset="-128"/>
                <a:ea typeface="Meiryo" panose="020B0604030504040204" pitchFamily="50" charset="-128"/>
              </a:rPr>
              <a:t>その効果量を統合することで平均因果効果を推定する手法</a:t>
            </a:r>
            <a:r>
              <a:rPr lang="en-US" altLang="ja-JP" b="1" dirty="0">
                <a:solidFill>
                  <a:schemeClr val="tx1"/>
                </a:solidFill>
                <a:latin typeface="Meiryo" panose="020B0604030504040204" pitchFamily="50" charset="-128"/>
                <a:ea typeface="Meiryo" panose="020B0604030504040204" pitchFamily="50" charset="-128"/>
              </a:rPr>
              <a:t>.</a:t>
            </a:r>
            <a:endParaRPr lang="en-US" altLang="ja-JP" sz="2400" b="1" dirty="0">
              <a:solidFill>
                <a:schemeClr val="tx1"/>
              </a:solidFill>
              <a:latin typeface="Meiryo" panose="020B0604030504040204" pitchFamily="50" charset="-128"/>
              <a:ea typeface="Meiryo" panose="020B0604030504040204" pitchFamily="50" charset="-128"/>
            </a:endParaRPr>
          </a:p>
        </p:txBody>
      </p:sp>
      <p:sp>
        <p:nvSpPr>
          <p:cNvPr id="9" name="吹き出し: 角を丸めた四角形 8">
            <a:extLst>
              <a:ext uri="{FF2B5EF4-FFF2-40B4-BE49-F238E27FC236}">
                <a16:creationId xmlns:a16="http://schemas.microsoft.com/office/drawing/2014/main" id="{EB4FF7E0-41C5-ABED-01FC-E5F163CB0294}"/>
              </a:ext>
            </a:extLst>
          </p:cNvPr>
          <p:cNvSpPr/>
          <p:nvPr/>
        </p:nvSpPr>
        <p:spPr>
          <a:xfrm>
            <a:off x="263352" y="1124744"/>
            <a:ext cx="1584176" cy="519279"/>
          </a:xfrm>
          <a:prstGeom prst="wedgeRoundRectCallout">
            <a:avLst>
              <a:gd name="adj1" fmla="val 35048"/>
              <a:gd name="adj2" fmla="val -10084"/>
              <a:gd name="adj3" fmla="val 16667"/>
            </a:avLst>
          </a:prstGeom>
          <a:solidFill>
            <a:srgbClr val="FFC00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b="1" dirty="0">
                <a:solidFill>
                  <a:schemeClr val="tx1"/>
                </a:solidFill>
                <a:latin typeface="メイリオ" panose="020B0604030504040204" pitchFamily="50" charset="-128"/>
                <a:ea typeface="メイリオ" panose="020B0604030504040204" pitchFamily="50" charset="-128"/>
              </a:rPr>
              <a:t>層別解析</a:t>
            </a:r>
            <a:endParaRPr kumimoji="1" lang="ja-JP" altLang="en-US" sz="2600" b="1" dirty="0">
              <a:solidFill>
                <a:schemeClr val="bg2"/>
              </a:solidFill>
              <a:latin typeface="メイリオ" panose="020B0604030504040204" pitchFamily="50" charset="-128"/>
              <a:ea typeface="メイリオ" panose="020B0604030504040204" pitchFamily="50" charset="-128"/>
            </a:endParaRPr>
          </a:p>
        </p:txBody>
      </p:sp>
      <p:sp>
        <p:nvSpPr>
          <p:cNvPr id="8" name="吹き出し: 角を丸めた四角形 7">
            <a:extLst>
              <a:ext uri="{FF2B5EF4-FFF2-40B4-BE49-F238E27FC236}">
                <a16:creationId xmlns:a16="http://schemas.microsoft.com/office/drawing/2014/main" id="{27ECC212-F195-FDF4-2F96-FC7BF00E6D26}"/>
              </a:ext>
            </a:extLst>
          </p:cNvPr>
          <p:cNvSpPr/>
          <p:nvPr/>
        </p:nvSpPr>
        <p:spPr>
          <a:xfrm>
            <a:off x="263352" y="2801260"/>
            <a:ext cx="3600400" cy="499532"/>
          </a:xfrm>
          <a:prstGeom prst="wedgeRoundRectCallout">
            <a:avLst>
              <a:gd name="adj1" fmla="val 35048"/>
              <a:gd name="adj2" fmla="val -10084"/>
              <a:gd name="adj3" fmla="val 16667"/>
            </a:avLst>
          </a:prstGeom>
          <a:solidFill>
            <a:schemeClr val="accent5">
              <a:lumMod val="9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b="1" dirty="0">
                <a:solidFill>
                  <a:schemeClr val="tx1"/>
                </a:solidFill>
                <a:latin typeface="メイリオ" panose="020B0604030504040204" pitchFamily="50" charset="-128"/>
                <a:ea typeface="メイリオ" panose="020B0604030504040204" pitchFamily="50" charset="-128"/>
              </a:rPr>
              <a:t>平均因果効果の推定量</a:t>
            </a:r>
            <a:endParaRPr kumimoji="1" lang="ja-JP" altLang="en-US" sz="2600" b="1" dirty="0">
              <a:solidFill>
                <a:schemeClr val="bg2"/>
              </a:solidFill>
              <a:latin typeface="メイリオ" panose="020B0604030504040204" pitchFamily="50" charset="-128"/>
              <a:ea typeface="メイリオ" panose="020B0604030504040204" pitchFamily="50" charset="-128"/>
            </a:endParaRPr>
          </a:p>
        </p:txBody>
      </p:sp>
      <p:sp>
        <p:nvSpPr>
          <p:cNvPr id="10" name="吹き出し: 四角形 9">
            <a:extLst>
              <a:ext uri="{FF2B5EF4-FFF2-40B4-BE49-F238E27FC236}">
                <a16:creationId xmlns:a16="http://schemas.microsoft.com/office/drawing/2014/main" id="{3DDC51AD-04A2-8E93-C5E9-23FF8D021500}"/>
              </a:ext>
            </a:extLst>
          </p:cNvPr>
          <p:cNvSpPr/>
          <p:nvPr/>
        </p:nvSpPr>
        <p:spPr>
          <a:xfrm>
            <a:off x="323767" y="3429001"/>
            <a:ext cx="11544465" cy="2055512"/>
          </a:xfrm>
          <a:prstGeom prst="wedgeRectCallout">
            <a:avLst>
              <a:gd name="adj1" fmla="val -27923"/>
              <a:gd name="adj2" fmla="val -9122"/>
            </a:avLst>
          </a:prstGeom>
          <a:solidFill>
            <a:schemeClr val="bg1"/>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chemeClr val="tx1"/>
                </a:solidFill>
                <a:latin typeface="Meiryo" panose="020B0604030504040204" pitchFamily="50" charset="-128"/>
                <a:ea typeface="Meiryo" panose="020B0604030504040204" pitchFamily="50" charset="-128"/>
              </a:rPr>
              <a:t>Y(1)</a:t>
            </a:r>
            <a:r>
              <a:rPr lang="ja-JP" altLang="en-US" b="1" dirty="0">
                <a:solidFill>
                  <a:schemeClr val="tx1"/>
                </a:solidFill>
                <a:latin typeface="Meiryo" panose="020B0604030504040204" pitchFamily="50" charset="-128"/>
                <a:ea typeface="Meiryo" panose="020B0604030504040204" pitchFamily="50" charset="-128"/>
              </a:rPr>
              <a:t>：投与群の場合の治療効果、</a:t>
            </a:r>
            <a:r>
              <a:rPr lang="en-US" altLang="ja-JP" b="1" dirty="0">
                <a:solidFill>
                  <a:schemeClr val="tx1"/>
                </a:solidFill>
                <a:latin typeface="Meiryo" panose="020B0604030504040204" pitchFamily="50" charset="-128"/>
                <a:ea typeface="Meiryo" panose="020B0604030504040204" pitchFamily="50" charset="-128"/>
              </a:rPr>
              <a:t>Y(0)</a:t>
            </a:r>
            <a:r>
              <a:rPr lang="ja-JP" altLang="en-US" b="1" dirty="0">
                <a:solidFill>
                  <a:schemeClr val="tx1"/>
                </a:solidFill>
                <a:latin typeface="Meiryo" panose="020B0604030504040204" pitchFamily="50" charset="-128"/>
                <a:ea typeface="Meiryo" panose="020B0604030504040204" pitchFamily="50" charset="-128"/>
              </a:rPr>
              <a:t>：非投与群の場合の治療効果</a:t>
            </a:r>
            <a:endParaRPr lang="en-US" altLang="ja-JP" b="1" dirty="0">
              <a:solidFill>
                <a:schemeClr val="tx1"/>
              </a:solidFill>
              <a:latin typeface="Meiryo" panose="020B0604030504040204" pitchFamily="50" charset="-128"/>
              <a:ea typeface="Meiryo" panose="020B0604030504040204" pitchFamily="50" charset="-128"/>
            </a:endParaRPr>
          </a:p>
          <a:p>
            <a:r>
              <a:rPr lang="en-US" altLang="ja-JP" b="1" dirty="0">
                <a:solidFill>
                  <a:schemeClr val="tx1"/>
                </a:solidFill>
                <a:latin typeface="Meiryo" panose="020B0604030504040204" pitchFamily="50" charset="-128"/>
                <a:ea typeface="Meiryo" panose="020B0604030504040204" pitchFamily="50" charset="-128"/>
              </a:rPr>
              <a:t>X</a:t>
            </a:r>
            <a:r>
              <a:rPr lang="ja-JP" altLang="en-US" b="1" dirty="0">
                <a:solidFill>
                  <a:schemeClr val="tx1"/>
                </a:solidFill>
                <a:latin typeface="Meiryo" panose="020B0604030504040204" pitchFamily="50" charset="-128"/>
                <a:ea typeface="Meiryo" panose="020B0604030504040204" pitchFamily="50" charset="-128"/>
              </a:rPr>
              <a:t>＝</a:t>
            </a:r>
            <a:r>
              <a:rPr lang="en-US" altLang="ja-JP" b="1" dirty="0">
                <a:solidFill>
                  <a:schemeClr val="tx1"/>
                </a:solidFill>
                <a:latin typeface="Meiryo" panose="020B0604030504040204" pitchFamily="50" charset="-128"/>
                <a:ea typeface="Meiryo" panose="020B0604030504040204" pitchFamily="50" charset="-128"/>
              </a:rPr>
              <a:t>0</a:t>
            </a:r>
            <a:r>
              <a:rPr lang="ja-JP" altLang="en-US" b="1" dirty="0">
                <a:solidFill>
                  <a:schemeClr val="tx1"/>
                </a:solidFill>
                <a:latin typeface="Meiryo" panose="020B0604030504040204" pitchFamily="50" charset="-128"/>
                <a:ea typeface="Meiryo" panose="020B0604030504040204" pitchFamily="50" charset="-128"/>
              </a:rPr>
              <a:t>：軽度、</a:t>
            </a:r>
            <a:r>
              <a:rPr lang="en-US" altLang="ja-JP" b="1" dirty="0">
                <a:solidFill>
                  <a:schemeClr val="tx1"/>
                </a:solidFill>
                <a:latin typeface="Meiryo" panose="020B0604030504040204" pitchFamily="50" charset="-128"/>
                <a:ea typeface="Meiryo" panose="020B0604030504040204" pitchFamily="50" charset="-128"/>
              </a:rPr>
              <a:t>X=1</a:t>
            </a:r>
            <a:r>
              <a:rPr lang="ja-JP" altLang="en-US" b="1" dirty="0">
                <a:solidFill>
                  <a:schemeClr val="tx1"/>
                </a:solidFill>
                <a:latin typeface="Meiryo" panose="020B0604030504040204" pitchFamily="50" charset="-128"/>
                <a:ea typeface="Meiryo" panose="020B0604030504040204" pitchFamily="50" charset="-128"/>
              </a:rPr>
              <a:t>：重度</a:t>
            </a:r>
            <a:endParaRPr lang="en-US" altLang="ja-JP" b="1" dirty="0">
              <a:solidFill>
                <a:schemeClr val="tx1"/>
              </a:solidFill>
              <a:latin typeface="Meiryo" panose="020B0604030504040204" pitchFamily="50" charset="-128"/>
              <a:ea typeface="Meiryo" panose="020B0604030504040204" pitchFamily="50" charset="-128"/>
            </a:endParaRPr>
          </a:p>
          <a:p>
            <a:endParaRPr lang="en-US" altLang="ja-JP" b="1" dirty="0">
              <a:solidFill>
                <a:schemeClr val="tx1"/>
              </a:solidFill>
              <a:latin typeface="Meiryo" panose="020B0604030504040204" pitchFamily="50" charset="-128"/>
              <a:ea typeface="Meiryo" panose="020B0604030504040204" pitchFamily="50" charset="-128"/>
            </a:endParaRPr>
          </a:p>
          <a:p>
            <a:r>
              <a:rPr lang="ja-JP" altLang="en-US" b="1" dirty="0">
                <a:solidFill>
                  <a:schemeClr val="tx1"/>
                </a:solidFill>
                <a:latin typeface="Meiryo" panose="020B0604030504040204" pitchFamily="50" charset="-128"/>
                <a:ea typeface="Meiryo" panose="020B0604030504040204" pitchFamily="50" charset="-128"/>
              </a:rPr>
              <a:t>重症度</a:t>
            </a:r>
            <a:r>
              <a:rPr lang="en-US" altLang="ja-JP" b="1"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軽度</a:t>
            </a:r>
            <a:r>
              <a:rPr lang="en-US" altLang="ja-JP" b="1"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重度</a:t>
            </a:r>
            <a:r>
              <a:rPr lang="en-US" altLang="ja-JP" b="1" dirty="0">
                <a:solidFill>
                  <a:schemeClr val="tx1"/>
                </a:solidFill>
                <a:latin typeface="Meiryo" panose="020B0604030504040204" pitchFamily="50" charset="-128"/>
                <a:ea typeface="Meiryo" panose="020B0604030504040204" pitchFamily="50" charset="-128"/>
              </a:rPr>
              <a:t>)X</a:t>
            </a:r>
            <a:r>
              <a:rPr lang="ja-JP" altLang="en-US" b="1" dirty="0">
                <a:solidFill>
                  <a:schemeClr val="tx1"/>
                </a:solidFill>
                <a:latin typeface="Meiryo" panose="020B0604030504040204" pitchFamily="50" charset="-128"/>
                <a:ea typeface="Meiryo" panose="020B0604030504040204" pitchFamily="50" charset="-128"/>
              </a:rPr>
              <a:t>によって治療効果</a:t>
            </a:r>
            <a:r>
              <a:rPr lang="en-US" altLang="ja-JP" b="1" dirty="0">
                <a:solidFill>
                  <a:schemeClr val="tx1"/>
                </a:solidFill>
                <a:latin typeface="Meiryo" panose="020B0604030504040204" pitchFamily="50" charset="-128"/>
                <a:ea typeface="Meiryo" panose="020B0604030504040204" pitchFamily="50" charset="-128"/>
              </a:rPr>
              <a:t>Y</a:t>
            </a:r>
            <a:r>
              <a:rPr lang="ja-JP" altLang="en-US" b="1" dirty="0">
                <a:solidFill>
                  <a:schemeClr val="tx1"/>
                </a:solidFill>
                <a:latin typeface="Meiryo" panose="020B0604030504040204" pitchFamily="50" charset="-128"/>
                <a:ea typeface="Meiryo" panose="020B0604030504040204" pitchFamily="50" charset="-128"/>
              </a:rPr>
              <a:t>が異なるのであれば、</a:t>
            </a:r>
          </a:p>
          <a:p>
            <a:r>
              <a:rPr lang="en-US" altLang="ja-JP" b="1" dirty="0">
                <a:solidFill>
                  <a:schemeClr val="tx1"/>
                </a:solidFill>
                <a:latin typeface="Meiryo" panose="020B0604030504040204" pitchFamily="50" charset="-128"/>
                <a:ea typeface="Meiryo" panose="020B0604030504040204" pitchFamily="50" charset="-128"/>
              </a:rPr>
              <a:t>E[Y(1)−Y(0)]=</a:t>
            </a:r>
            <a:r>
              <a:rPr lang="en-US" altLang="ja-JP" b="1" dirty="0">
                <a:solidFill>
                  <a:schemeClr val="accent5">
                    <a:lumMod val="50000"/>
                  </a:schemeClr>
                </a:solidFill>
                <a:latin typeface="Meiryo" panose="020B0604030504040204" pitchFamily="50" charset="-128"/>
                <a:ea typeface="Meiryo" panose="020B0604030504040204" pitchFamily="50" charset="-128"/>
              </a:rPr>
              <a:t>P[X=0]</a:t>
            </a:r>
            <a:r>
              <a:rPr lang="en-US" altLang="ja-JP" b="1" dirty="0">
                <a:solidFill>
                  <a:srgbClr val="FF99FF"/>
                </a:solidFill>
                <a:latin typeface="Meiryo" panose="020B0604030504040204" pitchFamily="50" charset="-128"/>
                <a:ea typeface="Meiryo" panose="020B0604030504040204" pitchFamily="50" charset="-128"/>
              </a:rPr>
              <a:t>E[Y(1)−Y(0)∣X=0]</a:t>
            </a:r>
            <a:r>
              <a:rPr lang="en-US" altLang="ja-JP" b="1" dirty="0">
                <a:solidFill>
                  <a:schemeClr val="tx1"/>
                </a:solidFill>
                <a:latin typeface="Meiryo" panose="020B0604030504040204" pitchFamily="50" charset="-128"/>
                <a:ea typeface="Meiryo" panose="020B0604030504040204" pitchFamily="50" charset="-128"/>
              </a:rPr>
              <a:t>+</a:t>
            </a:r>
            <a:r>
              <a:rPr lang="en-US" altLang="ja-JP" b="1" dirty="0">
                <a:solidFill>
                  <a:schemeClr val="accent6">
                    <a:lumMod val="60000"/>
                    <a:lumOff val="40000"/>
                  </a:schemeClr>
                </a:solidFill>
                <a:latin typeface="Meiryo" panose="020B0604030504040204" pitchFamily="50" charset="-128"/>
                <a:ea typeface="Meiryo" panose="020B0604030504040204" pitchFamily="50" charset="-128"/>
              </a:rPr>
              <a:t>P[X=1]</a:t>
            </a:r>
            <a:r>
              <a:rPr lang="en-US" altLang="ja-JP" b="1" dirty="0">
                <a:solidFill>
                  <a:srgbClr val="FF6600"/>
                </a:solidFill>
                <a:latin typeface="Meiryo" panose="020B0604030504040204" pitchFamily="50" charset="-128"/>
                <a:ea typeface="Meiryo" panose="020B0604030504040204" pitchFamily="50" charset="-128"/>
              </a:rPr>
              <a:t>E[Y(1)−Y(0)∣X=1]</a:t>
            </a:r>
          </a:p>
        </p:txBody>
      </p:sp>
      <p:sp>
        <p:nvSpPr>
          <p:cNvPr id="11" name="吹き出し: 四角形 10">
            <a:extLst>
              <a:ext uri="{FF2B5EF4-FFF2-40B4-BE49-F238E27FC236}">
                <a16:creationId xmlns:a16="http://schemas.microsoft.com/office/drawing/2014/main" id="{1B1F94CE-5D89-9C9F-6FB9-4A8C786C3578}"/>
              </a:ext>
            </a:extLst>
          </p:cNvPr>
          <p:cNvSpPr/>
          <p:nvPr/>
        </p:nvSpPr>
        <p:spPr>
          <a:xfrm>
            <a:off x="1847528" y="5670832"/>
            <a:ext cx="9145016" cy="946898"/>
          </a:xfrm>
          <a:prstGeom prst="wedgeRectCallout">
            <a:avLst>
              <a:gd name="adj1" fmla="val -27923"/>
              <a:gd name="adj2" fmla="val -9122"/>
            </a:avLst>
          </a:prstGeom>
          <a:solidFill>
            <a:schemeClr val="bg1"/>
          </a:solidFill>
          <a:ln w="38100">
            <a:solidFill>
              <a:srgbClr val="F8D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層のサンプル数で重み付き平均した改善率の差</a:t>
            </a:r>
            <a:r>
              <a:rPr lang="en-US" altLang="ja-JP" b="1" dirty="0">
                <a:solidFill>
                  <a:schemeClr val="tx1"/>
                </a:solidFill>
                <a:latin typeface="Meiryo" panose="020B0604030504040204" pitchFamily="50" charset="-128"/>
                <a:ea typeface="Meiryo" panose="020B0604030504040204" pitchFamily="50" charset="-128"/>
              </a:rPr>
              <a:t>】</a:t>
            </a:r>
          </a:p>
          <a:p>
            <a:r>
              <a:rPr lang="en-US" altLang="ja-JP" b="1" dirty="0">
                <a:solidFill>
                  <a:schemeClr val="accent5">
                    <a:lumMod val="50000"/>
                  </a:schemeClr>
                </a:solidFill>
                <a:latin typeface="Meiryo" panose="020B0604030504040204" pitchFamily="50" charset="-128"/>
                <a:ea typeface="Meiryo" panose="020B0604030504040204" pitchFamily="50" charset="-128"/>
              </a:rPr>
              <a:t>(40/80)</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rgbClr val="FF99FF"/>
                </a:solidFill>
                <a:latin typeface="Meiryo" panose="020B0604030504040204" pitchFamily="50" charset="-128"/>
                <a:ea typeface="Meiryo" panose="020B0604030504040204" pitchFamily="50" charset="-128"/>
              </a:rPr>
              <a:t>(20%-20%)</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chemeClr val="accent6">
                    <a:lumMod val="60000"/>
                    <a:lumOff val="40000"/>
                  </a:schemeClr>
                </a:solidFill>
                <a:latin typeface="Meiryo" panose="020B0604030504040204" pitchFamily="50" charset="-128"/>
                <a:ea typeface="Meiryo" panose="020B0604030504040204" pitchFamily="50" charset="-128"/>
              </a:rPr>
              <a:t>(40/80)</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rgbClr val="FF6600"/>
                </a:solidFill>
                <a:latin typeface="Meiryo" panose="020B0604030504040204" pitchFamily="50" charset="-128"/>
                <a:ea typeface="Meiryo" panose="020B0604030504040204" pitchFamily="50" charset="-128"/>
              </a:rPr>
              <a:t>(50%-50%)</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chemeClr val="tx1"/>
                </a:solidFill>
                <a:highlight>
                  <a:srgbClr val="FFFF00"/>
                </a:highlight>
                <a:latin typeface="Meiryo" panose="020B0604030504040204" pitchFamily="50" charset="-128"/>
                <a:ea typeface="Meiryo" panose="020B0604030504040204" pitchFamily="50" charset="-128"/>
              </a:rPr>
              <a:t>0%</a:t>
            </a:r>
          </a:p>
        </p:txBody>
      </p:sp>
    </p:spTree>
    <p:extLst>
      <p:ext uri="{BB962C8B-B14F-4D97-AF65-F5344CB8AC3E}">
        <p14:creationId xmlns:p14="http://schemas.microsoft.com/office/powerpoint/2010/main" val="2683365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F71A-E4DC-5146-E787-D1CAE48FE1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4322A6-51CB-7ECA-566D-258C047AAC41}"/>
              </a:ext>
            </a:extLst>
          </p:cNvPr>
          <p:cNvSpPr>
            <a:spLocks noGrp="1"/>
          </p:cNvSpPr>
          <p:nvPr>
            <p:ph type="title"/>
          </p:nvPr>
        </p:nvSpPr>
        <p:spPr/>
        <p:txBody>
          <a:bodyPr/>
          <a:lstStyle/>
          <a:p>
            <a:r>
              <a:rPr kumimoji="1" lang="ja-JP" altLang="en-US" dirty="0"/>
              <a:t>因果推論における</a:t>
            </a:r>
            <a:r>
              <a:rPr lang="ja-JP" altLang="en-US" dirty="0"/>
              <a:t>潜在アウトカム</a:t>
            </a:r>
            <a:endParaRPr kumimoji="1" lang="ja-JP" altLang="en-US" dirty="0"/>
          </a:p>
        </p:txBody>
      </p:sp>
      <p:graphicFrame>
        <p:nvGraphicFramePr>
          <p:cNvPr id="6" name="コンテンツ プレースホルダー 5">
            <a:extLst>
              <a:ext uri="{FF2B5EF4-FFF2-40B4-BE49-F238E27FC236}">
                <a16:creationId xmlns:a16="http://schemas.microsoft.com/office/drawing/2014/main" id="{F83C2C7C-DDB9-1202-DA30-9875F29083DF}"/>
              </a:ext>
            </a:extLst>
          </p:cNvPr>
          <p:cNvGraphicFramePr>
            <a:graphicFrameLocks noGrp="1"/>
          </p:cNvGraphicFramePr>
          <p:nvPr>
            <p:ph idx="1"/>
            <p:extLst>
              <p:ext uri="{D42A27DB-BD31-4B8C-83A1-F6EECF244321}">
                <p14:modId xmlns:p14="http://schemas.microsoft.com/office/powerpoint/2010/main" val="965160816"/>
              </p:ext>
            </p:extLst>
          </p:nvPr>
        </p:nvGraphicFramePr>
        <p:xfrm>
          <a:off x="119336" y="2330652"/>
          <a:ext cx="7360981" cy="2651760"/>
        </p:xfrm>
        <a:graphic>
          <a:graphicData uri="http://schemas.openxmlformats.org/drawingml/2006/table">
            <a:tbl>
              <a:tblPr firstRow="1" bandRow="1">
                <a:tableStyleId>{5C22544A-7EE6-4342-B048-85BDC9FD1C3A}</a:tableStyleId>
              </a:tblPr>
              <a:tblGrid>
                <a:gridCol w="1783868">
                  <a:extLst>
                    <a:ext uri="{9D8B030D-6E8A-4147-A177-3AD203B41FA5}">
                      <a16:colId xmlns:a16="http://schemas.microsoft.com/office/drawing/2014/main" val="111032801"/>
                    </a:ext>
                  </a:extLst>
                </a:gridCol>
                <a:gridCol w="1872000">
                  <a:extLst>
                    <a:ext uri="{9D8B030D-6E8A-4147-A177-3AD203B41FA5}">
                      <a16:colId xmlns:a16="http://schemas.microsoft.com/office/drawing/2014/main" val="3895570346"/>
                    </a:ext>
                  </a:extLst>
                </a:gridCol>
                <a:gridCol w="792000">
                  <a:extLst>
                    <a:ext uri="{9D8B030D-6E8A-4147-A177-3AD203B41FA5}">
                      <a16:colId xmlns:a16="http://schemas.microsoft.com/office/drawing/2014/main" val="2975482783"/>
                    </a:ext>
                  </a:extLst>
                </a:gridCol>
                <a:gridCol w="792000">
                  <a:extLst>
                    <a:ext uri="{9D8B030D-6E8A-4147-A177-3AD203B41FA5}">
                      <a16:colId xmlns:a16="http://schemas.microsoft.com/office/drawing/2014/main" val="422880538"/>
                    </a:ext>
                  </a:extLst>
                </a:gridCol>
                <a:gridCol w="720000">
                  <a:extLst>
                    <a:ext uri="{9D8B030D-6E8A-4147-A177-3AD203B41FA5}">
                      <a16:colId xmlns:a16="http://schemas.microsoft.com/office/drawing/2014/main" val="27432989"/>
                    </a:ext>
                  </a:extLst>
                </a:gridCol>
                <a:gridCol w="720000">
                  <a:extLst>
                    <a:ext uri="{9D8B030D-6E8A-4147-A177-3AD203B41FA5}">
                      <a16:colId xmlns:a16="http://schemas.microsoft.com/office/drawing/2014/main" val="2493656795"/>
                    </a:ext>
                  </a:extLst>
                </a:gridCol>
                <a:gridCol w="681113">
                  <a:extLst>
                    <a:ext uri="{9D8B030D-6E8A-4147-A177-3AD203B41FA5}">
                      <a16:colId xmlns:a16="http://schemas.microsoft.com/office/drawing/2014/main" val="1907746640"/>
                    </a:ext>
                  </a:extLst>
                </a:gridCol>
              </a:tblGrid>
              <a:tr h="370840">
                <a:tc>
                  <a:txBody>
                    <a:bodyPr/>
                    <a:lstStyle/>
                    <a:p>
                      <a:pPr algn="ctr"/>
                      <a:r>
                        <a:rPr kumimoji="1" lang="ja-JP" altLang="en-US" sz="2400" dirty="0">
                          <a:solidFill>
                            <a:schemeClr val="tx1"/>
                          </a:solidFill>
                        </a:rPr>
                        <a:t>交絡因子</a:t>
                      </a:r>
                      <a:endParaRPr kumimoji="1" lang="en-US" altLang="ja-JP" sz="2400" dirty="0">
                        <a:solidFill>
                          <a:schemeClr val="tx1"/>
                        </a:solidFill>
                      </a:endParaRPr>
                    </a:p>
                    <a:p>
                      <a:pPr algn="ctr"/>
                      <a:r>
                        <a:rPr kumimoji="1" lang="ja-JP" altLang="en-US" sz="2400" dirty="0">
                          <a:solidFill>
                            <a:schemeClr val="tx1"/>
                          </a:solidFill>
                        </a:rPr>
                        <a:t>（重症度）</a:t>
                      </a:r>
                    </a:p>
                  </a:txBody>
                  <a:tcPr/>
                </a:tc>
                <a:tc>
                  <a:txBody>
                    <a:bodyPr/>
                    <a:lstStyle/>
                    <a:p>
                      <a:pPr algn="ctr"/>
                      <a:r>
                        <a:rPr kumimoji="1" lang="ja-JP" altLang="en-US" sz="2400" dirty="0">
                          <a:solidFill>
                            <a:schemeClr val="tx1"/>
                          </a:solidFill>
                        </a:rPr>
                        <a:t>投与</a:t>
                      </a:r>
                      <a:r>
                        <a:rPr kumimoji="1" lang="en-US" altLang="ja-JP" sz="2400" dirty="0">
                          <a:solidFill>
                            <a:schemeClr val="tx1"/>
                          </a:solidFill>
                        </a:rPr>
                        <a:t>/</a:t>
                      </a:r>
                      <a:r>
                        <a:rPr kumimoji="1" lang="ja-JP" altLang="en-US" sz="2400" dirty="0">
                          <a:solidFill>
                            <a:schemeClr val="tx1"/>
                          </a:solidFill>
                        </a:rPr>
                        <a:t>非投与</a:t>
                      </a:r>
                    </a:p>
                  </a:txBody>
                  <a:tcPr anchor="ctr"/>
                </a:tc>
                <a:tc>
                  <a:txBody>
                    <a:bodyPr/>
                    <a:lstStyle/>
                    <a:p>
                      <a:pPr algn="ctr"/>
                      <a:r>
                        <a:rPr kumimoji="1" lang="en-US" altLang="ja-JP" sz="2400" dirty="0">
                          <a:solidFill>
                            <a:schemeClr val="tx1"/>
                          </a:solidFill>
                        </a:rPr>
                        <a:t>Y(0)</a:t>
                      </a:r>
                      <a:endParaRPr kumimoji="1" lang="ja-JP" altLang="en-US" sz="2400" dirty="0">
                        <a:solidFill>
                          <a:schemeClr val="tx1"/>
                        </a:solidFill>
                      </a:endParaRPr>
                    </a:p>
                  </a:txBody>
                  <a:tcPr anchor="ctr"/>
                </a:tc>
                <a:tc>
                  <a:txBody>
                    <a:bodyPr/>
                    <a:lstStyle/>
                    <a:p>
                      <a:pPr algn="ctr"/>
                      <a:r>
                        <a:rPr kumimoji="1" lang="en-US" altLang="ja-JP" sz="2400" dirty="0">
                          <a:solidFill>
                            <a:schemeClr val="tx1"/>
                          </a:solidFill>
                        </a:rPr>
                        <a:t>Y(1)</a:t>
                      </a:r>
                      <a:endParaRPr kumimoji="1" lang="ja-JP" altLang="en-US" sz="2400" dirty="0">
                        <a:solidFill>
                          <a:schemeClr val="tx1"/>
                        </a:solidFill>
                      </a:endParaRPr>
                    </a:p>
                  </a:txBody>
                  <a:tcPr anchor="ctr"/>
                </a:tc>
                <a:tc>
                  <a:txBody>
                    <a:bodyPr/>
                    <a:lstStyle/>
                    <a:p>
                      <a:pPr algn="ctr"/>
                      <a:r>
                        <a:rPr kumimoji="1" lang="en-US" altLang="ja-JP" sz="2400" dirty="0">
                          <a:solidFill>
                            <a:schemeClr val="tx1"/>
                          </a:solidFill>
                        </a:rPr>
                        <a:t>Y</a:t>
                      </a:r>
                      <a:endParaRPr kumimoji="1" lang="ja-JP" altLang="en-US" sz="2400" dirty="0">
                        <a:solidFill>
                          <a:schemeClr val="tx1"/>
                        </a:solidFill>
                      </a:endParaRPr>
                    </a:p>
                  </a:txBody>
                  <a:tcPr anchor="ctr"/>
                </a:tc>
                <a:tc>
                  <a:txBody>
                    <a:bodyPr/>
                    <a:lstStyle/>
                    <a:p>
                      <a:pPr algn="ctr"/>
                      <a:r>
                        <a:rPr kumimoji="1" lang="en-US" altLang="ja-JP" sz="2400" dirty="0">
                          <a:solidFill>
                            <a:schemeClr val="tx1"/>
                          </a:solidFill>
                        </a:rPr>
                        <a:t>n</a:t>
                      </a:r>
                      <a:endParaRPr kumimoji="1" lang="ja-JP" altLang="en-US" sz="2400" dirty="0">
                        <a:solidFill>
                          <a:schemeClr val="tx1"/>
                        </a:solidFill>
                      </a:endParaRPr>
                    </a:p>
                  </a:txBody>
                  <a:tcPr anchor="ctr"/>
                </a:tc>
                <a:tc>
                  <a:txBody>
                    <a:bodyPr/>
                    <a:lstStyle/>
                    <a:p>
                      <a:pPr algn="ctr"/>
                      <a:endParaRPr kumimoji="1" lang="ja-JP" altLang="en-US" sz="2400" dirty="0">
                        <a:solidFill>
                          <a:schemeClr val="tx1"/>
                        </a:solidFill>
                      </a:endParaRPr>
                    </a:p>
                  </a:txBody>
                  <a:tcPr anchor="ctr"/>
                </a:tc>
                <a:extLst>
                  <a:ext uri="{0D108BD9-81ED-4DB2-BD59-A6C34878D82A}">
                    <a16:rowId xmlns:a16="http://schemas.microsoft.com/office/drawing/2014/main" val="1093113055"/>
                  </a:ext>
                </a:extLst>
              </a:tr>
              <a:tr h="370840">
                <a:tc>
                  <a:txBody>
                    <a:bodyPr/>
                    <a:lstStyle/>
                    <a:p>
                      <a:pPr algn="ctr"/>
                      <a:r>
                        <a:rPr kumimoji="1" lang="ja-JP" altLang="en-US" sz="2400" dirty="0"/>
                        <a:t>軽度</a:t>
                      </a:r>
                    </a:p>
                  </a:txBody>
                  <a:tcPr/>
                </a:tc>
                <a:tc>
                  <a:txBody>
                    <a:bodyPr/>
                    <a:lstStyle/>
                    <a:p>
                      <a:pPr algn="ctr"/>
                      <a:r>
                        <a:rPr kumimoji="1" lang="ja-JP" altLang="en-US" sz="2400" dirty="0"/>
                        <a:t>投与</a:t>
                      </a:r>
                    </a:p>
                  </a:txBody>
                  <a:tcPr/>
                </a:tc>
                <a:tc>
                  <a:txBody>
                    <a:bodyPr/>
                    <a:lstStyle/>
                    <a:p>
                      <a:pPr algn="ctr"/>
                      <a:endParaRPr kumimoji="1" lang="ja-JP" altLang="en-US" sz="2400" dirty="0"/>
                    </a:p>
                  </a:txBody>
                  <a:tcPr/>
                </a:tc>
                <a:tc>
                  <a:txBody>
                    <a:bodyPr/>
                    <a:lstStyle/>
                    <a:p>
                      <a:pPr algn="ctr"/>
                      <a:r>
                        <a:rPr kumimoji="1" lang="en-US" altLang="ja-JP" sz="2400" dirty="0"/>
                        <a:t>1</a:t>
                      </a:r>
                      <a:endParaRPr kumimoji="1" lang="ja-JP" altLang="en-US" sz="2400" dirty="0"/>
                    </a:p>
                  </a:txBody>
                  <a:tcPr/>
                </a:tc>
                <a:tc>
                  <a:txBody>
                    <a:bodyPr/>
                    <a:lstStyle/>
                    <a:p>
                      <a:pPr algn="ctr"/>
                      <a:r>
                        <a:rPr kumimoji="1" lang="en-US" altLang="ja-JP" sz="2400" dirty="0"/>
                        <a:t>1</a:t>
                      </a:r>
                      <a:endParaRPr kumimoji="1" lang="ja-JP" altLang="en-US" sz="2400" dirty="0"/>
                    </a:p>
                  </a:txBody>
                  <a:tcPr/>
                </a:tc>
                <a:tc>
                  <a:txBody>
                    <a:bodyPr/>
                    <a:lstStyle/>
                    <a:p>
                      <a:pPr algn="ctr"/>
                      <a:r>
                        <a:rPr kumimoji="1" lang="en-US" altLang="ja-JP" sz="2400" dirty="0"/>
                        <a:t>2</a:t>
                      </a:r>
                      <a:endParaRPr kumimoji="1" lang="ja-JP" altLang="en-US" sz="2400" dirty="0"/>
                    </a:p>
                  </a:txBody>
                  <a:tcPr/>
                </a:tc>
                <a:tc rowSpan="2">
                  <a:txBody>
                    <a:bodyPr/>
                    <a:lstStyle/>
                    <a:p>
                      <a:pPr algn="ctr"/>
                      <a:r>
                        <a:rPr kumimoji="1" lang="en-US" altLang="ja-JP" sz="2400" dirty="0"/>
                        <a:t>10</a:t>
                      </a:r>
                      <a:endParaRPr kumimoji="1" lang="ja-JP" altLang="en-US" sz="2400" dirty="0"/>
                    </a:p>
                  </a:txBody>
                  <a:tcPr anchor="ctr"/>
                </a:tc>
                <a:extLst>
                  <a:ext uri="{0D108BD9-81ED-4DB2-BD59-A6C34878D82A}">
                    <a16:rowId xmlns:a16="http://schemas.microsoft.com/office/drawing/2014/main" val="3827595536"/>
                  </a:ext>
                </a:extLst>
              </a:tr>
              <a:tr h="370840">
                <a:tc>
                  <a:txBody>
                    <a:bodyPr/>
                    <a:lstStyle/>
                    <a:p>
                      <a:pPr algn="ctr"/>
                      <a:r>
                        <a:rPr kumimoji="1" lang="ja-JP" altLang="en-US" sz="2400" dirty="0"/>
                        <a:t>軽度</a:t>
                      </a:r>
                    </a:p>
                  </a:txBody>
                  <a:tcPr/>
                </a:tc>
                <a:tc>
                  <a:txBody>
                    <a:bodyPr/>
                    <a:lstStyle/>
                    <a:p>
                      <a:pPr algn="ctr"/>
                      <a:r>
                        <a:rPr kumimoji="1" lang="ja-JP" altLang="en-US" sz="2400" dirty="0"/>
                        <a:t>投与</a:t>
                      </a:r>
                    </a:p>
                  </a:txBody>
                  <a:tcPr/>
                </a:tc>
                <a:tc>
                  <a:txBody>
                    <a:bodyPr/>
                    <a:lstStyle/>
                    <a:p>
                      <a:pPr algn="ctr"/>
                      <a:endParaRPr kumimoji="1" lang="ja-JP" altLang="en-US" sz="2400" dirty="0"/>
                    </a:p>
                  </a:txBody>
                  <a:tcPr/>
                </a:tc>
                <a:tc>
                  <a:txBody>
                    <a:bodyPr/>
                    <a:lstStyle/>
                    <a:p>
                      <a:pPr algn="ctr"/>
                      <a:r>
                        <a:rPr kumimoji="1" lang="en-US" altLang="ja-JP" sz="2400" dirty="0"/>
                        <a:t>0</a:t>
                      </a:r>
                      <a:endParaRPr kumimoji="1" lang="ja-JP" altLang="en-US" sz="2400" dirty="0"/>
                    </a:p>
                  </a:txBody>
                  <a:tcPr/>
                </a:tc>
                <a:tc>
                  <a:txBody>
                    <a:bodyPr/>
                    <a:lstStyle/>
                    <a:p>
                      <a:pPr algn="ctr"/>
                      <a:r>
                        <a:rPr kumimoji="1" lang="en-US" altLang="ja-JP" sz="2400" dirty="0"/>
                        <a:t>0</a:t>
                      </a:r>
                      <a:endParaRPr kumimoji="1" lang="ja-JP" altLang="en-US" sz="2400" dirty="0"/>
                    </a:p>
                  </a:txBody>
                  <a:tcPr/>
                </a:tc>
                <a:tc>
                  <a:txBody>
                    <a:bodyPr/>
                    <a:lstStyle/>
                    <a:p>
                      <a:pPr algn="ctr"/>
                      <a:r>
                        <a:rPr kumimoji="1" lang="en-US" altLang="ja-JP" sz="2400" dirty="0"/>
                        <a:t>8</a:t>
                      </a:r>
                      <a:endParaRPr kumimoji="1" lang="ja-JP" altLang="en-US" sz="2400" dirty="0"/>
                    </a:p>
                  </a:txBody>
                  <a:tcPr/>
                </a:tc>
                <a:tc vMerge="1">
                  <a:txBody>
                    <a:bodyPr/>
                    <a:lstStyle/>
                    <a:p>
                      <a:pPr algn="ctr"/>
                      <a:endParaRPr kumimoji="1" lang="ja-JP" altLang="en-US" sz="2400" dirty="0"/>
                    </a:p>
                  </a:txBody>
                  <a:tcPr/>
                </a:tc>
                <a:extLst>
                  <a:ext uri="{0D108BD9-81ED-4DB2-BD59-A6C34878D82A}">
                    <a16:rowId xmlns:a16="http://schemas.microsoft.com/office/drawing/2014/main" val="3111995097"/>
                  </a:ext>
                </a:extLst>
              </a:tr>
              <a:tr h="370840">
                <a:tc>
                  <a:txBody>
                    <a:bodyPr/>
                    <a:lstStyle/>
                    <a:p>
                      <a:pPr algn="ctr"/>
                      <a:r>
                        <a:rPr kumimoji="1" lang="ja-JP" altLang="en-US" sz="2400" dirty="0"/>
                        <a:t>軽度</a:t>
                      </a:r>
                    </a:p>
                  </a:txBody>
                  <a:tcPr/>
                </a:tc>
                <a:tc>
                  <a:txBody>
                    <a:bodyPr/>
                    <a:lstStyle/>
                    <a:p>
                      <a:pPr algn="ctr"/>
                      <a:r>
                        <a:rPr kumimoji="1" lang="ja-JP" altLang="en-US" sz="2400" dirty="0"/>
                        <a:t>非投与</a:t>
                      </a:r>
                    </a:p>
                  </a:txBody>
                  <a:tcPr/>
                </a:tc>
                <a:tc>
                  <a:txBody>
                    <a:bodyPr/>
                    <a:lstStyle/>
                    <a:p>
                      <a:pPr algn="ctr"/>
                      <a:r>
                        <a:rPr kumimoji="1" lang="en-US" altLang="ja-JP" sz="2400" dirty="0"/>
                        <a:t>1</a:t>
                      </a:r>
                      <a:endParaRPr kumimoji="1" lang="ja-JP" altLang="en-US" sz="2400" dirty="0"/>
                    </a:p>
                  </a:txBody>
                  <a:tcPr/>
                </a:tc>
                <a:tc>
                  <a:txBody>
                    <a:bodyPr/>
                    <a:lstStyle/>
                    <a:p>
                      <a:pPr algn="ctr"/>
                      <a:endParaRPr kumimoji="1" lang="ja-JP" altLang="en-US" sz="2400" dirty="0"/>
                    </a:p>
                  </a:txBody>
                  <a:tcPr/>
                </a:tc>
                <a:tc>
                  <a:txBody>
                    <a:bodyPr/>
                    <a:lstStyle/>
                    <a:p>
                      <a:pPr algn="ctr"/>
                      <a:r>
                        <a:rPr kumimoji="1" lang="en-US" altLang="ja-JP" sz="2400" u="none" dirty="0"/>
                        <a:t>1</a:t>
                      </a:r>
                      <a:endParaRPr kumimoji="1" lang="ja-JP" altLang="en-US" sz="2400" u="none" dirty="0"/>
                    </a:p>
                  </a:txBody>
                  <a:tcPr/>
                </a:tc>
                <a:tc>
                  <a:txBody>
                    <a:bodyPr/>
                    <a:lstStyle/>
                    <a:p>
                      <a:pPr algn="ctr"/>
                      <a:r>
                        <a:rPr kumimoji="1" lang="en-US" altLang="ja-JP" sz="2400" u="none" dirty="0"/>
                        <a:t>6</a:t>
                      </a:r>
                      <a:endParaRPr kumimoji="1" lang="ja-JP" altLang="en-US" sz="2400" u="none" dirty="0"/>
                    </a:p>
                  </a:txBody>
                  <a:tcPr/>
                </a:tc>
                <a:tc rowSpan="2">
                  <a:txBody>
                    <a:bodyPr/>
                    <a:lstStyle/>
                    <a:p>
                      <a:pPr algn="ctr"/>
                      <a:r>
                        <a:rPr kumimoji="1" lang="en-US" altLang="ja-JP" sz="2400" u="none" dirty="0"/>
                        <a:t>30</a:t>
                      </a:r>
                      <a:endParaRPr kumimoji="1" lang="ja-JP" altLang="en-US" sz="2400" u="none" dirty="0"/>
                    </a:p>
                  </a:txBody>
                  <a:tcPr anchor="ctr"/>
                </a:tc>
                <a:extLst>
                  <a:ext uri="{0D108BD9-81ED-4DB2-BD59-A6C34878D82A}">
                    <a16:rowId xmlns:a16="http://schemas.microsoft.com/office/drawing/2014/main" val="3159018143"/>
                  </a:ext>
                </a:extLst>
              </a:tr>
              <a:tr h="370840">
                <a:tc>
                  <a:txBody>
                    <a:bodyPr/>
                    <a:lstStyle/>
                    <a:p>
                      <a:pPr algn="ctr"/>
                      <a:r>
                        <a:rPr kumimoji="1" lang="ja-JP" altLang="en-US" sz="2400" dirty="0"/>
                        <a:t>軽度</a:t>
                      </a:r>
                    </a:p>
                  </a:txBody>
                  <a:tcPr/>
                </a:tc>
                <a:tc>
                  <a:txBody>
                    <a:bodyPr/>
                    <a:lstStyle/>
                    <a:p>
                      <a:pPr algn="ctr"/>
                      <a:r>
                        <a:rPr kumimoji="1" lang="ja-JP" altLang="en-US" sz="2400" dirty="0"/>
                        <a:t>非投与</a:t>
                      </a:r>
                    </a:p>
                  </a:txBody>
                  <a:tcPr/>
                </a:tc>
                <a:tc>
                  <a:txBody>
                    <a:bodyPr/>
                    <a:lstStyle/>
                    <a:p>
                      <a:pPr algn="ctr"/>
                      <a:r>
                        <a:rPr kumimoji="1" lang="en-US" altLang="ja-JP" sz="2400" dirty="0"/>
                        <a:t>0</a:t>
                      </a:r>
                      <a:endParaRPr kumimoji="1" lang="ja-JP" altLang="en-US" sz="2400" dirty="0"/>
                    </a:p>
                  </a:txBody>
                  <a:tcPr/>
                </a:tc>
                <a:tc>
                  <a:txBody>
                    <a:bodyPr/>
                    <a:lstStyle/>
                    <a:p>
                      <a:pPr algn="ctr"/>
                      <a:endParaRPr kumimoji="1" lang="ja-JP" altLang="en-US" sz="2400" dirty="0"/>
                    </a:p>
                  </a:txBody>
                  <a:tcPr/>
                </a:tc>
                <a:tc>
                  <a:txBody>
                    <a:bodyPr/>
                    <a:lstStyle/>
                    <a:p>
                      <a:pPr algn="ctr"/>
                      <a:r>
                        <a:rPr kumimoji="1" lang="en-US" altLang="ja-JP" sz="2400" dirty="0"/>
                        <a:t>0</a:t>
                      </a:r>
                      <a:endParaRPr kumimoji="1" lang="ja-JP" altLang="en-US" sz="2400" dirty="0"/>
                    </a:p>
                  </a:txBody>
                  <a:tcPr/>
                </a:tc>
                <a:tc>
                  <a:txBody>
                    <a:bodyPr/>
                    <a:lstStyle/>
                    <a:p>
                      <a:pPr algn="ctr"/>
                      <a:r>
                        <a:rPr kumimoji="1" lang="en-US" altLang="ja-JP" sz="2400" dirty="0"/>
                        <a:t>24</a:t>
                      </a:r>
                      <a:endParaRPr kumimoji="1" lang="ja-JP" altLang="en-US" sz="2400" dirty="0"/>
                    </a:p>
                  </a:txBody>
                  <a:tcPr/>
                </a:tc>
                <a:tc vMerge="1">
                  <a:txBody>
                    <a:bodyPr/>
                    <a:lstStyle/>
                    <a:p>
                      <a:pPr algn="ctr"/>
                      <a:endParaRPr kumimoji="1" lang="ja-JP" altLang="en-US" sz="2400" dirty="0"/>
                    </a:p>
                  </a:txBody>
                  <a:tcPr anchor="ctr"/>
                </a:tc>
                <a:extLst>
                  <a:ext uri="{0D108BD9-81ED-4DB2-BD59-A6C34878D82A}">
                    <a16:rowId xmlns:a16="http://schemas.microsoft.com/office/drawing/2014/main" val="765032928"/>
                  </a:ext>
                </a:extLst>
              </a:tr>
            </a:tbl>
          </a:graphicData>
        </a:graphic>
      </p:graphicFrame>
      <p:sp>
        <p:nvSpPr>
          <p:cNvPr id="4" name="スライド番号プレースホルダー 3">
            <a:extLst>
              <a:ext uri="{FF2B5EF4-FFF2-40B4-BE49-F238E27FC236}">
                <a16:creationId xmlns:a16="http://schemas.microsoft.com/office/drawing/2014/main" id="{47DE9456-F9D3-7402-469F-15FF98285B22}"/>
              </a:ext>
            </a:extLst>
          </p:cNvPr>
          <p:cNvSpPr>
            <a:spLocks noGrp="1"/>
          </p:cNvSpPr>
          <p:nvPr>
            <p:ph type="sldNum" sz="quarter" idx="11"/>
          </p:nvPr>
        </p:nvSpPr>
        <p:spPr/>
        <p:txBody>
          <a:bodyPr/>
          <a:lstStyle/>
          <a:p>
            <a:fld id="{23B20E4E-3F95-4221-AFE5-FD1FD9CC3448}" type="slidenum">
              <a:rPr lang="en-US" altLang="ja-JP" smtClean="0"/>
              <a:pPr/>
              <a:t>12</a:t>
            </a:fld>
            <a:endParaRPr lang="en-US" altLang="ja-JP"/>
          </a:p>
        </p:txBody>
      </p:sp>
      <p:pic>
        <p:nvPicPr>
          <p:cNvPr id="5" name="図 4" descr="ロゴ&#10;&#10;自動的に生成された説明">
            <a:extLst>
              <a:ext uri="{FF2B5EF4-FFF2-40B4-BE49-F238E27FC236}">
                <a16:creationId xmlns:a16="http://schemas.microsoft.com/office/drawing/2014/main" id="{FA3EEDB2-3052-0D49-2E38-12E0CD8DBD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7" name="吹き出し: 四角形 6">
            <a:extLst>
              <a:ext uri="{FF2B5EF4-FFF2-40B4-BE49-F238E27FC236}">
                <a16:creationId xmlns:a16="http://schemas.microsoft.com/office/drawing/2014/main" id="{66A588CC-4F59-3396-A692-9F78A0567422}"/>
              </a:ext>
            </a:extLst>
          </p:cNvPr>
          <p:cNvSpPr/>
          <p:nvPr/>
        </p:nvSpPr>
        <p:spPr>
          <a:xfrm>
            <a:off x="119336" y="1186152"/>
            <a:ext cx="9721080" cy="901017"/>
          </a:xfrm>
          <a:prstGeom prst="wedgeRectCallout">
            <a:avLst>
              <a:gd name="adj1" fmla="val -27923"/>
              <a:gd name="adj2" fmla="val -9122"/>
            </a:avLst>
          </a:prstGeom>
          <a:solidFill>
            <a:schemeClr val="bg1"/>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chemeClr val="tx1"/>
                </a:solidFill>
                <a:latin typeface="Meiryo" panose="020B0604030504040204" pitchFamily="50" charset="-128"/>
                <a:ea typeface="Meiryo" panose="020B0604030504040204" pitchFamily="50" charset="-128"/>
              </a:rPr>
              <a:t>Y(1)</a:t>
            </a:r>
            <a:r>
              <a:rPr lang="ja-JP" altLang="en-US" b="1" dirty="0">
                <a:solidFill>
                  <a:schemeClr val="tx1"/>
                </a:solidFill>
                <a:latin typeface="Meiryo" panose="020B0604030504040204" pitchFamily="50" charset="-128"/>
                <a:ea typeface="Meiryo" panose="020B0604030504040204" pitchFamily="50" charset="-128"/>
              </a:rPr>
              <a:t>：投与群の場合の治療効果、</a:t>
            </a:r>
            <a:r>
              <a:rPr lang="en-US" altLang="ja-JP" b="1" dirty="0">
                <a:solidFill>
                  <a:schemeClr val="tx1"/>
                </a:solidFill>
                <a:latin typeface="Meiryo" panose="020B0604030504040204" pitchFamily="50" charset="-128"/>
                <a:ea typeface="Meiryo" panose="020B0604030504040204" pitchFamily="50" charset="-128"/>
              </a:rPr>
              <a:t>Y(0)</a:t>
            </a:r>
            <a:r>
              <a:rPr lang="ja-JP" altLang="en-US" b="1" dirty="0">
                <a:solidFill>
                  <a:schemeClr val="tx1"/>
                </a:solidFill>
                <a:latin typeface="Meiryo" panose="020B0604030504040204" pitchFamily="50" charset="-128"/>
                <a:ea typeface="Meiryo" panose="020B0604030504040204" pitchFamily="50" charset="-128"/>
              </a:rPr>
              <a:t>：非投与群の場合の治療効果</a:t>
            </a:r>
            <a:endParaRPr lang="en-US" altLang="ja-JP" b="1" dirty="0">
              <a:solidFill>
                <a:schemeClr val="tx1"/>
              </a:solidFill>
              <a:latin typeface="Meiryo" panose="020B0604030504040204" pitchFamily="50" charset="-128"/>
              <a:ea typeface="Meiryo" panose="020B0604030504040204" pitchFamily="50" charset="-128"/>
            </a:endParaRPr>
          </a:p>
          <a:p>
            <a:r>
              <a:rPr lang="en-US" altLang="ja-JP" b="1" dirty="0">
                <a:solidFill>
                  <a:schemeClr val="tx1"/>
                </a:solidFill>
                <a:latin typeface="Meiryo" panose="020B0604030504040204" pitchFamily="50" charset="-128"/>
                <a:ea typeface="Meiryo" panose="020B0604030504040204" pitchFamily="50" charset="-128"/>
              </a:rPr>
              <a:t>Y=1</a:t>
            </a:r>
            <a:r>
              <a:rPr lang="ja-JP" altLang="en-US" b="1" dirty="0">
                <a:solidFill>
                  <a:schemeClr val="tx1"/>
                </a:solidFill>
                <a:latin typeface="Meiryo" panose="020B0604030504040204" pitchFamily="50" charset="-128"/>
                <a:ea typeface="Meiryo" panose="020B0604030504040204" pitchFamily="50" charset="-128"/>
              </a:rPr>
              <a:t>：改善、</a:t>
            </a:r>
            <a:r>
              <a:rPr lang="en-US" altLang="ja-JP" b="1" dirty="0">
                <a:solidFill>
                  <a:schemeClr val="tx1"/>
                </a:solidFill>
                <a:latin typeface="Meiryo" panose="020B0604030504040204" pitchFamily="50" charset="-128"/>
                <a:ea typeface="Meiryo" panose="020B0604030504040204" pitchFamily="50" charset="-128"/>
              </a:rPr>
              <a:t>Y=0</a:t>
            </a:r>
            <a:r>
              <a:rPr lang="ja-JP" altLang="en-US" b="1" dirty="0">
                <a:solidFill>
                  <a:schemeClr val="tx1"/>
                </a:solidFill>
                <a:latin typeface="Meiryo" panose="020B0604030504040204" pitchFamily="50" charset="-128"/>
                <a:ea typeface="Meiryo" panose="020B0604030504040204" pitchFamily="50" charset="-128"/>
              </a:rPr>
              <a:t>：非改善</a:t>
            </a:r>
            <a:endParaRPr lang="en-US" altLang="ja-JP" b="1" dirty="0">
              <a:solidFill>
                <a:schemeClr val="tx1"/>
              </a:solidFill>
              <a:latin typeface="Meiryo" panose="020B0604030504040204" pitchFamily="50" charset="-128"/>
              <a:ea typeface="Meiryo" panose="020B0604030504040204" pitchFamily="50" charset="-128"/>
            </a:endParaRPr>
          </a:p>
        </p:txBody>
      </p:sp>
      <p:sp>
        <p:nvSpPr>
          <p:cNvPr id="8" name="吹き出し: 四角形 7">
            <a:extLst>
              <a:ext uri="{FF2B5EF4-FFF2-40B4-BE49-F238E27FC236}">
                <a16:creationId xmlns:a16="http://schemas.microsoft.com/office/drawing/2014/main" id="{16345410-FEBA-0F90-F88D-C8413D77040F}"/>
              </a:ext>
            </a:extLst>
          </p:cNvPr>
          <p:cNvSpPr/>
          <p:nvPr/>
        </p:nvSpPr>
        <p:spPr>
          <a:xfrm>
            <a:off x="1415480" y="5727422"/>
            <a:ext cx="9145016" cy="946898"/>
          </a:xfrm>
          <a:prstGeom prst="wedgeRectCallout">
            <a:avLst>
              <a:gd name="adj1" fmla="val -27923"/>
              <a:gd name="adj2" fmla="val -9122"/>
            </a:avLst>
          </a:prstGeom>
          <a:solidFill>
            <a:schemeClr val="bg1"/>
          </a:solidFill>
          <a:ln w="38100">
            <a:solidFill>
              <a:srgbClr val="F8D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latin typeface="Meiryo" panose="020B0604030504040204" pitchFamily="50" charset="-128"/>
                <a:ea typeface="Meiryo" panose="020B0604030504040204" pitchFamily="50" charset="-128"/>
              </a:rPr>
              <a:t>【</a:t>
            </a:r>
            <a:r>
              <a:rPr lang="ja-JP" altLang="en-US" dirty="0">
                <a:solidFill>
                  <a:schemeClr val="tx1"/>
                </a:solidFill>
                <a:latin typeface="Meiryo" panose="020B0604030504040204" pitchFamily="50" charset="-128"/>
                <a:ea typeface="Meiryo" panose="020B0604030504040204" pitchFamily="50" charset="-128"/>
              </a:rPr>
              <a:t>層のサンプル数で重み付き平均した改善率の差</a:t>
            </a:r>
            <a:r>
              <a:rPr lang="en-US" altLang="ja-JP" dirty="0">
                <a:solidFill>
                  <a:schemeClr val="tx1"/>
                </a:solidFill>
                <a:latin typeface="Meiryo" panose="020B0604030504040204" pitchFamily="50" charset="-128"/>
                <a:ea typeface="Meiryo" panose="020B0604030504040204" pitchFamily="50" charset="-128"/>
              </a:rPr>
              <a:t>】</a:t>
            </a:r>
          </a:p>
          <a:p>
            <a:r>
              <a:rPr lang="en-US" altLang="ja-JP" b="1" dirty="0">
                <a:solidFill>
                  <a:schemeClr val="accent5">
                    <a:lumMod val="50000"/>
                  </a:schemeClr>
                </a:solidFill>
                <a:latin typeface="Meiryo" panose="020B0604030504040204" pitchFamily="50" charset="-128"/>
                <a:ea typeface="Meiryo" panose="020B0604030504040204" pitchFamily="50" charset="-128"/>
              </a:rPr>
              <a:t>(40/80)</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rgbClr val="FF99FF"/>
                </a:solidFill>
                <a:latin typeface="Meiryo" panose="020B0604030504040204" pitchFamily="50" charset="-128"/>
                <a:ea typeface="Meiryo" panose="020B0604030504040204" pitchFamily="50" charset="-128"/>
              </a:rPr>
              <a:t>(</a:t>
            </a:r>
            <a:r>
              <a:rPr lang="en-US" altLang="ja-JP" b="1" u="sng" dirty="0">
                <a:solidFill>
                  <a:srgbClr val="FF99FF"/>
                </a:solidFill>
                <a:latin typeface="Meiryo" panose="020B0604030504040204" pitchFamily="50" charset="-128"/>
                <a:ea typeface="Meiryo" panose="020B0604030504040204" pitchFamily="50" charset="-128"/>
              </a:rPr>
              <a:t>20%-20%</a:t>
            </a:r>
            <a:r>
              <a:rPr lang="en-US" altLang="ja-JP" b="1" dirty="0">
                <a:solidFill>
                  <a:srgbClr val="FF99FF"/>
                </a:solidFill>
                <a:latin typeface="Meiryo" panose="020B0604030504040204" pitchFamily="50" charset="-128"/>
                <a:ea typeface="Meiryo" panose="020B0604030504040204" pitchFamily="50" charset="-128"/>
              </a:rPr>
              <a:t>)</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chemeClr val="accent6">
                    <a:lumMod val="60000"/>
                    <a:lumOff val="40000"/>
                  </a:schemeClr>
                </a:solidFill>
                <a:latin typeface="Meiryo" panose="020B0604030504040204" pitchFamily="50" charset="-128"/>
                <a:ea typeface="Meiryo" panose="020B0604030504040204" pitchFamily="50" charset="-128"/>
              </a:rPr>
              <a:t>(40/80)</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rgbClr val="FF6600"/>
                </a:solidFill>
                <a:latin typeface="Meiryo" panose="020B0604030504040204" pitchFamily="50" charset="-128"/>
                <a:ea typeface="Meiryo" panose="020B0604030504040204" pitchFamily="50" charset="-128"/>
              </a:rPr>
              <a:t>(</a:t>
            </a:r>
            <a:r>
              <a:rPr lang="en-US" altLang="ja-JP" b="1" u="sng" dirty="0">
                <a:solidFill>
                  <a:srgbClr val="FF6600"/>
                </a:solidFill>
                <a:latin typeface="Meiryo" panose="020B0604030504040204" pitchFamily="50" charset="-128"/>
                <a:ea typeface="Meiryo" panose="020B0604030504040204" pitchFamily="50" charset="-128"/>
              </a:rPr>
              <a:t>50%-50%</a:t>
            </a:r>
            <a:r>
              <a:rPr lang="en-US" altLang="ja-JP" b="1" dirty="0">
                <a:solidFill>
                  <a:srgbClr val="FF6600"/>
                </a:solidFill>
                <a:latin typeface="Meiryo" panose="020B0604030504040204" pitchFamily="50" charset="-128"/>
                <a:ea typeface="Meiryo" panose="020B0604030504040204" pitchFamily="50" charset="-128"/>
              </a:rPr>
              <a:t>)</a:t>
            </a:r>
            <a:r>
              <a:rPr lang="en-US" altLang="ja-JP" dirty="0">
                <a:solidFill>
                  <a:schemeClr val="tx1"/>
                </a:solidFill>
                <a:latin typeface="Meiryo" panose="020B0604030504040204" pitchFamily="50" charset="-128"/>
                <a:ea typeface="Meiryo" panose="020B0604030504040204" pitchFamily="50" charset="-128"/>
              </a:rPr>
              <a:t>=</a:t>
            </a:r>
            <a:r>
              <a:rPr lang="en-US" altLang="ja-JP" b="1" dirty="0">
                <a:solidFill>
                  <a:schemeClr val="tx1"/>
                </a:solidFill>
                <a:highlight>
                  <a:srgbClr val="FFFF00"/>
                </a:highlight>
                <a:latin typeface="Meiryo" panose="020B0604030504040204" pitchFamily="50" charset="-128"/>
                <a:ea typeface="Meiryo" panose="020B0604030504040204" pitchFamily="50" charset="-128"/>
              </a:rPr>
              <a:t>0%</a:t>
            </a:r>
          </a:p>
        </p:txBody>
      </p:sp>
      <p:sp>
        <p:nvSpPr>
          <p:cNvPr id="9" name="正方形/長方形 8">
            <a:extLst>
              <a:ext uri="{FF2B5EF4-FFF2-40B4-BE49-F238E27FC236}">
                <a16:creationId xmlns:a16="http://schemas.microsoft.com/office/drawing/2014/main" id="{BE2214FC-8766-8E8B-3438-3580FD088F9A}"/>
              </a:ext>
            </a:extLst>
          </p:cNvPr>
          <p:cNvSpPr/>
          <p:nvPr/>
        </p:nvSpPr>
        <p:spPr>
          <a:xfrm>
            <a:off x="4655840" y="3171560"/>
            <a:ext cx="576064" cy="887284"/>
          </a:xfrm>
          <a:prstGeom prst="rect">
            <a:avLst/>
          </a:prstGeom>
          <a:noFill/>
          <a:ln w="762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sz="2000" b="1" dirty="0">
              <a:noFill/>
              <a:highlight>
                <a:srgbClr val="FFFF00"/>
              </a:highlight>
            </a:endParaRPr>
          </a:p>
        </p:txBody>
      </p:sp>
      <p:sp>
        <p:nvSpPr>
          <p:cNvPr id="10" name="矢印: 下 9">
            <a:extLst>
              <a:ext uri="{FF2B5EF4-FFF2-40B4-BE49-F238E27FC236}">
                <a16:creationId xmlns:a16="http://schemas.microsoft.com/office/drawing/2014/main" id="{2A015E72-7235-6A84-AE1C-0D09C252FC38}"/>
              </a:ext>
            </a:extLst>
          </p:cNvPr>
          <p:cNvSpPr/>
          <p:nvPr/>
        </p:nvSpPr>
        <p:spPr>
          <a:xfrm>
            <a:off x="4799856" y="4067374"/>
            <a:ext cx="288032" cy="720080"/>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吹き出し: 四角形 11">
            <a:extLst>
              <a:ext uri="{FF2B5EF4-FFF2-40B4-BE49-F238E27FC236}">
                <a16:creationId xmlns:a16="http://schemas.microsoft.com/office/drawing/2014/main" id="{D499AA03-70A2-BF5D-D922-0B0FFCB5F2FF}"/>
              </a:ext>
            </a:extLst>
          </p:cNvPr>
          <p:cNvSpPr/>
          <p:nvPr/>
        </p:nvSpPr>
        <p:spPr>
          <a:xfrm>
            <a:off x="4640627" y="5088217"/>
            <a:ext cx="2376264" cy="533400"/>
          </a:xfrm>
          <a:prstGeom prst="wedgeRectCallout">
            <a:avLst>
              <a:gd name="adj1" fmla="val -27923"/>
              <a:gd name="adj2" fmla="val -9122"/>
            </a:avLst>
          </a:prstGeom>
          <a:solidFill>
            <a:schemeClr val="bg1"/>
          </a:solid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rgbClr val="FF99FF"/>
                </a:solidFill>
                <a:latin typeface="Meiryo" panose="020B0604030504040204" pitchFamily="50" charset="-128"/>
                <a:ea typeface="Meiryo" panose="020B0604030504040204" pitchFamily="50" charset="-128"/>
              </a:rPr>
              <a:t>20</a:t>
            </a:r>
            <a:r>
              <a:rPr lang="ja-JP" altLang="en-US" b="1" dirty="0">
                <a:solidFill>
                  <a:srgbClr val="FF99FF"/>
                </a:solidFill>
                <a:latin typeface="Meiryo" panose="020B0604030504040204" pitchFamily="50" charset="-128"/>
                <a:ea typeface="Meiryo" panose="020B0604030504040204" pitchFamily="50" charset="-128"/>
              </a:rPr>
              <a:t>％（</a:t>
            </a:r>
            <a:r>
              <a:rPr lang="en-US" altLang="ja-JP" b="1" dirty="0">
                <a:solidFill>
                  <a:srgbClr val="FF99FF"/>
                </a:solidFill>
                <a:latin typeface="Meiryo" panose="020B0604030504040204" pitchFamily="50" charset="-128"/>
                <a:ea typeface="Meiryo" panose="020B0604030504040204" pitchFamily="50" charset="-128"/>
              </a:rPr>
              <a:t>2/10</a:t>
            </a:r>
            <a:r>
              <a:rPr lang="ja-JP" altLang="en-US" b="1" dirty="0">
                <a:solidFill>
                  <a:srgbClr val="FF99FF"/>
                </a:solidFill>
                <a:latin typeface="Meiryo" panose="020B0604030504040204" pitchFamily="50" charset="-128"/>
                <a:ea typeface="Meiryo" panose="020B0604030504040204" pitchFamily="50" charset="-128"/>
              </a:rPr>
              <a:t>）</a:t>
            </a:r>
            <a:endParaRPr lang="en-US" altLang="ja-JP" b="1" dirty="0">
              <a:solidFill>
                <a:srgbClr val="FF99FF"/>
              </a:solidFill>
              <a:latin typeface="Meiryo" panose="020B0604030504040204" pitchFamily="50" charset="-128"/>
              <a:ea typeface="Meiryo" panose="020B0604030504040204" pitchFamily="50" charset="-128"/>
            </a:endParaRPr>
          </a:p>
        </p:txBody>
      </p:sp>
      <p:sp>
        <p:nvSpPr>
          <p:cNvPr id="14" name="正方形/長方形 13">
            <a:extLst>
              <a:ext uri="{FF2B5EF4-FFF2-40B4-BE49-F238E27FC236}">
                <a16:creationId xmlns:a16="http://schemas.microsoft.com/office/drawing/2014/main" id="{0AE068DA-1734-47AE-3E57-CFE1C526AD64}"/>
              </a:ext>
            </a:extLst>
          </p:cNvPr>
          <p:cNvSpPr/>
          <p:nvPr/>
        </p:nvSpPr>
        <p:spPr>
          <a:xfrm>
            <a:off x="3863752" y="4058844"/>
            <a:ext cx="576064" cy="887284"/>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sz="2000" b="1" dirty="0">
              <a:noFill/>
              <a:highlight>
                <a:srgbClr val="FFFF00"/>
              </a:highlight>
            </a:endParaRPr>
          </a:p>
        </p:txBody>
      </p:sp>
      <p:sp>
        <p:nvSpPr>
          <p:cNvPr id="15" name="矢印: 下 14">
            <a:extLst>
              <a:ext uri="{FF2B5EF4-FFF2-40B4-BE49-F238E27FC236}">
                <a16:creationId xmlns:a16="http://schemas.microsoft.com/office/drawing/2014/main" id="{D43C0918-697B-B4CE-CA4E-F5DB735B61B7}"/>
              </a:ext>
            </a:extLst>
          </p:cNvPr>
          <p:cNvSpPr/>
          <p:nvPr/>
        </p:nvSpPr>
        <p:spPr>
          <a:xfrm rot="10800000">
            <a:off x="4007768" y="3338764"/>
            <a:ext cx="288032" cy="72008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吹き出し: 四角形 15">
            <a:extLst>
              <a:ext uri="{FF2B5EF4-FFF2-40B4-BE49-F238E27FC236}">
                <a16:creationId xmlns:a16="http://schemas.microsoft.com/office/drawing/2014/main" id="{CABF4E20-86E5-4532-8944-F25952DA9A0D}"/>
              </a:ext>
            </a:extLst>
          </p:cNvPr>
          <p:cNvSpPr/>
          <p:nvPr/>
        </p:nvSpPr>
        <p:spPr>
          <a:xfrm>
            <a:off x="2063552" y="5088217"/>
            <a:ext cx="2376264" cy="533400"/>
          </a:xfrm>
          <a:prstGeom prst="wedgeRectCallout">
            <a:avLst>
              <a:gd name="adj1" fmla="val -27923"/>
              <a:gd name="adj2" fmla="val -9122"/>
            </a:avLst>
          </a:prstGeom>
          <a:solidFill>
            <a:schemeClr val="bg1"/>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rgbClr val="FF99FF"/>
                </a:solidFill>
                <a:latin typeface="Meiryo" panose="020B0604030504040204" pitchFamily="50" charset="-128"/>
                <a:ea typeface="Meiryo" panose="020B0604030504040204" pitchFamily="50" charset="-128"/>
              </a:rPr>
              <a:t>20</a:t>
            </a:r>
            <a:r>
              <a:rPr lang="ja-JP" altLang="en-US" b="1" dirty="0">
                <a:solidFill>
                  <a:srgbClr val="FF99FF"/>
                </a:solidFill>
                <a:latin typeface="Meiryo" panose="020B0604030504040204" pitchFamily="50" charset="-128"/>
                <a:ea typeface="Meiryo" panose="020B0604030504040204" pitchFamily="50" charset="-128"/>
              </a:rPr>
              <a:t>％（</a:t>
            </a:r>
            <a:r>
              <a:rPr lang="en-US" altLang="ja-JP" b="1" dirty="0">
                <a:solidFill>
                  <a:srgbClr val="FF99FF"/>
                </a:solidFill>
                <a:latin typeface="Meiryo" panose="020B0604030504040204" pitchFamily="50" charset="-128"/>
                <a:ea typeface="Meiryo" panose="020B0604030504040204" pitchFamily="50" charset="-128"/>
              </a:rPr>
              <a:t>6/30</a:t>
            </a:r>
            <a:r>
              <a:rPr lang="ja-JP" altLang="en-US" b="1" dirty="0">
                <a:solidFill>
                  <a:srgbClr val="FF99FF"/>
                </a:solidFill>
                <a:latin typeface="Meiryo" panose="020B0604030504040204" pitchFamily="50" charset="-128"/>
                <a:ea typeface="Meiryo" panose="020B0604030504040204" pitchFamily="50" charset="-128"/>
              </a:rPr>
              <a:t>）</a:t>
            </a:r>
            <a:endParaRPr lang="en-US" altLang="ja-JP" b="1" dirty="0">
              <a:solidFill>
                <a:srgbClr val="FF99FF"/>
              </a:solidFill>
              <a:latin typeface="Meiryo" panose="020B0604030504040204" pitchFamily="50" charset="-128"/>
              <a:ea typeface="Meiryo" panose="020B0604030504040204" pitchFamily="50" charset="-128"/>
            </a:endParaRPr>
          </a:p>
        </p:txBody>
      </p:sp>
      <p:sp>
        <p:nvSpPr>
          <p:cNvPr id="17" name="吹き出し: 角を丸めた四角形 16">
            <a:extLst>
              <a:ext uri="{FF2B5EF4-FFF2-40B4-BE49-F238E27FC236}">
                <a16:creationId xmlns:a16="http://schemas.microsoft.com/office/drawing/2014/main" id="{2EF4C8F5-EB3B-0DF8-72A0-25C38102DC34}"/>
              </a:ext>
            </a:extLst>
          </p:cNvPr>
          <p:cNvSpPr/>
          <p:nvPr/>
        </p:nvSpPr>
        <p:spPr>
          <a:xfrm>
            <a:off x="7584980" y="2791845"/>
            <a:ext cx="4510872" cy="2533997"/>
          </a:xfrm>
          <a:prstGeom prst="wedgeRoundRectCallout">
            <a:avLst>
              <a:gd name="adj1" fmla="val -40381"/>
              <a:gd name="adj2" fmla="val -6663"/>
              <a:gd name="adj3" fmla="val 16667"/>
            </a:avLst>
          </a:prstGeom>
          <a:solidFill>
            <a:schemeClr val="accent3">
              <a:lumMod val="95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b="1" dirty="0">
                <a:solidFill>
                  <a:schemeClr val="tx1"/>
                </a:solidFill>
                <a:latin typeface="メイリオ" panose="020B0604030504040204" pitchFamily="50" charset="-128"/>
                <a:ea typeface="メイリオ" panose="020B0604030504040204" pitchFamily="50" charset="-128"/>
              </a:rPr>
              <a:t>“軽度層</a:t>
            </a:r>
            <a:r>
              <a:rPr lang="en-US" altLang="ja-JP" sz="2600" b="1" dirty="0">
                <a:solidFill>
                  <a:schemeClr val="tx1"/>
                </a:solidFill>
                <a:latin typeface="メイリオ" panose="020B0604030504040204" pitchFamily="50" charset="-128"/>
                <a:ea typeface="メイリオ" panose="020B0604030504040204" pitchFamily="50" charset="-128"/>
              </a:rPr>
              <a:t>”</a:t>
            </a:r>
            <a:r>
              <a:rPr lang="ja-JP" altLang="en-US" sz="2600" b="1" dirty="0">
                <a:solidFill>
                  <a:schemeClr val="tx1"/>
                </a:solidFill>
                <a:latin typeface="メイリオ" panose="020B0604030504040204" pitchFamily="50" charset="-128"/>
                <a:ea typeface="メイリオ" panose="020B0604030504040204" pitchFamily="50" charset="-128"/>
              </a:rPr>
              <a:t>において</a:t>
            </a:r>
            <a:r>
              <a:rPr lang="en-US" altLang="ja-JP" sz="2600" b="1" dirty="0">
                <a:solidFill>
                  <a:schemeClr val="tx1"/>
                </a:solidFill>
                <a:latin typeface="メイリオ" panose="020B0604030504040204" pitchFamily="50" charset="-128"/>
                <a:ea typeface="メイリオ" panose="020B0604030504040204" pitchFamily="50" charset="-128"/>
              </a:rPr>
              <a:t>, </a:t>
            </a:r>
            <a:r>
              <a:rPr lang="ja-JP" altLang="en-US" sz="2600" b="1" dirty="0">
                <a:solidFill>
                  <a:schemeClr val="tx1"/>
                </a:solidFill>
                <a:latin typeface="メイリオ" panose="020B0604030504040204" pitchFamily="50" charset="-128"/>
                <a:ea typeface="メイリオ" panose="020B0604030504040204" pitchFamily="50" charset="-128"/>
              </a:rPr>
              <a:t>投与群で</a:t>
            </a:r>
            <a:r>
              <a:rPr lang="en-US" altLang="ja-JP" sz="2600" b="1" dirty="0">
                <a:solidFill>
                  <a:schemeClr val="tx1"/>
                </a:solidFill>
                <a:latin typeface="メイリオ" panose="020B0604030504040204" pitchFamily="50" charset="-128"/>
                <a:ea typeface="メイリオ" panose="020B0604030504040204" pitchFamily="50" charset="-128"/>
              </a:rPr>
              <a:t>20</a:t>
            </a:r>
            <a:r>
              <a:rPr lang="ja-JP" altLang="en-US" sz="2600" b="1" dirty="0">
                <a:solidFill>
                  <a:schemeClr val="tx1"/>
                </a:solidFill>
                <a:latin typeface="メイリオ" panose="020B0604030504040204" pitchFamily="50" charset="-128"/>
                <a:ea typeface="メイリオ" panose="020B0604030504040204" pitchFamily="50" charset="-128"/>
              </a:rPr>
              <a:t>％改善するのであれば</a:t>
            </a:r>
            <a:r>
              <a:rPr lang="en-US" altLang="ja-JP" sz="2600" b="1" dirty="0">
                <a:solidFill>
                  <a:schemeClr val="tx1"/>
                </a:solidFill>
                <a:latin typeface="メイリオ" panose="020B0604030504040204" pitchFamily="50" charset="-128"/>
                <a:ea typeface="メイリオ" panose="020B0604030504040204" pitchFamily="50" charset="-128"/>
              </a:rPr>
              <a:t>,</a:t>
            </a:r>
            <a:r>
              <a:rPr lang="ja-JP" altLang="en-US" sz="2600" b="1" dirty="0">
                <a:solidFill>
                  <a:schemeClr val="tx1"/>
                </a:solidFill>
                <a:latin typeface="メイリオ" panose="020B0604030504040204" pitchFamily="50" charset="-128"/>
                <a:ea typeface="メイリオ" panose="020B0604030504040204" pitchFamily="50" charset="-128"/>
              </a:rPr>
              <a:t> 非投与群でも</a:t>
            </a:r>
            <a:r>
              <a:rPr lang="en-US" altLang="ja-JP" sz="2600" b="1" dirty="0">
                <a:solidFill>
                  <a:schemeClr val="tx1"/>
                </a:solidFill>
                <a:latin typeface="メイリオ" panose="020B0604030504040204" pitchFamily="50" charset="-128"/>
                <a:ea typeface="メイリオ" panose="020B0604030504040204" pitchFamily="50" charset="-128"/>
              </a:rPr>
              <a:t>20</a:t>
            </a:r>
            <a:r>
              <a:rPr lang="ja-JP" altLang="en-US" sz="2600" b="1" dirty="0">
                <a:solidFill>
                  <a:schemeClr val="tx1"/>
                </a:solidFill>
                <a:latin typeface="メイリオ" panose="020B0604030504040204" pitchFamily="50" charset="-128"/>
                <a:ea typeface="メイリオ" panose="020B0604030504040204" pitchFamily="50" charset="-128"/>
              </a:rPr>
              <a:t>％改善するという仮定を置いている</a:t>
            </a:r>
            <a:r>
              <a:rPr lang="en-US" altLang="ja-JP" sz="2600" b="1" dirty="0">
                <a:solidFill>
                  <a:schemeClr val="tx1"/>
                </a:solidFill>
                <a:latin typeface="メイリオ" panose="020B0604030504040204" pitchFamily="50" charset="-128"/>
                <a:ea typeface="メイリオ" panose="020B0604030504040204" pitchFamily="50" charset="-128"/>
              </a:rPr>
              <a:t>.</a:t>
            </a:r>
          </a:p>
          <a:p>
            <a:r>
              <a:rPr lang="ja-JP" altLang="en-US" sz="2600" b="1" dirty="0">
                <a:solidFill>
                  <a:schemeClr val="tx1"/>
                </a:solidFill>
                <a:latin typeface="メイリオ" panose="020B0604030504040204" pitchFamily="50" charset="-128"/>
                <a:ea typeface="メイリオ" panose="020B0604030504040204" pitchFamily="50" charset="-128"/>
              </a:rPr>
              <a:t>（重度層でも同様）</a:t>
            </a:r>
            <a:endParaRPr lang="en-US" altLang="ja-JP" sz="2600" b="1"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41697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C717-709F-C313-B734-8F191A05E6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8FA8AC-2661-DD5D-48EF-B18785CBF6B8}"/>
              </a:ext>
            </a:extLst>
          </p:cNvPr>
          <p:cNvSpPr>
            <a:spLocks noGrp="1"/>
          </p:cNvSpPr>
          <p:nvPr>
            <p:ph type="title"/>
          </p:nvPr>
        </p:nvSpPr>
        <p:spPr/>
        <p:txBody>
          <a:bodyPr/>
          <a:lstStyle/>
          <a:p>
            <a:r>
              <a:rPr kumimoji="1" lang="en-US" altLang="ja-JP" dirty="0"/>
              <a:t>R</a:t>
            </a:r>
            <a:r>
              <a:rPr kumimoji="1" lang="ja-JP" altLang="en-US" dirty="0"/>
              <a:t>による実装例</a:t>
            </a:r>
          </a:p>
        </p:txBody>
      </p:sp>
      <p:sp>
        <p:nvSpPr>
          <p:cNvPr id="3" name="コンテンツ プレースホルダー 2">
            <a:extLst>
              <a:ext uri="{FF2B5EF4-FFF2-40B4-BE49-F238E27FC236}">
                <a16:creationId xmlns:a16="http://schemas.microsoft.com/office/drawing/2014/main" id="{34E2B2BA-67F2-C2BB-EBC4-57F3A7C925D9}"/>
              </a:ext>
            </a:extLst>
          </p:cNvPr>
          <p:cNvSpPr>
            <a:spLocks noGrp="1"/>
          </p:cNvSpPr>
          <p:nvPr>
            <p:ph idx="1"/>
          </p:nvPr>
        </p:nvSpPr>
        <p:spPr>
          <a:xfrm>
            <a:off x="510116" y="1103949"/>
            <a:ext cx="11171767" cy="4701315"/>
          </a:xfrm>
        </p:spPr>
        <p:txBody>
          <a:bodyPr/>
          <a:lstStyle/>
          <a:p>
            <a:r>
              <a:rPr kumimoji="1" lang="en-US" altLang="ja-JP" dirty="0"/>
              <a:t># </a:t>
            </a:r>
            <a:r>
              <a:rPr kumimoji="1" lang="ja-JP" altLang="en-US" dirty="0"/>
              <a:t>クロス集計②のデモデータの作成コード</a:t>
            </a:r>
            <a:endParaRPr kumimoji="1" lang="en-US" altLang="ja-JP" dirty="0"/>
          </a:p>
          <a:p>
            <a:endParaRPr kumimoji="1" lang="en-US" altLang="ja-JP" dirty="0"/>
          </a:p>
          <a:p>
            <a:r>
              <a:rPr kumimoji="1" lang="en-US" altLang="ja-JP" dirty="0"/>
              <a:t>dat &lt;- </a:t>
            </a:r>
            <a:r>
              <a:rPr kumimoji="1" lang="en-US" altLang="ja-JP" dirty="0" err="1"/>
              <a:t>data.frame</a:t>
            </a:r>
            <a:r>
              <a:rPr kumimoji="1" lang="en-US" altLang="ja-JP" dirty="0"/>
              <a:t>(</a:t>
            </a:r>
          </a:p>
          <a:p>
            <a:endParaRPr kumimoji="1" lang="en-US" altLang="ja-JP" dirty="0"/>
          </a:p>
          <a:p>
            <a:r>
              <a:rPr kumimoji="1" lang="en-US" altLang="ja-JP" dirty="0"/>
              <a:t>  stratum = rep(c("</a:t>
            </a:r>
            <a:r>
              <a:rPr kumimoji="1" lang="ja-JP" altLang="en-US" dirty="0"/>
              <a:t>軽度</a:t>
            </a:r>
            <a:r>
              <a:rPr kumimoji="1" lang="en-US" altLang="ja-JP" dirty="0"/>
              <a:t>","</a:t>
            </a:r>
            <a:r>
              <a:rPr kumimoji="1" lang="ja-JP" altLang="en-US" dirty="0"/>
              <a:t>重度</a:t>
            </a:r>
            <a:r>
              <a:rPr kumimoji="1" lang="en-US" altLang="ja-JP" dirty="0"/>
              <a:t>"), each = 40), #</a:t>
            </a:r>
            <a:r>
              <a:rPr kumimoji="1" lang="ja-JP" altLang="en-US" dirty="0"/>
              <a:t>軽度</a:t>
            </a:r>
            <a:r>
              <a:rPr kumimoji="1" lang="en-US" altLang="ja-JP" dirty="0"/>
              <a:t>/</a:t>
            </a:r>
            <a:r>
              <a:rPr kumimoji="1" lang="ja-JP" altLang="en-US" dirty="0"/>
              <a:t>重度で各々</a:t>
            </a:r>
            <a:r>
              <a:rPr kumimoji="1" lang="en-US" altLang="ja-JP" dirty="0"/>
              <a:t>40</a:t>
            </a:r>
            <a:r>
              <a:rPr kumimoji="1" lang="ja-JP" altLang="en-US" dirty="0"/>
              <a:t>例</a:t>
            </a:r>
          </a:p>
          <a:p>
            <a:r>
              <a:rPr kumimoji="1" lang="ja-JP" altLang="en-US" dirty="0"/>
              <a:t>  </a:t>
            </a:r>
            <a:r>
              <a:rPr kumimoji="1" lang="en-US" altLang="ja-JP" dirty="0"/>
              <a:t>treat = c(</a:t>
            </a:r>
          </a:p>
          <a:p>
            <a:r>
              <a:rPr kumimoji="1" lang="en-US" altLang="ja-JP" dirty="0"/>
              <a:t>    rep(1, 10), rep(0, 30),  # </a:t>
            </a:r>
            <a:r>
              <a:rPr kumimoji="1" lang="ja-JP" altLang="en-US" dirty="0"/>
              <a:t>軽度</a:t>
            </a:r>
            <a:r>
              <a:rPr kumimoji="1" lang="en-US" altLang="ja-JP" dirty="0"/>
              <a:t>: </a:t>
            </a:r>
            <a:r>
              <a:rPr kumimoji="1" lang="ja-JP" altLang="en-US" dirty="0"/>
              <a:t>投与群</a:t>
            </a:r>
            <a:r>
              <a:rPr kumimoji="1" lang="en-US" altLang="ja-JP" dirty="0"/>
              <a:t>10,</a:t>
            </a:r>
            <a:r>
              <a:rPr lang="ja-JP" altLang="en-US" dirty="0"/>
              <a:t> </a:t>
            </a:r>
            <a:r>
              <a:rPr kumimoji="1" lang="ja-JP" altLang="en-US" dirty="0"/>
              <a:t>非投与群</a:t>
            </a:r>
            <a:r>
              <a:rPr kumimoji="1" lang="en-US" altLang="ja-JP" dirty="0"/>
              <a:t>30</a:t>
            </a:r>
          </a:p>
          <a:p>
            <a:r>
              <a:rPr kumimoji="1" lang="en-US" altLang="ja-JP" dirty="0"/>
              <a:t>    rep(1, 30), rep(0, 10)   # </a:t>
            </a:r>
            <a:r>
              <a:rPr kumimoji="1" lang="ja-JP" altLang="en-US" dirty="0"/>
              <a:t>重度</a:t>
            </a:r>
            <a:r>
              <a:rPr kumimoji="1" lang="en-US" altLang="ja-JP" dirty="0"/>
              <a:t>: </a:t>
            </a:r>
            <a:r>
              <a:rPr kumimoji="1" lang="ja-JP" altLang="en-US" dirty="0"/>
              <a:t>投与群</a:t>
            </a:r>
            <a:r>
              <a:rPr kumimoji="1" lang="en-US" altLang="ja-JP" dirty="0"/>
              <a:t>30, </a:t>
            </a:r>
            <a:r>
              <a:rPr kumimoji="1" lang="ja-JP" altLang="en-US" dirty="0"/>
              <a:t>非投与群</a:t>
            </a:r>
            <a:r>
              <a:rPr kumimoji="1" lang="en-US" altLang="ja-JP" dirty="0"/>
              <a:t>10</a:t>
            </a:r>
          </a:p>
          <a:p>
            <a:r>
              <a:rPr kumimoji="1" lang="en-US" altLang="ja-JP" dirty="0"/>
              <a:t>  ),</a:t>
            </a:r>
          </a:p>
        </p:txBody>
      </p:sp>
      <p:sp>
        <p:nvSpPr>
          <p:cNvPr id="4" name="スライド番号プレースホルダー 3">
            <a:extLst>
              <a:ext uri="{FF2B5EF4-FFF2-40B4-BE49-F238E27FC236}">
                <a16:creationId xmlns:a16="http://schemas.microsoft.com/office/drawing/2014/main" id="{60EC9ECA-1396-E995-25CD-325BBB61BAC5}"/>
              </a:ext>
            </a:extLst>
          </p:cNvPr>
          <p:cNvSpPr>
            <a:spLocks noGrp="1"/>
          </p:cNvSpPr>
          <p:nvPr>
            <p:ph type="sldNum" sz="quarter" idx="11"/>
          </p:nvPr>
        </p:nvSpPr>
        <p:spPr/>
        <p:txBody>
          <a:bodyPr/>
          <a:lstStyle/>
          <a:p>
            <a:fld id="{23B20E4E-3F95-4221-AFE5-FD1FD9CC3448}" type="slidenum">
              <a:rPr lang="en-US" altLang="ja-JP" smtClean="0"/>
              <a:pPr/>
              <a:t>13</a:t>
            </a:fld>
            <a:endParaRPr lang="en-US" altLang="ja-JP"/>
          </a:p>
        </p:txBody>
      </p:sp>
      <p:pic>
        <p:nvPicPr>
          <p:cNvPr id="5" name="図 4" descr="ロゴ&#10;&#10;自動的に生成された説明">
            <a:extLst>
              <a:ext uri="{FF2B5EF4-FFF2-40B4-BE49-F238E27FC236}">
                <a16:creationId xmlns:a16="http://schemas.microsoft.com/office/drawing/2014/main" id="{DB793460-631A-4DFD-5831-8C0C678325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6" name="正方形/長方形 5">
            <a:extLst>
              <a:ext uri="{FF2B5EF4-FFF2-40B4-BE49-F238E27FC236}">
                <a16:creationId xmlns:a16="http://schemas.microsoft.com/office/drawing/2014/main" id="{4FC7304B-D123-735E-B35C-60FAF60FD7C2}"/>
              </a:ext>
            </a:extLst>
          </p:cNvPr>
          <p:cNvSpPr/>
          <p:nvPr/>
        </p:nvSpPr>
        <p:spPr>
          <a:xfrm>
            <a:off x="542231" y="2121048"/>
            <a:ext cx="2889473" cy="574363"/>
          </a:xfrm>
          <a:prstGeom prst="rect">
            <a:avLst/>
          </a:prstGeom>
          <a:noFill/>
          <a:ln w="50800">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C025900B-0F95-7BC7-7554-A99705D481E7}"/>
              </a:ext>
            </a:extLst>
          </p:cNvPr>
          <p:cNvSpPr/>
          <p:nvPr/>
        </p:nvSpPr>
        <p:spPr>
          <a:xfrm>
            <a:off x="695400" y="3140969"/>
            <a:ext cx="10369152" cy="529409"/>
          </a:xfrm>
          <a:prstGeom prst="rect">
            <a:avLst/>
          </a:prstGeom>
          <a:noFill/>
          <a:ln w="508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四角形 15">
            <a:extLst>
              <a:ext uri="{FF2B5EF4-FFF2-40B4-BE49-F238E27FC236}">
                <a16:creationId xmlns:a16="http://schemas.microsoft.com/office/drawing/2014/main" id="{0349E429-3FEB-F05E-A519-BB44A08C42E0}"/>
              </a:ext>
            </a:extLst>
          </p:cNvPr>
          <p:cNvSpPr/>
          <p:nvPr/>
        </p:nvSpPr>
        <p:spPr>
          <a:xfrm>
            <a:off x="3655910" y="2166002"/>
            <a:ext cx="3520210" cy="529409"/>
          </a:xfrm>
          <a:prstGeom prst="wedgeRectCallout">
            <a:avLst>
              <a:gd name="adj1" fmla="val -27923"/>
              <a:gd name="adj2" fmla="val -9122"/>
            </a:avLst>
          </a:prstGeom>
          <a:solidFill>
            <a:schemeClr val="bg1"/>
          </a:solid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①：</a:t>
            </a:r>
            <a:r>
              <a:rPr lang="en-US" altLang="ja-JP" sz="2000" b="1" dirty="0">
                <a:solidFill>
                  <a:schemeClr val="tx1"/>
                </a:solidFill>
                <a:latin typeface="Meiryo" panose="020B0604030504040204" pitchFamily="50" charset="-128"/>
                <a:ea typeface="Meiryo" panose="020B0604030504040204" pitchFamily="50" charset="-128"/>
              </a:rPr>
              <a:t>1</a:t>
            </a:r>
            <a:r>
              <a:rPr lang="ja-JP" altLang="en-US" sz="2000" b="1" dirty="0">
                <a:solidFill>
                  <a:schemeClr val="tx1"/>
                </a:solidFill>
                <a:latin typeface="Meiryo" panose="020B0604030504040204" pitchFamily="50" charset="-128"/>
                <a:ea typeface="Meiryo" panose="020B0604030504040204" pitchFamily="50" charset="-128"/>
              </a:rPr>
              <a:t>対象者</a:t>
            </a:r>
            <a:r>
              <a:rPr lang="en-US" altLang="ja-JP" sz="2000" b="1" dirty="0">
                <a:solidFill>
                  <a:schemeClr val="tx1"/>
                </a:solidFill>
                <a:latin typeface="Meiryo" panose="020B0604030504040204" pitchFamily="50" charset="-128"/>
                <a:ea typeface="Meiryo" panose="020B0604030504040204" pitchFamily="50" charset="-128"/>
              </a:rPr>
              <a:t>/1</a:t>
            </a:r>
            <a:r>
              <a:rPr lang="ja-JP" altLang="en-US" sz="2000" b="1" dirty="0">
                <a:solidFill>
                  <a:schemeClr val="tx1"/>
                </a:solidFill>
                <a:latin typeface="Meiryo" panose="020B0604030504040204" pitchFamily="50" charset="-128"/>
                <a:ea typeface="Meiryo" panose="020B0604030504040204" pitchFamily="50" charset="-128"/>
              </a:rPr>
              <a:t>行の表を作成</a:t>
            </a:r>
            <a:endParaRPr lang="en-US" altLang="ja-JP" sz="2000" b="1" dirty="0">
              <a:solidFill>
                <a:schemeClr val="tx1"/>
              </a:solidFill>
              <a:latin typeface="Meiryo" panose="020B0604030504040204" pitchFamily="50" charset="-128"/>
              <a:ea typeface="Meiryo" panose="020B0604030504040204" pitchFamily="50" charset="-128"/>
            </a:endParaRPr>
          </a:p>
        </p:txBody>
      </p:sp>
      <p:sp>
        <p:nvSpPr>
          <p:cNvPr id="17" name="吹き出し: 四角形 16">
            <a:extLst>
              <a:ext uri="{FF2B5EF4-FFF2-40B4-BE49-F238E27FC236}">
                <a16:creationId xmlns:a16="http://schemas.microsoft.com/office/drawing/2014/main" id="{B434BB4A-9986-3FCD-7CFD-C48543F0CB81}"/>
              </a:ext>
            </a:extLst>
          </p:cNvPr>
          <p:cNvSpPr/>
          <p:nvPr/>
        </p:nvSpPr>
        <p:spPr>
          <a:xfrm>
            <a:off x="7510927" y="2492896"/>
            <a:ext cx="3520211" cy="529409"/>
          </a:xfrm>
          <a:prstGeom prst="wedgeRectCallout">
            <a:avLst>
              <a:gd name="adj1" fmla="val -27923"/>
              <a:gd name="adj2" fmla="val -9122"/>
            </a:avLst>
          </a:prstGeom>
          <a:solidFill>
            <a:schemeClr val="bg1"/>
          </a:solid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②：層別に</a:t>
            </a:r>
            <a:r>
              <a:rPr lang="en-US" altLang="ja-JP" sz="2000" b="1" dirty="0">
                <a:solidFill>
                  <a:schemeClr val="tx1"/>
                </a:solidFill>
                <a:latin typeface="Meiryo" panose="020B0604030504040204" pitchFamily="50" charset="-128"/>
                <a:ea typeface="Meiryo" panose="020B0604030504040204" pitchFamily="50" charset="-128"/>
              </a:rPr>
              <a:t>40</a:t>
            </a:r>
            <a:r>
              <a:rPr lang="ja-JP" altLang="en-US" sz="2000" b="1" dirty="0">
                <a:solidFill>
                  <a:schemeClr val="tx1"/>
                </a:solidFill>
                <a:latin typeface="Meiryo" panose="020B0604030504040204" pitchFamily="50" charset="-128"/>
                <a:ea typeface="Meiryo" panose="020B0604030504040204" pitchFamily="50" charset="-128"/>
              </a:rPr>
              <a:t>行ずつ計</a:t>
            </a:r>
            <a:r>
              <a:rPr lang="en-US" altLang="ja-JP" sz="2000" b="1" dirty="0">
                <a:solidFill>
                  <a:schemeClr val="tx1"/>
                </a:solidFill>
                <a:latin typeface="Meiryo" panose="020B0604030504040204" pitchFamily="50" charset="-128"/>
                <a:ea typeface="Meiryo" panose="020B0604030504040204" pitchFamily="50" charset="-128"/>
              </a:rPr>
              <a:t>80</a:t>
            </a:r>
            <a:r>
              <a:rPr lang="ja-JP" altLang="en-US" sz="2000" b="1" dirty="0">
                <a:solidFill>
                  <a:schemeClr val="tx1"/>
                </a:solidFill>
                <a:latin typeface="Meiryo" panose="020B0604030504040204" pitchFamily="50" charset="-128"/>
                <a:ea typeface="Meiryo" panose="020B0604030504040204" pitchFamily="50" charset="-128"/>
              </a:rPr>
              <a:t>行</a:t>
            </a:r>
            <a:endParaRPr lang="en-US" altLang="ja-JP" sz="2000" b="1" dirty="0">
              <a:solidFill>
                <a:schemeClr val="tx1"/>
              </a:solidFill>
              <a:latin typeface="Meiryo" panose="020B0604030504040204" pitchFamily="50" charset="-128"/>
              <a:ea typeface="Meiryo" panose="020B0604030504040204" pitchFamily="50" charset="-128"/>
            </a:endParaRPr>
          </a:p>
        </p:txBody>
      </p:sp>
      <p:sp>
        <p:nvSpPr>
          <p:cNvPr id="18" name="正方形/長方形 17">
            <a:extLst>
              <a:ext uri="{FF2B5EF4-FFF2-40B4-BE49-F238E27FC236}">
                <a16:creationId xmlns:a16="http://schemas.microsoft.com/office/drawing/2014/main" id="{34C467BB-F992-E77C-ED00-C5B5F053CE6E}"/>
              </a:ext>
            </a:extLst>
          </p:cNvPr>
          <p:cNvSpPr/>
          <p:nvPr/>
        </p:nvSpPr>
        <p:spPr>
          <a:xfrm>
            <a:off x="695400" y="3757465"/>
            <a:ext cx="8496944" cy="1949934"/>
          </a:xfrm>
          <a:prstGeom prst="rect">
            <a:avLst/>
          </a:prstGeom>
          <a:noFill/>
          <a:ln w="50800">
            <a:solidFill>
              <a:srgbClr val="FF99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吹き出し: 四角形 18">
            <a:extLst>
              <a:ext uri="{FF2B5EF4-FFF2-40B4-BE49-F238E27FC236}">
                <a16:creationId xmlns:a16="http://schemas.microsoft.com/office/drawing/2014/main" id="{EB25552A-14A1-DF38-4007-4812BB7FF854}"/>
              </a:ext>
            </a:extLst>
          </p:cNvPr>
          <p:cNvSpPr/>
          <p:nvPr/>
        </p:nvSpPr>
        <p:spPr>
          <a:xfrm>
            <a:off x="1775520" y="5851919"/>
            <a:ext cx="7128793" cy="529409"/>
          </a:xfrm>
          <a:prstGeom prst="wedgeRectCallout">
            <a:avLst>
              <a:gd name="adj1" fmla="val -27923"/>
              <a:gd name="adj2" fmla="val -9122"/>
            </a:avLst>
          </a:prstGeom>
          <a:solidFill>
            <a:schemeClr val="bg1"/>
          </a:solidFill>
          <a:ln w="38100">
            <a:solidFill>
              <a:srgbClr val="FF99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③：軽度層にて</a:t>
            </a:r>
            <a:r>
              <a:rPr lang="en-US" altLang="ja-JP" sz="2000" b="1" dirty="0">
                <a:solidFill>
                  <a:schemeClr val="tx1"/>
                </a:solidFill>
                <a:latin typeface="Meiryo" panose="020B0604030504040204" pitchFamily="50" charset="-128"/>
                <a:ea typeface="Meiryo" panose="020B0604030504040204" pitchFamily="50" charset="-128"/>
              </a:rPr>
              <a:t>,</a:t>
            </a:r>
            <a:r>
              <a:rPr lang="ja-JP" altLang="en-US" sz="2000" b="1" dirty="0">
                <a:solidFill>
                  <a:schemeClr val="tx1"/>
                </a:solidFill>
                <a:latin typeface="Meiryo" panose="020B0604030504040204" pitchFamily="50" charset="-128"/>
                <a:ea typeface="Meiryo" panose="020B0604030504040204" pitchFamily="50" charset="-128"/>
              </a:rPr>
              <a:t> </a:t>
            </a:r>
            <a:r>
              <a:rPr lang="en-US" altLang="ja-JP" sz="2000" b="1" dirty="0">
                <a:solidFill>
                  <a:schemeClr val="tx1"/>
                </a:solidFill>
                <a:latin typeface="Meiryo" panose="020B0604030504040204" pitchFamily="50" charset="-128"/>
                <a:ea typeface="Meiryo" panose="020B0604030504040204" pitchFamily="50" charset="-128"/>
              </a:rPr>
              <a:t>1(</a:t>
            </a:r>
            <a:r>
              <a:rPr lang="ja-JP" altLang="en-US" sz="2000" b="1" dirty="0">
                <a:solidFill>
                  <a:schemeClr val="tx1"/>
                </a:solidFill>
                <a:latin typeface="Meiryo" panose="020B0604030504040204" pitchFamily="50" charset="-128"/>
                <a:ea typeface="Meiryo" panose="020B0604030504040204" pitchFamily="50" charset="-128"/>
              </a:rPr>
              <a:t>投与群</a:t>
            </a:r>
            <a:r>
              <a:rPr lang="en-US" altLang="ja-JP" sz="2000" b="1" dirty="0">
                <a:solidFill>
                  <a:schemeClr val="tx1"/>
                </a:solidFill>
                <a:latin typeface="Meiryo" panose="020B0604030504040204" pitchFamily="50" charset="-128"/>
                <a:ea typeface="Meiryo" panose="020B0604030504040204" pitchFamily="50" charset="-128"/>
              </a:rPr>
              <a:t>)</a:t>
            </a:r>
            <a:r>
              <a:rPr lang="ja-JP" altLang="en-US" sz="2000" b="1" dirty="0">
                <a:solidFill>
                  <a:schemeClr val="tx1"/>
                </a:solidFill>
                <a:latin typeface="Meiryo" panose="020B0604030504040204" pitchFamily="50" charset="-128"/>
                <a:ea typeface="Meiryo" panose="020B0604030504040204" pitchFamily="50" charset="-128"/>
              </a:rPr>
              <a:t>を</a:t>
            </a:r>
            <a:r>
              <a:rPr lang="en-US" altLang="ja-JP" sz="2000" b="1" dirty="0">
                <a:solidFill>
                  <a:schemeClr val="tx1"/>
                </a:solidFill>
                <a:latin typeface="Meiryo" panose="020B0604030504040204" pitchFamily="50" charset="-128"/>
                <a:ea typeface="Meiryo" panose="020B0604030504040204" pitchFamily="50" charset="-128"/>
              </a:rPr>
              <a:t>30,</a:t>
            </a:r>
            <a:r>
              <a:rPr lang="ja-JP" altLang="en-US" sz="2000" b="1" dirty="0">
                <a:solidFill>
                  <a:schemeClr val="tx1"/>
                </a:solidFill>
                <a:latin typeface="Meiryo" panose="020B0604030504040204" pitchFamily="50" charset="-128"/>
                <a:ea typeface="Meiryo" panose="020B0604030504040204" pitchFamily="50" charset="-128"/>
              </a:rPr>
              <a:t> </a:t>
            </a:r>
            <a:r>
              <a:rPr lang="en-US" altLang="ja-JP" sz="2000" b="1" dirty="0">
                <a:solidFill>
                  <a:schemeClr val="tx1"/>
                </a:solidFill>
                <a:latin typeface="Meiryo" panose="020B0604030504040204" pitchFamily="50" charset="-128"/>
                <a:ea typeface="Meiryo" panose="020B0604030504040204" pitchFamily="50" charset="-128"/>
              </a:rPr>
              <a:t>0(</a:t>
            </a:r>
            <a:r>
              <a:rPr lang="ja-JP" altLang="en-US" sz="2000" b="1" dirty="0">
                <a:solidFill>
                  <a:schemeClr val="tx1"/>
                </a:solidFill>
                <a:latin typeface="Meiryo" panose="020B0604030504040204" pitchFamily="50" charset="-128"/>
                <a:ea typeface="Meiryo" panose="020B0604030504040204" pitchFamily="50" charset="-128"/>
              </a:rPr>
              <a:t>非投与群</a:t>
            </a:r>
            <a:r>
              <a:rPr lang="en-US" altLang="ja-JP" sz="2000" b="1" dirty="0">
                <a:solidFill>
                  <a:schemeClr val="tx1"/>
                </a:solidFill>
                <a:latin typeface="Meiryo" panose="020B0604030504040204" pitchFamily="50" charset="-128"/>
                <a:ea typeface="Meiryo" panose="020B0604030504040204" pitchFamily="50" charset="-128"/>
              </a:rPr>
              <a:t>)</a:t>
            </a:r>
            <a:r>
              <a:rPr lang="ja-JP" altLang="en-US" sz="2000" b="1" dirty="0">
                <a:solidFill>
                  <a:schemeClr val="tx1"/>
                </a:solidFill>
                <a:latin typeface="Meiryo" panose="020B0604030504040204" pitchFamily="50" charset="-128"/>
                <a:ea typeface="Meiryo" panose="020B0604030504040204" pitchFamily="50" charset="-128"/>
              </a:rPr>
              <a:t>を</a:t>
            </a:r>
            <a:r>
              <a:rPr lang="en-US" altLang="ja-JP" sz="2000" b="1" dirty="0">
                <a:solidFill>
                  <a:schemeClr val="tx1"/>
                </a:solidFill>
                <a:latin typeface="Meiryo" panose="020B0604030504040204" pitchFamily="50" charset="-128"/>
                <a:ea typeface="Meiryo" panose="020B0604030504040204" pitchFamily="50" charset="-128"/>
              </a:rPr>
              <a:t>10</a:t>
            </a:r>
            <a:r>
              <a:rPr lang="ja-JP" altLang="en-US" sz="2000" b="1" dirty="0">
                <a:solidFill>
                  <a:schemeClr val="tx1"/>
                </a:solidFill>
                <a:latin typeface="Meiryo" panose="020B0604030504040204" pitchFamily="50" charset="-128"/>
                <a:ea typeface="Meiryo" panose="020B0604030504040204" pitchFamily="50" charset="-128"/>
              </a:rPr>
              <a:t>人</a:t>
            </a:r>
            <a:r>
              <a:rPr lang="en-US" altLang="ja-JP" sz="2000" b="1" dirty="0">
                <a:solidFill>
                  <a:schemeClr val="tx1"/>
                </a:solidFill>
                <a:latin typeface="Meiryo" panose="020B0604030504040204" pitchFamily="50" charset="-128"/>
                <a:ea typeface="Meiryo" panose="020B0604030504040204" pitchFamily="50" charset="-128"/>
              </a:rPr>
              <a:t>…</a:t>
            </a:r>
          </a:p>
        </p:txBody>
      </p:sp>
    </p:spTree>
    <p:extLst>
      <p:ext uri="{BB962C8B-B14F-4D97-AF65-F5344CB8AC3E}">
        <p14:creationId xmlns:p14="http://schemas.microsoft.com/office/powerpoint/2010/main" val="3682642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7A7BA-89DF-CEF1-69AC-E8C343B0A5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815369-78F8-25CF-5C67-8441220F10DB}"/>
              </a:ext>
            </a:extLst>
          </p:cNvPr>
          <p:cNvSpPr>
            <a:spLocks noGrp="1"/>
          </p:cNvSpPr>
          <p:nvPr>
            <p:ph type="title"/>
          </p:nvPr>
        </p:nvSpPr>
        <p:spPr/>
        <p:txBody>
          <a:bodyPr/>
          <a:lstStyle/>
          <a:p>
            <a:r>
              <a:rPr kumimoji="1" lang="en-US" altLang="ja-JP" dirty="0"/>
              <a:t>R</a:t>
            </a:r>
            <a:r>
              <a:rPr kumimoji="1" lang="ja-JP" altLang="en-US" dirty="0"/>
              <a:t>による実装例</a:t>
            </a:r>
          </a:p>
        </p:txBody>
      </p:sp>
      <p:sp>
        <p:nvSpPr>
          <p:cNvPr id="3" name="コンテンツ プレースホルダー 2">
            <a:extLst>
              <a:ext uri="{FF2B5EF4-FFF2-40B4-BE49-F238E27FC236}">
                <a16:creationId xmlns:a16="http://schemas.microsoft.com/office/drawing/2014/main" id="{EA28DB04-3F27-8CCE-1C01-4E63F20BA242}"/>
              </a:ext>
            </a:extLst>
          </p:cNvPr>
          <p:cNvSpPr>
            <a:spLocks noGrp="1"/>
          </p:cNvSpPr>
          <p:nvPr>
            <p:ph idx="1"/>
          </p:nvPr>
        </p:nvSpPr>
        <p:spPr>
          <a:xfrm>
            <a:off x="510116" y="1103949"/>
            <a:ext cx="11171767" cy="4701315"/>
          </a:xfrm>
        </p:spPr>
        <p:txBody>
          <a:bodyPr/>
          <a:lstStyle/>
          <a:p>
            <a:r>
              <a:rPr kumimoji="1" lang="en-US" altLang="ja-JP" dirty="0"/>
              <a:t># </a:t>
            </a:r>
            <a:r>
              <a:rPr kumimoji="1" lang="ja-JP" altLang="en-US" dirty="0"/>
              <a:t>クロス集計表②のデモデータの作成コード（続き）</a:t>
            </a:r>
          </a:p>
          <a:p>
            <a:r>
              <a:rPr lang="en-US" altLang="ja-JP" dirty="0"/>
              <a:t> </a:t>
            </a:r>
          </a:p>
          <a:p>
            <a:r>
              <a:rPr lang="en-US" altLang="ja-JP" dirty="0"/>
              <a:t>outcome = c(</a:t>
            </a:r>
          </a:p>
          <a:p>
            <a:r>
              <a:rPr lang="en-US" altLang="ja-JP" dirty="0"/>
              <a:t>    rep(1, 2), rep(0, 8),    # </a:t>
            </a:r>
            <a:r>
              <a:rPr lang="ja-JP" altLang="en-US" dirty="0"/>
              <a:t>軽度</a:t>
            </a:r>
            <a:r>
              <a:rPr lang="en-US" altLang="ja-JP" dirty="0"/>
              <a:t>: </a:t>
            </a:r>
            <a:r>
              <a:rPr lang="ja-JP" altLang="en-US" dirty="0"/>
              <a:t>投与群 </a:t>
            </a:r>
            <a:r>
              <a:rPr lang="en-US" altLang="ja-JP" dirty="0"/>
              <a:t>(</a:t>
            </a:r>
            <a:r>
              <a:rPr lang="ja-JP" altLang="en-US" dirty="0"/>
              <a:t>改善</a:t>
            </a:r>
            <a:r>
              <a:rPr lang="en-US" altLang="ja-JP" dirty="0"/>
              <a:t>2, </a:t>
            </a:r>
            <a:r>
              <a:rPr lang="ja-JP" altLang="en-US" dirty="0"/>
              <a:t>非改善</a:t>
            </a:r>
            <a:r>
              <a:rPr lang="en-US" altLang="ja-JP" dirty="0"/>
              <a:t>8)</a:t>
            </a:r>
          </a:p>
          <a:p>
            <a:r>
              <a:rPr lang="en-US" altLang="ja-JP" dirty="0"/>
              <a:t>    rep(1, 6), rep(0, 24),   # </a:t>
            </a:r>
            <a:r>
              <a:rPr lang="ja-JP" altLang="en-US" dirty="0"/>
              <a:t>軽度</a:t>
            </a:r>
            <a:r>
              <a:rPr lang="en-US" altLang="ja-JP" dirty="0"/>
              <a:t>: </a:t>
            </a:r>
            <a:r>
              <a:rPr lang="ja-JP" altLang="en-US" dirty="0"/>
              <a:t>非投与群 </a:t>
            </a:r>
            <a:r>
              <a:rPr lang="en-US" altLang="ja-JP" dirty="0"/>
              <a:t>(</a:t>
            </a:r>
            <a:r>
              <a:rPr lang="ja-JP" altLang="en-US" dirty="0"/>
              <a:t>改善</a:t>
            </a:r>
            <a:r>
              <a:rPr lang="en-US" altLang="ja-JP" dirty="0"/>
              <a:t>6, </a:t>
            </a:r>
            <a:r>
              <a:rPr lang="ja-JP" altLang="en-US" dirty="0"/>
              <a:t>非改善</a:t>
            </a:r>
            <a:r>
              <a:rPr lang="en-US" altLang="ja-JP" dirty="0"/>
              <a:t>24)</a:t>
            </a:r>
          </a:p>
          <a:p>
            <a:r>
              <a:rPr lang="en-US" altLang="ja-JP" dirty="0"/>
              <a:t>    rep(1, 15), rep(0, 15),  # </a:t>
            </a:r>
            <a:r>
              <a:rPr lang="ja-JP" altLang="en-US" dirty="0"/>
              <a:t>重度</a:t>
            </a:r>
            <a:r>
              <a:rPr lang="en-US" altLang="ja-JP" dirty="0"/>
              <a:t>: </a:t>
            </a:r>
            <a:r>
              <a:rPr lang="ja-JP" altLang="en-US" dirty="0"/>
              <a:t>投与群 </a:t>
            </a:r>
            <a:r>
              <a:rPr lang="en-US" altLang="ja-JP" dirty="0"/>
              <a:t>(</a:t>
            </a:r>
            <a:r>
              <a:rPr lang="ja-JP" altLang="en-US" dirty="0"/>
              <a:t>改善</a:t>
            </a:r>
            <a:r>
              <a:rPr lang="en-US" altLang="ja-JP" dirty="0"/>
              <a:t>15, </a:t>
            </a:r>
            <a:r>
              <a:rPr lang="ja-JP" altLang="en-US" dirty="0"/>
              <a:t>非改善</a:t>
            </a:r>
            <a:r>
              <a:rPr lang="en-US" altLang="ja-JP" dirty="0"/>
              <a:t>15)</a:t>
            </a:r>
          </a:p>
          <a:p>
            <a:r>
              <a:rPr lang="en-US" altLang="ja-JP" dirty="0"/>
              <a:t>    rep(1, 5), rep(0, 5)     # </a:t>
            </a:r>
            <a:r>
              <a:rPr lang="ja-JP" altLang="en-US" dirty="0"/>
              <a:t>重度</a:t>
            </a:r>
            <a:r>
              <a:rPr lang="en-US" altLang="ja-JP" dirty="0"/>
              <a:t>: </a:t>
            </a:r>
            <a:r>
              <a:rPr lang="ja-JP" altLang="en-US" dirty="0"/>
              <a:t>非投与群 </a:t>
            </a:r>
            <a:r>
              <a:rPr lang="en-US" altLang="ja-JP" dirty="0"/>
              <a:t>(</a:t>
            </a:r>
            <a:r>
              <a:rPr lang="ja-JP" altLang="en-US" dirty="0"/>
              <a:t>改善</a:t>
            </a:r>
            <a:r>
              <a:rPr lang="en-US" altLang="ja-JP" dirty="0"/>
              <a:t>5, </a:t>
            </a:r>
            <a:r>
              <a:rPr lang="ja-JP" altLang="en-US" dirty="0"/>
              <a:t>非改善</a:t>
            </a:r>
            <a:r>
              <a:rPr lang="en-US" altLang="ja-JP" dirty="0"/>
              <a:t>5)</a:t>
            </a:r>
          </a:p>
          <a:p>
            <a:r>
              <a:rPr lang="en-US" altLang="ja-JP" dirty="0"/>
              <a:t>  )</a:t>
            </a:r>
          </a:p>
          <a:p>
            <a:r>
              <a:rPr lang="en-US" altLang="ja-JP" dirty="0"/>
              <a:t>)</a:t>
            </a:r>
            <a:endParaRPr lang="ja-JP" altLang="en-US" dirty="0"/>
          </a:p>
        </p:txBody>
      </p:sp>
      <p:sp>
        <p:nvSpPr>
          <p:cNvPr id="4" name="スライド番号プレースホルダー 3">
            <a:extLst>
              <a:ext uri="{FF2B5EF4-FFF2-40B4-BE49-F238E27FC236}">
                <a16:creationId xmlns:a16="http://schemas.microsoft.com/office/drawing/2014/main" id="{05FB7882-7A62-9946-307C-DB21DD1055B1}"/>
              </a:ext>
            </a:extLst>
          </p:cNvPr>
          <p:cNvSpPr>
            <a:spLocks noGrp="1"/>
          </p:cNvSpPr>
          <p:nvPr>
            <p:ph type="sldNum" sz="quarter" idx="11"/>
          </p:nvPr>
        </p:nvSpPr>
        <p:spPr/>
        <p:txBody>
          <a:bodyPr/>
          <a:lstStyle/>
          <a:p>
            <a:fld id="{23B20E4E-3F95-4221-AFE5-FD1FD9CC3448}" type="slidenum">
              <a:rPr lang="en-US" altLang="ja-JP" smtClean="0"/>
              <a:pPr/>
              <a:t>14</a:t>
            </a:fld>
            <a:endParaRPr lang="en-US" altLang="ja-JP"/>
          </a:p>
        </p:txBody>
      </p:sp>
      <p:pic>
        <p:nvPicPr>
          <p:cNvPr id="5" name="図 4" descr="ロゴ&#10;&#10;自動的に生成された説明">
            <a:extLst>
              <a:ext uri="{FF2B5EF4-FFF2-40B4-BE49-F238E27FC236}">
                <a16:creationId xmlns:a16="http://schemas.microsoft.com/office/drawing/2014/main" id="{0862146D-15A7-5C71-4625-B12640B2C1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6" name="正方形/長方形 5">
            <a:extLst>
              <a:ext uri="{FF2B5EF4-FFF2-40B4-BE49-F238E27FC236}">
                <a16:creationId xmlns:a16="http://schemas.microsoft.com/office/drawing/2014/main" id="{7C83061B-FDCC-916D-8D4F-85434D75ADC2}"/>
              </a:ext>
            </a:extLst>
          </p:cNvPr>
          <p:cNvSpPr/>
          <p:nvPr/>
        </p:nvSpPr>
        <p:spPr>
          <a:xfrm>
            <a:off x="509087" y="2060848"/>
            <a:ext cx="9619361" cy="3693203"/>
          </a:xfrm>
          <a:prstGeom prst="rect">
            <a:avLst/>
          </a:prstGeom>
          <a:noFill/>
          <a:ln w="50800">
            <a:solidFill>
              <a:schemeClr val="bg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四角形 10">
            <a:extLst>
              <a:ext uri="{FF2B5EF4-FFF2-40B4-BE49-F238E27FC236}">
                <a16:creationId xmlns:a16="http://schemas.microsoft.com/office/drawing/2014/main" id="{9127F4BC-1F10-8B3C-17F4-0C73A698420F}"/>
              </a:ext>
            </a:extLst>
          </p:cNvPr>
          <p:cNvSpPr/>
          <p:nvPr/>
        </p:nvSpPr>
        <p:spPr>
          <a:xfrm>
            <a:off x="4871864" y="5920605"/>
            <a:ext cx="4752528" cy="532731"/>
          </a:xfrm>
          <a:prstGeom prst="wedgeRectCallout">
            <a:avLst>
              <a:gd name="adj1" fmla="val -27923"/>
              <a:gd name="adj2" fmla="val -9122"/>
            </a:avLst>
          </a:prstGeom>
          <a:solidFill>
            <a:schemeClr val="bg1"/>
          </a:solidFill>
          <a:ln w="3810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④：軽度層にて</a:t>
            </a:r>
            <a:r>
              <a:rPr lang="en-US" altLang="ja-JP" sz="2000" b="1" dirty="0">
                <a:solidFill>
                  <a:schemeClr val="tx1"/>
                </a:solidFill>
                <a:latin typeface="Meiryo" panose="020B0604030504040204" pitchFamily="50" charset="-128"/>
                <a:ea typeface="Meiryo" panose="020B0604030504040204" pitchFamily="50" charset="-128"/>
              </a:rPr>
              <a:t>, </a:t>
            </a:r>
            <a:r>
              <a:rPr lang="ja-JP" altLang="en-US" sz="2000" b="1" dirty="0">
                <a:solidFill>
                  <a:schemeClr val="tx1"/>
                </a:solidFill>
                <a:latin typeface="Meiryo" panose="020B0604030504040204" pitchFamily="50" charset="-128"/>
                <a:ea typeface="Meiryo" panose="020B0604030504040204" pitchFamily="50" charset="-128"/>
              </a:rPr>
              <a:t>改善が</a:t>
            </a:r>
            <a:r>
              <a:rPr lang="en-US" altLang="ja-JP" sz="2000" b="1" dirty="0">
                <a:solidFill>
                  <a:schemeClr val="tx1"/>
                </a:solidFill>
                <a:latin typeface="Meiryo" panose="020B0604030504040204" pitchFamily="50" charset="-128"/>
                <a:ea typeface="Meiryo" panose="020B0604030504040204" pitchFamily="50" charset="-128"/>
              </a:rPr>
              <a:t>2,</a:t>
            </a:r>
            <a:r>
              <a:rPr lang="ja-JP" altLang="en-US" sz="2000" b="1" dirty="0">
                <a:solidFill>
                  <a:schemeClr val="tx1"/>
                </a:solidFill>
                <a:latin typeface="Meiryo" panose="020B0604030504040204" pitchFamily="50" charset="-128"/>
                <a:ea typeface="Meiryo" panose="020B0604030504040204" pitchFamily="50" charset="-128"/>
              </a:rPr>
              <a:t> 非改善が</a:t>
            </a:r>
            <a:r>
              <a:rPr lang="en-US" altLang="ja-JP" sz="2000" b="1" dirty="0">
                <a:solidFill>
                  <a:schemeClr val="tx1"/>
                </a:solidFill>
                <a:latin typeface="Meiryo" panose="020B0604030504040204" pitchFamily="50" charset="-128"/>
                <a:ea typeface="Meiryo" panose="020B0604030504040204" pitchFamily="50" charset="-128"/>
              </a:rPr>
              <a:t>8…</a:t>
            </a:r>
          </a:p>
        </p:txBody>
      </p:sp>
    </p:spTree>
    <p:extLst>
      <p:ext uri="{BB962C8B-B14F-4D97-AF65-F5344CB8AC3E}">
        <p14:creationId xmlns:p14="http://schemas.microsoft.com/office/powerpoint/2010/main" val="1673241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A7A2-2BAE-68D4-CDA7-ABCB4228B0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38F2AB-E9B4-31DC-07CE-CC025F7754F7}"/>
              </a:ext>
            </a:extLst>
          </p:cNvPr>
          <p:cNvSpPr>
            <a:spLocks noGrp="1"/>
          </p:cNvSpPr>
          <p:nvPr>
            <p:ph type="title"/>
          </p:nvPr>
        </p:nvSpPr>
        <p:spPr/>
        <p:txBody>
          <a:bodyPr/>
          <a:lstStyle/>
          <a:p>
            <a:r>
              <a:rPr lang="en-US" altLang="ja-JP" dirty="0"/>
              <a:t>R</a:t>
            </a:r>
            <a:r>
              <a:rPr lang="ja-JP" altLang="en-US" dirty="0"/>
              <a:t>による実装例</a:t>
            </a:r>
            <a:r>
              <a:rPr lang="en-US" altLang="ja-JP" dirty="0"/>
              <a:t>(</a:t>
            </a:r>
            <a:r>
              <a:rPr lang="ja-JP" altLang="en-US" dirty="0"/>
              <a:t>作成データの可視化</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618229F9-B103-C53C-AE26-6F14F52954F2}"/>
              </a:ext>
            </a:extLst>
          </p:cNvPr>
          <p:cNvSpPr>
            <a:spLocks noGrp="1"/>
          </p:cNvSpPr>
          <p:nvPr>
            <p:ph idx="1"/>
          </p:nvPr>
        </p:nvSpPr>
        <p:spPr/>
        <p:txBody>
          <a:bodyPr/>
          <a:lstStyle/>
          <a:p>
            <a:r>
              <a:rPr lang="en-US" altLang="ja-JP" dirty="0"/>
              <a:t>head(dat, n = 20) </a:t>
            </a:r>
            <a:endParaRPr lang="ja-JP" altLang="en-US" dirty="0"/>
          </a:p>
        </p:txBody>
      </p:sp>
      <p:sp>
        <p:nvSpPr>
          <p:cNvPr id="4" name="スライド番号プレースホルダー 3">
            <a:extLst>
              <a:ext uri="{FF2B5EF4-FFF2-40B4-BE49-F238E27FC236}">
                <a16:creationId xmlns:a16="http://schemas.microsoft.com/office/drawing/2014/main" id="{A7C8E4C2-BFD0-8000-467E-4D990A23F637}"/>
              </a:ext>
            </a:extLst>
          </p:cNvPr>
          <p:cNvSpPr>
            <a:spLocks noGrp="1"/>
          </p:cNvSpPr>
          <p:nvPr>
            <p:ph type="sldNum" sz="quarter" idx="11"/>
          </p:nvPr>
        </p:nvSpPr>
        <p:spPr/>
        <p:txBody>
          <a:bodyPr/>
          <a:lstStyle/>
          <a:p>
            <a:fld id="{23B20E4E-3F95-4221-AFE5-FD1FD9CC3448}" type="slidenum">
              <a:rPr lang="en-US" altLang="ja-JP" smtClean="0"/>
              <a:pPr/>
              <a:t>15</a:t>
            </a:fld>
            <a:endParaRPr lang="en-US" altLang="ja-JP"/>
          </a:p>
        </p:txBody>
      </p:sp>
      <p:pic>
        <p:nvPicPr>
          <p:cNvPr id="5" name="図 4" descr="ロゴ&#10;&#10;自動的に生成された説明">
            <a:extLst>
              <a:ext uri="{FF2B5EF4-FFF2-40B4-BE49-F238E27FC236}">
                <a16:creationId xmlns:a16="http://schemas.microsoft.com/office/drawing/2014/main" id="{A2ED392A-7AF2-EA97-099D-E66867C613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7" name="吹き出し: 四角形 6">
            <a:extLst>
              <a:ext uri="{FF2B5EF4-FFF2-40B4-BE49-F238E27FC236}">
                <a16:creationId xmlns:a16="http://schemas.microsoft.com/office/drawing/2014/main" id="{B8208950-BA00-DB64-E30F-1EA3B26B41A2}"/>
              </a:ext>
            </a:extLst>
          </p:cNvPr>
          <p:cNvSpPr/>
          <p:nvPr/>
        </p:nvSpPr>
        <p:spPr>
          <a:xfrm>
            <a:off x="3215680" y="1268760"/>
            <a:ext cx="2625359" cy="432048"/>
          </a:xfrm>
          <a:prstGeom prst="wedgeRectCallout">
            <a:avLst>
              <a:gd name="adj1" fmla="val -27923"/>
              <a:gd name="adj2" fmla="val -9122"/>
            </a:avLst>
          </a:prstGeom>
          <a:solidFill>
            <a:schemeClr val="bg1"/>
          </a:solidFill>
          <a:ln w="3810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最初の</a:t>
            </a:r>
            <a:r>
              <a:rPr lang="en-US" altLang="ja-JP" sz="2000" b="1" dirty="0">
                <a:solidFill>
                  <a:schemeClr val="tx1"/>
                </a:solidFill>
                <a:latin typeface="Meiryo" panose="020B0604030504040204" pitchFamily="50" charset="-128"/>
                <a:ea typeface="Meiryo" panose="020B0604030504040204" pitchFamily="50" charset="-128"/>
              </a:rPr>
              <a:t>20</a:t>
            </a:r>
            <a:r>
              <a:rPr lang="ja-JP" altLang="en-US" sz="2000" b="1" dirty="0">
                <a:solidFill>
                  <a:schemeClr val="tx1"/>
                </a:solidFill>
                <a:latin typeface="Meiryo" panose="020B0604030504040204" pitchFamily="50" charset="-128"/>
                <a:ea typeface="Meiryo" panose="020B0604030504040204" pitchFamily="50" charset="-128"/>
              </a:rPr>
              <a:t>行を可視化</a:t>
            </a:r>
            <a:endParaRPr lang="en-US" altLang="ja-JP" sz="2000" b="1" dirty="0">
              <a:solidFill>
                <a:schemeClr val="tx1"/>
              </a:solidFill>
              <a:latin typeface="Meiryo" panose="020B0604030504040204" pitchFamily="50" charset="-128"/>
              <a:ea typeface="Meiryo" panose="020B0604030504040204" pitchFamily="50" charset="-128"/>
            </a:endParaRPr>
          </a:p>
        </p:txBody>
      </p:sp>
      <p:pic>
        <p:nvPicPr>
          <p:cNvPr id="9" name="図 8">
            <a:extLst>
              <a:ext uri="{FF2B5EF4-FFF2-40B4-BE49-F238E27FC236}">
                <a16:creationId xmlns:a16="http://schemas.microsoft.com/office/drawing/2014/main" id="{6E27C466-3E40-E9B6-E535-A242702871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7" y="2005608"/>
            <a:ext cx="7571865" cy="3420000"/>
          </a:xfrm>
          <a:prstGeom prst="rect">
            <a:avLst/>
          </a:prstGeom>
        </p:spPr>
      </p:pic>
      <p:pic>
        <p:nvPicPr>
          <p:cNvPr id="11" name="図 10">
            <a:extLst>
              <a:ext uri="{FF2B5EF4-FFF2-40B4-BE49-F238E27FC236}">
                <a16:creationId xmlns:a16="http://schemas.microsoft.com/office/drawing/2014/main" id="{30F10336-E00B-E696-F8AC-428E39A2B2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60200" y="1844824"/>
            <a:ext cx="2437769" cy="4248000"/>
          </a:xfrm>
          <a:prstGeom prst="rect">
            <a:avLst/>
          </a:prstGeom>
        </p:spPr>
      </p:pic>
    </p:spTree>
    <p:extLst>
      <p:ext uri="{BB962C8B-B14F-4D97-AF65-F5344CB8AC3E}">
        <p14:creationId xmlns:p14="http://schemas.microsoft.com/office/powerpoint/2010/main" val="711968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4908F-F47F-7D0A-DE4A-D05CCEE673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4A914E-E244-5AC4-0946-A3F280ED028B}"/>
              </a:ext>
            </a:extLst>
          </p:cNvPr>
          <p:cNvSpPr>
            <a:spLocks noGrp="1"/>
          </p:cNvSpPr>
          <p:nvPr>
            <p:ph type="title"/>
          </p:nvPr>
        </p:nvSpPr>
        <p:spPr/>
        <p:txBody>
          <a:bodyPr/>
          <a:lstStyle/>
          <a:p>
            <a:r>
              <a:rPr kumimoji="1" lang="en-US" altLang="ja-JP" dirty="0"/>
              <a:t>R</a:t>
            </a:r>
            <a:r>
              <a:rPr kumimoji="1" lang="ja-JP" altLang="en-US" dirty="0"/>
              <a:t>による実装例</a:t>
            </a:r>
          </a:p>
        </p:txBody>
      </p:sp>
      <p:sp>
        <p:nvSpPr>
          <p:cNvPr id="3" name="コンテンツ プレースホルダー 2">
            <a:extLst>
              <a:ext uri="{FF2B5EF4-FFF2-40B4-BE49-F238E27FC236}">
                <a16:creationId xmlns:a16="http://schemas.microsoft.com/office/drawing/2014/main" id="{A6DE608C-7A53-E5A6-771E-22FC43583435}"/>
              </a:ext>
            </a:extLst>
          </p:cNvPr>
          <p:cNvSpPr>
            <a:spLocks noGrp="1"/>
          </p:cNvSpPr>
          <p:nvPr>
            <p:ph idx="1"/>
          </p:nvPr>
        </p:nvSpPr>
        <p:spPr>
          <a:xfrm>
            <a:off x="510116" y="1628800"/>
            <a:ext cx="11171767" cy="3788249"/>
          </a:xfrm>
        </p:spPr>
        <p:txBody>
          <a:bodyPr/>
          <a:lstStyle/>
          <a:p>
            <a:r>
              <a:rPr kumimoji="1" lang="en-US" altLang="ja-JP" dirty="0"/>
              <a:t># </a:t>
            </a:r>
            <a:r>
              <a:rPr kumimoji="1" lang="ja-JP" altLang="en-US" dirty="0"/>
              <a:t>ロジスティック回帰</a:t>
            </a:r>
            <a:r>
              <a:rPr lang="ja-JP" altLang="en-US" dirty="0"/>
              <a:t>による改善率の出力</a:t>
            </a:r>
            <a:endParaRPr lang="en-US" altLang="ja-JP" dirty="0"/>
          </a:p>
          <a:p>
            <a:endParaRPr kumimoji="1" lang="ja-JP" altLang="en-US" dirty="0"/>
          </a:p>
          <a:p>
            <a:r>
              <a:rPr kumimoji="1" lang="en-US" altLang="ja-JP" dirty="0"/>
              <a:t>fit &lt;- </a:t>
            </a:r>
            <a:r>
              <a:rPr kumimoji="1" lang="en-US" altLang="ja-JP" dirty="0" err="1"/>
              <a:t>glm</a:t>
            </a:r>
            <a:r>
              <a:rPr kumimoji="1" lang="en-US" altLang="ja-JP" dirty="0"/>
              <a:t>(outcome ~ treat + stratum, family = binomial, data = dat)</a:t>
            </a:r>
          </a:p>
          <a:p>
            <a:endParaRPr kumimoji="1" lang="en-US" altLang="ja-JP" dirty="0"/>
          </a:p>
          <a:p>
            <a:endParaRPr kumimoji="1" lang="en-US" altLang="ja-JP" dirty="0"/>
          </a:p>
          <a:p>
            <a:r>
              <a:rPr kumimoji="1" lang="en-US" altLang="ja-JP" dirty="0"/>
              <a:t>predict(fit, </a:t>
            </a:r>
            <a:r>
              <a:rPr kumimoji="1" lang="en-US" altLang="ja-JP" dirty="0" err="1"/>
              <a:t>data.frame</a:t>
            </a:r>
            <a:r>
              <a:rPr kumimoji="1" lang="en-US" altLang="ja-JP" dirty="0"/>
              <a:t>(stratum = "</a:t>
            </a:r>
            <a:r>
              <a:rPr lang="ja-JP" altLang="en-US" dirty="0"/>
              <a:t>軽度</a:t>
            </a:r>
            <a:r>
              <a:rPr kumimoji="1" lang="en-US" altLang="ja-JP" dirty="0"/>
              <a:t>", treat = 1), type = "response")</a:t>
            </a:r>
          </a:p>
          <a:p>
            <a:endParaRPr lang="ja-JP" altLang="en-US" dirty="0"/>
          </a:p>
        </p:txBody>
      </p:sp>
      <p:sp>
        <p:nvSpPr>
          <p:cNvPr id="4" name="スライド番号プレースホルダー 3">
            <a:extLst>
              <a:ext uri="{FF2B5EF4-FFF2-40B4-BE49-F238E27FC236}">
                <a16:creationId xmlns:a16="http://schemas.microsoft.com/office/drawing/2014/main" id="{D2C1C136-1D4C-6380-10A4-A16F9927F9AE}"/>
              </a:ext>
            </a:extLst>
          </p:cNvPr>
          <p:cNvSpPr>
            <a:spLocks noGrp="1"/>
          </p:cNvSpPr>
          <p:nvPr>
            <p:ph type="sldNum" sz="quarter" idx="11"/>
          </p:nvPr>
        </p:nvSpPr>
        <p:spPr/>
        <p:txBody>
          <a:bodyPr/>
          <a:lstStyle/>
          <a:p>
            <a:fld id="{23B20E4E-3F95-4221-AFE5-FD1FD9CC3448}" type="slidenum">
              <a:rPr lang="en-US" altLang="ja-JP" smtClean="0"/>
              <a:pPr/>
              <a:t>16</a:t>
            </a:fld>
            <a:endParaRPr lang="en-US" altLang="ja-JP"/>
          </a:p>
        </p:txBody>
      </p:sp>
      <p:pic>
        <p:nvPicPr>
          <p:cNvPr id="5" name="図 4" descr="ロゴ&#10;&#10;自動的に生成された説明">
            <a:extLst>
              <a:ext uri="{FF2B5EF4-FFF2-40B4-BE49-F238E27FC236}">
                <a16:creationId xmlns:a16="http://schemas.microsoft.com/office/drawing/2014/main" id="{9782E5BB-5573-5472-81E4-9085CB6542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7" name="正方形/長方形 6">
            <a:extLst>
              <a:ext uri="{FF2B5EF4-FFF2-40B4-BE49-F238E27FC236}">
                <a16:creationId xmlns:a16="http://schemas.microsoft.com/office/drawing/2014/main" id="{01F3C57F-9AF4-C095-6BE4-01AA1665FEC0}"/>
              </a:ext>
            </a:extLst>
          </p:cNvPr>
          <p:cNvSpPr/>
          <p:nvPr/>
        </p:nvSpPr>
        <p:spPr>
          <a:xfrm>
            <a:off x="510112" y="2648591"/>
            <a:ext cx="10122389" cy="613945"/>
          </a:xfrm>
          <a:prstGeom prst="rect">
            <a:avLst/>
          </a:prstGeom>
          <a:noFill/>
          <a:ln w="50800">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四角形 7">
            <a:extLst>
              <a:ext uri="{FF2B5EF4-FFF2-40B4-BE49-F238E27FC236}">
                <a16:creationId xmlns:a16="http://schemas.microsoft.com/office/drawing/2014/main" id="{BDC33776-C740-DDAF-236D-0D5640CC76AD}"/>
              </a:ext>
            </a:extLst>
          </p:cNvPr>
          <p:cNvSpPr/>
          <p:nvPr/>
        </p:nvSpPr>
        <p:spPr>
          <a:xfrm>
            <a:off x="4079774" y="3381192"/>
            <a:ext cx="5464615" cy="407848"/>
          </a:xfrm>
          <a:prstGeom prst="wedgeRectCallout">
            <a:avLst>
              <a:gd name="adj1" fmla="val -27923"/>
              <a:gd name="adj2" fmla="val -9122"/>
            </a:avLst>
          </a:prstGeom>
          <a:solidFill>
            <a:schemeClr val="bg1"/>
          </a:solid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①：</a:t>
            </a:r>
            <a:r>
              <a:rPr lang="en-US" altLang="ja-JP" sz="2000" b="1" dirty="0">
                <a:solidFill>
                  <a:schemeClr val="tx1"/>
                </a:solidFill>
                <a:latin typeface="Meiryo" panose="020B0604030504040204" pitchFamily="50" charset="-128"/>
                <a:ea typeface="Meiryo" panose="020B0604030504040204" pitchFamily="50" charset="-128"/>
              </a:rPr>
              <a:t>treat</a:t>
            </a:r>
            <a:r>
              <a:rPr lang="ja-JP" altLang="en-US" sz="2000" b="1" dirty="0">
                <a:solidFill>
                  <a:schemeClr val="tx1"/>
                </a:solidFill>
                <a:latin typeface="Meiryo" panose="020B0604030504040204" pitchFamily="50" charset="-128"/>
                <a:ea typeface="Meiryo" panose="020B0604030504040204" pitchFamily="50" charset="-128"/>
              </a:rPr>
              <a:t>と</a:t>
            </a:r>
            <a:r>
              <a:rPr lang="en-US" altLang="ja-JP" sz="2000" b="1" dirty="0">
                <a:solidFill>
                  <a:schemeClr val="tx1"/>
                </a:solidFill>
                <a:latin typeface="Meiryo" panose="020B0604030504040204" pitchFamily="50" charset="-128"/>
                <a:ea typeface="Meiryo" panose="020B0604030504040204" pitchFamily="50" charset="-128"/>
              </a:rPr>
              <a:t>stratum</a:t>
            </a:r>
            <a:r>
              <a:rPr lang="ja-JP" altLang="en-US" sz="2000" b="1" dirty="0">
                <a:solidFill>
                  <a:schemeClr val="tx1"/>
                </a:solidFill>
                <a:latin typeface="Meiryo" panose="020B0604030504040204" pitchFamily="50" charset="-128"/>
                <a:ea typeface="Meiryo" panose="020B0604030504040204" pitchFamily="50" charset="-128"/>
              </a:rPr>
              <a:t>を説明変数としたモデル</a:t>
            </a:r>
            <a:endParaRPr lang="en-US" altLang="ja-JP" sz="2000" b="1" dirty="0">
              <a:solidFill>
                <a:schemeClr val="tx1"/>
              </a:solidFill>
              <a:latin typeface="Meiryo" panose="020B0604030504040204" pitchFamily="50" charset="-128"/>
              <a:ea typeface="Meiryo" panose="020B0604030504040204" pitchFamily="50" charset="-128"/>
            </a:endParaRPr>
          </a:p>
        </p:txBody>
      </p:sp>
      <p:sp>
        <p:nvSpPr>
          <p:cNvPr id="9" name="正方形/長方形 8">
            <a:extLst>
              <a:ext uri="{FF2B5EF4-FFF2-40B4-BE49-F238E27FC236}">
                <a16:creationId xmlns:a16="http://schemas.microsoft.com/office/drawing/2014/main" id="{35F0E06F-5A71-31C6-57A9-C72B3DA7444E}"/>
              </a:ext>
            </a:extLst>
          </p:cNvPr>
          <p:cNvSpPr/>
          <p:nvPr/>
        </p:nvSpPr>
        <p:spPr>
          <a:xfrm>
            <a:off x="510112" y="4145651"/>
            <a:ext cx="10698454" cy="701061"/>
          </a:xfrm>
          <a:prstGeom prst="rect">
            <a:avLst/>
          </a:prstGeom>
          <a:noFill/>
          <a:ln w="508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吹き出し: 四角形 9">
            <a:extLst>
              <a:ext uri="{FF2B5EF4-FFF2-40B4-BE49-F238E27FC236}">
                <a16:creationId xmlns:a16="http://schemas.microsoft.com/office/drawing/2014/main" id="{B1B0E772-B0FF-AA25-0880-EC0851A54E40}"/>
              </a:ext>
            </a:extLst>
          </p:cNvPr>
          <p:cNvSpPr/>
          <p:nvPr/>
        </p:nvSpPr>
        <p:spPr>
          <a:xfrm>
            <a:off x="1564120" y="4985001"/>
            <a:ext cx="6692120" cy="748255"/>
          </a:xfrm>
          <a:prstGeom prst="wedgeRectCallout">
            <a:avLst>
              <a:gd name="adj1" fmla="val -27923"/>
              <a:gd name="adj2" fmla="val -9122"/>
            </a:avLst>
          </a:prstGeom>
          <a:solidFill>
            <a:schemeClr val="bg1"/>
          </a:solid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②：軽度層における投与群</a:t>
            </a:r>
            <a:r>
              <a:rPr lang="en-US" altLang="ja-JP" sz="2000" b="1" dirty="0">
                <a:solidFill>
                  <a:schemeClr val="tx1"/>
                </a:solidFill>
                <a:latin typeface="Meiryo" panose="020B0604030504040204" pitchFamily="50" charset="-128"/>
                <a:ea typeface="Meiryo" panose="020B0604030504040204" pitchFamily="50" charset="-128"/>
              </a:rPr>
              <a:t>(treat=1)</a:t>
            </a:r>
            <a:r>
              <a:rPr lang="ja-JP" altLang="en-US" sz="2000" b="1" dirty="0">
                <a:solidFill>
                  <a:schemeClr val="tx1"/>
                </a:solidFill>
                <a:latin typeface="Meiryo" panose="020B0604030504040204" pitchFamily="50" charset="-128"/>
                <a:ea typeface="Meiryo" panose="020B0604030504040204" pitchFamily="50" charset="-128"/>
              </a:rPr>
              <a:t>の</a:t>
            </a:r>
            <a:r>
              <a:rPr lang="en-US" altLang="ja-JP" sz="2000" b="1" dirty="0">
                <a:solidFill>
                  <a:schemeClr val="tx1"/>
                </a:solidFill>
                <a:latin typeface="Meiryo" panose="020B0604030504040204" pitchFamily="50" charset="-128"/>
                <a:ea typeface="Meiryo" panose="020B0604030504040204" pitchFamily="50" charset="-128"/>
              </a:rPr>
              <a:t>predict</a:t>
            </a:r>
            <a:r>
              <a:rPr lang="ja-JP" altLang="en-US" sz="2000" b="1" dirty="0">
                <a:solidFill>
                  <a:schemeClr val="tx1"/>
                </a:solidFill>
                <a:latin typeface="Meiryo" panose="020B0604030504040204" pitchFamily="50" charset="-128"/>
                <a:ea typeface="Meiryo" panose="020B0604030504040204" pitchFamily="50" charset="-128"/>
              </a:rPr>
              <a:t>を算出</a:t>
            </a:r>
            <a:r>
              <a:rPr lang="en-US" altLang="ja-JP" sz="2000" b="1" dirty="0">
                <a:solidFill>
                  <a:schemeClr val="tx1"/>
                </a:solidFill>
                <a:latin typeface="Meiryo" panose="020B0604030504040204" pitchFamily="50" charset="-128"/>
                <a:ea typeface="Meiryo" panose="020B0604030504040204" pitchFamily="50" charset="-128"/>
              </a:rPr>
              <a:t>. </a:t>
            </a:r>
          </a:p>
          <a:p>
            <a:r>
              <a:rPr lang="en-US" altLang="ja-JP" sz="2000" b="1" dirty="0">
                <a:solidFill>
                  <a:schemeClr val="tx1"/>
                </a:solidFill>
                <a:latin typeface="Meiryo" panose="020B0604030504040204" pitchFamily="50" charset="-128"/>
                <a:ea typeface="Meiryo" panose="020B0604030504040204" pitchFamily="50" charset="-128"/>
              </a:rPr>
              <a:t>treat=0</a:t>
            </a:r>
            <a:r>
              <a:rPr lang="ja-JP" altLang="en-US" sz="2000" b="1" dirty="0">
                <a:solidFill>
                  <a:schemeClr val="tx1"/>
                </a:solidFill>
                <a:latin typeface="Meiryo" panose="020B0604030504040204" pitchFamily="50" charset="-128"/>
                <a:ea typeface="Meiryo" panose="020B0604030504040204" pitchFamily="50" charset="-128"/>
              </a:rPr>
              <a:t>との差を取り</a:t>
            </a:r>
            <a:r>
              <a:rPr lang="en-US" altLang="ja-JP" sz="2000" b="1" dirty="0">
                <a:solidFill>
                  <a:schemeClr val="tx1"/>
                </a:solidFill>
                <a:latin typeface="Meiryo" panose="020B0604030504040204" pitchFamily="50" charset="-128"/>
                <a:ea typeface="Meiryo" panose="020B0604030504040204" pitchFamily="50" charset="-128"/>
              </a:rPr>
              <a:t>, </a:t>
            </a:r>
            <a:r>
              <a:rPr lang="ja-JP" altLang="en-US" sz="2000" b="1" dirty="0">
                <a:solidFill>
                  <a:schemeClr val="tx1"/>
                </a:solidFill>
                <a:latin typeface="Meiryo" panose="020B0604030504040204" pitchFamily="50" charset="-128"/>
                <a:ea typeface="Meiryo" panose="020B0604030504040204" pitchFamily="50" charset="-128"/>
              </a:rPr>
              <a:t>平均因果効果を算出</a:t>
            </a:r>
            <a:endParaRPr lang="en-US" altLang="ja-JP" sz="2000" b="1" dirty="0">
              <a:solidFill>
                <a:schemeClr val="tx1"/>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40957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A9C41-1CE8-42CE-6449-17600CD7FE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50975F-0B7A-5E39-7A59-0FB1EE41B637}"/>
              </a:ext>
            </a:extLst>
          </p:cNvPr>
          <p:cNvSpPr>
            <a:spLocks noGrp="1"/>
          </p:cNvSpPr>
          <p:nvPr>
            <p:ph type="title"/>
          </p:nvPr>
        </p:nvSpPr>
        <p:spPr/>
        <p:txBody>
          <a:bodyPr/>
          <a:lstStyle/>
          <a:p>
            <a:r>
              <a:rPr kumimoji="1" lang="en-US" altLang="ja-JP" dirty="0"/>
              <a:t>R</a:t>
            </a:r>
            <a:r>
              <a:rPr kumimoji="1" lang="ja-JP" altLang="en-US" dirty="0"/>
              <a:t>による実装例</a:t>
            </a:r>
          </a:p>
        </p:txBody>
      </p:sp>
      <p:sp>
        <p:nvSpPr>
          <p:cNvPr id="3" name="コンテンツ プレースホルダー 2">
            <a:extLst>
              <a:ext uri="{FF2B5EF4-FFF2-40B4-BE49-F238E27FC236}">
                <a16:creationId xmlns:a16="http://schemas.microsoft.com/office/drawing/2014/main" id="{064AE9D1-6D8D-13EC-2AC9-580B0976DF86}"/>
              </a:ext>
            </a:extLst>
          </p:cNvPr>
          <p:cNvSpPr>
            <a:spLocks noGrp="1"/>
          </p:cNvSpPr>
          <p:nvPr>
            <p:ph idx="1"/>
          </p:nvPr>
        </p:nvSpPr>
        <p:spPr>
          <a:xfrm>
            <a:off x="510118" y="1219200"/>
            <a:ext cx="11171767" cy="1705744"/>
          </a:xfrm>
        </p:spPr>
        <p:txBody>
          <a:bodyPr/>
          <a:lstStyle/>
          <a:p>
            <a:r>
              <a:rPr kumimoji="1" lang="en-US" altLang="ja-JP" dirty="0"/>
              <a:t># </a:t>
            </a:r>
            <a:r>
              <a:rPr kumimoji="1" lang="ja-JP" altLang="en-US" dirty="0"/>
              <a:t>ロジスティック回帰</a:t>
            </a:r>
            <a:r>
              <a:rPr lang="ja-JP" altLang="en-US" dirty="0"/>
              <a:t>による改善率の出力</a:t>
            </a:r>
            <a:endParaRPr kumimoji="1" lang="ja-JP" altLang="en-US" dirty="0"/>
          </a:p>
          <a:p>
            <a:r>
              <a:rPr kumimoji="1" lang="en-US" altLang="ja-JP" dirty="0"/>
              <a:t>fit &lt;- </a:t>
            </a:r>
            <a:r>
              <a:rPr kumimoji="1" lang="en-US" altLang="ja-JP" dirty="0" err="1"/>
              <a:t>glm</a:t>
            </a:r>
            <a:r>
              <a:rPr kumimoji="1" lang="en-US" altLang="ja-JP" dirty="0"/>
              <a:t>(outcome ~ treat + stratum, family = binomial, data = dat)</a:t>
            </a:r>
          </a:p>
          <a:p>
            <a:r>
              <a:rPr kumimoji="1" lang="en-US" altLang="ja-JP" dirty="0"/>
              <a:t>predict(fit, </a:t>
            </a:r>
            <a:r>
              <a:rPr kumimoji="1" lang="en-US" altLang="ja-JP" dirty="0" err="1"/>
              <a:t>data.frame</a:t>
            </a:r>
            <a:r>
              <a:rPr kumimoji="1" lang="en-US" altLang="ja-JP" dirty="0"/>
              <a:t>(stratum = “</a:t>
            </a:r>
            <a:r>
              <a:rPr lang="ja-JP" altLang="en-US" b="1" dirty="0">
                <a:solidFill>
                  <a:srgbClr val="0000FF"/>
                </a:solidFill>
              </a:rPr>
              <a:t>軽度</a:t>
            </a:r>
            <a:r>
              <a:rPr kumimoji="1" lang="en-US" altLang="ja-JP" dirty="0"/>
              <a:t>", treat = </a:t>
            </a:r>
            <a:r>
              <a:rPr kumimoji="1" lang="en-US" altLang="ja-JP" b="1" dirty="0">
                <a:solidFill>
                  <a:srgbClr val="0000FF"/>
                </a:solidFill>
              </a:rPr>
              <a:t>1</a:t>
            </a:r>
            <a:r>
              <a:rPr kumimoji="1" lang="en-US" altLang="ja-JP" dirty="0"/>
              <a:t>), type = "response")</a:t>
            </a:r>
          </a:p>
          <a:p>
            <a:endParaRPr lang="ja-JP" altLang="en-US" dirty="0"/>
          </a:p>
          <a:p>
            <a:endParaRPr kumimoji="1" lang="ja-JP" altLang="en-US" dirty="0"/>
          </a:p>
        </p:txBody>
      </p:sp>
      <p:sp>
        <p:nvSpPr>
          <p:cNvPr id="4" name="スライド番号プレースホルダー 3">
            <a:extLst>
              <a:ext uri="{FF2B5EF4-FFF2-40B4-BE49-F238E27FC236}">
                <a16:creationId xmlns:a16="http://schemas.microsoft.com/office/drawing/2014/main" id="{B29B3484-E7FB-BF2D-8CBE-680B6D455378}"/>
              </a:ext>
            </a:extLst>
          </p:cNvPr>
          <p:cNvSpPr>
            <a:spLocks noGrp="1"/>
          </p:cNvSpPr>
          <p:nvPr>
            <p:ph type="sldNum" sz="quarter" idx="11"/>
          </p:nvPr>
        </p:nvSpPr>
        <p:spPr/>
        <p:txBody>
          <a:bodyPr/>
          <a:lstStyle/>
          <a:p>
            <a:fld id="{23B20E4E-3F95-4221-AFE5-FD1FD9CC3448}" type="slidenum">
              <a:rPr lang="en-US" altLang="ja-JP" smtClean="0"/>
              <a:pPr/>
              <a:t>17</a:t>
            </a:fld>
            <a:endParaRPr lang="en-US" altLang="ja-JP"/>
          </a:p>
        </p:txBody>
      </p:sp>
      <p:pic>
        <p:nvPicPr>
          <p:cNvPr id="5" name="図 4" descr="ロゴ&#10;&#10;自動的に生成された説明">
            <a:extLst>
              <a:ext uri="{FF2B5EF4-FFF2-40B4-BE49-F238E27FC236}">
                <a16:creationId xmlns:a16="http://schemas.microsoft.com/office/drawing/2014/main" id="{019FE000-B6EF-A9DF-83F6-897238DC2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pic>
        <p:nvPicPr>
          <p:cNvPr id="12" name="図 11">
            <a:extLst>
              <a:ext uri="{FF2B5EF4-FFF2-40B4-BE49-F238E27FC236}">
                <a16:creationId xmlns:a16="http://schemas.microsoft.com/office/drawing/2014/main" id="{B5B7FC81-18DE-0D17-C2D7-67EEA4D40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00" y="2952353"/>
            <a:ext cx="8907209" cy="1440000"/>
          </a:xfrm>
          <a:prstGeom prst="rect">
            <a:avLst/>
          </a:prstGeom>
        </p:spPr>
      </p:pic>
      <p:graphicFrame>
        <p:nvGraphicFramePr>
          <p:cNvPr id="6" name="コンテンツ プレースホルダー 5">
            <a:extLst>
              <a:ext uri="{FF2B5EF4-FFF2-40B4-BE49-F238E27FC236}">
                <a16:creationId xmlns:a16="http://schemas.microsoft.com/office/drawing/2014/main" id="{C9F054E5-3605-A20E-B54E-1CCF97F993F6}"/>
              </a:ext>
            </a:extLst>
          </p:cNvPr>
          <p:cNvGraphicFramePr>
            <a:graphicFrameLocks/>
          </p:cNvGraphicFramePr>
          <p:nvPr>
            <p:extLst>
              <p:ext uri="{D42A27DB-BD31-4B8C-83A1-F6EECF244321}">
                <p14:modId xmlns:p14="http://schemas.microsoft.com/office/powerpoint/2010/main" val="1223207894"/>
              </p:ext>
            </p:extLst>
          </p:nvPr>
        </p:nvGraphicFramePr>
        <p:xfrm>
          <a:off x="6528048" y="3789040"/>
          <a:ext cx="4140000" cy="2286000"/>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111032801"/>
                    </a:ext>
                  </a:extLst>
                </a:gridCol>
                <a:gridCol w="1116000">
                  <a:extLst>
                    <a:ext uri="{9D8B030D-6E8A-4147-A177-3AD203B41FA5}">
                      <a16:colId xmlns:a16="http://schemas.microsoft.com/office/drawing/2014/main" val="3895570346"/>
                    </a:ext>
                  </a:extLst>
                </a:gridCol>
                <a:gridCol w="1836000">
                  <a:extLst>
                    <a:ext uri="{9D8B030D-6E8A-4147-A177-3AD203B41FA5}">
                      <a16:colId xmlns:a16="http://schemas.microsoft.com/office/drawing/2014/main" val="2975482783"/>
                    </a:ext>
                  </a:extLst>
                </a:gridCol>
              </a:tblGrid>
              <a:tr h="370840">
                <a:tc>
                  <a:txBody>
                    <a:bodyPr/>
                    <a:lstStyle/>
                    <a:p>
                      <a:pPr algn="ctr"/>
                      <a:r>
                        <a:rPr kumimoji="1" lang="en-US" altLang="ja-JP" sz="2400" dirty="0">
                          <a:solidFill>
                            <a:schemeClr val="tx1"/>
                          </a:solidFill>
                        </a:rPr>
                        <a:t>stratum</a:t>
                      </a:r>
                    </a:p>
                  </a:txBody>
                  <a:tcPr/>
                </a:tc>
                <a:tc>
                  <a:txBody>
                    <a:bodyPr/>
                    <a:lstStyle/>
                    <a:p>
                      <a:pPr algn="ctr"/>
                      <a:r>
                        <a:rPr kumimoji="1" lang="en-US" altLang="ja-JP" sz="2400" dirty="0">
                          <a:solidFill>
                            <a:schemeClr val="tx1"/>
                          </a:solidFill>
                        </a:rPr>
                        <a:t>treat</a:t>
                      </a:r>
                      <a:endParaRPr kumimoji="1" lang="ja-JP" altLang="en-US" sz="2400" dirty="0">
                        <a:solidFill>
                          <a:schemeClr val="tx1"/>
                        </a:solidFill>
                      </a:endParaRPr>
                    </a:p>
                  </a:txBody>
                  <a:tcPr anchor="ctr"/>
                </a:tc>
                <a:tc>
                  <a:txBody>
                    <a:bodyPr/>
                    <a:lstStyle/>
                    <a:p>
                      <a:pPr algn="ctr"/>
                      <a:r>
                        <a:rPr kumimoji="1" lang="en-US" altLang="ja-JP" sz="2400" dirty="0">
                          <a:solidFill>
                            <a:schemeClr val="tx1"/>
                          </a:solidFill>
                        </a:rPr>
                        <a:t>predict</a:t>
                      </a:r>
                      <a:endParaRPr kumimoji="1" lang="ja-JP" altLang="en-US" sz="2400" dirty="0">
                        <a:solidFill>
                          <a:schemeClr val="tx1"/>
                        </a:solidFill>
                      </a:endParaRPr>
                    </a:p>
                  </a:txBody>
                  <a:tcPr anchor="ctr"/>
                </a:tc>
                <a:extLst>
                  <a:ext uri="{0D108BD9-81ED-4DB2-BD59-A6C34878D82A}">
                    <a16:rowId xmlns:a16="http://schemas.microsoft.com/office/drawing/2014/main" val="1093113055"/>
                  </a:ext>
                </a:extLst>
              </a:tr>
              <a:tr h="370840">
                <a:tc>
                  <a:txBody>
                    <a:bodyPr/>
                    <a:lstStyle/>
                    <a:p>
                      <a:pPr algn="ctr"/>
                      <a:r>
                        <a:rPr lang="ja-JP" altLang="en-US" sz="2400" b="1" dirty="0">
                          <a:solidFill>
                            <a:srgbClr val="0000FF"/>
                          </a:solidFill>
                        </a:rPr>
                        <a:t>軽度</a:t>
                      </a:r>
                      <a:endParaRPr kumimoji="1" lang="ja-JP" altLang="en-US" sz="2400" b="1" dirty="0">
                        <a:solidFill>
                          <a:srgbClr val="0000FF"/>
                        </a:solidFill>
                      </a:endParaRPr>
                    </a:p>
                  </a:txBody>
                  <a:tcPr>
                    <a:noFill/>
                  </a:tcPr>
                </a:tc>
                <a:tc>
                  <a:txBody>
                    <a:bodyPr/>
                    <a:lstStyle/>
                    <a:p>
                      <a:pPr algn="ctr"/>
                      <a:r>
                        <a:rPr kumimoji="1" lang="en-US" altLang="ja-JP" sz="2400" b="1" dirty="0">
                          <a:solidFill>
                            <a:srgbClr val="0000FF"/>
                          </a:solidFill>
                        </a:rPr>
                        <a:t>1</a:t>
                      </a:r>
                      <a:endParaRPr kumimoji="1" lang="ja-JP" altLang="en-US" sz="2400" b="1" dirty="0">
                        <a:solidFill>
                          <a:srgbClr val="0000FF"/>
                        </a:solidFill>
                      </a:endParaRPr>
                    </a:p>
                  </a:txBody>
                  <a:tcPr>
                    <a:noFill/>
                  </a:tcPr>
                </a:tc>
                <a:tc>
                  <a:txBody>
                    <a:bodyPr/>
                    <a:lstStyle/>
                    <a:p>
                      <a:pPr algn="ctr"/>
                      <a:r>
                        <a:rPr kumimoji="1" lang="en-US" altLang="ja-JP" sz="2400" b="1" dirty="0">
                          <a:solidFill>
                            <a:srgbClr val="0000FF"/>
                          </a:solidFill>
                        </a:rPr>
                        <a:t>0.20</a:t>
                      </a:r>
                      <a:endParaRPr kumimoji="1" lang="ja-JP" altLang="en-US" sz="2400" b="1" dirty="0">
                        <a:solidFill>
                          <a:srgbClr val="0000FF"/>
                        </a:solidFill>
                      </a:endParaRPr>
                    </a:p>
                  </a:txBody>
                  <a:tcPr>
                    <a:noFill/>
                  </a:tcPr>
                </a:tc>
                <a:extLst>
                  <a:ext uri="{0D108BD9-81ED-4DB2-BD59-A6C34878D82A}">
                    <a16:rowId xmlns:a16="http://schemas.microsoft.com/office/drawing/2014/main" val="3827595536"/>
                  </a:ext>
                </a:extLst>
              </a:tr>
              <a:tr h="370840">
                <a:tc>
                  <a:txBody>
                    <a:bodyPr/>
                    <a:lstStyle/>
                    <a:p>
                      <a:pPr algn="ctr"/>
                      <a:r>
                        <a:rPr lang="ja-JP" altLang="en-US" sz="2400" dirty="0"/>
                        <a:t>軽度</a:t>
                      </a:r>
                      <a:endParaRPr kumimoji="1" lang="ja-JP" altLang="en-US" sz="2400" dirty="0"/>
                    </a:p>
                  </a:txBody>
                  <a:tcPr/>
                </a:tc>
                <a:tc>
                  <a:txBody>
                    <a:bodyPr/>
                    <a:lstStyle/>
                    <a:p>
                      <a:pPr algn="ctr"/>
                      <a:r>
                        <a:rPr kumimoji="1" lang="en-US" altLang="ja-JP" sz="2400" dirty="0"/>
                        <a:t>0</a:t>
                      </a:r>
                      <a:endParaRPr kumimoji="1" lang="ja-JP" altLang="en-US" sz="2400" dirty="0"/>
                    </a:p>
                  </a:txBody>
                  <a:tcPr/>
                </a:tc>
                <a:tc>
                  <a:txBody>
                    <a:bodyPr/>
                    <a:lstStyle/>
                    <a:p>
                      <a:pPr algn="ctr"/>
                      <a:r>
                        <a:rPr kumimoji="1" lang="en-US" altLang="ja-JP" sz="2400" dirty="0"/>
                        <a:t>0.20</a:t>
                      </a:r>
                      <a:endParaRPr kumimoji="1" lang="ja-JP" altLang="en-US" sz="2400" dirty="0"/>
                    </a:p>
                  </a:txBody>
                  <a:tcPr/>
                </a:tc>
                <a:extLst>
                  <a:ext uri="{0D108BD9-81ED-4DB2-BD59-A6C34878D82A}">
                    <a16:rowId xmlns:a16="http://schemas.microsoft.com/office/drawing/2014/main" val="311199509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dirty="0"/>
                        <a:t>重度</a:t>
                      </a:r>
                    </a:p>
                  </a:txBody>
                  <a:tcPr/>
                </a:tc>
                <a:tc>
                  <a:txBody>
                    <a:bodyPr/>
                    <a:lstStyle/>
                    <a:p>
                      <a:pPr algn="ctr"/>
                      <a:r>
                        <a:rPr kumimoji="1" lang="en-US" altLang="ja-JP" sz="2400" dirty="0"/>
                        <a:t>1</a:t>
                      </a:r>
                      <a:endParaRPr kumimoji="1" lang="ja-JP" altLang="en-US" sz="2400" dirty="0"/>
                    </a:p>
                  </a:txBody>
                  <a:tcPr/>
                </a:tc>
                <a:tc>
                  <a:txBody>
                    <a:bodyPr/>
                    <a:lstStyle/>
                    <a:p>
                      <a:pPr algn="ctr"/>
                      <a:r>
                        <a:rPr kumimoji="1" lang="en-US" altLang="ja-JP" sz="2400" dirty="0"/>
                        <a:t>0.50</a:t>
                      </a:r>
                      <a:endParaRPr kumimoji="1" lang="ja-JP" altLang="en-US" sz="2400" dirty="0"/>
                    </a:p>
                  </a:txBody>
                  <a:tcPr/>
                </a:tc>
                <a:extLst>
                  <a:ext uri="{0D108BD9-81ED-4DB2-BD59-A6C34878D82A}">
                    <a16:rowId xmlns:a16="http://schemas.microsoft.com/office/drawing/2014/main" val="315901814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dirty="0"/>
                        <a:t>重度</a:t>
                      </a:r>
                    </a:p>
                  </a:txBody>
                  <a:tcPr/>
                </a:tc>
                <a:tc>
                  <a:txBody>
                    <a:bodyPr/>
                    <a:lstStyle/>
                    <a:p>
                      <a:pPr algn="ctr"/>
                      <a:r>
                        <a:rPr kumimoji="1" lang="en-US" altLang="ja-JP" sz="2400" dirty="0"/>
                        <a:t>0</a:t>
                      </a:r>
                      <a:endParaRPr kumimoji="1" lang="ja-JP" altLang="en-US" sz="2400" dirty="0"/>
                    </a:p>
                  </a:txBody>
                  <a:tcPr/>
                </a:tc>
                <a:tc>
                  <a:txBody>
                    <a:bodyPr/>
                    <a:lstStyle/>
                    <a:p>
                      <a:pPr algn="ctr"/>
                      <a:r>
                        <a:rPr kumimoji="1" lang="en-US" altLang="ja-JP" sz="2400" dirty="0"/>
                        <a:t>0.50</a:t>
                      </a:r>
                      <a:endParaRPr kumimoji="1" lang="ja-JP" altLang="en-US" sz="2400" dirty="0"/>
                    </a:p>
                  </a:txBody>
                  <a:tcPr/>
                </a:tc>
                <a:extLst>
                  <a:ext uri="{0D108BD9-81ED-4DB2-BD59-A6C34878D82A}">
                    <a16:rowId xmlns:a16="http://schemas.microsoft.com/office/drawing/2014/main" val="765032928"/>
                  </a:ext>
                </a:extLst>
              </a:tr>
            </a:tbl>
          </a:graphicData>
        </a:graphic>
      </p:graphicFrame>
    </p:spTree>
    <p:extLst>
      <p:ext uri="{BB962C8B-B14F-4D97-AF65-F5344CB8AC3E}">
        <p14:creationId xmlns:p14="http://schemas.microsoft.com/office/powerpoint/2010/main" val="2787891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78C0-5187-BD5E-B8A3-93556DB125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A513D7-19B1-ACD1-7CEC-7C2D198FA7C7}"/>
              </a:ext>
            </a:extLst>
          </p:cNvPr>
          <p:cNvSpPr>
            <a:spLocks noGrp="1"/>
          </p:cNvSpPr>
          <p:nvPr>
            <p:ph type="title"/>
          </p:nvPr>
        </p:nvSpPr>
        <p:spPr/>
        <p:txBody>
          <a:bodyPr/>
          <a:lstStyle/>
          <a:p>
            <a:r>
              <a:rPr kumimoji="1" lang="en-US" altLang="ja-JP" dirty="0"/>
              <a:t>R</a:t>
            </a:r>
            <a:r>
              <a:rPr kumimoji="1" lang="ja-JP" altLang="en-US" dirty="0"/>
              <a:t>による実装例</a:t>
            </a:r>
          </a:p>
        </p:txBody>
      </p:sp>
      <p:sp>
        <p:nvSpPr>
          <p:cNvPr id="3" name="コンテンツ プレースホルダー 2">
            <a:extLst>
              <a:ext uri="{FF2B5EF4-FFF2-40B4-BE49-F238E27FC236}">
                <a16:creationId xmlns:a16="http://schemas.microsoft.com/office/drawing/2014/main" id="{5809D37B-8A71-68DD-1742-511CF26DFE65}"/>
              </a:ext>
            </a:extLst>
          </p:cNvPr>
          <p:cNvSpPr>
            <a:spLocks noGrp="1"/>
          </p:cNvSpPr>
          <p:nvPr>
            <p:ph idx="1"/>
          </p:nvPr>
        </p:nvSpPr>
        <p:spPr/>
        <p:txBody>
          <a:bodyPr/>
          <a:lstStyle/>
          <a:p>
            <a:r>
              <a:rPr kumimoji="1" lang="en-US" altLang="ja-JP" dirty="0"/>
              <a:t># </a:t>
            </a:r>
            <a:r>
              <a:rPr kumimoji="1" lang="ja-JP" altLang="en-US" dirty="0"/>
              <a:t>平均因果効果の</a:t>
            </a:r>
            <a:r>
              <a:rPr lang="ja-JP" altLang="en-US" dirty="0"/>
              <a:t>推定</a:t>
            </a:r>
            <a:endParaRPr kumimoji="1" lang="ja-JP" altLang="en-US" dirty="0"/>
          </a:p>
          <a:p>
            <a:r>
              <a:rPr kumimoji="1" lang="en-US" altLang="ja-JP" dirty="0"/>
              <a:t>library(</a:t>
            </a:r>
            <a:r>
              <a:rPr kumimoji="1" lang="en-US" altLang="ja-JP" dirty="0" err="1"/>
              <a:t>marginaleffects</a:t>
            </a:r>
            <a:r>
              <a:rPr kumimoji="1" lang="en-US" altLang="ja-JP" dirty="0"/>
              <a:t>)</a:t>
            </a:r>
          </a:p>
          <a:p>
            <a:r>
              <a:rPr kumimoji="1" lang="en-US" altLang="ja-JP" dirty="0"/>
              <a:t>avg_comparisons(fit, variables = "treat")</a:t>
            </a:r>
          </a:p>
        </p:txBody>
      </p:sp>
      <p:sp>
        <p:nvSpPr>
          <p:cNvPr id="4" name="スライド番号プレースホルダー 3">
            <a:extLst>
              <a:ext uri="{FF2B5EF4-FFF2-40B4-BE49-F238E27FC236}">
                <a16:creationId xmlns:a16="http://schemas.microsoft.com/office/drawing/2014/main" id="{38EB8B72-3A52-5599-0569-7C8A6C1808CA}"/>
              </a:ext>
            </a:extLst>
          </p:cNvPr>
          <p:cNvSpPr>
            <a:spLocks noGrp="1"/>
          </p:cNvSpPr>
          <p:nvPr>
            <p:ph type="sldNum" sz="quarter" idx="11"/>
          </p:nvPr>
        </p:nvSpPr>
        <p:spPr/>
        <p:txBody>
          <a:bodyPr/>
          <a:lstStyle/>
          <a:p>
            <a:fld id="{23B20E4E-3F95-4221-AFE5-FD1FD9CC3448}" type="slidenum">
              <a:rPr lang="en-US" altLang="ja-JP" smtClean="0"/>
              <a:pPr/>
              <a:t>18</a:t>
            </a:fld>
            <a:endParaRPr lang="en-US" altLang="ja-JP"/>
          </a:p>
        </p:txBody>
      </p:sp>
      <p:pic>
        <p:nvPicPr>
          <p:cNvPr id="5" name="図 4" descr="ロゴ&#10;&#10;自動的に生成された説明">
            <a:extLst>
              <a:ext uri="{FF2B5EF4-FFF2-40B4-BE49-F238E27FC236}">
                <a16:creationId xmlns:a16="http://schemas.microsoft.com/office/drawing/2014/main" id="{CE75D3F2-4C24-DDC0-54A8-184ADA9707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11" name="吹き出し: 四角形 10">
            <a:extLst>
              <a:ext uri="{FF2B5EF4-FFF2-40B4-BE49-F238E27FC236}">
                <a16:creationId xmlns:a16="http://schemas.microsoft.com/office/drawing/2014/main" id="{CB31708F-4238-CB77-F5E8-C4276D30E0B5}"/>
              </a:ext>
            </a:extLst>
          </p:cNvPr>
          <p:cNvSpPr/>
          <p:nvPr/>
        </p:nvSpPr>
        <p:spPr>
          <a:xfrm>
            <a:off x="4079776" y="1753455"/>
            <a:ext cx="6264696" cy="407848"/>
          </a:xfrm>
          <a:prstGeom prst="wedgeRectCallout">
            <a:avLst>
              <a:gd name="adj1" fmla="val -27923"/>
              <a:gd name="adj2" fmla="val -9122"/>
            </a:avLst>
          </a:prstGeom>
          <a:solidFill>
            <a:schemeClr val="bg1"/>
          </a:solidFill>
          <a:ln w="3810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事前準備：</a:t>
            </a:r>
            <a:r>
              <a:rPr lang="en-US" altLang="ja-JP" sz="2000" b="1" dirty="0" err="1">
                <a:solidFill>
                  <a:schemeClr val="tx1"/>
                </a:solidFill>
                <a:latin typeface="Meiryo" panose="020B0604030504040204" pitchFamily="50" charset="-128"/>
                <a:ea typeface="Meiryo" panose="020B0604030504040204" pitchFamily="50" charset="-128"/>
              </a:rPr>
              <a:t>install.packages</a:t>
            </a:r>
            <a:r>
              <a:rPr lang="en-US" altLang="ja-JP" sz="2000" b="1" dirty="0">
                <a:solidFill>
                  <a:schemeClr val="tx1"/>
                </a:solidFill>
                <a:latin typeface="Meiryo" panose="020B0604030504040204" pitchFamily="50" charset="-128"/>
                <a:ea typeface="Meiryo" panose="020B0604030504040204" pitchFamily="50" charset="-128"/>
              </a:rPr>
              <a:t>("</a:t>
            </a:r>
            <a:r>
              <a:rPr lang="en-US" altLang="ja-JP" sz="2000" b="1" dirty="0" err="1">
                <a:solidFill>
                  <a:schemeClr val="tx1"/>
                </a:solidFill>
                <a:latin typeface="Meiryo" panose="020B0604030504040204" pitchFamily="50" charset="-128"/>
                <a:ea typeface="Meiryo" panose="020B0604030504040204" pitchFamily="50" charset="-128"/>
              </a:rPr>
              <a:t>marginaleffects</a:t>
            </a:r>
            <a:r>
              <a:rPr lang="en-US" altLang="ja-JP" sz="2000" b="1" dirty="0">
                <a:solidFill>
                  <a:schemeClr val="tx1"/>
                </a:solidFill>
                <a:latin typeface="Meiryo" panose="020B0604030504040204" pitchFamily="50" charset="-128"/>
                <a:ea typeface="Meiryo" panose="020B0604030504040204" pitchFamily="50" charset="-128"/>
              </a:rPr>
              <a:t>")</a:t>
            </a:r>
          </a:p>
        </p:txBody>
      </p:sp>
      <p:pic>
        <p:nvPicPr>
          <p:cNvPr id="13" name="図 12">
            <a:extLst>
              <a:ext uri="{FF2B5EF4-FFF2-40B4-BE49-F238E27FC236}">
                <a16:creationId xmlns:a16="http://schemas.microsoft.com/office/drawing/2014/main" id="{D9CB1EBF-5A90-8CF5-726C-03C2420B86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799" y="2792368"/>
            <a:ext cx="6328736" cy="2736000"/>
          </a:xfrm>
          <a:prstGeom prst="rect">
            <a:avLst/>
          </a:prstGeom>
        </p:spPr>
      </p:pic>
      <p:sp>
        <p:nvSpPr>
          <p:cNvPr id="10" name="楕円 9">
            <a:extLst>
              <a:ext uri="{FF2B5EF4-FFF2-40B4-BE49-F238E27FC236}">
                <a16:creationId xmlns:a16="http://schemas.microsoft.com/office/drawing/2014/main" id="{C1F00BC0-DC3A-B07D-6898-4E8802E2A71F}"/>
              </a:ext>
            </a:extLst>
          </p:cNvPr>
          <p:cNvSpPr/>
          <p:nvPr/>
        </p:nvSpPr>
        <p:spPr>
          <a:xfrm>
            <a:off x="5303912" y="3861048"/>
            <a:ext cx="539576" cy="360040"/>
          </a:xfrm>
          <a:prstGeom prst="ellipse">
            <a:avLst/>
          </a:prstGeom>
          <a:noFill/>
          <a:ln w="762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四角形 8">
            <a:extLst>
              <a:ext uri="{FF2B5EF4-FFF2-40B4-BE49-F238E27FC236}">
                <a16:creationId xmlns:a16="http://schemas.microsoft.com/office/drawing/2014/main" id="{E0322E59-820D-8039-A2A1-FF6922CAC24A}"/>
              </a:ext>
            </a:extLst>
          </p:cNvPr>
          <p:cNvSpPr/>
          <p:nvPr/>
        </p:nvSpPr>
        <p:spPr>
          <a:xfrm>
            <a:off x="1661929" y="5289409"/>
            <a:ext cx="9145016" cy="946898"/>
          </a:xfrm>
          <a:prstGeom prst="wedgeRectCallout">
            <a:avLst>
              <a:gd name="adj1" fmla="val -27923"/>
              <a:gd name="adj2" fmla="val -9122"/>
            </a:avLst>
          </a:prstGeom>
          <a:solidFill>
            <a:schemeClr val="bg1"/>
          </a:solidFill>
          <a:ln w="38100">
            <a:solidFill>
              <a:srgbClr val="F8D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層のサンプル数で重み付き平均した改善率の差</a:t>
            </a:r>
            <a:r>
              <a:rPr lang="en-US" altLang="ja-JP" b="1" dirty="0">
                <a:solidFill>
                  <a:schemeClr val="tx1"/>
                </a:solidFill>
                <a:latin typeface="Meiryo" panose="020B0604030504040204" pitchFamily="50" charset="-128"/>
                <a:ea typeface="Meiryo" panose="020B0604030504040204" pitchFamily="50" charset="-128"/>
              </a:rPr>
              <a:t>】</a:t>
            </a:r>
          </a:p>
          <a:p>
            <a:r>
              <a:rPr lang="en-US" altLang="ja-JP" b="1" dirty="0">
                <a:solidFill>
                  <a:schemeClr val="accent5">
                    <a:lumMod val="50000"/>
                  </a:schemeClr>
                </a:solidFill>
                <a:latin typeface="Meiryo" panose="020B0604030504040204" pitchFamily="50" charset="-128"/>
                <a:ea typeface="Meiryo" panose="020B0604030504040204" pitchFamily="50" charset="-128"/>
              </a:rPr>
              <a:t>(40/80)</a:t>
            </a:r>
            <a:r>
              <a:rPr lang="en-US" altLang="ja-JP" b="1" dirty="0">
                <a:solidFill>
                  <a:schemeClr val="tx1"/>
                </a:solidFill>
                <a:latin typeface="Meiryo" panose="020B0604030504040204" pitchFamily="50" charset="-128"/>
                <a:ea typeface="Meiryo" panose="020B0604030504040204" pitchFamily="50" charset="-128"/>
              </a:rPr>
              <a:t>×</a:t>
            </a:r>
            <a:r>
              <a:rPr lang="en-US" altLang="ja-JP" b="1" dirty="0">
                <a:solidFill>
                  <a:srgbClr val="FF99FF"/>
                </a:solidFill>
                <a:latin typeface="Meiryo" panose="020B0604030504040204" pitchFamily="50" charset="-128"/>
                <a:ea typeface="Meiryo" panose="020B0604030504040204" pitchFamily="50" charset="-128"/>
              </a:rPr>
              <a:t>(20%-20%)</a:t>
            </a:r>
            <a:r>
              <a:rPr lang="en-US" altLang="ja-JP" b="1" dirty="0">
                <a:solidFill>
                  <a:schemeClr val="tx1"/>
                </a:solidFill>
                <a:latin typeface="Meiryo" panose="020B0604030504040204" pitchFamily="50" charset="-128"/>
                <a:ea typeface="Meiryo" panose="020B0604030504040204" pitchFamily="50" charset="-128"/>
              </a:rPr>
              <a:t>+</a:t>
            </a:r>
            <a:r>
              <a:rPr lang="en-US" altLang="ja-JP" b="1" dirty="0">
                <a:solidFill>
                  <a:schemeClr val="accent6">
                    <a:lumMod val="60000"/>
                    <a:lumOff val="40000"/>
                  </a:schemeClr>
                </a:solidFill>
                <a:latin typeface="Meiryo" panose="020B0604030504040204" pitchFamily="50" charset="-128"/>
                <a:ea typeface="Meiryo" panose="020B0604030504040204" pitchFamily="50" charset="-128"/>
              </a:rPr>
              <a:t>(40/80)</a:t>
            </a:r>
            <a:r>
              <a:rPr lang="en-US" altLang="ja-JP" b="1" dirty="0">
                <a:solidFill>
                  <a:schemeClr val="tx1"/>
                </a:solidFill>
                <a:latin typeface="Meiryo" panose="020B0604030504040204" pitchFamily="50" charset="-128"/>
                <a:ea typeface="Meiryo" panose="020B0604030504040204" pitchFamily="50" charset="-128"/>
              </a:rPr>
              <a:t>×</a:t>
            </a:r>
            <a:r>
              <a:rPr lang="en-US" altLang="ja-JP" b="1" dirty="0">
                <a:solidFill>
                  <a:srgbClr val="FF6600"/>
                </a:solidFill>
                <a:latin typeface="Meiryo" panose="020B0604030504040204" pitchFamily="50" charset="-128"/>
                <a:ea typeface="Meiryo" panose="020B0604030504040204" pitchFamily="50" charset="-128"/>
              </a:rPr>
              <a:t>(50%-50%)</a:t>
            </a:r>
            <a:r>
              <a:rPr lang="en-US" altLang="ja-JP" b="1" dirty="0">
                <a:solidFill>
                  <a:schemeClr val="tx1"/>
                </a:solidFill>
                <a:latin typeface="Meiryo" panose="020B0604030504040204" pitchFamily="50" charset="-128"/>
                <a:ea typeface="Meiryo" panose="020B0604030504040204" pitchFamily="50" charset="-128"/>
              </a:rPr>
              <a:t>=</a:t>
            </a:r>
            <a:r>
              <a:rPr lang="en-US" altLang="ja-JP" b="1" dirty="0">
                <a:solidFill>
                  <a:srgbClr val="0000FF"/>
                </a:solidFill>
                <a:highlight>
                  <a:srgbClr val="FFFF00"/>
                </a:highlight>
                <a:latin typeface="Meiryo" panose="020B0604030504040204" pitchFamily="50" charset="-128"/>
                <a:ea typeface="Meiryo" panose="020B0604030504040204" pitchFamily="50" charset="-128"/>
              </a:rPr>
              <a:t>0%</a:t>
            </a:r>
          </a:p>
        </p:txBody>
      </p:sp>
    </p:spTree>
    <p:extLst>
      <p:ext uri="{BB962C8B-B14F-4D97-AF65-F5344CB8AC3E}">
        <p14:creationId xmlns:p14="http://schemas.microsoft.com/office/powerpoint/2010/main" val="3369621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F030E-81F8-66C5-7016-CBE6CF5891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0EEB77-EADF-CA34-515D-471AE97376C1}"/>
              </a:ext>
            </a:extLst>
          </p:cNvPr>
          <p:cNvSpPr>
            <a:spLocks noGrp="1"/>
          </p:cNvSpPr>
          <p:nvPr>
            <p:ph type="title"/>
          </p:nvPr>
        </p:nvSpPr>
        <p:spPr/>
        <p:txBody>
          <a:bodyPr/>
          <a:lstStyle/>
          <a:p>
            <a:r>
              <a:rPr kumimoji="1" lang="ja-JP" altLang="en-US" dirty="0"/>
              <a:t>共変量マッチング</a:t>
            </a:r>
          </a:p>
        </p:txBody>
      </p:sp>
      <p:sp>
        <p:nvSpPr>
          <p:cNvPr id="4" name="スライド番号プレースホルダー 3">
            <a:extLst>
              <a:ext uri="{FF2B5EF4-FFF2-40B4-BE49-F238E27FC236}">
                <a16:creationId xmlns:a16="http://schemas.microsoft.com/office/drawing/2014/main" id="{D73E7196-7D1A-A26D-4891-4C215BCCBF4E}"/>
              </a:ext>
            </a:extLst>
          </p:cNvPr>
          <p:cNvSpPr>
            <a:spLocks noGrp="1"/>
          </p:cNvSpPr>
          <p:nvPr>
            <p:ph type="sldNum" sz="quarter" idx="11"/>
          </p:nvPr>
        </p:nvSpPr>
        <p:spPr/>
        <p:txBody>
          <a:bodyPr/>
          <a:lstStyle/>
          <a:p>
            <a:fld id="{23B20E4E-3F95-4221-AFE5-FD1FD9CC3448}" type="slidenum">
              <a:rPr lang="en-US" altLang="ja-JP" smtClean="0"/>
              <a:pPr/>
              <a:t>19</a:t>
            </a:fld>
            <a:endParaRPr lang="en-US" altLang="ja-JP"/>
          </a:p>
        </p:txBody>
      </p:sp>
      <p:pic>
        <p:nvPicPr>
          <p:cNvPr id="5" name="図 4" descr="ロゴ&#10;&#10;自動的に生成された説明">
            <a:extLst>
              <a:ext uri="{FF2B5EF4-FFF2-40B4-BE49-F238E27FC236}">
                <a16:creationId xmlns:a16="http://schemas.microsoft.com/office/drawing/2014/main" id="{DA2F484A-A28B-3E4F-2C23-8120F86573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6" name="吹き出し: 四角形 5">
            <a:extLst>
              <a:ext uri="{FF2B5EF4-FFF2-40B4-BE49-F238E27FC236}">
                <a16:creationId xmlns:a16="http://schemas.microsoft.com/office/drawing/2014/main" id="{29C8FD4C-4619-F07C-D5CA-A9EAEDD16F8E}"/>
              </a:ext>
            </a:extLst>
          </p:cNvPr>
          <p:cNvSpPr/>
          <p:nvPr/>
        </p:nvSpPr>
        <p:spPr>
          <a:xfrm>
            <a:off x="263353" y="1901865"/>
            <a:ext cx="10945216" cy="951071"/>
          </a:xfrm>
          <a:prstGeom prst="wedgeRectCallout">
            <a:avLst>
              <a:gd name="adj1" fmla="val -27923"/>
              <a:gd name="adj2" fmla="val -9122"/>
            </a:avLst>
          </a:prstGeom>
          <a:solidFill>
            <a:schemeClr val="bg1"/>
          </a:solidFill>
          <a:ln w="38100">
            <a:solidFill>
              <a:srgbClr val="F8D5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投与群の各対象者に対して</a:t>
            </a:r>
            <a:r>
              <a:rPr lang="en-US" altLang="ja-JP" dirty="0">
                <a:solidFill>
                  <a:schemeClr val="tx1"/>
                </a:solidFill>
                <a:latin typeface="メイリオ" panose="020B0604030504040204" pitchFamily="50" charset="-128"/>
                <a:ea typeface="メイリオ"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交絡因子が似ている非投与群の対象者をペアにし</a:t>
            </a:r>
            <a:r>
              <a:rPr lang="en-US" altLang="ja-JP" dirty="0">
                <a:solidFill>
                  <a:schemeClr val="tx1"/>
                </a:solidFill>
                <a:latin typeface="メイリオ" panose="020B0604030504040204" pitchFamily="50" charset="-128"/>
                <a:ea typeface="メイリオ" panose="020B0604030504040204" pitchFamily="50" charset="-128"/>
              </a:rPr>
              <a:t>, </a:t>
            </a:r>
          </a:p>
          <a:p>
            <a:r>
              <a:rPr lang="ja-JP" altLang="en-US" b="1" dirty="0">
                <a:solidFill>
                  <a:schemeClr val="tx1"/>
                </a:solidFill>
                <a:latin typeface="Meiryo" panose="020B0604030504040204" pitchFamily="50" charset="-128"/>
                <a:ea typeface="Meiryo" panose="020B0604030504040204" pitchFamily="50" charset="-128"/>
              </a:rPr>
              <a:t>その差から平均的な因果効果を推定する手法</a:t>
            </a:r>
            <a:r>
              <a:rPr lang="en-US" altLang="ja-JP" b="1" dirty="0">
                <a:solidFill>
                  <a:schemeClr val="tx1"/>
                </a:solidFill>
                <a:latin typeface="Meiryo" panose="020B0604030504040204" pitchFamily="50" charset="-128"/>
                <a:ea typeface="Meiryo" panose="020B0604030504040204" pitchFamily="50" charset="-128"/>
              </a:rPr>
              <a:t>.</a:t>
            </a:r>
            <a:endParaRPr lang="en-US" altLang="ja-JP" sz="2400" b="1" dirty="0">
              <a:solidFill>
                <a:schemeClr val="tx1"/>
              </a:solidFill>
              <a:latin typeface="Meiryo" panose="020B0604030504040204" pitchFamily="50" charset="-128"/>
              <a:ea typeface="Meiryo" panose="020B0604030504040204" pitchFamily="50" charset="-128"/>
            </a:endParaRPr>
          </a:p>
        </p:txBody>
      </p:sp>
      <p:sp>
        <p:nvSpPr>
          <p:cNvPr id="7" name="吹き出し: 角を丸めた四角形 6">
            <a:extLst>
              <a:ext uri="{FF2B5EF4-FFF2-40B4-BE49-F238E27FC236}">
                <a16:creationId xmlns:a16="http://schemas.microsoft.com/office/drawing/2014/main" id="{CA6DB1F0-80D5-17F6-75FB-648656E826FC}"/>
              </a:ext>
            </a:extLst>
          </p:cNvPr>
          <p:cNvSpPr/>
          <p:nvPr/>
        </p:nvSpPr>
        <p:spPr>
          <a:xfrm>
            <a:off x="263352" y="1268760"/>
            <a:ext cx="2160240" cy="519279"/>
          </a:xfrm>
          <a:prstGeom prst="wedgeRoundRectCallout">
            <a:avLst>
              <a:gd name="adj1" fmla="val 35048"/>
              <a:gd name="adj2" fmla="val -10084"/>
              <a:gd name="adj3" fmla="val 16667"/>
            </a:avLst>
          </a:prstGeom>
          <a:solidFill>
            <a:srgbClr val="FFC00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2800" b="1" dirty="0">
                <a:solidFill>
                  <a:schemeClr val="tx1"/>
                </a:solidFill>
              </a:rPr>
              <a:t>full matching</a:t>
            </a:r>
            <a:endParaRPr kumimoji="1" lang="ja-JP" altLang="en-US" sz="2600" b="1" dirty="0">
              <a:solidFill>
                <a:schemeClr val="tx1"/>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0AE1229B-1F97-C900-A934-11A8CECFB9CD}"/>
              </a:ext>
            </a:extLst>
          </p:cNvPr>
          <p:cNvSpPr>
            <a:spLocks noGrp="1"/>
          </p:cNvSpPr>
          <p:nvPr>
            <p:ph idx="1"/>
          </p:nvPr>
        </p:nvSpPr>
        <p:spPr>
          <a:xfrm>
            <a:off x="263352" y="3035252"/>
            <a:ext cx="11171767" cy="2633669"/>
          </a:xfrm>
        </p:spPr>
        <p:txBody>
          <a:bodyPr/>
          <a:lstStyle/>
          <a:p>
            <a:r>
              <a:rPr lang="en-US" altLang="ja-JP" dirty="0"/>
              <a:t># </a:t>
            </a:r>
            <a:r>
              <a:rPr lang="ja-JP" altLang="en-US" dirty="0"/>
              <a:t>サンプルデータの作成コード</a:t>
            </a:r>
          </a:p>
          <a:p>
            <a:r>
              <a:rPr lang="nl-NL" altLang="ja-JP" dirty="0"/>
              <a:t>dat &lt;- data.frame(treat = c(1, 0, 0, 1, 0, 1, 0, 0, 1, 0), </a:t>
            </a:r>
          </a:p>
          <a:p>
            <a:r>
              <a:rPr lang="en-US" altLang="ja-JP" dirty="0"/>
              <a:t>x = c(1.9, 1.5, 2.1, 3.2, 3.0, 1.2, 1.3, 3.3, 2.7, 2.8), </a:t>
            </a:r>
          </a:p>
          <a:p>
            <a:r>
              <a:rPr lang="es-ES" altLang="ja-JP" dirty="0"/>
              <a:t>y = c(11, 8, 10, 16, 14, 7, 6, 15, 13, 12)) </a:t>
            </a:r>
          </a:p>
          <a:p>
            <a:r>
              <a:rPr lang="en-US" altLang="ja-JP" dirty="0"/>
              <a:t>dat</a:t>
            </a:r>
            <a:endParaRPr kumimoji="1" lang="ja-JP" altLang="en-US" dirty="0"/>
          </a:p>
        </p:txBody>
      </p:sp>
      <p:sp>
        <p:nvSpPr>
          <p:cNvPr id="17" name="吹き出し: 四角形 16">
            <a:extLst>
              <a:ext uri="{FF2B5EF4-FFF2-40B4-BE49-F238E27FC236}">
                <a16:creationId xmlns:a16="http://schemas.microsoft.com/office/drawing/2014/main" id="{80F1FAE7-F088-6239-22DF-F54166FA7A41}"/>
              </a:ext>
            </a:extLst>
          </p:cNvPr>
          <p:cNvSpPr/>
          <p:nvPr/>
        </p:nvSpPr>
        <p:spPr>
          <a:xfrm>
            <a:off x="1405734" y="5392366"/>
            <a:ext cx="4474242" cy="393748"/>
          </a:xfrm>
          <a:prstGeom prst="wedgeRectCallout">
            <a:avLst>
              <a:gd name="adj1" fmla="val -27923"/>
              <a:gd name="adj2" fmla="val -9122"/>
            </a:avLst>
          </a:prstGeom>
          <a:solidFill>
            <a:schemeClr val="bg1"/>
          </a:solidFill>
          <a:ln w="38100">
            <a:solidFill>
              <a:srgbClr val="FFC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2000" b="1" dirty="0">
                <a:solidFill>
                  <a:schemeClr val="tx1"/>
                </a:solidFill>
                <a:latin typeface="Meiryo" panose="020B0604030504040204" pitchFamily="50" charset="-128"/>
                <a:ea typeface="Meiryo" panose="020B0604030504040204" pitchFamily="50" charset="-128"/>
              </a:rPr>
              <a:t>treat=1</a:t>
            </a:r>
            <a:r>
              <a:rPr lang="ja-JP" altLang="en-US" sz="2000" b="1" dirty="0">
                <a:solidFill>
                  <a:schemeClr val="tx1"/>
                </a:solidFill>
                <a:latin typeface="Meiryo" panose="020B0604030504040204" pitchFamily="50" charset="-128"/>
                <a:ea typeface="Meiryo" panose="020B0604030504040204" pitchFamily="50" charset="-128"/>
              </a:rPr>
              <a:t>：投与、</a:t>
            </a:r>
            <a:r>
              <a:rPr lang="en-US" altLang="ja-JP" sz="2000" b="1" dirty="0">
                <a:solidFill>
                  <a:schemeClr val="tx1"/>
                </a:solidFill>
                <a:latin typeface="Meiryo" panose="020B0604030504040204" pitchFamily="50" charset="-128"/>
                <a:ea typeface="Meiryo" panose="020B0604030504040204" pitchFamily="50" charset="-128"/>
              </a:rPr>
              <a:t> treat=0</a:t>
            </a:r>
            <a:r>
              <a:rPr lang="ja-JP" altLang="en-US" sz="2000" b="1" dirty="0">
                <a:solidFill>
                  <a:schemeClr val="tx1"/>
                </a:solidFill>
                <a:latin typeface="Meiryo" panose="020B0604030504040204" pitchFamily="50" charset="-128"/>
                <a:ea typeface="Meiryo" panose="020B0604030504040204" pitchFamily="50" charset="-128"/>
              </a:rPr>
              <a:t>：非投与</a:t>
            </a:r>
            <a:endParaRPr lang="en-US" altLang="ja-JP" sz="2000" b="1" dirty="0">
              <a:solidFill>
                <a:schemeClr val="tx1"/>
              </a:solidFill>
              <a:latin typeface="Meiryo" panose="020B0604030504040204" pitchFamily="50" charset="-128"/>
              <a:ea typeface="Meiryo" panose="020B0604030504040204" pitchFamily="50" charset="-128"/>
            </a:endParaRPr>
          </a:p>
        </p:txBody>
      </p:sp>
      <p:sp>
        <p:nvSpPr>
          <p:cNvPr id="18" name="吹き出し: 四角形 17">
            <a:extLst>
              <a:ext uri="{FF2B5EF4-FFF2-40B4-BE49-F238E27FC236}">
                <a16:creationId xmlns:a16="http://schemas.microsoft.com/office/drawing/2014/main" id="{3A153223-93BB-5B81-95CA-84303B24C00C}"/>
              </a:ext>
            </a:extLst>
          </p:cNvPr>
          <p:cNvSpPr/>
          <p:nvPr/>
        </p:nvSpPr>
        <p:spPr>
          <a:xfrm>
            <a:off x="1405734" y="5949280"/>
            <a:ext cx="3466130" cy="393748"/>
          </a:xfrm>
          <a:prstGeom prst="wedgeRectCallout">
            <a:avLst>
              <a:gd name="adj1" fmla="val -27923"/>
              <a:gd name="adj2" fmla="val -9122"/>
            </a:avLst>
          </a:prstGeom>
          <a:solidFill>
            <a:schemeClr val="bg1"/>
          </a:solidFill>
          <a:ln w="38100">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2000" b="1" dirty="0">
                <a:solidFill>
                  <a:schemeClr val="tx1"/>
                </a:solidFill>
                <a:latin typeface="Meiryo" panose="020B0604030504040204" pitchFamily="50" charset="-128"/>
                <a:ea typeface="Meiryo" panose="020B0604030504040204" pitchFamily="50" charset="-128"/>
              </a:rPr>
              <a:t>X</a:t>
            </a:r>
            <a:r>
              <a:rPr lang="ja-JP" altLang="en-US" sz="2000" b="1" dirty="0">
                <a:solidFill>
                  <a:schemeClr val="tx1"/>
                </a:solidFill>
                <a:latin typeface="Meiryo" panose="020B0604030504040204" pitchFamily="50" charset="-128"/>
                <a:ea typeface="Meiryo" panose="020B0604030504040204" pitchFamily="50" charset="-128"/>
              </a:rPr>
              <a:t>：交絡因子、</a:t>
            </a:r>
            <a:r>
              <a:rPr lang="en-US" altLang="ja-JP" sz="2000" b="1" dirty="0">
                <a:solidFill>
                  <a:schemeClr val="tx1"/>
                </a:solidFill>
                <a:latin typeface="Meiryo" panose="020B0604030504040204" pitchFamily="50" charset="-128"/>
                <a:ea typeface="Meiryo" panose="020B0604030504040204" pitchFamily="50" charset="-128"/>
              </a:rPr>
              <a:t> Y</a:t>
            </a:r>
            <a:r>
              <a:rPr lang="ja-JP" altLang="en-US" sz="2000" b="1" dirty="0">
                <a:solidFill>
                  <a:schemeClr val="tx1"/>
                </a:solidFill>
                <a:latin typeface="Meiryo" panose="020B0604030504040204" pitchFamily="50" charset="-128"/>
                <a:ea typeface="Meiryo" panose="020B0604030504040204" pitchFamily="50" charset="-128"/>
              </a:rPr>
              <a:t>：結果変数</a:t>
            </a:r>
            <a:endParaRPr lang="en-US" altLang="ja-JP" sz="2000" b="1" dirty="0">
              <a:solidFill>
                <a:schemeClr val="tx1"/>
              </a:solidFill>
              <a:latin typeface="Meiryo" panose="020B0604030504040204" pitchFamily="50" charset="-128"/>
              <a:ea typeface="Meiryo" panose="020B0604030504040204" pitchFamily="50" charset="-128"/>
            </a:endParaRPr>
          </a:p>
        </p:txBody>
      </p:sp>
      <p:pic>
        <p:nvPicPr>
          <p:cNvPr id="20" name="図 19">
            <a:extLst>
              <a:ext uri="{FF2B5EF4-FFF2-40B4-BE49-F238E27FC236}">
                <a16:creationId xmlns:a16="http://schemas.microsoft.com/office/drawing/2014/main" id="{99581830-3506-840F-02D6-E30E5BD8C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2264" y="3212976"/>
            <a:ext cx="2456051" cy="3456000"/>
          </a:xfrm>
          <a:prstGeom prst="rect">
            <a:avLst/>
          </a:prstGeom>
        </p:spPr>
      </p:pic>
    </p:spTree>
    <p:extLst>
      <p:ext uri="{BB962C8B-B14F-4D97-AF65-F5344CB8AC3E}">
        <p14:creationId xmlns:p14="http://schemas.microsoft.com/office/powerpoint/2010/main" val="4030731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E1AA8-3CF7-85C9-E038-9857FD7359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EA1A61-F3AF-4168-35BD-96F72E19BCCB}"/>
              </a:ext>
            </a:extLst>
          </p:cNvPr>
          <p:cNvSpPr>
            <a:spLocks noGrp="1"/>
          </p:cNvSpPr>
          <p:nvPr>
            <p:ph type="title"/>
          </p:nvPr>
        </p:nvSpPr>
        <p:spPr/>
        <p:txBody>
          <a:bodyPr/>
          <a:lstStyle/>
          <a:p>
            <a:r>
              <a:rPr kumimoji="1" lang="ja-JP" altLang="en-US" dirty="0"/>
              <a:t>共変量マッチング（</a:t>
            </a:r>
            <a:r>
              <a:rPr lang="en-US" altLang="ja-JP" dirty="0">
                <a:solidFill>
                  <a:schemeClr val="tx1"/>
                </a:solidFill>
              </a:rPr>
              <a:t>full matching</a:t>
            </a:r>
            <a:r>
              <a:rPr kumimoji="1" lang="ja-JP" altLang="en-US" dirty="0"/>
              <a:t>）</a:t>
            </a:r>
          </a:p>
        </p:txBody>
      </p:sp>
      <p:sp>
        <p:nvSpPr>
          <p:cNvPr id="4" name="スライド番号プレースホルダー 3">
            <a:extLst>
              <a:ext uri="{FF2B5EF4-FFF2-40B4-BE49-F238E27FC236}">
                <a16:creationId xmlns:a16="http://schemas.microsoft.com/office/drawing/2014/main" id="{58EE3AF4-EE9E-62A1-1E52-15A12E76F2C8}"/>
              </a:ext>
            </a:extLst>
          </p:cNvPr>
          <p:cNvSpPr>
            <a:spLocks noGrp="1"/>
          </p:cNvSpPr>
          <p:nvPr>
            <p:ph type="sldNum" sz="quarter" idx="11"/>
          </p:nvPr>
        </p:nvSpPr>
        <p:spPr/>
        <p:txBody>
          <a:bodyPr/>
          <a:lstStyle/>
          <a:p>
            <a:fld id="{23B20E4E-3F95-4221-AFE5-FD1FD9CC3448}" type="slidenum">
              <a:rPr lang="en-US" altLang="ja-JP" smtClean="0"/>
              <a:pPr/>
              <a:t>20</a:t>
            </a:fld>
            <a:endParaRPr lang="en-US" altLang="ja-JP"/>
          </a:p>
        </p:txBody>
      </p:sp>
      <p:pic>
        <p:nvPicPr>
          <p:cNvPr id="5" name="図 4" descr="ロゴ&#10;&#10;自動的に生成された説明">
            <a:extLst>
              <a:ext uri="{FF2B5EF4-FFF2-40B4-BE49-F238E27FC236}">
                <a16:creationId xmlns:a16="http://schemas.microsoft.com/office/drawing/2014/main" id="{76A3287A-C88A-595C-DB1C-7382B4CF4B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aphicFrame>
        <p:nvGraphicFramePr>
          <p:cNvPr id="6" name="表 5">
            <a:extLst>
              <a:ext uri="{FF2B5EF4-FFF2-40B4-BE49-F238E27FC236}">
                <a16:creationId xmlns:a16="http://schemas.microsoft.com/office/drawing/2014/main" id="{0B6A1581-8C96-3E4A-637F-32BDAB4BCA2B}"/>
              </a:ext>
            </a:extLst>
          </p:cNvPr>
          <p:cNvGraphicFramePr>
            <a:graphicFrameLocks noGrp="1"/>
          </p:cNvGraphicFramePr>
          <p:nvPr>
            <p:extLst>
              <p:ext uri="{D42A27DB-BD31-4B8C-83A1-F6EECF244321}">
                <p14:modId xmlns:p14="http://schemas.microsoft.com/office/powerpoint/2010/main" val="2997663372"/>
              </p:ext>
            </p:extLst>
          </p:nvPr>
        </p:nvGraphicFramePr>
        <p:xfrm>
          <a:off x="1271784" y="1110952"/>
          <a:ext cx="2880000" cy="5486400"/>
        </p:xfrm>
        <a:graphic>
          <a:graphicData uri="http://schemas.openxmlformats.org/drawingml/2006/table">
            <a:tbl>
              <a:tblPr firstRow="1" lastRow="1" bandRow="1">
                <a:tableStyleId>{72833802-FEF1-4C79-8D5D-14CF1EAF98D9}</a:tableStyleId>
              </a:tblPr>
              <a:tblGrid>
                <a:gridCol w="504000">
                  <a:extLst>
                    <a:ext uri="{9D8B030D-6E8A-4147-A177-3AD203B41FA5}">
                      <a16:colId xmlns:a16="http://schemas.microsoft.com/office/drawing/2014/main" val="2921360576"/>
                    </a:ext>
                  </a:extLst>
                </a:gridCol>
                <a:gridCol w="792000">
                  <a:extLst>
                    <a:ext uri="{9D8B030D-6E8A-4147-A177-3AD203B41FA5}">
                      <a16:colId xmlns:a16="http://schemas.microsoft.com/office/drawing/2014/main" val="628765754"/>
                    </a:ext>
                  </a:extLst>
                </a:gridCol>
                <a:gridCol w="792000">
                  <a:extLst>
                    <a:ext uri="{9D8B030D-6E8A-4147-A177-3AD203B41FA5}">
                      <a16:colId xmlns:a16="http://schemas.microsoft.com/office/drawing/2014/main" val="2425332903"/>
                    </a:ext>
                  </a:extLst>
                </a:gridCol>
                <a:gridCol w="792000">
                  <a:extLst>
                    <a:ext uri="{9D8B030D-6E8A-4147-A177-3AD203B41FA5}">
                      <a16:colId xmlns:a16="http://schemas.microsoft.com/office/drawing/2014/main" val="2951463833"/>
                    </a:ext>
                  </a:extLst>
                </a:gridCol>
              </a:tblGrid>
              <a:tr h="386802">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dat</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1684251104"/>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ID</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X</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T</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100584065"/>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0876704"/>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08723089"/>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58994433"/>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10474393"/>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09725802"/>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1858901"/>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827002462"/>
                  </a:ext>
                </a:extLst>
              </a:tr>
            </a:tbl>
          </a:graphicData>
        </a:graphic>
      </p:graphicFrame>
      <p:sp>
        <p:nvSpPr>
          <p:cNvPr id="8" name="矢印: 右 7">
            <a:extLst>
              <a:ext uri="{FF2B5EF4-FFF2-40B4-BE49-F238E27FC236}">
                <a16:creationId xmlns:a16="http://schemas.microsoft.com/office/drawing/2014/main" id="{50730461-D0A0-40A4-BB3A-7E7D15F57A57}"/>
              </a:ext>
            </a:extLst>
          </p:cNvPr>
          <p:cNvSpPr/>
          <p:nvPr/>
        </p:nvSpPr>
        <p:spPr>
          <a:xfrm>
            <a:off x="4861985" y="1599692"/>
            <a:ext cx="2016224" cy="6294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四角形 10">
            <a:extLst>
              <a:ext uri="{FF2B5EF4-FFF2-40B4-BE49-F238E27FC236}">
                <a16:creationId xmlns:a16="http://schemas.microsoft.com/office/drawing/2014/main" id="{E05D304D-A75C-8448-AD22-626D6ADCC4A0}"/>
              </a:ext>
            </a:extLst>
          </p:cNvPr>
          <p:cNvSpPr/>
          <p:nvPr/>
        </p:nvSpPr>
        <p:spPr>
          <a:xfrm>
            <a:off x="4357929" y="2449996"/>
            <a:ext cx="3024337" cy="2808312"/>
          </a:xfrm>
          <a:prstGeom prst="wedgeRectCallout">
            <a:avLst>
              <a:gd name="adj1" fmla="val -27923"/>
              <a:gd name="adj2" fmla="val -9122"/>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投与群</a:t>
            </a:r>
            <a:r>
              <a:rPr lang="en-US" altLang="ja-JP" b="1" dirty="0">
                <a:solidFill>
                  <a:schemeClr val="tx1"/>
                </a:solidFill>
                <a:latin typeface="Meiryo" panose="020B0604030504040204" pitchFamily="50" charset="-128"/>
                <a:ea typeface="Meiryo" panose="020B0604030504040204" pitchFamily="50" charset="-128"/>
              </a:rPr>
              <a:t>(T=1)</a:t>
            </a:r>
            <a:r>
              <a:rPr lang="ja-JP" altLang="en-US" b="1" dirty="0">
                <a:solidFill>
                  <a:schemeClr val="tx1"/>
                </a:solidFill>
                <a:latin typeface="Meiryo" panose="020B0604030504040204" pitchFamily="50" charset="-128"/>
                <a:ea typeface="Meiryo" panose="020B0604030504040204" pitchFamily="50" charset="-128"/>
              </a:rPr>
              <a:t>である</a:t>
            </a:r>
            <a:r>
              <a:rPr lang="en-US" altLang="ja-JP" b="1" dirty="0">
                <a:solidFill>
                  <a:schemeClr val="tx1"/>
                </a:solidFill>
                <a:latin typeface="Meiryo" panose="020B0604030504040204" pitchFamily="50" charset="-128"/>
                <a:ea typeface="Meiryo" panose="020B0604030504040204" pitchFamily="50" charset="-128"/>
              </a:rPr>
              <a:t>ID=1,</a:t>
            </a:r>
            <a:r>
              <a:rPr lang="ja-JP" altLang="en-US" b="1" dirty="0">
                <a:solidFill>
                  <a:schemeClr val="tx1"/>
                </a:solidFill>
                <a:latin typeface="Meiryo" panose="020B0604030504040204" pitchFamily="50" charset="-128"/>
                <a:ea typeface="Meiryo" panose="020B0604030504040204" pitchFamily="50" charset="-128"/>
              </a:rPr>
              <a:t> </a:t>
            </a:r>
            <a:r>
              <a:rPr lang="en-US" altLang="ja-JP" b="1" dirty="0">
                <a:solidFill>
                  <a:schemeClr val="tx1"/>
                </a:solidFill>
                <a:latin typeface="Meiryo" panose="020B0604030504040204" pitchFamily="50" charset="-128"/>
                <a:ea typeface="Meiryo" panose="020B0604030504040204" pitchFamily="50" charset="-128"/>
              </a:rPr>
              <a:t>4, 6, 9</a:t>
            </a:r>
            <a:r>
              <a:rPr lang="ja-JP" altLang="en-US" b="1" dirty="0">
                <a:solidFill>
                  <a:schemeClr val="tx1"/>
                </a:solidFill>
                <a:latin typeface="Meiryo" panose="020B0604030504040204" pitchFamily="50" charset="-128"/>
                <a:ea typeface="Meiryo" panose="020B0604030504040204" pitchFamily="50" charset="-128"/>
              </a:rPr>
              <a:t>に対して</a:t>
            </a:r>
            <a:r>
              <a:rPr lang="en-US" altLang="ja-JP" b="1" dirty="0">
                <a:solidFill>
                  <a:schemeClr val="tx1"/>
                </a:solidFill>
                <a:latin typeface="Meiryo" panose="020B0604030504040204" pitchFamily="50" charset="-128"/>
                <a:ea typeface="Meiryo" panose="020B0604030504040204" pitchFamily="50" charset="-128"/>
              </a:rPr>
              <a:t>, </a:t>
            </a:r>
            <a:r>
              <a:rPr lang="ja-JP" altLang="en-US" b="1" dirty="0">
                <a:solidFill>
                  <a:schemeClr val="tx1"/>
                </a:solidFill>
                <a:latin typeface="Meiryo" panose="020B0604030504040204" pitchFamily="50" charset="-128"/>
                <a:ea typeface="Meiryo" panose="020B0604030504040204" pitchFamily="50" charset="-128"/>
              </a:rPr>
              <a:t>共変量</a:t>
            </a:r>
            <a:r>
              <a:rPr lang="en-US" altLang="ja-JP" b="1" dirty="0">
                <a:solidFill>
                  <a:schemeClr val="tx1"/>
                </a:solidFill>
                <a:latin typeface="Meiryo" panose="020B0604030504040204" pitchFamily="50" charset="-128"/>
                <a:ea typeface="Meiryo" panose="020B0604030504040204" pitchFamily="50" charset="-128"/>
              </a:rPr>
              <a:t>X</a:t>
            </a:r>
            <a:r>
              <a:rPr lang="ja-JP" altLang="en-US" b="1" dirty="0">
                <a:solidFill>
                  <a:schemeClr val="tx1"/>
                </a:solidFill>
                <a:latin typeface="Meiryo" panose="020B0604030504040204" pitchFamily="50" charset="-128"/>
                <a:ea typeface="Meiryo" panose="020B0604030504040204" pitchFamily="50" charset="-128"/>
              </a:rPr>
              <a:t>が近い値</a:t>
            </a:r>
            <a:r>
              <a:rPr lang="en-US" altLang="ja-JP" b="1"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似ている</a:t>
            </a:r>
            <a:r>
              <a:rPr lang="en-US" altLang="ja-JP" b="1" dirty="0">
                <a:solidFill>
                  <a:schemeClr val="tx1"/>
                </a:solidFill>
                <a:latin typeface="Meiryo" panose="020B0604030504040204" pitchFamily="50" charset="-128"/>
                <a:ea typeface="Meiryo" panose="020B0604030504040204" pitchFamily="50" charset="-128"/>
              </a:rPr>
              <a:t>)</a:t>
            </a:r>
            <a:r>
              <a:rPr lang="ja-JP" altLang="en-US" b="1" dirty="0">
                <a:solidFill>
                  <a:schemeClr val="tx1"/>
                </a:solidFill>
                <a:latin typeface="Meiryo" panose="020B0604030504040204" pitchFamily="50" charset="-128"/>
                <a:ea typeface="Meiryo" panose="020B0604030504040204" pitchFamily="50" charset="-128"/>
              </a:rPr>
              <a:t>を取っている非投与群</a:t>
            </a:r>
            <a:r>
              <a:rPr lang="en-US" altLang="ja-JP" b="1" dirty="0">
                <a:solidFill>
                  <a:schemeClr val="tx1"/>
                </a:solidFill>
                <a:latin typeface="Meiryo" panose="020B0604030504040204" pitchFamily="50" charset="-128"/>
                <a:ea typeface="Meiryo" panose="020B0604030504040204" pitchFamily="50" charset="-128"/>
              </a:rPr>
              <a:t>(T=0)</a:t>
            </a:r>
            <a:r>
              <a:rPr lang="ja-JP" altLang="en-US" b="1" dirty="0">
                <a:solidFill>
                  <a:schemeClr val="tx1"/>
                </a:solidFill>
                <a:latin typeface="Meiryo" panose="020B0604030504040204" pitchFamily="50" charset="-128"/>
                <a:ea typeface="Meiryo" panose="020B0604030504040204" pitchFamily="50" charset="-128"/>
              </a:rPr>
              <a:t>の対象者をペアにする</a:t>
            </a:r>
            <a:r>
              <a:rPr lang="en-US" altLang="ja-JP" b="1" dirty="0">
                <a:solidFill>
                  <a:schemeClr val="tx1"/>
                </a:solidFill>
                <a:latin typeface="Meiryo" panose="020B0604030504040204" pitchFamily="50" charset="-128"/>
                <a:ea typeface="Meiryo" panose="020B0604030504040204" pitchFamily="50" charset="-128"/>
              </a:rPr>
              <a:t>.</a:t>
            </a:r>
          </a:p>
        </p:txBody>
      </p:sp>
      <p:graphicFrame>
        <p:nvGraphicFramePr>
          <p:cNvPr id="3" name="表 2">
            <a:extLst>
              <a:ext uri="{FF2B5EF4-FFF2-40B4-BE49-F238E27FC236}">
                <a16:creationId xmlns:a16="http://schemas.microsoft.com/office/drawing/2014/main" id="{B23D81B9-5C16-EC77-D500-0400B965BD12}"/>
              </a:ext>
            </a:extLst>
          </p:cNvPr>
          <p:cNvGraphicFramePr>
            <a:graphicFrameLocks noGrp="1"/>
          </p:cNvGraphicFramePr>
          <p:nvPr>
            <p:extLst>
              <p:ext uri="{D42A27DB-BD31-4B8C-83A1-F6EECF244321}">
                <p14:modId xmlns:p14="http://schemas.microsoft.com/office/powerpoint/2010/main" val="2304620506"/>
              </p:ext>
            </p:extLst>
          </p:nvPr>
        </p:nvGraphicFramePr>
        <p:xfrm>
          <a:off x="7536160" y="1110952"/>
          <a:ext cx="3501176" cy="5486400"/>
        </p:xfrm>
        <a:graphic>
          <a:graphicData uri="http://schemas.openxmlformats.org/drawingml/2006/table">
            <a:tbl>
              <a:tblPr firstRow="1" lastRow="1" bandRow="1">
                <a:tableStyleId>{72833802-FEF1-4C79-8D5D-14CF1EAF98D9}</a:tableStyleId>
              </a:tblPr>
              <a:tblGrid>
                <a:gridCol w="504000">
                  <a:extLst>
                    <a:ext uri="{9D8B030D-6E8A-4147-A177-3AD203B41FA5}">
                      <a16:colId xmlns:a16="http://schemas.microsoft.com/office/drawing/2014/main" val="2921360576"/>
                    </a:ext>
                  </a:extLst>
                </a:gridCol>
                <a:gridCol w="792000">
                  <a:extLst>
                    <a:ext uri="{9D8B030D-6E8A-4147-A177-3AD203B41FA5}">
                      <a16:colId xmlns:a16="http://schemas.microsoft.com/office/drawing/2014/main" val="628765754"/>
                    </a:ext>
                  </a:extLst>
                </a:gridCol>
                <a:gridCol w="792000">
                  <a:extLst>
                    <a:ext uri="{9D8B030D-6E8A-4147-A177-3AD203B41FA5}">
                      <a16:colId xmlns:a16="http://schemas.microsoft.com/office/drawing/2014/main" val="2425332903"/>
                    </a:ext>
                  </a:extLst>
                </a:gridCol>
                <a:gridCol w="792000">
                  <a:extLst>
                    <a:ext uri="{9D8B030D-6E8A-4147-A177-3AD203B41FA5}">
                      <a16:colId xmlns:a16="http://schemas.microsoft.com/office/drawing/2014/main" val="2951463833"/>
                    </a:ext>
                  </a:extLst>
                </a:gridCol>
                <a:gridCol w="621176">
                  <a:extLst>
                    <a:ext uri="{9D8B030D-6E8A-4147-A177-3AD203B41FA5}">
                      <a16:colId xmlns:a16="http://schemas.microsoft.com/office/drawing/2014/main" val="1128014363"/>
                    </a:ext>
                  </a:extLst>
                </a:gridCol>
              </a:tblGrid>
              <a:tr h="386802">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dat</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1804784806"/>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ID</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X</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T</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100584065"/>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③</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0876704"/>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08723089"/>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③</a:t>
                      </a:r>
                      <a:endParaRPr kumimoji="1" lang="en-US" altLang="ja-JP" sz="2400" b="1" dirty="0">
                        <a:solidFill>
                          <a:srgbClr val="0000FF"/>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58994433"/>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③</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10474393"/>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09725802"/>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④</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1858901"/>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④</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827002462"/>
                  </a:ext>
                </a:extLst>
              </a:tr>
            </a:tbl>
          </a:graphicData>
        </a:graphic>
      </p:graphicFrame>
    </p:spTree>
    <p:extLst>
      <p:ext uri="{BB962C8B-B14F-4D97-AF65-F5344CB8AC3E}">
        <p14:creationId xmlns:p14="http://schemas.microsoft.com/office/powerpoint/2010/main" val="1709873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9320E-2B23-3399-DDD8-B47AB4EE90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1C7C09-A411-2EEA-467C-9D4B89F56B8D}"/>
              </a:ext>
            </a:extLst>
          </p:cNvPr>
          <p:cNvSpPr>
            <a:spLocks noGrp="1"/>
          </p:cNvSpPr>
          <p:nvPr>
            <p:ph type="title"/>
          </p:nvPr>
        </p:nvSpPr>
        <p:spPr/>
        <p:txBody>
          <a:bodyPr/>
          <a:lstStyle/>
          <a:p>
            <a:r>
              <a:rPr kumimoji="1" lang="ja-JP" altLang="en-US" dirty="0"/>
              <a:t>共変量マッチング（</a:t>
            </a:r>
            <a:r>
              <a:rPr lang="en-US" altLang="ja-JP" dirty="0">
                <a:solidFill>
                  <a:schemeClr val="tx1"/>
                </a:solidFill>
              </a:rPr>
              <a:t>full matching</a:t>
            </a:r>
            <a:r>
              <a:rPr kumimoji="1" lang="ja-JP" altLang="en-US" dirty="0"/>
              <a:t>）</a:t>
            </a:r>
          </a:p>
        </p:txBody>
      </p:sp>
      <p:sp>
        <p:nvSpPr>
          <p:cNvPr id="4" name="スライド番号プレースホルダー 3">
            <a:extLst>
              <a:ext uri="{FF2B5EF4-FFF2-40B4-BE49-F238E27FC236}">
                <a16:creationId xmlns:a16="http://schemas.microsoft.com/office/drawing/2014/main" id="{EE5A6685-2858-C25C-A012-9002E19D3572}"/>
              </a:ext>
            </a:extLst>
          </p:cNvPr>
          <p:cNvSpPr>
            <a:spLocks noGrp="1"/>
          </p:cNvSpPr>
          <p:nvPr>
            <p:ph type="sldNum" sz="quarter" idx="11"/>
          </p:nvPr>
        </p:nvSpPr>
        <p:spPr/>
        <p:txBody>
          <a:bodyPr/>
          <a:lstStyle/>
          <a:p>
            <a:fld id="{23B20E4E-3F95-4221-AFE5-FD1FD9CC3448}" type="slidenum">
              <a:rPr lang="en-US" altLang="ja-JP" smtClean="0"/>
              <a:pPr/>
              <a:t>21</a:t>
            </a:fld>
            <a:endParaRPr lang="en-US" altLang="ja-JP"/>
          </a:p>
        </p:txBody>
      </p:sp>
      <p:pic>
        <p:nvPicPr>
          <p:cNvPr id="5" name="図 4" descr="ロゴ&#10;&#10;自動的に生成された説明">
            <a:extLst>
              <a:ext uri="{FF2B5EF4-FFF2-40B4-BE49-F238E27FC236}">
                <a16:creationId xmlns:a16="http://schemas.microsoft.com/office/drawing/2014/main" id="{638FB096-2B3D-0D1E-98DC-1B38D9EFE5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3" name="コンテンツ プレースホルダー 2">
            <a:extLst>
              <a:ext uri="{FF2B5EF4-FFF2-40B4-BE49-F238E27FC236}">
                <a16:creationId xmlns:a16="http://schemas.microsoft.com/office/drawing/2014/main" id="{E82091B8-E993-9EEF-CDD5-0A20A9991916}"/>
              </a:ext>
            </a:extLst>
          </p:cNvPr>
          <p:cNvSpPr>
            <a:spLocks noGrp="1"/>
          </p:cNvSpPr>
          <p:nvPr>
            <p:ph idx="1"/>
          </p:nvPr>
        </p:nvSpPr>
        <p:spPr>
          <a:xfrm>
            <a:off x="263352" y="1110952"/>
            <a:ext cx="9001000" cy="3974232"/>
          </a:xfrm>
        </p:spPr>
        <p:txBody>
          <a:bodyPr/>
          <a:lstStyle/>
          <a:p>
            <a:r>
              <a:rPr lang="en-US" altLang="ja-JP" dirty="0"/>
              <a:t># full matching</a:t>
            </a:r>
            <a:r>
              <a:rPr lang="ja-JP" altLang="en-US" dirty="0"/>
              <a:t>の計算</a:t>
            </a:r>
          </a:p>
          <a:p>
            <a:r>
              <a:rPr lang="en-US" altLang="ja-JP" dirty="0"/>
              <a:t>library(</a:t>
            </a:r>
            <a:r>
              <a:rPr lang="en-US" altLang="ja-JP" dirty="0" err="1"/>
              <a:t>MatchIt</a:t>
            </a:r>
            <a:r>
              <a:rPr lang="en-US" altLang="ja-JP" dirty="0"/>
              <a:t>)</a:t>
            </a:r>
          </a:p>
          <a:p>
            <a:r>
              <a:rPr lang="en-US" altLang="ja-JP" dirty="0"/>
              <a:t>match_full &lt;- </a:t>
            </a:r>
            <a:r>
              <a:rPr lang="en-US" altLang="ja-JP" dirty="0" err="1"/>
              <a:t>matchit</a:t>
            </a:r>
            <a:r>
              <a:rPr lang="en-US" altLang="ja-JP" dirty="0"/>
              <a:t>(treat ~ x, data = </a:t>
            </a:r>
            <a:r>
              <a:rPr lang="en-US" altLang="ja-JP" dirty="0" err="1"/>
              <a:t>dat</a:t>
            </a:r>
            <a:r>
              <a:rPr lang="en-US" altLang="ja-JP" dirty="0"/>
              <a:t>, method = "full", </a:t>
            </a:r>
          </a:p>
          <a:p>
            <a:r>
              <a:rPr lang="en-US" altLang="ja-JP" dirty="0"/>
              <a:t>distance = "</a:t>
            </a:r>
            <a:r>
              <a:rPr lang="en-US" altLang="ja-JP" dirty="0" err="1"/>
              <a:t>mahalanobis</a:t>
            </a:r>
            <a:r>
              <a:rPr lang="en-US" altLang="ja-JP" dirty="0"/>
              <a:t>", </a:t>
            </a:r>
            <a:r>
              <a:rPr lang="en-US" altLang="ja-JP" dirty="0" err="1"/>
              <a:t>estimand</a:t>
            </a:r>
            <a:r>
              <a:rPr lang="en-US" altLang="ja-JP" dirty="0"/>
              <a:t> = "ATE") </a:t>
            </a:r>
          </a:p>
          <a:p>
            <a:r>
              <a:rPr lang="en-US" altLang="ja-JP" dirty="0" err="1"/>
              <a:t>dat_match</a:t>
            </a:r>
            <a:r>
              <a:rPr lang="en-US" altLang="ja-JP" dirty="0"/>
              <a:t> &lt;- </a:t>
            </a:r>
            <a:r>
              <a:rPr lang="en-US" altLang="ja-JP" dirty="0" err="1"/>
              <a:t>match.data</a:t>
            </a:r>
            <a:r>
              <a:rPr lang="en-US" altLang="ja-JP" dirty="0"/>
              <a:t>(match_full) </a:t>
            </a:r>
          </a:p>
          <a:p>
            <a:r>
              <a:rPr lang="en-US" altLang="ja-JP" dirty="0" err="1"/>
              <a:t>dat_match</a:t>
            </a:r>
            <a:endParaRPr lang="en-US" altLang="ja-JP" dirty="0"/>
          </a:p>
        </p:txBody>
      </p:sp>
      <p:pic>
        <p:nvPicPr>
          <p:cNvPr id="9" name="図 8">
            <a:extLst>
              <a:ext uri="{FF2B5EF4-FFF2-40B4-BE49-F238E27FC236}">
                <a16:creationId xmlns:a16="http://schemas.microsoft.com/office/drawing/2014/main" id="{588EEA1B-BD2B-18EC-8EEE-5BC340566B17}"/>
              </a:ext>
            </a:extLst>
          </p:cNvPr>
          <p:cNvPicPr>
            <a:picLocks noChangeAspect="1"/>
          </p:cNvPicPr>
          <p:nvPr/>
        </p:nvPicPr>
        <p:blipFill>
          <a:blip r:embed="rId3">
            <a:extLst>
              <a:ext uri="{28A0092B-C50C-407E-A947-70E740481C1C}">
                <a14:useLocalDpi xmlns:a14="http://schemas.microsoft.com/office/drawing/2010/main" val="0"/>
              </a:ext>
            </a:extLst>
          </a:blip>
          <a:srcRect t="30383" r="31623"/>
          <a:stretch>
            <a:fillRect/>
          </a:stretch>
        </p:blipFill>
        <p:spPr>
          <a:xfrm>
            <a:off x="1919537" y="3849891"/>
            <a:ext cx="5433595" cy="2988000"/>
          </a:xfrm>
          <a:prstGeom prst="rect">
            <a:avLst/>
          </a:prstGeom>
        </p:spPr>
      </p:pic>
      <p:sp>
        <p:nvSpPr>
          <p:cNvPr id="10" name="正方形/長方形 9">
            <a:extLst>
              <a:ext uri="{FF2B5EF4-FFF2-40B4-BE49-F238E27FC236}">
                <a16:creationId xmlns:a16="http://schemas.microsoft.com/office/drawing/2014/main" id="{48969543-2456-886F-E800-24936157D346}"/>
              </a:ext>
            </a:extLst>
          </p:cNvPr>
          <p:cNvSpPr/>
          <p:nvPr/>
        </p:nvSpPr>
        <p:spPr>
          <a:xfrm>
            <a:off x="6906671" y="4037876"/>
            <a:ext cx="446461" cy="2664296"/>
          </a:xfrm>
          <a:prstGeom prst="rect">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704690A-A2E5-2BA6-373E-60254F4A7A85}"/>
              </a:ext>
            </a:extLst>
          </p:cNvPr>
          <p:cNvSpPr/>
          <p:nvPr/>
        </p:nvSpPr>
        <p:spPr>
          <a:xfrm>
            <a:off x="6672065" y="2204864"/>
            <a:ext cx="2520280" cy="461909"/>
          </a:xfrm>
          <a:prstGeom prst="rect">
            <a:avLst/>
          </a:prstGeom>
          <a:noFill/>
          <a:ln w="50800">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E560173-9E87-1CE7-AC7F-44BCA16CC3DE}"/>
              </a:ext>
            </a:extLst>
          </p:cNvPr>
          <p:cNvSpPr/>
          <p:nvPr/>
        </p:nvSpPr>
        <p:spPr>
          <a:xfrm>
            <a:off x="1919537" y="2727940"/>
            <a:ext cx="5328592" cy="458060"/>
          </a:xfrm>
          <a:prstGeom prst="rect">
            <a:avLst/>
          </a:prstGeom>
          <a:noFill/>
          <a:ln w="508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四角形 7">
            <a:extLst>
              <a:ext uri="{FF2B5EF4-FFF2-40B4-BE49-F238E27FC236}">
                <a16:creationId xmlns:a16="http://schemas.microsoft.com/office/drawing/2014/main" id="{F6504C60-D18F-CEF0-314A-95E4153C60DB}"/>
              </a:ext>
            </a:extLst>
          </p:cNvPr>
          <p:cNvSpPr/>
          <p:nvPr/>
        </p:nvSpPr>
        <p:spPr>
          <a:xfrm>
            <a:off x="5375920" y="1700808"/>
            <a:ext cx="3240360" cy="407848"/>
          </a:xfrm>
          <a:prstGeom prst="wedgeRectCallout">
            <a:avLst>
              <a:gd name="adj1" fmla="val -27923"/>
              <a:gd name="adj2" fmla="val -9122"/>
            </a:avLst>
          </a:prstGeom>
          <a:solidFill>
            <a:schemeClr val="bg1"/>
          </a:solid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①：</a:t>
            </a:r>
            <a:r>
              <a:rPr lang="en-US" altLang="ja-JP" sz="2000" b="1" dirty="0">
                <a:solidFill>
                  <a:schemeClr val="tx1"/>
                </a:solidFill>
                <a:latin typeface="Meiryo" panose="020B0604030504040204" pitchFamily="50" charset="-128"/>
                <a:ea typeface="Meiryo" panose="020B0604030504040204" pitchFamily="50" charset="-128"/>
              </a:rPr>
              <a:t>full</a:t>
            </a:r>
            <a:r>
              <a:rPr lang="ja-JP" altLang="en-US" sz="2000" b="1" dirty="0">
                <a:solidFill>
                  <a:schemeClr val="tx1"/>
                </a:solidFill>
                <a:latin typeface="Meiryo" panose="020B0604030504040204" pitchFamily="50" charset="-128"/>
                <a:ea typeface="Meiryo" panose="020B0604030504040204" pitchFamily="50" charset="-128"/>
              </a:rPr>
              <a:t> </a:t>
            </a:r>
            <a:r>
              <a:rPr lang="en-US" altLang="ja-JP" sz="2000" b="1" dirty="0">
                <a:solidFill>
                  <a:schemeClr val="tx1"/>
                </a:solidFill>
                <a:latin typeface="Meiryo" panose="020B0604030504040204" pitchFamily="50" charset="-128"/>
                <a:ea typeface="Meiryo" panose="020B0604030504040204" pitchFamily="50" charset="-128"/>
              </a:rPr>
              <a:t>matching</a:t>
            </a:r>
            <a:r>
              <a:rPr lang="ja-JP" altLang="en-US" sz="2000" b="1" dirty="0">
                <a:solidFill>
                  <a:schemeClr val="tx1"/>
                </a:solidFill>
                <a:latin typeface="Meiryo" panose="020B0604030504040204" pitchFamily="50" charset="-128"/>
                <a:ea typeface="Meiryo" panose="020B0604030504040204" pitchFamily="50" charset="-128"/>
              </a:rPr>
              <a:t>を指定</a:t>
            </a:r>
            <a:endParaRPr lang="en-US" altLang="ja-JP" sz="2000" b="1" dirty="0">
              <a:solidFill>
                <a:schemeClr val="tx1"/>
              </a:solidFill>
              <a:latin typeface="Meiryo" panose="020B0604030504040204" pitchFamily="50" charset="-128"/>
              <a:ea typeface="Meiryo" panose="020B0604030504040204" pitchFamily="50" charset="-128"/>
            </a:endParaRPr>
          </a:p>
        </p:txBody>
      </p:sp>
      <p:sp>
        <p:nvSpPr>
          <p:cNvPr id="11" name="吹き出し: 四角形 10">
            <a:extLst>
              <a:ext uri="{FF2B5EF4-FFF2-40B4-BE49-F238E27FC236}">
                <a16:creationId xmlns:a16="http://schemas.microsoft.com/office/drawing/2014/main" id="{9FEBE2CD-8DD3-07BF-6584-3A5B96C10623}"/>
              </a:ext>
            </a:extLst>
          </p:cNvPr>
          <p:cNvSpPr/>
          <p:nvPr/>
        </p:nvSpPr>
        <p:spPr>
          <a:xfrm>
            <a:off x="7465734" y="2835085"/>
            <a:ext cx="4104458" cy="1394825"/>
          </a:xfrm>
          <a:prstGeom prst="wedgeRectCallout">
            <a:avLst>
              <a:gd name="adj1" fmla="val -27923"/>
              <a:gd name="adj2" fmla="val -9122"/>
            </a:avLst>
          </a:prstGeom>
          <a:solidFill>
            <a:schemeClr val="bg1"/>
          </a:solid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b="1" dirty="0">
                <a:solidFill>
                  <a:schemeClr val="tx1"/>
                </a:solidFill>
                <a:latin typeface="Meiryo" panose="020B0604030504040204" pitchFamily="50" charset="-128"/>
                <a:ea typeface="Meiryo" panose="020B0604030504040204" pitchFamily="50" charset="-128"/>
              </a:rPr>
              <a:t>②：</a:t>
            </a:r>
            <a:r>
              <a:rPr lang="en-US" altLang="ja-JP" sz="2000" b="1" dirty="0">
                <a:solidFill>
                  <a:schemeClr val="tx1"/>
                </a:solidFill>
                <a:latin typeface="Meiryo" panose="020B0604030504040204" pitchFamily="50" charset="-128"/>
                <a:ea typeface="Meiryo" panose="020B0604030504040204" pitchFamily="50" charset="-128"/>
              </a:rPr>
              <a:t>X</a:t>
            </a:r>
            <a:r>
              <a:rPr lang="ja-JP" altLang="en-US" sz="2000" b="1" dirty="0">
                <a:solidFill>
                  <a:schemeClr val="tx1"/>
                </a:solidFill>
                <a:latin typeface="Meiryo" panose="020B0604030504040204" pitchFamily="50" charset="-128"/>
                <a:ea typeface="Meiryo" panose="020B0604030504040204" pitchFamily="50" charset="-128"/>
              </a:rPr>
              <a:t>の距離による</a:t>
            </a:r>
            <a:r>
              <a:rPr lang="en-US" altLang="ja-JP" sz="2000" b="1" dirty="0">
                <a:solidFill>
                  <a:schemeClr val="tx1"/>
                </a:solidFill>
                <a:latin typeface="Meiryo" panose="020B0604030504040204" pitchFamily="50" charset="-128"/>
                <a:ea typeface="Meiryo" panose="020B0604030504040204" pitchFamily="50" charset="-128"/>
              </a:rPr>
              <a:t>full matching</a:t>
            </a:r>
            <a:r>
              <a:rPr lang="ja-JP" altLang="en-US" sz="2000" b="1" dirty="0">
                <a:solidFill>
                  <a:schemeClr val="tx1"/>
                </a:solidFill>
                <a:latin typeface="Meiryo" panose="020B0604030504040204" pitchFamily="50" charset="-128"/>
                <a:ea typeface="Meiryo" panose="020B0604030504040204" pitchFamily="50" charset="-128"/>
              </a:rPr>
              <a:t>を算出</a:t>
            </a:r>
            <a:r>
              <a:rPr lang="en-US" altLang="ja-JP" sz="2000" b="1" dirty="0">
                <a:solidFill>
                  <a:schemeClr val="tx1"/>
                </a:solidFill>
                <a:latin typeface="Meiryo" panose="020B0604030504040204" pitchFamily="50" charset="-128"/>
                <a:ea typeface="Meiryo" panose="020B0604030504040204" pitchFamily="50" charset="-128"/>
              </a:rPr>
              <a:t>.</a:t>
            </a:r>
          </a:p>
          <a:p>
            <a:r>
              <a:rPr lang="ja-JP" altLang="en-US" sz="2000" b="1" dirty="0">
                <a:solidFill>
                  <a:schemeClr val="tx1"/>
                </a:solidFill>
                <a:latin typeface="Meiryo" panose="020B0604030504040204" pitchFamily="50" charset="-128"/>
                <a:ea typeface="Meiryo" panose="020B0604030504040204" pitchFamily="50" charset="-128"/>
              </a:rPr>
              <a:t>平均因果効果</a:t>
            </a:r>
            <a:r>
              <a:rPr lang="en-US" altLang="ja-JP" sz="2000" b="1" dirty="0">
                <a:solidFill>
                  <a:schemeClr val="tx1"/>
                </a:solidFill>
                <a:latin typeface="Meiryo" panose="020B0604030504040204" pitchFamily="50" charset="-128"/>
                <a:ea typeface="Meiryo" panose="020B0604030504040204" pitchFamily="50" charset="-128"/>
              </a:rPr>
              <a:t>(</a:t>
            </a:r>
            <a:r>
              <a:rPr lang="en-US" altLang="ja-JP" sz="2000" b="1" dirty="0">
                <a:solidFill>
                  <a:schemeClr val="tx1"/>
                </a:solidFill>
                <a:latin typeface="メイリオ" panose="020B0604030504040204" pitchFamily="50" charset="-128"/>
                <a:ea typeface="メイリオ" panose="020B0604030504040204" pitchFamily="50" charset="-128"/>
              </a:rPr>
              <a:t>Average Causal Effect</a:t>
            </a:r>
            <a:r>
              <a:rPr lang="en-US" altLang="ja-JP" sz="2000" b="1" dirty="0">
                <a:solidFill>
                  <a:schemeClr val="tx1"/>
                </a:solidFill>
              </a:rPr>
              <a:t>)</a:t>
            </a:r>
            <a:r>
              <a:rPr lang="ja-JP" altLang="en-US" sz="2000" b="1" dirty="0">
                <a:solidFill>
                  <a:schemeClr val="tx1"/>
                </a:solidFill>
              </a:rPr>
              <a:t>の推定</a:t>
            </a:r>
            <a:endParaRPr lang="en-US" altLang="ja-JP" sz="2000" b="1" dirty="0">
              <a:solidFill>
                <a:schemeClr val="tx1"/>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199119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57AE1-BE2B-0732-E3BA-9B7F31C1B4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D174ED-3760-FCC8-0B1A-0EEF3AF41EE5}"/>
              </a:ext>
            </a:extLst>
          </p:cNvPr>
          <p:cNvSpPr>
            <a:spLocks noGrp="1"/>
          </p:cNvSpPr>
          <p:nvPr>
            <p:ph type="title"/>
          </p:nvPr>
        </p:nvSpPr>
        <p:spPr/>
        <p:txBody>
          <a:bodyPr/>
          <a:lstStyle/>
          <a:p>
            <a:r>
              <a:rPr kumimoji="1" lang="ja-JP" altLang="en-US" dirty="0"/>
              <a:t>共変量マッチング（</a:t>
            </a:r>
            <a:r>
              <a:rPr lang="en-US" altLang="ja-JP" dirty="0">
                <a:solidFill>
                  <a:schemeClr val="tx1"/>
                </a:solidFill>
              </a:rPr>
              <a:t>full matching</a:t>
            </a:r>
            <a:r>
              <a:rPr kumimoji="1" lang="ja-JP" altLang="en-US" dirty="0"/>
              <a:t>）</a:t>
            </a:r>
          </a:p>
        </p:txBody>
      </p:sp>
      <p:sp>
        <p:nvSpPr>
          <p:cNvPr id="4" name="スライド番号プレースホルダー 3">
            <a:extLst>
              <a:ext uri="{FF2B5EF4-FFF2-40B4-BE49-F238E27FC236}">
                <a16:creationId xmlns:a16="http://schemas.microsoft.com/office/drawing/2014/main" id="{026F6340-1D6A-5BA7-02A1-D173D24FBDF1}"/>
              </a:ext>
            </a:extLst>
          </p:cNvPr>
          <p:cNvSpPr>
            <a:spLocks noGrp="1"/>
          </p:cNvSpPr>
          <p:nvPr>
            <p:ph type="sldNum" sz="quarter" idx="11"/>
          </p:nvPr>
        </p:nvSpPr>
        <p:spPr/>
        <p:txBody>
          <a:bodyPr/>
          <a:lstStyle/>
          <a:p>
            <a:fld id="{23B20E4E-3F95-4221-AFE5-FD1FD9CC3448}" type="slidenum">
              <a:rPr lang="en-US" altLang="ja-JP" smtClean="0"/>
              <a:pPr/>
              <a:t>22</a:t>
            </a:fld>
            <a:endParaRPr lang="en-US" altLang="ja-JP"/>
          </a:p>
        </p:txBody>
      </p:sp>
      <p:pic>
        <p:nvPicPr>
          <p:cNvPr id="5" name="図 4" descr="ロゴ&#10;&#10;自動的に生成された説明">
            <a:extLst>
              <a:ext uri="{FF2B5EF4-FFF2-40B4-BE49-F238E27FC236}">
                <a16:creationId xmlns:a16="http://schemas.microsoft.com/office/drawing/2014/main" id="{CF729F41-FE87-9B4D-05E4-89F7290C81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aphicFrame>
        <p:nvGraphicFramePr>
          <p:cNvPr id="6" name="表 5">
            <a:extLst>
              <a:ext uri="{FF2B5EF4-FFF2-40B4-BE49-F238E27FC236}">
                <a16:creationId xmlns:a16="http://schemas.microsoft.com/office/drawing/2014/main" id="{CCB1DFC8-1DEB-F85C-9427-867979AAC6E5}"/>
              </a:ext>
            </a:extLst>
          </p:cNvPr>
          <p:cNvGraphicFramePr>
            <a:graphicFrameLocks noGrp="1"/>
          </p:cNvGraphicFramePr>
          <p:nvPr/>
        </p:nvGraphicFramePr>
        <p:xfrm>
          <a:off x="1226672" y="1110952"/>
          <a:ext cx="3501176" cy="5486400"/>
        </p:xfrm>
        <a:graphic>
          <a:graphicData uri="http://schemas.openxmlformats.org/drawingml/2006/table">
            <a:tbl>
              <a:tblPr firstRow="1" lastRow="1" bandRow="1">
                <a:tableStyleId>{72833802-FEF1-4C79-8D5D-14CF1EAF98D9}</a:tableStyleId>
              </a:tblPr>
              <a:tblGrid>
                <a:gridCol w="504000">
                  <a:extLst>
                    <a:ext uri="{9D8B030D-6E8A-4147-A177-3AD203B41FA5}">
                      <a16:colId xmlns:a16="http://schemas.microsoft.com/office/drawing/2014/main" val="2921360576"/>
                    </a:ext>
                  </a:extLst>
                </a:gridCol>
                <a:gridCol w="792000">
                  <a:extLst>
                    <a:ext uri="{9D8B030D-6E8A-4147-A177-3AD203B41FA5}">
                      <a16:colId xmlns:a16="http://schemas.microsoft.com/office/drawing/2014/main" val="628765754"/>
                    </a:ext>
                  </a:extLst>
                </a:gridCol>
                <a:gridCol w="792000">
                  <a:extLst>
                    <a:ext uri="{9D8B030D-6E8A-4147-A177-3AD203B41FA5}">
                      <a16:colId xmlns:a16="http://schemas.microsoft.com/office/drawing/2014/main" val="2425332903"/>
                    </a:ext>
                  </a:extLst>
                </a:gridCol>
                <a:gridCol w="792000">
                  <a:extLst>
                    <a:ext uri="{9D8B030D-6E8A-4147-A177-3AD203B41FA5}">
                      <a16:colId xmlns:a16="http://schemas.microsoft.com/office/drawing/2014/main" val="2951463833"/>
                    </a:ext>
                  </a:extLst>
                </a:gridCol>
                <a:gridCol w="621176">
                  <a:extLst>
                    <a:ext uri="{9D8B030D-6E8A-4147-A177-3AD203B41FA5}">
                      <a16:colId xmlns:a16="http://schemas.microsoft.com/office/drawing/2014/main" val="1128014363"/>
                    </a:ext>
                  </a:extLst>
                </a:gridCol>
              </a:tblGrid>
              <a:tr h="386802">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dat</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1804784806"/>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ID</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X</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T</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100584065"/>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③</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0876704"/>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08723089"/>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③</a:t>
                      </a:r>
                      <a:endParaRPr kumimoji="1" lang="en-US" altLang="ja-JP" sz="2400" b="1" dirty="0">
                        <a:solidFill>
                          <a:srgbClr val="0000FF"/>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58994433"/>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③</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10474393"/>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09725802"/>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④</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1858901"/>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rgbClr val="0000FF"/>
                          </a:solidFill>
                          <a:latin typeface="+mn-ea"/>
                          <a:ea typeface="+mn-ea"/>
                        </a:rPr>
                        <a:t>④</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827002462"/>
                  </a:ext>
                </a:extLst>
              </a:tr>
            </a:tbl>
          </a:graphicData>
        </a:graphic>
      </p:graphicFrame>
      <p:pic>
        <p:nvPicPr>
          <p:cNvPr id="16" name="図 15">
            <a:extLst>
              <a:ext uri="{FF2B5EF4-FFF2-40B4-BE49-F238E27FC236}">
                <a16:creationId xmlns:a16="http://schemas.microsoft.com/office/drawing/2014/main" id="{59D1757A-3C91-2F90-1B61-A0200358F7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3872" y="1888921"/>
            <a:ext cx="6998470" cy="3780000"/>
          </a:xfrm>
          <a:prstGeom prst="rect">
            <a:avLst/>
          </a:prstGeom>
        </p:spPr>
      </p:pic>
      <p:sp>
        <p:nvSpPr>
          <p:cNvPr id="17" name="正方形/長方形 16">
            <a:extLst>
              <a:ext uri="{FF2B5EF4-FFF2-40B4-BE49-F238E27FC236}">
                <a16:creationId xmlns:a16="http://schemas.microsoft.com/office/drawing/2014/main" id="{6ED6E9FE-E48B-578A-4B02-761D1A416A03}"/>
              </a:ext>
            </a:extLst>
          </p:cNvPr>
          <p:cNvSpPr/>
          <p:nvPr/>
        </p:nvSpPr>
        <p:spPr>
          <a:xfrm>
            <a:off x="9264352" y="3212976"/>
            <a:ext cx="504056" cy="2232248"/>
          </a:xfrm>
          <a:prstGeom prst="rect">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32268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2842D-34B2-DE61-187F-CE8F44C7D2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03F4F9-90B3-999F-E09D-2597DEB44106}"/>
              </a:ext>
            </a:extLst>
          </p:cNvPr>
          <p:cNvSpPr>
            <a:spLocks noGrp="1"/>
          </p:cNvSpPr>
          <p:nvPr>
            <p:ph type="title"/>
          </p:nvPr>
        </p:nvSpPr>
        <p:spPr/>
        <p:txBody>
          <a:bodyPr/>
          <a:lstStyle/>
          <a:p>
            <a:r>
              <a:rPr lang="ja-JP" altLang="en-US" dirty="0"/>
              <a:t>共変量マッチング（</a:t>
            </a:r>
            <a:r>
              <a:rPr lang="en-US" altLang="ja-JP" dirty="0">
                <a:solidFill>
                  <a:schemeClr val="tx1"/>
                </a:solidFill>
              </a:rPr>
              <a:t>full matching</a:t>
            </a:r>
            <a:r>
              <a:rPr lang="ja-JP" altLang="en-US" dirty="0"/>
              <a:t>）</a:t>
            </a:r>
            <a:endParaRPr kumimoji="1" lang="ja-JP" altLang="en-US" dirty="0"/>
          </a:p>
        </p:txBody>
      </p:sp>
      <p:sp>
        <p:nvSpPr>
          <p:cNvPr id="4" name="スライド番号プレースホルダー 3">
            <a:extLst>
              <a:ext uri="{FF2B5EF4-FFF2-40B4-BE49-F238E27FC236}">
                <a16:creationId xmlns:a16="http://schemas.microsoft.com/office/drawing/2014/main" id="{D32E9870-2D32-CBF3-6E62-619BE2C1C589}"/>
              </a:ext>
            </a:extLst>
          </p:cNvPr>
          <p:cNvSpPr>
            <a:spLocks noGrp="1"/>
          </p:cNvSpPr>
          <p:nvPr>
            <p:ph type="sldNum" sz="quarter" idx="11"/>
          </p:nvPr>
        </p:nvSpPr>
        <p:spPr/>
        <p:txBody>
          <a:bodyPr/>
          <a:lstStyle/>
          <a:p>
            <a:fld id="{23B20E4E-3F95-4221-AFE5-FD1FD9CC3448}" type="slidenum">
              <a:rPr lang="en-US" altLang="ja-JP" smtClean="0"/>
              <a:pPr/>
              <a:t>23</a:t>
            </a:fld>
            <a:endParaRPr lang="en-US" altLang="ja-JP"/>
          </a:p>
        </p:txBody>
      </p:sp>
      <p:pic>
        <p:nvPicPr>
          <p:cNvPr id="5" name="図 4" descr="ロゴ&#10;&#10;自動的に生成された説明">
            <a:extLst>
              <a:ext uri="{FF2B5EF4-FFF2-40B4-BE49-F238E27FC236}">
                <a16:creationId xmlns:a16="http://schemas.microsoft.com/office/drawing/2014/main" id="{1BB892BF-4CD1-7850-AFC5-926BA2F021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aphicFrame>
        <p:nvGraphicFramePr>
          <p:cNvPr id="8" name="表 7">
            <a:extLst>
              <a:ext uri="{FF2B5EF4-FFF2-40B4-BE49-F238E27FC236}">
                <a16:creationId xmlns:a16="http://schemas.microsoft.com/office/drawing/2014/main" id="{B4E4B34D-E65B-1578-B316-75DC6F20EF6D}"/>
              </a:ext>
            </a:extLst>
          </p:cNvPr>
          <p:cNvGraphicFramePr>
            <a:graphicFrameLocks noGrp="1"/>
          </p:cNvGraphicFramePr>
          <p:nvPr>
            <p:extLst>
              <p:ext uri="{D42A27DB-BD31-4B8C-83A1-F6EECF244321}">
                <p14:modId xmlns:p14="http://schemas.microsoft.com/office/powerpoint/2010/main" val="2946307003"/>
              </p:ext>
            </p:extLst>
          </p:nvPr>
        </p:nvGraphicFramePr>
        <p:xfrm>
          <a:off x="6665296" y="4411638"/>
          <a:ext cx="3848601" cy="1828800"/>
        </p:xfrm>
        <a:graphic>
          <a:graphicData uri="http://schemas.openxmlformats.org/drawingml/2006/table">
            <a:tbl>
              <a:tblPr firstRow="1" lastRow="1" bandRow="1">
                <a:tableStyleId>{72833802-FEF1-4C79-8D5D-14CF1EAF98D9}</a:tableStyleId>
              </a:tblPr>
              <a:tblGrid>
                <a:gridCol w="500601">
                  <a:extLst>
                    <a:ext uri="{9D8B030D-6E8A-4147-A177-3AD203B41FA5}">
                      <a16:colId xmlns:a16="http://schemas.microsoft.com/office/drawing/2014/main" val="2921360576"/>
                    </a:ext>
                  </a:extLst>
                </a:gridCol>
                <a:gridCol w="1116000">
                  <a:extLst>
                    <a:ext uri="{9D8B030D-6E8A-4147-A177-3AD203B41FA5}">
                      <a16:colId xmlns:a16="http://schemas.microsoft.com/office/drawing/2014/main" val="2425332903"/>
                    </a:ext>
                  </a:extLst>
                </a:gridCol>
                <a:gridCol w="1116000">
                  <a:extLst>
                    <a:ext uri="{9D8B030D-6E8A-4147-A177-3AD203B41FA5}">
                      <a16:colId xmlns:a16="http://schemas.microsoft.com/office/drawing/2014/main" val="1312004576"/>
                    </a:ext>
                  </a:extLst>
                </a:gridCol>
                <a:gridCol w="1116000">
                  <a:extLst>
                    <a:ext uri="{9D8B030D-6E8A-4147-A177-3AD203B41FA5}">
                      <a16:colId xmlns:a16="http://schemas.microsoft.com/office/drawing/2014/main" val="2951463833"/>
                    </a:ext>
                  </a:extLst>
                </a:gridCol>
              </a:tblGrid>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ID</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100584065"/>
                  </a:ext>
                </a:extLst>
              </a:tr>
              <a:tr h="386802">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②</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38680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38680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bl>
          </a:graphicData>
        </a:graphic>
      </p:graphicFrame>
      <p:sp>
        <p:nvSpPr>
          <p:cNvPr id="9" name="正方形/長方形 8">
            <a:extLst>
              <a:ext uri="{FF2B5EF4-FFF2-40B4-BE49-F238E27FC236}">
                <a16:creationId xmlns:a16="http://schemas.microsoft.com/office/drawing/2014/main" id="{D47CC58A-D84A-7DBD-26CB-DC94B03CC0CB}"/>
              </a:ext>
            </a:extLst>
          </p:cNvPr>
          <p:cNvSpPr/>
          <p:nvPr/>
        </p:nvSpPr>
        <p:spPr>
          <a:xfrm rot="10800000">
            <a:off x="8584204" y="5336853"/>
            <a:ext cx="576064" cy="887284"/>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sz="2000" b="1" dirty="0">
              <a:noFill/>
              <a:highlight>
                <a:srgbClr val="FFFF00"/>
              </a:highlight>
            </a:endParaRPr>
          </a:p>
        </p:txBody>
      </p:sp>
      <p:sp>
        <p:nvSpPr>
          <p:cNvPr id="10" name="矢印: 下 9">
            <a:extLst>
              <a:ext uri="{FF2B5EF4-FFF2-40B4-BE49-F238E27FC236}">
                <a16:creationId xmlns:a16="http://schemas.microsoft.com/office/drawing/2014/main" id="{6BCC9D08-D4D3-6249-0570-759A100B341B}"/>
              </a:ext>
            </a:extLst>
          </p:cNvPr>
          <p:cNvSpPr/>
          <p:nvPr/>
        </p:nvSpPr>
        <p:spPr>
          <a:xfrm rot="10800000">
            <a:off x="8728220" y="4941167"/>
            <a:ext cx="288032" cy="395685"/>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AA5F5B35-DA97-A705-B034-EB2C7E65B1A6}"/>
              </a:ext>
            </a:extLst>
          </p:cNvPr>
          <p:cNvSpPr/>
          <p:nvPr/>
        </p:nvSpPr>
        <p:spPr>
          <a:xfrm>
            <a:off x="9768408" y="4852197"/>
            <a:ext cx="446024" cy="573626"/>
          </a:xfrm>
          <a:prstGeom prst="rect">
            <a:avLst/>
          </a:prstGeom>
          <a:noFill/>
          <a:ln w="762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sz="2000" b="1" dirty="0">
              <a:noFill/>
              <a:highlight>
                <a:srgbClr val="FFFF00"/>
              </a:highlight>
            </a:endParaRPr>
          </a:p>
        </p:txBody>
      </p:sp>
      <p:sp>
        <p:nvSpPr>
          <p:cNvPr id="12" name="矢印: 下 11">
            <a:extLst>
              <a:ext uri="{FF2B5EF4-FFF2-40B4-BE49-F238E27FC236}">
                <a16:creationId xmlns:a16="http://schemas.microsoft.com/office/drawing/2014/main" id="{7BC13B54-9ED3-4259-51D7-5C0DA73A46D9}"/>
              </a:ext>
            </a:extLst>
          </p:cNvPr>
          <p:cNvSpPr/>
          <p:nvPr/>
        </p:nvSpPr>
        <p:spPr>
          <a:xfrm>
            <a:off x="9847404" y="5425823"/>
            <a:ext cx="288032" cy="780149"/>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aphicFrame>
        <p:nvGraphicFramePr>
          <p:cNvPr id="3" name="表 2">
            <a:extLst>
              <a:ext uri="{FF2B5EF4-FFF2-40B4-BE49-F238E27FC236}">
                <a16:creationId xmlns:a16="http://schemas.microsoft.com/office/drawing/2014/main" id="{E677EBF8-FD4E-90F2-A4B3-2F82063955B9}"/>
              </a:ext>
            </a:extLst>
          </p:cNvPr>
          <p:cNvGraphicFramePr>
            <a:graphicFrameLocks noGrp="1"/>
          </p:cNvGraphicFramePr>
          <p:nvPr>
            <p:extLst>
              <p:ext uri="{D42A27DB-BD31-4B8C-83A1-F6EECF244321}">
                <p14:modId xmlns:p14="http://schemas.microsoft.com/office/powerpoint/2010/main" val="4149633457"/>
              </p:ext>
            </p:extLst>
          </p:nvPr>
        </p:nvGraphicFramePr>
        <p:xfrm>
          <a:off x="1269703" y="1092233"/>
          <a:ext cx="5472000" cy="2743200"/>
        </p:xfrm>
        <a:graphic>
          <a:graphicData uri="http://schemas.openxmlformats.org/drawingml/2006/table">
            <a:tbl>
              <a:tblPr firstRow="1" lastRow="1" bandRow="1">
                <a:tableStyleId>{72833802-FEF1-4C79-8D5D-14CF1EAF98D9}</a:tableStyleId>
              </a:tblPr>
              <a:tblGrid>
                <a:gridCol w="720000">
                  <a:extLst>
                    <a:ext uri="{9D8B030D-6E8A-4147-A177-3AD203B41FA5}">
                      <a16:colId xmlns:a16="http://schemas.microsoft.com/office/drawing/2014/main" val="2921360576"/>
                    </a:ext>
                  </a:extLst>
                </a:gridCol>
                <a:gridCol w="2376000">
                  <a:extLst>
                    <a:ext uri="{9D8B030D-6E8A-4147-A177-3AD203B41FA5}">
                      <a16:colId xmlns:a16="http://schemas.microsoft.com/office/drawing/2014/main" val="2425332903"/>
                    </a:ext>
                  </a:extLst>
                </a:gridCol>
                <a:gridCol w="2376000">
                  <a:extLst>
                    <a:ext uri="{9D8B030D-6E8A-4147-A177-3AD203B41FA5}">
                      <a16:colId xmlns:a16="http://schemas.microsoft.com/office/drawing/2014/main" val="2951463833"/>
                    </a:ext>
                  </a:extLst>
                </a:gridCol>
              </a:tblGrid>
              <a:tr h="386802">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2400" dirty="0">
                          <a:solidFill>
                            <a:schemeClr val="tx1"/>
                          </a:solidFill>
                        </a:rPr>
                        <a:t>full matching</a:t>
                      </a:r>
                      <a:r>
                        <a:rPr kumimoji="1" lang="ja-JP" altLang="en-US" sz="2400" b="1" dirty="0">
                          <a:solidFill>
                            <a:schemeClr val="tx1"/>
                          </a:solidFill>
                          <a:latin typeface="+mn-ea"/>
                          <a:ea typeface="+mn-ea"/>
                        </a:rPr>
                        <a:t>により層を構成</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2599687848"/>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T(0)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100584065"/>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5</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③</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9</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④</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0876704"/>
                  </a:ext>
                </a:extLst>
              </a:tr>
            </a:tbl>
          </a:graphicData>
        </a:graphic>
      </p:graphicFrame>
      <p:graphicFrame>
        <p:nvGraphicFramePr>
          <p:cNvPr id="13" name="表 12">
            <a:extLst>
              <a:ext uri="{FF2B5EF4-FFF2-40B4-BE49-F238E27FC236}">
                <a16:creationId xmlns:a16="http://schemas.microsoft.com/office/drawing/2014/main" id="{464D1054-AFC5-E352-35C3-0CC44A48EAFC}"/>
              </a:ext>
            </a:extLst>
          </p:cNvPr>
          <p:cNvGraphicFramePr>
            <a:graphicFrameLocks noGrp="1"/>
          </p:cNvGraphicFramePr>
          <p:nvPr>
            <p:extLst>
              <p:ext uri="{D42A27DB-BD31-4B8C-83A1-F6EECF244321}">
                <p14:modId xmlns:p14="http://schemas.microsoft.com/office/powerpoint/2010/main" val="2132229928"/>
              </p:ext>
            </p:extLst>
          </p:nvPr>
        </p:nvGraphicFramePr>
        <p:xfrm>
          <a:off x="1275423" y="3933056"/>
          <a:ext cx="5036601" cy="2743200"/>
        </p:xfrm>
        <a:graphic>
          <a:graphicData uri="http://schemas.openxmlformats.org/drawingml/2006/table">
            <a:tbl>
              <a:tblPr firstRow="1" lastRow="1" bandRow="1">
                <a:tableStyleId>{72833802-FEF1-4C79-8D5D-14CF1EAF98D9}</a:tableStyleId>
              </a:tblPr>
              <a:tblGrid>
                <a:gridCol w="500601">
                  <a:extLst>
                    <a:ext uri="{9D8B030D-6E8A-4147-A177-3AD203B41FA5}">
                      <a16:colId xmlns:a16="http://schemas.microsoft.com/office/drawing/2014/main" val="2921360576"/>
                    </a:ext>
                  </a:extLst>
                </a:gridCol>
                <a:gridCol w="1512000">
                  <a:extLst>
                    <a:ext uri="{9D8B030D-6E8A-4147-A177-3AD203B41FA5}">
                      <a16:colId xmlns:a16="http://schemas.microsoft.com/office/drawing/2014/main" val="2425332903"/>
                    </a:ext>
                  </a:extLst>
                </a:gridCol>
                <a:gridCol w="1512000">
                  <a:extLst>
                    <a:ext uri="{9D8B030D-6E8A-4147-A177-3AD203B41FA5}">
                      <a16:colId xmlns:a16="http://schemas.microsoft.com/office/drawing/2014/main" val="1312004576"/>
                    </a:ext>
                  </a:extLst>
                </a:gridCol>
                <a:gridCol w="1512000">
                  <a:extLst>
                    <a:ext uri="{9D8B030D-6E8A-4147-A177-3AD203B41FA5}">
                      <a16:colId xmlns:a16="http://schemas.microsoft.com/office/drawing/2014/main" val="2951463833"/>
                    </a:ext>
                  </a:extLst>
                </a:gridCol>
              </a:tblGrid>
              <a:tr h="396598">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潜在アウトカム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696968139"/>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層</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ID</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100584065"/>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②</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5</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14</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16</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③</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9</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④</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6</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0876704"/>
                  </a:ext>
                </a:extLst>
              </a:tr>
            </a:tbl>
          </a:graphicData>
        </a:graphic>
      </p:graphicFrame>
      <p:sp>
        <p:nvSpPr>
          <p:cNvPr id="6" name="吹き出し: 角を丸めた四角形 5">
            <a:extLst>
              <a:ext uri="{FF2B5EF4-FFF2-40B4-BE49-F238E27FC236}">
                <a16:creationId xmlns:a16="http://schemas.microsoft.com/office/drawing/2014/main" id="{9C1408C9-893C-C19A-8F6F-48E9EF7A3B0D}"/>
              </a:ext>
            </a:extLst>
          </p:cNvPr>
          <p:cNvSpPr/>
          <p:nvPr/>
        </p:nvSpPr>
        <p:spPr>
          <a:xfrm>
            <a:off x="6938407" y="2924944"/>
            <a:ext cx="5154908" cy="1214247"/>
          </a:xfrm>
          <a:prstGeom prst="wedgeRoundRectCallout">
            <a:avLst>
              <a:gd name="adj1" fmla="val -40381"/>
              <a:gd name="adj2" fmla="val -6663"/>
              <a:gd name="adj3" fmla="val 16667"/>
            </a:avLst>
          </a:prstGeom>
          <a:solidFill>
            <a:schemeClr val="accent3">
              <a:lumMod val="95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600" b="1" dirty="0">
                <a:solidFill>
                  <a:schemeClr val="tx1"/>
                </a:solidFill>
                <a:latin typeface="メイリオ" panose="020B0604030504040204" pitchFamily="50" charset="-128"/>
                <a:ea typeface="メイリオ" panose="020B0604030504040204" pitchFamily="50" charset="-128"/>
              </a:rPr>
              <a:t>“層②</a:t>
            </a:r>
            <a:r>
              <a:rPr lang="en-US" altLang="ja-JP" sz="2600" b="1" dirty="0">
                <a:solidFill>
                  <a:schemeClr val="tx1"/>
                </a:solidFill>
                <a:latin typeface="メイリオ" panose="020B0604030504040204" pitchFamily="50" charset="-128"/>
                <a:ea typeface="メイリオ" panose="020B0604030504040204" pitchFamily="50" charset="-128"/>
              </a:rPr>
              <a:t>”</a:t>
            </a:r>
            <a:r>
              <a:rPr lang="ja-JP" altLang="en-US" sz="2600" b="1" dirty="0">
                <a:solidFill>
                  <a:schemeClr val="tx1"/>
                </a:solidFill>
                <a:latin typeface="メイリオ" panose="020B0604030504040204" pitchFamily="50" charset="-128"/>
                <a:ea typeface="メイリオ" panose="020B0604030504040204" pitchFamily="50" charset="-128"/>
              </a:rPr>
              <a:t>内において</a:t>
            </a:r>
            <a:r>
              <a:rPr lang="en-US" altLang="ja-JP" sz="2600" b="1" dirty="0">
                <a:solidFill>
                  <a:schemeClr val="tx1"/>
                </a:solidFill>
                <a:latin typeface="メイリオ" panose="020B0604030504040204" pitchFamily="50" charset="-128"/>
                <a:ea typeface="メイリオ" panose="020B0604030504040204" pitchFamily="50" charset="-128"/>
              </a:rPr>
              <a:t>, </a:t>
            </a:r>
            <a:r>
              <a:rPr lang="ja-JP" altLang="en-US" sz="2600" b="1" dirty="0">
                <a:solidFill>
                  <a:schemeClr val="tx1"/>
                </a:solidFill>
                <a:latin typeface="メイリオ" panose="020B0604030504040204" pitchFamily="50" charset="-128"/>
                <a:ea typeface="メイリオ" panose="020B0604030504040204" pitchFamily="50" charset="-128"/>
              </a:rPr>
              <a:t>潜在アウトカムの欠測を補完</a:t>
            </a:r>
            <a:endParaRPr lang="en-US" altLang="ja-JP" sz="2600" b="1"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80289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A78C6-7C4A-A668-B94E-0563E14913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A5E784-B7A7-F4B6-51A1-172A75B55DDE}"/>
              </a:ext>
            </a:extLst>
          </p:cNvPr>
          <p:cNvSpPr>
            <a:spLocks noGrp="1"/>
          </p:cNvSpPr>
          <p:nvPr>
            <p:ph type="title"/>
          </p:nvPr>
        </p:nvSpPr>
        <p:spPr/>
        <p:txBody>
          <a:bodyPr/>
          <a:lstStyle/>
          <a:p>
            <a:r>
              <a:rPr lang="ja-JP" altLang="en-US" dirty="0"/>
              <a:t>共変量マッチング（</a:t>
            </a:r>
            <a:r>
              <a:rPr lang="en-US" altLang="ja-JP" dirty="0">
                <a:solidFill>
                  <a:schemeClr val="tx1"/>
                </a:solidFill>
              </a:rPr>
              <a:t>full matching</a:t>
            </a:r>
            <a:r>
              <a:rPr lang="ja-JP" altLang="en-US" dirty="0"/>
              <a:t>）による平均因果効果</a:t>
            </a:r>
            <a:endParaRPr kumimoji="1" lang="ja-JP" altLang="en-US" dirty="0"/>
          </a:p>
        </p:txBody>
      </p:sp>
      <p:sp>
        <p:nvSpPr>
          <p:cNvPr id="4" name="スライド番号プレースホルダー 3">
            <a:extLst>
              <a:ext uri="{FF2B5EF4-FFF2-40B4-BE49-F238E27FC236}">
                <a16:creationId xmlns:a16="http://schemas.microsoft.com/office/drawing/2014/main" id="{9E425DF9-8AAA-62A4-BF9A-E136AD2CA537}"/>
              </a:ext>
            </a:extLst>
          </p:cNvPr>
          <p:cNvSpPr>
            <a:spLocks noGrp="1"/>
          </p:cNvSpPr>
          <p:nvPr>
            <p:ph type="sldNum" sz="quarter" idx="11"/>
          </p:nvPr>
        </p:nvSpPr>
        <p:spPr/>
        <p:txBody>
          <a:bodyPr/>
          <a:lstStyle/>
          <a:p>
            <a:fld id="{23B20E4E-3F95-4221-AFE5-FD1FD9CC3448}" type="slidenum">
              <a:rPr lang="en-US" altLang="ja-JP" smtClean="0"/>
              <a:pPr/>
              <a:t>24</a:t>
            </a:fld>
            <a:endParaRPr lang="en-US" altLang="ja-JP"/>
          </a:p>
        </p:txBody>
      </p:sp>
      <p:pic>
        <p:nvPicPr>
          <p:cNvPr id="5" name="図 4" descr="ロゴ&#10;&#10;自動的に生成された説明">
            <a:extLst>
              <a:ext uri="{FF2B5EF4-FFF2-40B4-BE49-F238E27FC236}">
                <a16:creationId xmlns:a16="http://schemas.microsoft.com/office/drawing/2014/main" id="{CFAA13AF-14F6-E8F7-0E8E-BC1850EC2A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aphicFrame>
        <p:nvGraphicFramePr>
          <p:cNvPr id="18" name="表 17">
            <a:extLst>
              <a:ext uri="{FF2B5EF4-FFF2-40B4-BE49-F238E27FC236}">
                <a16:creationId xmlns:a16="http://schemas.microsoft.com/office/drawing/2014/main" id="{5095BE8F-C45B-653E-3092-997F1FE1BC19}"/>
              </a:ext>
            </a:extLst>
          </p:cNvPr>
          <p:cNvGraphicFramePr>
            <a:graphicFrameLocks noGrp="1"/>
          </p:cNvGraphicFramePr>
          <p:nvPr>
            <p:extLst>
              <p:ext uri="{D42A27DB-BD31-4B8C-83A1-F6EECF244321}">
                <p14:modId xmlns:p14="http://schemas.microsoft.com/office/powerpoint/2010/main" val="2300711169"/>
              </p:ext>
            </p:extLst>
          </p:nvPr>
        </p:nvGraphicFramePr>
        <p:xfrm>
          <a:off x="191344" y="1196752"/>
          <a:ext cx="4064601" cy="4226400"/>
        </p:xfrm>
        <a:graphic>
          <a:graphicData uri="http://schemas.openxmlformats.org/drawingml/2006/table">
            <a:tbl>
              <a:tblPr firstRow="1" lastRow="1" bandRow="1">
                <a:tableStyleId>{72833802-FEF1-4C79-8D5D-14CF1EAF98D9}</a:tableStyleId>
              </a:tblPr>
              <a:tblGrid>
                <a:gridCol w="500601">
                  <a:extLst>
                    <a:ext uri="{9D8B030D-6E8A-4147-A177-3AD203B41FA5}">
                      <a16:colId xmlns:a16="http://schemas.microsoft.com/office/drawing/2014/main" val="2921360576"/>
                    </a:ext>
                  </a:extLst>
                </a:gridCol>
                <a:gridCol w="1332000">
                  <a:extLst>
                    <a:ext uri="{9D8B030D-6E8A-4147-A177-3AD203B41FA5}">
                      <a16:colId xmlns:a16="http://schemas.microsoft.com/office/drawing/2014/main" val="2425332903"/>
                    </a:ext>
                  </a:extLst>
                </a:gridCol>
                <a:gridCol w="1116000">
                  <a:extLst>
                    <a:ext uri="{9D8B030D-6E8A-4147-A177-3AD203B41FA5}">
                      <a16:colId xmlns:a16="http://schemas.microsoft.com/office/drawing/2014/main" val="1312004576"/>
                    </a:ext>
                  </a:extLst>
                </a:gridCol>
                <a:gridCol w="1116000">
                  <a:extLst>
                    <a:ext uri="{9D8B030D-6E8A-4147-A177-3AD203B41FA5}">
                      <a16:colId xmlns:a16="http://schemas.microsoft.com/office/drawing/2014/main" val="2951463833"/>
                    </a:ext>
                  </a:extLst>
                </a:gridCol>
              </a:tblGrid>
              <a:tr h="386802">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潜在アウトカム</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b="1" dirty="0">
                        <a:solidFill>
                          <a:schemeClr val="tx1"/>
                        </a:solidFill>
                        <a:latin typeface="+mn-ea"/>
                        <a:ea typeface="+mn-ea"/>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696968139"/>
                  </a:ext>
                </a:extLst>
              </a:tr>
              <a:tr h="386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層</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ID</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Y(0)</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Y(1)</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3">
                        <a:lumMod val="85000"/>
                      </a:schemeClr>
                    </a:solidFill>
                  </a:tcPr>
                </a:tc>
                <a:extLst>
                  <a:ext uri="{0D108BD9-81ED-4DB2-BD59-A6C34878D82A}">
                    <a16:rowId xmlns:a16="http://schemas.microsoft.com/office/drawing/2014/main" val="3100584065"/>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①</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3</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11</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719029186"/>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②</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4</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5</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14</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15</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16</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44659610"/>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③</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9</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10</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12</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13</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20584130"/>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dirty="0">
                          <a:solidFill>
                            <a:schemeClr val="tx1"/>
                          </a:solidFill>
                          <a:latin typeface="+mn-ea"/>
                          <a:ea typeface="+mn-ea"/>
                        </a:rPr>
                        <a:t>④</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6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2</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6</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6</a:t>
                      </a:r>
                      <a:r>
                        <a:rPr kumimoji="1" lang="ja-JP" altLang="en-US" sz="2400" b="1" dirty="0">
                          <a:solidFill>
                            <a:schemeClr val="tx1"/>
                          </a:solidFill>
                          <a:latin typeface="+mn-ea"/>
                          <a:ea typeface="+mn-ea"/>
                        </a:rPr>
                        <a:t>、</a:t>
                      </a:r>
                      <a:r>
                        <a:rPr kumimoji="1" lang="en-US" altLang="ja-JP" sz="2400" b="1" dirty="0">
                          <a:solidFill>
                            <a:schemeClr val="tx1"/>
                          </a:solidFill>
                          <a:latin typeface="+mn-ea"/>
                          <a:ea typeface="+mn-ea"/>
                        </a:rPr>
                        <a:t>8</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tx1"/>
                          </a:solidFill>
                          <a:latin typeface="+mn-ea"/>
                          <a:ea typeface="+mn-ea"/>
                        </a:rPr>
                        <a:t>7</a:t>
                      </a:r>
                      <a:endParaRPr kumimoji="1" lang="ja-JP" altLang="en-US" sz="2400" b="1" dirty="0">
                        <a:solidFill>
                          <a:schemeClr val="tx1"/>
                        </a:solidFill>
                        <a:latin typeface="+mn-ea"/>
                        <a:ea typeface="+mn-ea"/>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0876704"/>
                  </a:ext>
                </a:extLst>
              </a:tr>
            </a:tbl>
          </a:graphicData>
        </a:graphic>
      </p:graphicFrame>
      <p:grpSp>
        <p:nvGrpSpPr>
          <p:cNvPr id="10" name="グループ化 9">
            <a:extLst>
              <a:ext uri="{FF2B5EF4-FFF2-40B4-BE49-F238E27FC236}">
                <a16:creationId xmlns:a16="http://schemas.microsoft.com/office/drawing/2014/main" id="{A0C0F176-887F-3A79-5618-6AACBFAE8519}"/>
              </a:ext>
            </a:extLst>
          </p:cNvPr>
          <p:cNvGrpSpPr/>
          <p:nvPr/>
        </p:nvGrpSpPr>
        <p:grpSpPr>
          <a:xfrm>
            <a:off x="3143672" y="5802849"/>
            <a:ext cx="5595224" cy="600756"/>
            <a:chOff x="3143672" y="5802849"/>
            <a:chExt cx="5595224" cy="600756"/>
          </a:xfrm>
        </p:grpSpPr>
        <p:sp>
          <p:nvSpPr>
            <p:cNvPr id="24" name="吹き出し: 四角形 23">
              <a:extLst>
                <a:ext uri="{FF2B5EF4-FFF2-40B4-BE49-F238E27FC236}">
                  <a16:creationId xmlns:a16="http://schemas.microsoft.com/office/drawing/2014/main" id="{BB92C77E-A557-7394-7CDC-26B092CC621E}"/>
                </a:ext>
              </a:extLst>
            </p:cNvPr>
            <p:cNvSpPr/>
            <p:nvPr/>
          </p:nvSpPr>
          <p:spPr>
            <a:xfrm>
              <a:off x="5401532" y="5802849"/>
              <a:ext cx="468536" cy="576064"/>
            </a:xfrm>
            <a:prstGeom prst="wedgeRectCallout">
              <a:avLst>
                <a:gd name="adj1" fmla="val -27923"/>
                <a:gd name="adj2" fmla="val -9122"/>
              </a:avLst>
            </a:prstGeom>
            <a:solidFill>
              <a:schemeClr val="bg1"/>
            </a:solidFill>
            <a:ln w="762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①</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25" name="吹き出し: 四角形 24">
              <a:extLst>
                <a:ext uri="{FF2B5EF4-FFF2-40B4-BE49-F238E27FC236}">
                  <a16:creationId xmlns:a16="http://schemas.microsoft.com/office/drawing/2014/main" id="{2C794915-D318-296F-D184-338AD2BEB10C}"/>
                </a:ext>
              </a:extLst>
            </p:cNvPr>
            <p:cNvSpPr/>
            <p:nvPr/>
          </p:nvSpPr>
          <p:spPr>
            <a:xfrm>
              <a:off x="6374047" y="5819617"/>
              <a:ext cx="468537" cy="576064"/>
            </a:xfrm>
            <a:prstGeom prst="wedgeRectCallout">
              <a:avLst>
                <a:gd name="adj1" fmla="val -27923"/>
                <a:gd name="adj2" fmla="val -9122"/>
              </a:avLst>
            </a:prstGeom>
            <a:solidFill>
              <a:schemeClr val="bg1"/>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②</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26" name="吹き出し: 四角形 25">
              <a:extLst>
                <a:ext uri="{FF2B5EF4-FFF2-40B4-BE49-F238E27FC236}">
                  <a16:creationId xmlns:a16="http://schemas.microsoft.com/office/drawing/2014/main" id="{95167F7A-3735-C3B4-3206-DC79D04970E2}"/>
                </a:ext>
              </a:extLst>
            </p:cNvPr>
            <p:cNvSpPr/>
            <p:nvPr/>
          </p:nvSpPr>
          <p:spPr>
            <a:xfrm>
              <a:off x="7333285" y="5827541"/>
              <a:ext cx="468537" cy="576064"/>
            </a:xfrm>
            <a:prstGeom prst="wedgeRectCallout">
              <a:avLst>
                <a:gd name="adj1" fmla="val -27923"/>
                <a:gd name="adj2" fmla="val -9122"/>
              </a:avLst>
            </a:prstGeom>
            <a:solidFill>
              <a:schemeClr val="bg1"/>
            </a:solid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③</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27" name="吹き出し: 四角形 26">
              <a:extLst>
                <a:ext uri="{FF2B5EF4-FFF2-40B4-BE49-F238E27FC236}">
                  <a16:creationId xmlns:a16="http://schemas.microsoft.com/office/drawing/2014/main" id="{ED733806-AB5D-82CA-85B9-ECB999FB59D6}"/>
                </a:ext>
              </a:extLst>
            </p:cNvPr>
            <p:cNvSpPr/>
            <p:nvPr/>
          </p:nvSpPr>
          <p:spPr>
            <a:xfrm>
              <a:off x="8270359" y="5827541"/>
              <a:ext cx="468537" cy="576064"/>
            </a:xfrm>
            <a:prstGeom prst="wedgeRectCallout">
              <a:avLst>
                <a:gd name="adj1" fmla="val -27923"/>
                <a:gd name="adj2" fmla="val -9122"/>
              </a:avLst>
            </a:prstGeom>
            <a:solidFill>
              <a:schemeClr val="bg1"/>
            </a:solidFill>
            <a:ln w="76200">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④</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28" name="吹き出し: 四角形 27">
              <a:extLst>
                <a:ext uri="{FF2B5EF4-FFF2-40B4-BE49-F238E27FC236}">
                  <a16:creationId xmlns:a16="http://schemas.microsoft.com/office/drawing/2014/main" id="{49FE10EE-848E-56AF-5AB0-BA58BE32AEC1}"/>
                </a:ext>
              </a:extLst>
            </p:cNvPr>
            <p:cNvSpPr/>
            <p:nvPr/>
          </p:nvSpPr>
          <p:spPr>
            <a:xfrm>
              <a:off x="5870068" y="5802849"/>
              <a:ext cx="468537"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p:txBody>
        </p:sp>
        <p:sp>
          <p:nvSpPr>
            <p:cNvPr id="29" name="吹き出し: 四角形 28">
              <a:extLst>
                <a:ext uri="{FF2B5EF4-FFF2-40B4-BE49-F238E27FC236}">
                  <a16:creationId xmlns:a16="http://schemas.microsoft.com/office/drawing/2014/main" id="{837A28B9-FEE7-3816-8A0F-19FFB5A517C7}"/>
                </a:ext>
              </a:extLst>
            </p:cNvPr>
            <p:cNvSpPr/>
            <p:nvPr/>
          </p:nvSpPr>
          <p:spPr>
            <a:xfrm>
              <a:off x="7801822" y="5827541"/>
              <a:ext cx="468537"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p:txBody>
        </p:sp>
        <p:sp>
          <p:nvSpPr>
            <p:cNvPr id="30" name="吹き出し: 四角形 29">
              <a:extLst>
                <a:ext uri="{FF2B5EF4-FFF2-40B4-BE49-F238E27FC236}">
                  <a16:creationId xmlns:a16="http://schemas.microsoft.com/office/drawing/2014/main" id="{BEA109C5-DAB6-0DA9-49CE-C96341CC0823}"/>
                </a:ext>
              </a:extLst>
            </p:cNvPr>
            <p:cNvSpPr/>
            <p:nvPr/>
          </p:nvSpPr>
          <p:spPr>
            <a:xfrm>
              <a:off x="6848162" y="5827541"/>
              <a:ext cx="468537"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p:txBody>
        </p:sp>
        <p:sp>
          <p:nvSpPr>
            <p:cNvPr id="33" name="吹き出し: 四角形 32">
              <a:extLst>
                <a:ext uri="{FF2B5EF4-FFF2-40B4-BE49-F238E27FC236}">
                  <a16:creationId xmlns:a16="http://schemas.microsoft.com/office/drawing/2014/main" id="{5E768B2F-B4C2-886A-B421-A52FD07467C8}"/>
                </a:ext>
              </a:extLst>
            </p:cNvPr>
            <p:cNvSpPr/>
            <p:nvPr/>
          </p:nvSpPr>
          <p:spPr>
            <a:xfrm>
              <a:off x="3143672" y="5827541"/>
              <a:ext cx="3096344"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平均因果効果</a:t>
              </a:r>
              <a:r>
                <a:rPr lang="en-US" altLang="ja-JP" b="1" dirty="0">
                  <a:solidFill>
                    <a:schemeClr val="tx1"/>
                  </a:solidFill>
                  <a:latin typeface="Meiryo" panose="020B0604030504040204" pitchFamily="50" charset="-128"/>
                  <a:ea typeface="Meiryo" panose="020B0604030504040204" pitchFamily="50" charset="-128"/>
                </a:rPr>
                <a:t>=</a:t>
              </a:r>
            </a:p>
          </p:txBody>
        </p:sp>
      </p:grpSp>
      <p:sp>
        <p:nvSpPr>
          <p:cNvPr id="6" name="吹き出し: 四角形 5">
            <a:extLst>
              <a:ext uri="{FF2B5EF4-FFF2-40B4-BE49-F238E27FC236}">
                <a16:creationId xmlns:a16="http://schemas.microsoft.com/office/drawing/2014/main" id="{FBF1F8FB-DE20-311E-B3B6-743BFADB3A27}"/>
              </a:ext>
            </a:extLst>
          </p:cNvPr>
          <p:cNvSpPr/>
          <p:nvPr/>
        </p:nvSpPr>
        <p:spPr>
          <a:xfrm>
            <a:off x="4367808" y="2204864"/>
            <a:ext cx="3782239" cy="576064"/>
          </a:xfrm>
          <a:prstGeom prst="wedgeRectCallout">
            <a:avLst>
              <a:gd name="adj1" fmla="val -27923"/>
              <a:gd name="adj2" fmla="val -9122"/>
            </a:avLst>
          </a:prstGeom>
          <a:solidFill>
            <a:schemeClr val="bg1"/>
          </a:solidFill>
          <a:ln w="762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chemeClr val="accent5">
                    <a:lumMod val="50000"/>
                  </a:schemeClr>
                </a:solidFill>
                <a:latin typeface="Meiryo" panose="020B0604030504040204" pitchFamily="50" charset="-128"/>
                <a:ea typeface="Meiryo" panose="020B0604030504040204" pitchFamily="50" charset="-128"/>
              </a:rPr>
              <a:t>(2/10)×(11-10) :</a:t>
            </a:r>
            <a:r>
              <a:rPr lang="ja-JP" altLang="en-US" b="1" dirty="0">
                <a:solidFill>
                  <a:schemeClr val="accent5">
                    <a:lumMod val="50000"/>
                  </a:schemeClr>
                </a:solidFill>
                <a:latin typeface="Meiryo" panose="020B0604030504040204" pitchFamily="50" charset="-128"/>
                <a:ea typeface="Meiryo" panose="020B0604030504040204" pitchFamily="50" charset="-128"/>
              </a:rPr>
              <a:t> ①</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7" name="吹き出し: 四角形 6">
            <a:extLst>
              <a:ext uri="{FF2B5EF4-FFF2-40B4-BE49-F238E27FC236}">
                <a16:creationId xmlns:a16="http://schemas.microsoft.com/office/drawing/2014/main" id="{85BE1F1F-B8AF-1EA5-954B-EF3C82B824E1}"/>
              </a:ext>
            </a:extLst>
          </p:cNvPr>
          <p:cNvSpPr/>
          <p:nvPr/>
        </p:nvSpPr>
        <p:spPr>
          <a:xfrm>
            <a:off x="4367808" y="3058247"/>
            <a:ext cx="7648832" cy="576064"/>
          </a:xfrm>
          <a:prstGeom prst="wedgeRectCallout">
            <a:avLst>
              <a:gd name="adj1" fmla="val -27923"/>
              <a:gd name="adj2" fmla="val -9122"/>
            </a:avLst>
          </a:prstGeom>
          <a:solidFill>
            <a:schemeClr val="bg1"/>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chemeClr val="accent5">
                    <a:lumMod val="50000"/>
                  </a:schemeClr>
                </a:solidFill>
                <a:latin typeface="Meiryo" panose="020B0604030504040204" pitchFamily="50" charset="-128"/>
                <a:ea typeface="Meiryo" panose="020B0604030504040204" pitchFamily="50" charset="-128"/>
              </a:rPr>
              <a:t>(3/10)×{(1/2)×(16-14)+(1/2)×(16-15)</a:t>
            </a:r>
            <a:r>
              <a:rPr lang="ja-JP" altLang="en-US" b="1" dirty="0">
                <a:solidFill>
                  <a:schemeClr val="accent5">
                    <a:lumMod val="50000"/>
                  </a:schemeClr>
                </a:solidFill>
                <a:latin typeface="Meiryo" panose="020B0604030504040204" pitchFamily="50" charset="-128"/>
                <a:ea typeface="Meiryo" panose="020B0604030504040204" pitchFamily="50" charset="-128"/>
              </a:rPr>
              <a:t>｝</a:t>
            </a:r>
            <a:r>
              <a:rPr lang="en-US" altLang="ja-JP" b="1" dirty="0">
                <a:solidFill>
                  <a:schemeClr val="accent5">
                    <a:lumMod val="50000"/>
                  </a:schemeClr>
                </a:solidFill>
                <a:latin typeface="Meiryo" panose="020B0604030504040204" pitchFamily="50" charset="-128"/>
                <a:ea typeface="Meiryo" panose="020B0604030504040204" pitchFamily="50" charset="-128"/>
              </a:rPr>
              <a:t>:</a:t>
            </a:r>
            <a:r>
              <a:rPr lang="ja-JP" altLang="en-US" b="1" dirty="0">
                <a:solidFill>
                  <a:schemeClr val="accent5">
                    <a:lumMod val="50000"/>
                  </a:schemeClr>
                </a:solidFill>
                <a:latin typeface="Meiryo" panose="020B0604030504040204" pitchFamily="50" charset="-128"/>
                <a:ea typeface="Meiryo" panose="020B0604030504040204" pitchFamily="50" charset="-128"/>
              </a:rPr>
              <a:t>②</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8" name="吹き出し: 四角形 7">
            <a:extLst>
              <a:ext uri="{FF2B5EF4-FFF2-40B4-BE49-F238E27FC236}">
                <a16:creationId xmlns:a16="http://schemas.microsoft.com/office/drawing/2014/main" id="{7E849644-5E0B-340A-65C2-F4A73468457A}"/>
              </a:ext>
            </a:extLst>
          </p:cNvPr>
          <p:cNvSpPr/>
          <p:nvPr/>
        </p:nvSpPr>
        <p:spPr>
          <a:xfrm>
            <a:off x="4379376" y="3862868"/>
            <a:ext cx="3759101" cy="576064"/>
          </a:xfrm>
          <a:prstGeom prst="wedgeRectCallout">
            <a:avLst>
              <a:gd name="adj1" fmla="val -27923"/>
              <a:gd name="adj2" fmla="val -9122"/>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chemeClr val="accent5">
                    <a:lumMod val="50000"/>
                  </a:schemeClr>
                </a:solidFill>
                <a:latin typeface="Meiryo" panose="020B0604030504040204" pitchFamily="50" charset="-128"/>
                <a:ea typeface="Meiryo" panose="020B0604030504040204" pitchFamily="50" charset="-128"/>
              </a:rPr>
              <a:t>(2/10)×(13-12)</a:t>
            </a:r>
            <a:r>
              <a:rPr lang="ja-JP" altLang="en-US" b="1" dirty="0">
                <a:solidFill>
                  <a:schemeClr val="accent5">
                    <a:lumMod val="50000"/>
                  </a:schemeClr>
                </a:solidFill>
                <a:latin typeface="Meiryo" panose="020B0604030504040204" pitchFamily="50" charset="-128"/>
                <a:ea typeface="Meiryo" panose="020B0604030504040204" pitchFamily="50" charset="-128"/>
              </a:rPr>
              <a:t>：③</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9" name="吹き出し: 四角形 8">
            <a:extLst>
              <a:ext uri="{FF2B5EF4-FFF2-40B4-BE49-F238E27FC236}">
                <a16:creationId xmlns:a16="http://schemas.microsoft.com/office/drawing/2014/main" id="{C3CB77AA-6007-E97B-FC74-6CBF0622D7B6}"/>
              </a:ext>
            </a:extLst>
          </p:cNvPr>
          <p:cNvSpPr/>
          <p:nvPr/>
        </p:nvSpPr>
        <p:spPr>
          <a:xfrm>
            <a:off x="4367808" y="4710196"/>
            <a:ext cx="6984776" cy="576064"/>
          </a:xfrm>
          <a:prstGeom prst="wedgeRectCallout">
            <a:avLst>
              <a:gd name="adj1" fmla="val -27923"/>
              <a:gd name="adj2" fmla="val -9122"/>
            </a:avLst>
          </a:prstGeom>
          <a:solidFill>
            <a:schemeClr val="bg1"/>
          </a:solidFill>
          <a:ln w="76200">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b="1" dirty="0">
                <a:solidFill>
                  <a:schemeClr val="accent5">
                    <a:lumMod val="50000"/>
                  </a:schemeClr>
                </a:solidFill>
                <a:latin typeface="Meiryo" panose="020B0604030504040204" pitchFamily="50" charset="-128"/>
                <a:ea typeface="Meiryo" panose="020B0604030504040204" pitchFamily="50" charset="-128"/>
              </a:rPr>
              <a:t>(3/10)×{(1/2)×(7-6)+(1/2)×(7-8)</a:t>
            </a:r>
            <a:r>
              <a:rPr lang="ja-JP" altLang="en-US" b="1" dirty="0">
                <a:solidFill>
                  <a:schemeClr val="accent5">
                    <a:lumMod val="50000"/>
                  </a:schemeClr>
                </a:solidFill>
                <a:latin typeface="Meiryo" panose="020B0604030504040204" pitchFamily="50" charset="-128"/>
                <a:ea typeface="Meiryo" panose="020B0604030504040204" pitchFamily="50" charset="-128"/>
              </a:rPr>
              <a:t>｝</a:t>
            </a:r>
            <a:r>
              <a:rPr lang="en-US" altLang="ja-JP" b="1" dirty="0">
                <a:solidFill>
                  <a:schemeClr val="accent5">
                    <a:lumMod val="50000"/>
                  </a:schemeClr>
                </a:solidFill>
                <a:latin typeface="Meiryo" panose="020B0604030504040204" pitchFamily="50" charset="-128"/>
                <a:ea typeface="Meiryo" panose="020B0604030504040204" pitchFamily="50" charset="-128"/>
              </a:rPr>
              <a:t>:</a:t>
            </a:r>
            <a:r>
              <a:rPr lang="ja-JP" altLang="en-US" b="1" dirty="0">
                <a:solidFill>
                  <a:schemeClr val="accent5">
                    <a:lumMod val="50000"/>
                  </a:schemeClr>
                </a:solidFill>
                <a:latin typeface="Meiryo" panose="020B0604030504040204" pitchFamily="50" charset="-128"/>
                <a:ea typeface="Meiryo" panose="020B0604030504040204" pitchFamily="50" charset="-128"/>
              </a:rPr>
              <a:t> ④</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4200983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1AB26-148C-2FE0-EBDC-F8B723175C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DA3DBE-CD5F-6ED2-B71B-4FA234AAE076}"/>
              </a:ext>
            </a:extLst>
          </p:cNvPr>
          <p:cNvSpPr>
            <a:spLocks noGrp="1"/>
          </p:cNvSpPr>
          <p:nvPr>
            <p:ph type="title"/>
          </p:nvPr>
        </p:nvSpPr>
        <p:spPr/>
        <p:txBody>
          <a:bodyPr/>
          <a:lstStyle/>
          <a:p>
            <a:r>
              <a:rPr lang="ja-JP" altLang="en-US" dirty="0"/>
              <a:t>共変量マッチング（</a:t>
            </a:r>
            <a:r>
              <a:rPr lang="en-US" altLang="ja-JP" dirty="0">
                <a:solidFill>
                  <a:schemeClr val="tx1"/>
                </a:solidFill>
              </a:rPr>
              <a:t>full matching</a:t>
            </a:r>
            <a:r>
              <a:rPr lang="ja-JP" altLang="en-US" dirty="0"/>
              <a:t>）による平均因果効果</a:t>
            </a:r>
            <a:endParaRPr kumimoji="1" lang="ja-JP" altLang="en-US" dirty="0"/>
          </a:p>
        </p:txBody>
      </p:sp>
      <p:sp>
        <p:nvSpPr>
          <p:cNvPr id="3" name="コンテンツ プレースホルダー 2">
            <a:extLst>
              <a:ext uri="{FF2B5EF4-FFF2-40B4-BE49-F238E27FC236}">
                <a16:creationId xmlns:a16="http://schemas.microsoft.com/office/drawing/2014/main" id="{F0ED8E59-7F74-9EE3-1FBE-2AB601F9F5CC}"/>
              </a:ext>
            </a:extLst>
          </p:cNvPr>
          <p:cNvSpPr>
            <a:spLocks noGrp="1"/>
          </p:cNvSpPr>
          <p:nvPr>
            <p:ph idx="1"/>
          </p:nvPr>
        </p:nvSpPr>
        <p:spPr/>
        <p:txBody>
          <a:bodyPr/>
          <a:lstStyle/>
          <a:p>
            <a:r>
              <a:rPr kumimoji="1" lang="en-US" altLang="ja-JP" dirty="0"/>
              <a:t># full matching</a:t>
            </a:r>
            <a:r>
              <a:rPr kumimoji="1" lang="ja-JP" altLang="en-US" dirty="0"/>
              <a:t>による</a:t>
            </a:r>
            <a:r>
              <a:rPr lang="ja-JP" altLang="en-US" dirty="0"/>
              <a:t>平均因果効果</a:t>
            </a:r>
            <a:r>
              <a:rPr kumimoji="1" lang="ja-JP" altLang="en-US" dirty="0"/>
              <a:t>の推定値</a:t>
            </a:r>
            <a:endParaRPr kumimoji="1" lang="en-US" altLang="ja-JP" dirty="0"/>
          </a:p>
          <a:p>
            <a:r>
              <a:rPr lang="en-US" altLang="ja-JP" dirty="0"/>
              <a:t>library(</a:t>
            </a:r>
            <a:r>
              <a:rPr lang="en-US" altLang="ja-JP" dirty="0" err="1"/>
              <a:t>marginaleffects</a:t>
            </a:r>
            <a:r>
              <a:rPr lang="en-US" altLang="ja-JP" dirty="0"/>
              <a:t>)</a:t>
            </a:r>
            <a:endParaRPr kumimoji="1" lang="ja-JP" altLang="en-US" dirty="0"/>
          </a:p>
          <a:p>
            <a:r>
              <a:rPr kumimoji="1" lang="en-US" altLang="ja-JP" dirty="0"/>
              <a:t>fit &lt;- </a:t>
            </a:r>
            <a:r>
              <a:rPr kumimoji="1" lang="en-US" altLang="ja-JP" dirty="0" err="1"/>
              <a:t>lm</a:t>
            </a:r>
            <a:r>
              <a:rPr kumimoji="1" lang="en-US" altLang="ja-JP" dirty="0"/>
              <a:t>(y ~ treat, weights = weights, data = </a:t>
            </a:r>
            <a:r>
              <a:rPr kumimoji="1" lang="en-US" altLang="ja-JP" dirty="0" err="1"/>
              <a:t>dat_match</a:t>
            </a:r>
            <a:r>
              <a:rPr kumimoji="1" lang="en-US" altLang="ja-JP" dirty="0"/>
              <a:t>)</a:t>
            </a:r>
          </a:p>
          <a:p>
            <a:r>
              <a:rPr kumimoji="1" lang="en-US" altLang="ja-JP" dirty="0" err="1"/>
              <a:t>avg_comparisons</a:t>
            </a:r>
            <a:r>
              <a:rPr kumimoji="1" lang="en-US" altLang="ja-JP" dirty="0"/>
              <a:t>(fit, variables = "treat")</a:t>
            </a:r>
          </a:p>
        </p:txBody>
      </p:sp>
      <p:sp>
        <p:nvSpPr>
          <p:cNvPr id="4" name="スライド番号プレースホルダー 3">
            <a:extLst>
              <a:ext uri="{FF2B5EF4-FFF2-40B4-BE49-F238E27FC236}">
                <a16:creationId xmlns:a16="http://schemas.microsoft.com/office/drawing/2014/main" id="{33CE8B95-7834-19A3-76DD-74F0973CE822}"/>
              </a:ext>
            </a:extLst>
          </p:cNvPr>
          <p:cNvSpPr>
            <a:spLocks noGrp="1"/>
          </p:cNvSpPr>
          <p:nvPr>
            <p:ph type="sldNum" sz="quarter" idx="11"/>
          </p:nvPr>
        </p:nvSpPr>
        <p:spPr/>
        <p:txBody>
          <a:bodyPr/>
          <a:lstStyle/>
          <a:p>
            <a:fld id="{23B20E4E-3F95-4221-AFE5-FD1FD9CC3448}" type="slidenum">
              <a:rPr lang="en-US" altLang="ja-JP" smtClean="0"/>
              <a:pPr/>
              <a:t>25</a:t>
            </a:fld>
            <a:endParaRPr lang="en-US" altLang="ja-JP"/>
          </a:p>
        </p:txBody>
      </p:sp>
      <p:pic>
        <p:nvPicPr>
          <p:cNvPr id="5" name="図 4" descr="ロゴ&#10;&#10;自動的に生成された説明">
            <a:extLst>
              <a:ext uri="{FF2B5EF4-FFF2-40B4-BE49-F238E27FC236}">
                <a16:creationId xmlns:a16="http://schemas.microsoft.com/office/drawing/2014/main" id="{24C88226-1620-B8C4-9828-EEC8709AD6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pic>
        <p:nvPicPr>
          <p:cNvPr id="7" name="図 6">
            <a:extLst>
              <a:ext uri="{FF2B5EF4-FFF2-40B4-BE49-F238E27FC236}">
                <a16:creationId xmlns:a16="http://schemas.microsoft.com/office/drawing/2014/main" id="{C63BC083-B2A5-48B1-A3F4-FB97ED0FC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1544" y="3559346"/>
            <a:ext cx="6870558" cy="3060000"/>
          </a:xfrm>
          <a:prstGeom prst="rect">
            <a:avLst/>
          </a:prstGeom>
        </p:spPr>
      </p:pic>
      <p:grpSp>
        <p:nvGrpSpPr>
          <p:cNvPr id="8" name="グループ化 7">
            <a:extLst>
              <a:ext uri="{FF2B5EF4-FFF2-40B4-BE49-F238E27FC236}">
                <a16:creationId xmlns:a16="http://schemas.microsoft.com/office/drawing/2014/main" id="{80A8DDB2-6F6D-B61D-B6FA-8A88CC57CC1E}"/>
              </a:ext>
            </a:extLst>
          </p:cNvPr>
          <p:cNvGrpSpPr/>
          <p:nvPr/>
        </p:nvGrpSpPr>
        <p:grpSpPr>
          <a:xfrm>
            <a:off x="4585610" y="5742112"/>
            <a:ext cx="5595224" cy="600756"/>
            <a:chOff x="3143672" y="5802849"/>
            <a:chExt cx="5595224" cy="600756"/>
          </a:xfrm>
        </p:grpSpPr>
        <p:sp>
          <p:nvSpPr>
            <p:cNvPr id="9" name="吹き出し: 四角形 8">
              <a:extLst>
                <a:ext uri="{FF2B5EF4-FFF2-40B4-BE49-F238E27FC236}">
                  <a16:creationId xmlns:a16="http://schemas.microsoft.com/office/drawing/2014/main" id="{29795D41-404E-B4BD-D25A-59F331DC4870}"/>
                </a:ext>
              </a:extLst>
            </p:cNvPr>
            <p:cNvSpPr/>
            <p:nvPr/>
          </p:nvSpPr>
          <p:spPr>
            <a:xfrm>
              <a:off x="5401532" y="5802849"/>
              <a:ext cx="468536" cy="576064"/>
            </a:xfrm>
            <a:prstGeom prst="wedgeRectCallout">
              <a:avLst>
                <a:gd name="adj1" fmla="val -27923"/>
                <a:gd name="adj2" fmla="val -9122"/>
              </a:avLst>
            </a:prstGeom>
            <a:solidFill>
              <a:schemeClr val="bg1"/>
            </a:solidFill>
            <a:ln w="762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①</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10" name="吹き出し: 四角形 9">
              <a:extLst>
                <a:ext uri="{FF2B5EF4-FFF2-40B4-BE49-F238E27FC236}">
                  <a16:creationId xmlns:a16="http://schemas.microsoft.com/office/drawing/2014/main" id="{1C98DF43-D20F-F724-51C9-ECBA2C3A0287}"/>
                </a:ext>
              </a:extLst>
            </p:cNvPr>
            <p:cNvSpPr/>
            <p:nvPr/>
          </p:nvSpPr>
          <p:spPr>
            <a:xfrm>
              <a:off x="6374047" y="5819617"/>
              <a:ext cx="468537" cy="576064"/>
            </a:xfrm>
            <a:prstGeom prst="wedgeRectCallout">
              <a:avLst>
                <a:gd name="adj1" fmla="val -27923"/>
                <a:gd name="adj2" fmla="val -9122"/>
              </a:avLst>
            </a:prstGeom>
            <a:solidFill>
              <a:schemeClr val="bg1"/>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②</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11" name="吹き出し: 四角形 10">
              <a:extLst>
                <a:ext uri="{FF2B5EF4-FFF2-40B4-BE49-F238E27FC236}">
                  <a16:creationId xmlns:a16="http://schemas.microsoft.com/office/drawing/2014/main" id="{C15F5C24-F4D1-E8A3-847E-43988DABC562}"/>
                </a:ext>
              </a:extLst>
            </p:cNvPr>
            <p:cNvSpPr/>
            <p:nvPr/>
          </p:nvSpPr>
          <p:spPr>
            <a:xfrm>
              <a:off x="7333285" y="5827541"/>
              <a:ext cx="468537" cy="576064"/>
            </a:xfrm>
            <a:prstGeom prst="wedgeRectCallout">
              <a:avLst>
                <a:gd name="adj1" fmla="val -27923"/>
                <a:gd name="adj2" fmla="val -9122"/>
              </a:avLst>
            </a:prstGeom>
            <a:solidFill>
              <a:schemeClr val="bg1"/>
            </a:solid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③</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12" name="吹き出し: 四角形 11">
              <a:extLst>
                <a:ext uri="{FF2B5EF4-FFF2-40B4-BE49-F238E27FC236}">
                  <a16:creationId xmlns:a16="http://schemas.microsoft.com/office/drawing/2014/main" id="{68346EC9-8B39-09DA-8C33-0682E24996FD}"/>
                </a:ext>
              </a:extLst>
            </p:cNvPr>
            <p:cNvSpPr/>
            <p:nvPr/>
          </p:nvSpPr>
          <p:spPr>
            <a:xfrm>
              <a:off x="8270359" y="5827541"/>
              <a:ext cx="468537" cy="576064"/>
            </a:xfrm>
            <a:prstGeom prst="wedgeRectCallout">
              <a:avLst>
                <a:gd name="adj1" fmla="val -27923"/>
                <a:gd name="adj2" fmla="val -9122"/>
              </a:avLst>
            </a:prstGeom>
            <a:solidFill>
              <a:schemeClr val="bg1"/>
            </a:solidFill>
            <a:ln w="76200">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accent5">
                      <a:lumMod val="50000"/>
                    </a:schemeClr>
                  </a:solidFill>
                  <a:latin typeface="Meiryo" panose="020B0604030504040204" pitchFamily="50" charset="-128"/>
                  <a:ea typeface="Meiryo" panose="020B0604030504040204" pitchFamily="50" charset="-128"/>
                </a:rPr>
                <a:t>④</a:t>
              </a:r>
              <a:endParaRPr lang="en-US" altLang="ja-JP" b="1" dirty="0">
                <a:solidFill>
                  <a:schemeClr val="tx1"/>
                </a:solidFill>
                <a:highlight>
                  <a:srgbClr val="FFFF00"/>
                </a:highlight>
                <a:latin typeface="Meiryo" panose="020B0604030504040204" pitchFamily="50" charset="-128"/>
                <a:ea typeface="Meiryo" panose="020B0604030504040204" pitchFamily="50" charset="-128"/>
              </a:endParaRPr>
            </a:p>
          </p:txBody>
        </p:sp>
        <p:sp>
          <p:nvSpPr>
            <p:cNvPr id="13" name="吹き出し: 四角形 12">
              <a:extLst>
                <a:ext uri="{FF2B5EF4-FFF2-40B4-BE49-F238E27FC236}">
                  <a16:creationId xmlns:a16="http://schemas.microsoft.com/office/drawing/2014/main" id="{736099D8-59E3-67A3-243D-71AB73E9C714}"/>
                </a:ext>
              </a:extLst>
            </p:cNvPr>
            <p:cNvSpPr/>
            <p:nvPr/>
          </p:nvSpPr>
          <p:spPr>
            <a:xfrm>
              <a:off x="5870068" y="5802849"/>
              <a:ext cx="468537"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p:txBody>
        </p:sp>
        <p:sp>
          <p:nvSpPr>
            <p:cNvPr id="14" name="吹き出し: 四角形 13">
              <a:extLst>
                <a:ext uri="{FF2B5EF4-FFF2-40B4-BE49-F238E27FC236}">
                  <a16:creationId xmlns:a16="http://schemas.microsoft.com/office/drawing/2014/main" id="{6A84DB86-259F-EE12-EEE6-AD94316170F1}"/>
                </a:ext>
              </a:extLst>
            </p:cNvPr>
            <p:cNvSpPr/>
            <p:nvPr/>
          </p:nvSpPr>
          <p:spPr>
            <a:xfrm>
              <a:off x="7801822" y="5827541"/>
              <a:ext cx="468537"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p:txBody>
        </p:sp>
        <p:sp>
          <p:nvSpPr>
            <p:cNvPr id="15" name="吹き出し: 四角形 14">
              <a:extLst>
                <a:ext uri="{FF2B5EF4-FFF2-40B4-BE49-F238E27FC236}">
                  <a16:creationId xmlns:a16="http://schemas.microsoft.com/office/drawing/2014/main" id="{10C16FB0-54AF-BA36-79FE-8F404A4EEC60}"/>
                </a:ext>
              </a:extLst>
            </p:cNvPr>
            <p:cNvSpPr/>
            <p:nvPr/>
          </p:nvSpPr>
          <p:spPr>
            <a:xfrm>
              <a:off x="6848162" y="5827541"/>
              <a:ext cx="468537"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a:t>
              </a:r>
              <a:endParaRPr lang="en-US" altLang="ja-JP" b="1" dirty="0">
                <a:solidFill>
                  <a:schemeClr val="tx1"/>
                </a:solidFill>
                <a:latin typeface="Meiryo" panose="020B0604030504040204" pitchFamily="50" charset="-128"/>
                <a:ea typeface="Meiryo" panose="020B0604030504040204" pitchFamily="50" charset="-128"/>
              </a:endParaRPr>
            </a:p>
          </p:txBody>
        </p:sp>
        <p:sp>
          <p:nvSpPr>
            <p:cNvPr id="16" name="吹き出し: 四角形 15">
              <a:extLst>
                <a:ext uri="{FF2B5EF4-FFF2-40B4-BE49-F238E27FC236}">
                  <a16:creationId xmlns:a16="http://schemas.microsoft.com/office/drawing/2014/main" id="{2820EB80-BB3F-DE43-0117-6118501AE46C}"/>
                </a:ext>
              </a:extLst>
            </p:cNvPr>
            <p:cNvSpPr/>
            <p:nvPr/>
          </p:nvSpPr>
          <p:spPr>
            <a:xfrm>
              <a:off x="3143672" y="5827541"/>
              <a:ext cx="3096344" cy="576064"/>
            </a:xfrm>
            <a:prstGeom prst="wedgeRectCallout">
              <a:avLst>
                <a:gd name="adj1" fmla="val -27923"/>
                <a:gd name="adj2" fmla="val -9122"/>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Meiryo" panose="020B0604030504040204" pitchFamily="50" charset="-128"/>
                  <a:ea typeface="Meiryo" panose="020B0604030504040204" pitchFamily="50" charset="-128"/>
                </a:rPr>
                <a:t>平均因果効果</a:t>
              </a:r>
              <a:r>
                <a:rPr lang="en-US" altLang="ja-JP" b="1" dirty="0">
                  <a:solidFill>
                    <a:schemeClr val="tx1"/>
                  </a:solidFill>
                  <a:latin typeface="Meiryo" panose="020B0604030504040204" pitchFamily="50" charset="-128"/>
                  <a:ea typeface="Meiryo" panose="020B0604030504040204" pitchFamily="50" charset="-128"/>
                </a:rPr>
                <a:t>=</a:t>
              </a:r>
            </a:p>
          </p:txBody>
        </p:sp>
      </p:grpSp>
      <p:sp>
        <p:nvSpPr>
          <p:cNvPr id="17" name="楕円 16">
            <a:extLst>
              <a:ext uri="{FF2B5EF4-FFF2-40B4-BE49-F238E27FC236}">
                <a16:creationId xmlns:a16="http://schemas.microsoft.com/office/drawing/2014/main" id="{3D0BD5B6-9D47-87A4-B145-DE5248F3665E}"/>
              </a:ext>
            </a:extLst>
          </p:cNvPr>
          <p:cNvSpPr/>
          <p:nvPr/>
        </p:nvSpPr>
        <p:spPr>
          <a:xfrm>
            <a:off x="2423592" y="4909326"/>
            <a:ext cx="864096" cy="360040"/>
          </a:xfrm>
          <a:prstGeom prst="ellipse">
            <a:avLst/>
          </a:prstGeom>
          <a:noFill/>
          <a:ln w="762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0CE5BA34-90D5-FD52-5799-FD01ACECBE40}"/>
              </a:ext>
            </a:extLst>
          </p:cNvPr>
          <p:cNvSpPr/>
          <p:nvPr/>
        </p:nvSpPr>
        <p:spPr>
          <a:xfrm>
            <a:off x="4367808" y="5445224"/>
            <a:ext cx="6120679" cy="1174121"/>
          </a:xfrm>
          <a:prstGeom prst="ellipse">
            <a:avLst/>
          </a:prstGeom>
          <a:noFill/>
          <a:ln w="762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88A03F72-84E6-7B72-F442-716730083A75}"/>
              </a:ext>
            </a:extLst>
          </p:cNvPr>
          <p:cNvSpPr/>
          <p:nvPr/>
        </p:nvSpPr>
        <p:spPr>
          <a:xfrm>
            <a:off x="509087" y="2276873"/>
            <a:ext cx="8395225" cy="533400"/>
          </a:xfrm>
          <a:prstGeom prst="rect">
            <a:avLst/>
          </a:prstGeom>
          <a:noFill/>
          <a:ln w="50800">
            <a:solidFill>
              <a:schemeClr val="bg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吹き出し: 四角形 18">
            <a:extLst>
              <a:ext uri="{FF2B5EF4-FFF2-40B4-BE49-F238E27FC236}">
                <a16:creationId xmlns:a16="http://schemas.microsoft.com/office/drawing/2014/main" id="{F2608335-0FB2-E8CF-E4F8-B7CC6F65E6B0}"/>
              </a:ext>
            </a:extLst>
          </p:cNvPr>
          <p:cNvSpPr/>
          <p:nvPr/>
        </p:nvSpPr>
        <p:spPr>
          <a:xfrm>
            <a:off x="6815127" y="2958038"/>
            <a:ext cx="4820670" cy="748349"/>
          </a:xfrm>
          <a:prstGeom prst="wedgeRectCallout">
            <a:avLst>
              <a:gd name="adj1" fmla="val -27923"/>
              <a:gd name="adj2" fmla="val -9122"/>
            </a:avLst>
          </a:prstGeom>
          <a:solidFill>
            <a:schemeClr val="bg1"/>
          </a:solidFill>
          <a:ln w="3810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2000" b="1" dirty="0">
                <a:solidFill>
                  <a:schemeClr val="tx1"/>
                </a:solidFill>
                <a:latin typeface="Meiryo" panose="020B0604030504040204" pitchFamily="50" charset="-128"/>
                <a:ea typeface="Meiryo" panose="020B0604030504040204" pitchFamily="50" charset="-128"/>
              </a:rPr>
              <a:t>treat</a:t>
            </a:r>
            <a:r>
              <a:rPr lang="ja-JP" altLang="en-US" sz="2000" b="1" dirty="0">
                <a:solidFill>
                  <a:schemeClr val="tx1"/>
                </a:solidFill>
                <a:latin typeface="Meiryo" panose="020B0604030504040204" pitchFamily="50" charset="-128"/>
                <a:ea typeface="Meiryo" panose="020B0604030504040204" pitchFamily="50" charset="-128"/>
              </a:rPr>
              <a:t>を説明変数</a:t>
            </a:r>
            <a:r>
              <a:rPr lang="en-US" altLang="ja-JP" sz="2000" b="1" dirty="0">
                <a:solidFill>
                  <a:schemeClr val="tx1"/>
                </a:solidFill>
                <a:latin typeface="Meiryo" panose="020B0604030504040204" pitchFamily="50" charset="-128"/>
                <a:ea typeface="Meiryo" panose="020B0604030504040204" pitchFamily="50" charset="-128"/>
              </a:rPr>
              <a:t>, full matching</a:t>
            </a:r>
            <a:r>
              <a:rPr lang="ja-JP" altLang="en-US" sz="2000" b="1" dirty="0">
                <a:solidFill>
                  <a:schemeClr val="tx1"/>
                </a:solidFill>
                <a:latin typeface="Meiryo" panose="020B0604030504040204" pitchFamily="50" charset="-128"/>
                <a:ea typeface="Meiryo" panose="020B0604030504040204" pitchFamily="50" charset="-128"/>
              </a:rPr>
              <a:t>による</a:t>
            </a:r>
            <a:endParaRPr lang="en-US" altLang="ja-JP" sz="2000" b="1" dirty="0">
              <a:solidFill>
                <a:schemeClr val="tx1"/>
              </a:solidFill>
              <a:latin typeface="Meiryo" panose="020B0604030504040204" pitchFamily="50" charset="-128"/>
              <a:ea typeface="Meiryo" panose="020B0604030504040204" pitchFamily="50" charset="-128"/>
            </a:endParaRPr>
          </a:p>
          <a:p>
            <a:r>
              <a:rPr lang="ja-JP" altLang="en-US" sz="2000" b="1" dirty="0">
                <a:solidFill>
                  <a:schemeClr val="tx1"/>
                </a:solidFill>
                <a:latin typeface="Meiryo" panose="020B0604030504040204" pitchFamily="50" charset="-128"/>
                <a:ea typeface="Meiryo" panose="020B0604030504040204" pitchFamily="50" charset="-128"/>
              </a:rPr>
              <a:t>重みを用いて回帰</a:t>
            </a:r>
            <a:endParaRPr lang="en-US" altLang="ja-JP" sz="2000" b="1" dirty="0">
              <a:solidFill>
                <a:schemeClr val="tx1"/>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318899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56F6-6400-38EC-3883-896B0AD65A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2C9E10-43BB-8709-9F6B-7DCDA34874D2}"/>
              </a:ext>
            </a:extLst>
          </p:cNvPr>
          <p:cNvSpPr>
            <a:spLocks noGrp="1"/>
          </p:cNvSpPr>
          <p:nvPr>
            <p:ph type="title"/>
          </p:nvPr>
        </p:nvSpPr>
        <p:spPr/>
        <p:txBody>
          <a:bodyPr/>
          <a:lstStyle/>
          <a:p>
            <a:r>
              <a:rPr kumimoji="1" lang="ja-JP" altLang="en-US" dirty="0"/>
              <a:t>まとめ</a:t>
            </a:r>
          </a:p>
        </p:txBody>
      </p:sp>
      <p:sp>
        <p:nvSpPr>
          <p:cNvPr id="4" name="スライド番号プレースホルダー 3">
            <a:extLst>
              <a:ext uri="{FF2B5EF4-FFF2-40B4-BE49-F238E27FC236}">
                <a16:creationId xmlns:a16="http://schemas.microsoft.com/office/drawing/2014/main" id="{3F3035A3-C3AE-7893-5E17-AD4B47D1DCFE}"/>
              </a:ext>
            </a:extLst>
          </p:cNvPr>
          <p:cNvSpPr>
            <a:spLocks noGrp="1"/>
          </p:cNvSpPr>
          <p:nvPr>
            <p:ph type="sldNum" sz="quarter" idx="11"/>
          </p:nvPr>
        </p:nvSpPr>
        <p:spPr/>
        <p:txBody>
          <a:bodyPr/>
          <a:lstStyle/>
          <a:p>
            <a:fld id="{23B20E4E-3F95-4221-AFE5-FD1FD9CC3448}" type="slidenum">
              <a:rPr lang="en-US" altLang="ja-JP" smtClean="0"/>
              <a:pPr/>
              <a:t>26</a:t>
            </a:fld>
            <a:endParaRPr lang="en-US" altLang="ja-JP"/>
          </a:p>
        </p:txBody>
      </p:sp>
      <p:pic>
        <p:nvPicPr>
          <p:cNvPr id="5" name="図 4" descr="ロゴ&#10;&#10;自動的に生成された説明">
            <a:extLst>
              <a:ext uri="{FF2B5EF4-FFF2-40B4-BE49-F238E27FC236}">
                <a16:creationId xmlns:a16="http://schemas.microsoft.com/office/drawing/2014/main" id="{B9C21B54-E566-15A6-64B8-0A8B6BC68F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7" name="テキスト ボックス 6">
            <a:extLst>
              <a:ext uri="{FF2B5EF4-FFF2-40B4-BE49-F238E27FC236}">
                <a16:creationId xmlns:a16="http://schemas.microsoft.com/office/drawing/2014/main" id="{5A781614-6C71-D773-28BB-54F4503B0B79}"/>
              </a:ext>
            </a:extLst>
          </p:cNvPr>
          <p:cNvSpPr txBox="1"/>
          <p:nvPr/>
        </p:nvSpPr>
        <p:spPr>
          <a:xfrm>
            <a:off x="695400" y="1470771"/>
            <a:ext cx="10657184" cy="3916457"/>
          </a:xfrm>
          <a:prstGeom prst="rect">
            <a:avLst/>
          </a:prstGeom>
          <a:blipFill dpi="0" rotWithShape="1">
            <a:blip r:embed="rId3">
              <a:alphaModFix amt="63000"/>
            </a:blip>
            <a:srcRect/>
            <a:tile tx="0" ty="0" sx="100000" sy="100000" flip="none" algn="tl"/>
          </a:blipFill>
        </p:spPr>
        <p:txBody>
          <a:bodyPr wrap="square" rtlCol="0">
            <a:spAutoFit/>
          </a:bodyPr>
          <a:lstStyle/>
          <a:p>
            <a:pPr marL="171450" indent="-171450">
              <a:lnSpc>
                <a:spcPct val="150000"/>
              </a:lnSpc>
              <a:buFont typeface="Wingdings" panose="05000000000000000000" pitchFamily="2" charset="2"/>
              <a:buChar char="ü"/>
            </a:pPr>
            <a:r>
              <a:rPr lang="ja-JP" altLang="en-US" sz="2800" dirty="0">
                <a:latin typeface="メイリオ" panose="020B0604030504040204" pitchFamily="50" charset="-128"/>
                <a:ea typeface="メイリオ" panose="020B0604030504040204" pitchFamily="50" charset="-128"/>
              </a:rPr>
              <a:t>観察研究では割り付けが無作為ではないため</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治療効果の推定値が交絡因子の違いにより</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歪められる</a:t>
            </a:r>
            <a:r>
              <a:rPr kumimoji="1" lang="en-US" altLang="ja-JP" sz="2800" dirty="0">
                <a:latin typeface="メイリオ" panose="020B0604030504040204" pitchFamily="50" charset="-128"/>
                <a:ea typeface="メイリオ" panose="020B0604030504040204" pitchFamily="50" charset="-128"/>
              </a:rPr>
              <a:t>.</a:t>
            </a:r>
          </a:p>
          <a:p>
            <a:pPr marL="171450" indent="-171450">
              <a:lnSpc>
                <a:spcPct val="150000"/>
              </a:lnSpc>
              <a:buFont typeface="Wingdings" panose="05000000000000000000" pitchFamily="2" charset="2"/>
              <a:buChar char="ü"/>
            </a:pPr>
            <a:r>
              <a:rPr lang="ja-JP" altLang="en-US" sz="2800" dirty="0">
                <a:latin typeface="メイリオ" panose="020B0604030504040204" pitchFamily="50" charset="-128"/>
                <a:ea typeface="メイリオ" panose="020B0604030504040204" pitchFamily="50" charset="-128"/>
              </a:rPr>
              <a:t>層別解析により</a:t>
            </a:r>
            <a:r>
              <a:rPr lang="en-US" altLang="ja-JP" sz="2800" dirty="0">
                <a:latin typeface="メイリオ" panose="020B0604030504040204" pitchFamily="50" charset="-128"/>
                <a:ea typeface="メイリオ" panose="020B0604030504040204" pitchFamily="50" charset="-128"/>
              </a:rPr>
              <a:t>, </a:t>
            </a:r>
            <a:r>
              <a:rPr lang="ja-JP" altLang="en-US" sz="2800" dirty="0">
                <a:latin typeface="メイリオ" panose="020B0604030504040204" pitchFamily="50" charset="-128"/>
                <a:ea typeface="メイリオ" panose="020B0604030504040204" pitchFamily="50" charset="-128"/>
              </a:rPr>
              <a:t>重症度などの交絡因子ごとに比較することで</a:t>
            </a:r>
            <a:r>
              <a:rPr lang="en-US" altLang="ja-JP" sz="2800" dirty="0">
                <a:latin typeface="メイリオ" panose="020B0604030504040204" pitchFamily="50" charset="-128"/>
                <a:ea typeface="メイリオ" panose="020B0604030504040204" pitchFamily="50" charset="-128"/>
              </a:rPr>
              <a:t>,</a:t>
            </a:r>
            <a:r>
              <a:rPr lang="ja-JP" altLang="en-US" sz="2800" dirty="0">
                <a:latin typeface="メイリオ" panose="020B0604030504040204" pitchFamily="50" charset="-128"/>
                <a:ea typeface="メイリオ" panose="020B0604030504040204" pitchFamily="50" charset="-128"/>
              </a:rPr>
              <a:t>治療効果の偏りを調整することができる</a:t>
            </a:r>
            <a:r>
              <a:rPr lang="en-US" altLang="ja-JP" sz="2800" dirty="0">
                <a:latin typeface="メイリオ" panose="020B0604030504040204" pitchFamily="50" charset="-128"/>
                <a:ea typeface="メイリオ" panose="020B0604030504040204" pitchFamily="50" charset="-128"/>
              </a:rPr>
              <a:t>.</a:t>
            </a:r>
          </a:p>
          <a:p>
            <a:pPr marL="171450" indent="-171450">
              <a:lnSpc>
                <a:spcPct val="150000"/>
              </a:lnSpc>
              <a:buFont typeface="Wingdings" panose="05000000000000000000" pitchFamily="2" charset="2"/>
              <a:buChar char="ü"/>
            </a:pPr>
            <a:r>
              <a:rPr lang="ja-JP" altLang="en-US" sz="2800" dirty="0">
                <a:latin typeface="メイリオ" panose="020B0604030504040204" pitchFamily="50" charset="-128"/>
                <a:ea typeface="メイリオ" panose="020B0604030504040204" pitchFamily="50" charset="-128"/>
              </a:rPr>
              <a:t>共変量</a:t>
            </a:r>
            <a:r>
              <a:rPr lang="en-US" altLang="ja-JP" sz="2800" dirty="0">
                <a:latin typeface="メイリオ" panose="020B0604030504040204" pitchFamily="50" charset="-128"/>
                <a:ea typeface="メイリオ" panose="020B0604030504040204" pitchFamily="50" charset="-128"/>
              </a:rPr>
              <a:t>full matching</a:t>
            </a:r>
            <a:r>
              <a:rPr lang="ja-JP" altLang="en-US" sz="2800" dirty="0">
                <a:latin typeface="メイリオ" panose="020B0604030504040204" pitchFamily="50" charset="-128"/>
                <a:ea typeface="メイリオ" panose="020B0604030504040204" pitchFamily="50" charset="-128"/>
              </a:rPr>
              <a:t>は患者背景の類似性に基づき対応付けを行うことで</a:t>
            </a:r>
            <a:r>
              <a:rPr lang="en-US" altLang="ja-JP" sz="2800">
                <a:latin typeface="メイリオ" panose="020B0604030504040204" pitchFamily="50" charset="-128"/>
                <a:ea typeface="メイリオ" panose="020B0604030504040204" pitchFamily="50" charset="-128"/>
              </a:rPr>
              <a:t>, </a:t>
            </a:r>
            <a:r>
              <a:rPr lang="ja-JP" altLang="en-US" sz="2800">
                <a:latin typeface="メイリオ" panose="020B0604030504040204" pitchFamily="50" charset="-128"/>
                <a:ea typeface="メイリオ" panose="020B0604030504040204" pitchFamily="50" charset="-128"/>
              </a:rPr>
              <a:t>精度</a:t>
            </a:r>
            <a:r>
              <a:rPr lang="ja-JP" altLang="en-US" sz="2800" dirty="0">
                <a:latin typeface="メイリオ" panose="020B0604030504040204" pitchFamily="50" charset="-128"/>
                <a:ea typeface="メイリオ" panose="020B0604030504040204" pitchFamily="50" charset="-128"/>
              </a:rPr>
              <a:t>の高い</a:t>
            </a:r>
            <a:r>
              <a:rPr lang="ja-JP" altLang="en-US" sz="2800">
                <a:latin typeface="メイリオ" panose="020B0604030504040204" pitchFamily="50" charset="-128"/>
                <a:ea typeface="メイリオ" panose="020B0604030504040204" pitchFamily="50" charset="-128"/>
              </a:rPr>
              <a:t>治療効果の推定</a:t>
            </a:r>
            <a:r>
              <a:rPr lang="ja-JP" altLang="en-US" sz="2800" dirty="0">
                <a:latin typeface="メイリオ" panose="020B0604030504040204" pitchFamily="50" charset="-128"/>
                <a:ea typeface="メイリオ" panose="020B0604030504040204" pitchFamily="50" charset="-128"/>
              </a:rPr>
              <a:t>に寄与する</a:t>
            </a:r>
            <a:r>
              <a:rPr lang="en-US" altLang="ja-JP" sz="28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187214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9AD27-A8E2-0FCC-40F5-39FF0B3F2D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1FCCF7-CC3B-2629-0746-DE899D534261}"/>
              </a:ext>
            </a:extLst>
          </p:cNvPr>
          <p:cNvSpPr>
            <a:spLocks noGrp="1"/>
          </p:cNvSpPr>
          <p:nvPr>
            <p:ph type="title"/>
          </p:nvPr>
        </p:nvSpPr>
        <p:spPr/>
        <p:txBody>
          <a:bodyPr/>
          <a:lstStyle/>
          <a:p>
            <a:r>
              <a:rPr kumimoji="1" lang="ja-JP" altLang="en-US" dirty="0"/>
              <a:t>参考資料</a:t>
            </a:r>
          </a:p>
        </p:txBody>
      </p:sp>
      <p:sp>
        <p:nvSpPr>
          <p:cNvPr id="4" name="スライド番号プレースホルダー 3">
            <a:extLst>
              <a:ext uri="{FF2B5EF4-FFF2-40B4-BE49-F238E27FC236}">
                <a16:creationId xmlns:a16="http://schemas.microsoft.com/office/drawing/2014/main" id="{6B1B967E-D2FD-42B1-41E7-57C1AF09EA35}"/>
              </a:ext>
            </a:extLst>
          </p:cNvPr>
          <p:cNvSpPr>
            <a:spLocks noGrp="1"/>
          </p:cNvSpPr>
          <p:nvPr>
            <p:ph type="sldNum" sz="quarter" idx="11"/>
          </p:nvPr>
        </p:nvSpPr>
        <p:spPr/>
        <p:txBody>
          <a:bodyPr/>
          <a:lstStyle/>
          <a:p>
            <a:fld id="{23B20E4E-3F95-4221-AFE5-FD1FD9CC3448}" type="slidenum">
              <a:rPr lang="en-US" altLang="ja-JP" smtClean="0"/>
              <a:pPr/>
              <a:t>27</a:t>
            </a:fld>
            <a:endParaRPr lang="en-US" altLang="ja-JP"/>
          </a:p>
        </p:txBody>
      </p:sp>
      <p:pic>
        <p:nvPicPr>
          <p:cNvPr id="5" name="図 4" descr="ロゴ&#10;&#10;自動的に生成された説明">
            <a:extLst>
              <a:ext uri="{FF2B5EF4-FFF2-40B4-BE49-F238E27FC236}">
                <a16:creationId xmlns:a16="http://schemas.microsoft.com/office/drawing/2014/main" id="{A4922A5E-CEFD-B146-9503-70291E62F6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grpSp>
        <p:nvGrpSpPr>
          <p:cNvPr id="6" name="グループ化 5">
            <a:extLst>
              <a:ext uri="{FF2B5EF4-FFF2-40B4-BE49-F238E27FC236}">
                <a16:creationId xmlns:a16="http://schemas.microsoft.com/office/drawing/2014/main" id="{3BDBF3FD-E934-B59C-66C2-E5C4C8A3599E}"/>
              </a:ext>
            </a:extLst>
          </p:cNvPr>
          <p:cNvGrpSpPr/>
          <p:nvPr/>
        </p:nvGrpSpPr>
        <p:grpSpPr>
          <a:xfrm>
            <a:off x="542066" y="1453681"/>
            <a:ext cx="11473544" cy="927106"/>
            <a:chOff x="405886" y="2826811"/>
            <a:chExt cx="11473544" cy="927106"/>
          </a:xfrm>
        </p:grpSpPr>
        <p:sp>
          <p:nvSpPr>
            <p:cNvPr id="7" name="テキスト ボックス 6">
              <a:extLst>
                <a:ext uri="{FF2B5EF4-FFF2-40B4-BE49-F238E27FC236}">
                  <a16:creationId xmlns:a16="http://schemas.microsoft.com/office/drawing/2014/main" id="{9F7D5998-76B4-B54C-D510-BA502366E081}"/>
                </a:ext>
              </a:extLst>
            </p:cNvPr>
            <p:cNvSpPr txBox="1"/>
            <p:nvPr/>
          </p:nvSpPr>
          <p:spPr>
            <a:xfrm>
              <a:off x="405886" y="2826811"/>
              <a:ext cx="11473544" cy="461665"/>
            </a:xfrm>
            <a:prstGeom prst="rect">
              <a:avLst/>
            </a:prstGeom>
            <a:noFill/>
          </p:spPr>
          <p:txBody>
            <a:bodyPr wrap="square">
              <a:spAutoFit/>
            </a:bodyPr>
            <a:lstStyle/>
            <a:p>
              <a:r>
                <a:rPr lang="en-US" altLang="ja-JP" dirty="0" err="1"/>
                <a:t>tosuke</a:t>
              </a:r>
              <a:r>
                <a:rPr lang="en-US" altLang="ja-JP" dirty="0"/>
                <a:t>. </a:t>
              </a:r>
              <a:r>
                <a:rPr lang="ja-JP" altLang="en-US" dirty="0">
                  <a:latin typeface="メイリオ" panose="020B0604030504040204" pitchFamily="50" charset="-128"/>
                  <a:ea typeface="メイリオ" panose="020B0604030504040204" pitchFamily="50" charset="-128"/>
                </a:rPr>
                <a:t>因果推論の用語を整理してみよう①</a:t>
              </a:r>
              <a:endParaRPr lang="en-US" altLang="ja-JP"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B0F459D4-EC7C-2212-1D40-8941E459200F}"/>
                </a:ext>
              </a:extLst>
            </p:cNvPr>
            <p:cNvSpPr txBox="1"/>
            <p:nvPr/>
          </p:nvSpPr>
          <p:spPr>
            <a:xfrm>
              <a:off x="5311748" y="3292252"/>
              <a:ext cx="4752528" cy="461665"/>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（最終アクセス　</a:t>
              </a:r>
              <a:r>
                <a:rPr lang="en-US" altLang="ja-JP" dirty="0">
                  <a:latin typeface="メイリオ" panose="020B0604030504040204" pitchFamily="50" charset="-128"/>
                  <a:ea typeface="メイリオ" panose="020B0604030504040204" pitchFamily="50" charset="-128"/>
                </a:rPr>
                <a:t>2026/04/03</a:t>
              </a:r>
              <a:r>
                <a:rPr lang="ja-JP" altLang="en-US" dirty="0">
                  <a:latin typeface="メイリオ" panose="020B0604030504040204" pitchFamily="50" charset="-128"/>
                  <a:ea typeface="メイリオ" panose="020B0604030504040204" pitchFamily="50" charset="-128"/>
                </a:rPr>
                <a:t>）</a:t>
              </a:r>
              <a:endParaRPr lang="ja-JP" altLang="en-US" dirty="0"/>
            </a:p>
          </p:txBody>
        </p:sp>
        <p:sp>
          <p:nvSpPr>
            <p:cNvPr id="9" name="テキスト ボックス 8">
              <a:extLst>
                <a:ext uri="{FF2B5EF4-FFF2-40B4-BE49-F238E27FC236}">
                  <a16:creationId xmlns:a16="http://schemas.microsoft.com/office/drawing/2014/main" id="{0D94A3AA-0DFE-E5B5-CA04-D9D7C913AB77}"/>
                </a:ext>
              </a:extLst>
            </p:cNvPr>
            <p:cNvSpPr txBox="1"/>
            <p:nvPr/>
          </p:nvSpPr>
          <p:spPr>
            <a:xfrm>
              <a:off x="431093" y="3256189"/>
              <a:ext cx="8064896" cy="461665"/>
            </a:xfrm>
            <a:prstGeom prst="rect">
              <a:avLst/>
            </a:prstGeom>
            <a:noFill/>
          </p:spPr>
          <p:txBody>
            <a:bodyPr wrap="square">
              <a:spAutoFit/>
            </a:bodyPr>
            <a:lstStyle/>
            <a:p>
              <a:r>
                <a:rPr lang="en-US" altLang="ja-JP" u="sng" dirty="0">
                  <a:hlinkClick r:id="rId3"/>
                </a:rPr>
                <a:t>https://nounai-librarian.com/causalintro/</a:t>
              </a:r>
              <a:endParaRPr lang="ja-JP" altLang="ja-JP" dirty="0"/>
            </a:p>
          </p:txBody>
        </p:sp>
      </p:grpSp>
      <p:sp>
        <p:nvSpPr>
          <p:cNvPr id="10" name="テキスト ボックス 9">
            <a:extLst>
              <a:ext uri="{FF2B5EF4-FFF2-40B4-BE49-F238E27FC236}">
                <a16:creationId xmlns:a16="http://schemas.microsoft.com/office/drawing/2014/main" id="{9DC5A676-F68A-C2BF-4857-766D895C8405}"/>
              </a:ext>
            </a:extLst>
          </p:cNvPr>
          <p:cNvSpPr txBox="1"/>
          <p:nvPr/>
        </p:nvSpPr>
        <p:spPr>
          <a:xfrm>
            <a:off x="542066" y="2591804"/>
            <a:ext cx="11022676" cy="1200329"/>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高橋 将宜</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統計的因果推論の理論と実装 </a:t>
            </a:r>
            <a:r>
              <a:rPr lang="en-US" altLang="ja-JP" dirty="0">
                <a:latin typeface="メイリオ" panose="020B0604030504040204" pitchFamily="50" charset="-128"/>
                <a:ea typeface="メイリオ" panose="020B0604030504040204" pitchFamily="50" charset="-128"/>
              </a:rPr>
              <a:t>(Wonderful R)</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共立出版</a:t>
            </a:r>
            <a:r>
              <a:rPr lang="en-US" altLang="ja-JP" dirty="0">
                <a:latin typeface="メイリオ" panose="020B0604030504040204" pitchFamily="50" charset="-128"/>
                <a:ea typeface="メイリオ" panose="020B0604030504040204" pitchFamily="50" charset="-128"/>
              </a:rPr>
              <a:t>(2022)</a:t>
            </a:r>
          </a:p>
          <a:p>
            <a:r>
              <a:rPr lang="en-US" altLang="ja-JP" dirty="0">
                <a:latin typeface="メイリオ" panose="020B0604030504040204" pitchFamily="50" charset="-128"/>
                <a:ea typeface="メイリオ" panose="020B0604030504040204" pitchFamily="50" charset="-128"/>
              </a:rPr>
              <a:t>Chapter2 </a:t>
            </a:r>
            <a:r>
              <a:rPr lang="ja-JP" altLang="en-US" dirty="0">
                <a:latin typeface="メイリオ" panose="020B0604030504040204" pitchFamily="50" charset="-128"/>
                <a:ea typeface="メイリオ" panose="020B0604030504040204" pitchFamily="50" charset="-128"/>
              </a:rPr>
              <a:t>潜在的結果変数の枠組み</a:t>
            </a:r>
            <a:endParaRPr lang="en-US" altLang="ja-JP" dirty="0">
              <a:latin typeface="メイリオ" panose="020B0604030504040204" pitchFamily="50" charset="-128"/>
              <a:ea typeface="メイリオ" panose="020B0604030504040204" pitchFamily="50" charset="-128"/>
            </a:endParaRPr>
          </a:p>
          <a:p>
            <a:r>
              <a:rPr lang="en-US" altLang="ja-JP" dirty="0">
                <a:latin typeface="メイリオ" panose="020B0604030504040204" pitchFamily="50" charset="-128"/>
                <a:ea typeface="メイリオ" panose="020B0604030504040204" pitchFamily="50" charset="-128"/>
              </a:rPr>
              <a:t>Chapter4 </a:t>
            </a:r>
            <a:r>
              <a:rPr lang="ja-JP" altLang="en-US" dirty="0">
                <a:latin typeface="メイリオ" panose="020B0604030504040204" pitchFamily="50" charset="-128"/>
                <a:ea typeface="メイリオ" panose="020B0604030504040204" pitchFamily="50" charset="-128"/>
              </a:rPr>
              <a:t>統計的因果推論における重要な仮定</a:t>
            </a:r>
          </a:p>
        </p:txBody>
      </p:sp>
      <p:sp>
        <p:nvSpPr>
          <p:cNvPr id="11" name="テキスト ボックス 10">
            <a:extLst>
              <a:ext uri="{FF2B5EF4-FFF2-40B4-BE49-F238E27FC236}">
                <a16:creationId xmlns:a16="http://schemas.microsoft.com/office/drawing/2014/main" id="{4AEC7037-FA8C-DA21-2C31-3F2E7B8C8E5C}"/>
              </a:ext>
            </a:extLst>
          </p:cNvPr>
          <p:cNvSpPr txBox="1"/>
          <p:nvPr/>
        </p:nvSpPr>
        <p:spPr>
          <a:xfrm>
            <a:off x="542066" y="3934437"/>
            <a:ext cx="11022676" cy="1200329"/>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林 岳彦</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はじめての統計的因果推論 </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岩波書店</a:t>
            </a:r>
            <a:r>
              <a:rPr lang="en-US" altLang="ja-JP" dirty="0">
                <a:latin typeface="メイリオ" panose="020B0604030504040204" pitchFamily="50" charset="-128"/>
                <a:ea typeface="メイリオ" panose="020B0604030504040204" pitchFamily="50" charset="-128"/>
              </a:rPr>
              <a:t>(2024)</a:t>
            </a:r>
          </a:p>
          <a:p>
            <a:r>
              <a:rPr lang="ja-JP" altLang="en-US" dirty="0">
                <a:latin typeface="メイリオ" panose="020B0604030504040204" pitchFamily="50" charset="-128"/>
                <a:ea typeface="メイリオ" panose="020B0604030504040204" pitchFamily="50" charset="-128"/>
              </a:rPr>
              <a:t>第</a:t>
            </a:r>
            <a:r>
              <a:rPr lang="en-US" altLang="ja-JP" dirty="0">
                <a:latin typeface="メイリオ" panose="020B0604030504040204" pitchFamily="50" charset="-128"/>
                <a:ea typeface="メイリオ" panose="020B0604030504040204" pitchFamily="50" charset="-128"/>
              </a:rPr>
              <a:t>Ⅰ</a:t>
            </a:r>
            <a:r>
              <a:rPr lang="ja-JP" altLang="en-US" dirty="0">
                <a:latin typeface="メイリオ" panose="020B0604030504040204" pitchFamily="50" charset="-128"/>
                <a:ea typeface="メイリオ" panose="020B0604030504040204" pitchFamily="50" charset="-128"/>
              </a:rPr>
              <a:t>部</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因果推論の基本的な考え方</a:t>
            </a:r>
            <a:endParaRPr lang="en-US" altLang="ja-JP" dirty="0">
              <a:latin typeface="メイリオ" panose="020B0604030504040204" pitchFamily="50" charset="-128"/>
              <a:ea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rPr>
              <a:t>第</a:t>
            </a:r>
            <a:r>
              <a:rPr lang="en-US" altLang="ja-JP" dirty="0">
                <a:latin typeface="メイリオ" panose="020B0604030504040204" pitchFamily="50" charset="-128"/>
                <a:ea typeface="メイリオ" panose="020B0604030504040204" pitchFamily="50" charset="-128"/>
              </a:rPr>
              <a:t>Ⅱ</a:t>
            </a:r>
            <a:r>
              <a:rPr lang="ja-JP" altLang="en-US" dirty="0">
                <a:latin typeface="メイリオ" panose="020B0604030504040204" pitchFamily="50" charset="-128"/>
                <a:ea typeface="メイリオ" panose="020B0604030504040204" pitchFamily="50" charset="-128"/>
              </a:rPr>
              <a:t>部 因果効果の推定手法</a:t>
            </a:r>
          </a:p>
        </p:txBody>
      </p:sp>
    </p:spTree>
    <p:extLst>
      <p:ext uri="{BB962C8B-B14F-4D97-AF65-F5344CB8AC3E}">
        <p14:creationId xmlns:p14="http://schemas.microsoft.com/office/powerpoint/2010/main" val="194541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336D-14A1-7460-3DD6-649B1E2DADE6}"/>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4180CEB8-CFBD-B4D2-C3A8-BD0B98D182F3}"/>
              </a:ext>
            </a:extLst>
          </p:cNvPr>
          <p:cNvSpPr>
            <a:spLocks noGrp="1"/>
          </p:cNvSpPr>
          <p:nvPr>
            <p:ph type="sldNum" sz="quarter" idx="11"/>
          </p:nvPr>
        </p:nvSpPr>
        <p:spPr/>
        <p:txBody>
          <a:bodyPr/>
          <a:lstStyle/>
          <a:p>
            <a:fld id="{23B20E4E-3F95-4221-AFE5-FD1FD9CC3448}" type="slidenum">
              <a:rPr lang="en-US" altLang="ja-JP" smtClean="0"/>
              <a:pPr/>
              <a:t>28</a:t>
            </a:fld>
            <a:endParaRPr lang="en-US" altLang="ja-JP"/>
          </a:p>
        </p:txBody>
      </p:sp>
      <p:pic>
        <p:nvPicPr>
          <p:cNvPr id="5" name="図 4" descr="ロゴ&#10;&#10;自動的に生成された説明">
            <a:extLst>
              <a:ext uri="{FF2B5EF4-FFF2-40B4-BE49-F238E27FC236}">
                <a16:creationId xmlns:a16="http://schemas.microsoft.com/office/drawing/2014/main" id="{288EAC6F-8396-2272-0913-144A2F9710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668921"/>
            <a:ext cx="1167468" cy="1168970"/>
          </a:xfrm>
          <a:prstGeom prst="rect">
            <a:avLst/>
          </a:prstGeom>
        </p:spPr>
      </p:pic>
      <p:sp>
        <p:nvSpPr>
          <p:cNvPr id="6" name="コンテンツ プレースホルダー 2">
            <a:extLst>
              <a:ext uri="{FF2B5EF4-FFF2-40B4-BE49-F238E27FC236}">
                <a16:creationId xmlns:a16="http://schemas.microsoft.com/office/drawing/2014/main" id="{0EAE3388-452F-6DEB-03F0-3545A8846B9C}"/>
              </a:ext>
            </a:extLst>
          </p:cNvPr>
          <p:cNvSpPr>
            <a:spLocks noGrp="1"/>
          </p:cNvSpPr>
          <p:nvPr>
            <p:ph idx="1"/>
          </p:nvPr>
        </p:nvSpPr>
        <p:spPr>
          <a:xfrm>
            <a:off x="5580344" y="3645024"/>
            <a:ext cx="4536504" cy="876276"/>
          </a:xfrm>
        </p:spPr>
        <p:txBody>
          <a:bodyPr>
            <a:normAutofit lnSpcReduction="10000"/>
          </a:bodyPr>
          <a:lstStyle/>
          <a:p>
            <a:pPr marL="0" indent="0">
              <a:spcBef>
                <a:spcPts val="1200"/>
              </a:spcBef>
              <a:buNone/>
            </a:pPr>
            <a:r>
              <a:rPr lang="ja-JP" altLang="ja-JP" sz="2400" b="1" dirty="0">
                <a:latin typeface="メイリオ" panose="020B0604030504040204" pitchFamily="50" charset="-128"/>
                <a:ea typeface="メイリオ" panose="020B0604030504040204" pitchFamily="50" charset="-128"/>
              </a:rPr>
              <a:t>株式会社</a:t>
            </a:r>
            <a:r>
              <a:rPr lang="ja-JP" altLang="en-US" sz="2400" b="1" dirty="0">
                <a:latin typeface="メイリオ" panose="020B0604030504040204" pitchFamily="50" charset="-128"/>
                <a:ea typeface="メイリオ" panose="020B0604030504040204" pitchFamily="50" charset="-128"/>
              </a:rPr>
              <a:t>　</a:t>
            </a:r>
            <a:r>
              <a:rPr lang="ja-JP" altLang="ja-JP" sz="2400" b="1" dirty="0">
                <a:latin typeface="メイリオ" panose="020B0604030504040204" pitchFamily="50" charset="-128"/>
                <a:ea typeface="メイリオ" panose="020B0604030504040204" pitchFamily="50" charset="-128"/>
              </a:rPr>
              <a:t>ピープロ・ジャパン</a:t>
            </a:r>
          </a:p>
          <a:p>
            <a:pPr marL="0" indent="0">
              <a:buNone/>
            </a:pPr>
            <a:r>
              <a:rPr lang="en-US" altLang="ja-JP" sz="2400" b="1" dirty="0">
                <a:latin typeface="メイリオ" panose="020B0604030504040204" pitchFamily="50" charset="-128"/>
                <a:ea typeface="メイリオ" panose="020B0604030504040204" pitchFamily="50" charset="-128"/>
              </a:rPr>
              <a:t>DM/</a:t>
            </a:r>
            <a:r>
              <a:rPr lang="ja-JP" altLang="en-US" sz="2400" b="1" dirty="0">
                <a:latin typeface="メイリオ" panose="020B0604030504040204" pitchFamily="50" charset="-128"/>
                <a:ea typeface="メイリオ" panose="020B0604030504040204" pitchFamily="50" charset="-128"/>
              </a:rPr>
              <a:t>統計解析</a:t>
            </a:r>
            <a:r>
              <a:rPr lang="ja-JP" altLang="ja-JP" sz="2400" b="1" dirty="0">
                <a:latin typeface="メイリオ" panose="020B0604030504040204" pitchFamily="50" charset="-128"/>
                <a:ea typeface="メイリオ" panose="020B0604030504040204" pitchFamily="50" charset="-128"/>
              </a:rPr>
              <a:t>グループ</a:t>
            </a:r>
          </a:p>
        </p:txBody>
      </p:sp>
      <p:sp>
        <p:nvSpPr>
          <p:cNvPr id="7" name="テキスト ボックス 6">
            <a:extLst>
              <a:ext uri="{FF2B5EF4-FFF2-40B4-BE49-F238E27FC236}">
                <a16:creationId xmlns:a16="http://schemas.microsoft.com/office/drawing/2014/main" id="{67201595-3949-2E99-2DBE-1A17317853C1}"/>
              </a:ext>
            </a:extLst>
          </p:cNvPr>
          <p:cNvSpPr txBox="1"/>
          <p:nvPr/>
        </p:nvSpPr>
        <p:spPr>
          <a:xfrm>
            <a:off x="5580344" y="4687656"/>
            <a:ext cx="5299182" cy="1477328"/>
          </a:xfrm>
          <a:prstGeom prst="rect">
            <a:avLst/>
          </a:prstGeom>
          <a:noFill/>
        </p:spPr>
        <p:txBody>
          <a:bodyPr wrap="square">
            <a:spAutoFit/>
          </a:bodyPr>
          <a:lstStyle/>
          <a:p>
            <a:r>
              <a:rPr lang="ja-JP" altLang="ja-JP" sz="1800" dirty="0">
                <a:latin typeface="メイリオ" panose="020B0604030504040204" pitchFamily="50" charset="-128"/>
                <a:ea typeface="メイリオ" panose="020B0604030504040204" pitchFamily="50" charset="-128"/>
              </a:rPr>
              <a:t>〒</a:t>
            </a:r>
            <a:r>
              <a:rPr lang="en-US" altLang="ja-JP" sz="1800" dirty="0">
                <a:latin typeface="メイリオ" panose="020B0604030504040204" pitchFamily="50" charset="-128"/>
                <a:ea typeface="メイリオ" panose="020B0604030504040204" pitchFamily="50" charset="-128"/>
              </a:rPr>
              <a:t>541-0041 </a:t>
            </a:r>
          </a:p>
          <a:p>
            <a:r>
              <a:rPr lang="ja-JP" altLang="ja-JP" sz="1800" dirty="0">
                <a:latin typeface="メイリオ" panose="020B0604030504040204" pitchFamily="50" charset="-128"/>
                <a:ea typeface="メイリオ" panose="020B0604030504040204" pitchFamily="50" charset="-128"/>
              </a:rPr>
              <a:t>大阪市中央区北浜</a:t>
            </a:r>
            <a:r>
              <a:rPr lang="en-US" altLang="ja-JP" sz="1800" dirty="0">
                <a:latin typeface="メイリオ" panose="020B0604030504040204" pitchFamily="50" charset="-128"/>
                <a:ea typeface="メイリオ" panose="020B0604030504040204" pitchFamily="50" charset="-128"/>
              </a:rPr>
              <a:t>2</a:t>
            </a:r>
            <a:r>
              <a:rPr lang="ja-JP" altLang="ja-JP" sz="1800" dirty="0">
                <a:latin typeface="メイリオ" panose="020B0604030504040204" pitchFamily="50" charset="-128"/>
                <a:ea typeface="メイリオ" panose="020B0604030504040204" pitchFamily="50" charset="-128"/>
              </a:rPr>
              <a:t>丁目</a:t>
            </a:r>
            <a:r>
              <a:rPr lang="en-US" altLang="ja-JP" sz="1800" dirty="0">
                <a:latin typeface="メイリオ" panose="020B0604030504040204" pitchFamily="50" charset="-128"/>
                <a:ea typeface="メイリオ" panose="020B0604030504040204" pitchFamily="50" charset="-128"/>
              </a:rPr>
              <a:t>2</a:t>
            </a:r>
            <a:r>
              <a:rPr lang="ja-JP" altLang="ja-JP" sz="1800" dirty="0">
                <a:latin typeface="メイリオ" panose="020B0604030504040204" pitchFamily="50" charset="-128"/>
                <a:ea typeface="メイリオ" panose="020B0604030504040204" pitchFamily="50" charset="-128"/>
              </a:rPr>
              <a:t>番</a:t>
            </a:r>
            <a:r>
              <a:rPr lang="en-US" altLang="ja-JP" sz="1800" dirty="0">
                <a:latin typeface="メイリオ" panose="020B0604030504040204" pitchFamily="50" charset="-128"/>
                <a:ea typeface="メイリオ" panose="020B0604030504040204" pitchFamily="50" charset="-128"/>
              </a:rPr>
              <a:t>22</a:t>
            </a:r>
            <a:r>
              <a:rPr lang="ja-JP" altLang="ja-JP" sz="1800" dirty="0">
                <a:latin typeface="メイリオ" panose="020B0604030504040204" pitchFamily="50" charset="-128"/>
                <a:ea typeface="メイリオ" panose="020B0604030504040204" pitchFamily="50" charset="-128"/>
              </a:rPr>
              <a:t>号</a:t>
            </a:r>
            <a:endParaRPr lang="en-US" altLang="ja-JP" sz="1800" dirty="0">
              <a:latin typeface="メイリオ" panose="020B0604030504040204" pitchFamily="50" charset="-128"/>
              <a:ea typeface="メイリオ" panose="020B0604030504040204" pitchFamily="50" charset="-128"/>
            </a:endParaRPr>
          </a:p>
          <a:p>
            <a:r>
              <a:rPr lang="en-US" altLang="ja-JP" sz="1800" dirty="0">
                <a:latin typeface="メイリオ" panose="020B0604030504040204" pitchFamily="50" charset="-128"/>
                <a:ea typeface="メイリオ" panose="020B0604030504040204" pitchFamily="50" charset="-128"/>
              </a:rPr>
              <a:t>TEL</a:t>
            </a:r>
            <a:r>
              <a:rPr lang="ja-JP" altLang="ja-JP" sz="1800" dirty="0">
                <a:latin typeface="メイリオ" panose="020B0604030504040204" pitchFamily="50" charset="-128"/>
                <a:ea typeface="メイリオ" panose="020B0604030504040204" pitchFamily="50" charset="-128"/>
              </a:rPr>
              <a:t>：</a:t>
            </a:r>
            <a:r>
              <a:rPr lang="en-US" altLang="ja-JP" sz="1800" dirty="0">
                <a:latin typeface="メイリオ" panose="020B0604030504040204" pitchFamily="50" charset="-128"/>
                <a:ea typeface="メイリオ" panose="020B0604030504040204" pitchFamily="50" charset="-128"/>
              </a:rPr>
              <a:t>06-6121-2181</a:t>
            </a:r>
            <a:r>
              <a:rPr lang="ja-JP" altLang="en-US" sz="1800" dirty="0">
                <a:latin typeface="メイリオ" panose="020B0604030504040204" pitchFamily="50" charset="-128"/>
                <a:ea typeface="メイリオ" panose="020B0604030504040204" pitchFamily="50" charset="-128"/>
              </a:rPr>
              <a:t>　　</a:t>
            </a:r>
            <a:r>
              <a:rPr lang="en-US" altLang="ja-JP" sz="1800" dirty="0">
                <a:latin typeface="メイリオ" panose="020B0604030504040204" pitchFamily="50" charset="-128"/>
                <a:ea typeface="メイリオ" panose="020B0604030504040204" pitchFamily="50" charset="-128"/>
              </a:rPr>
              <a:t>Fax</a:t>
            </a:r>
            <a:r>
              <a:rPr lang="ja-JP" altLang="ja-JP" sz="1800" dirty="0">
                <a:latin typeface="メイリオ" panose="020B0604030504040204" pitchFamily="50" charset="-128"/>
                <a:ea typeface="メイリオ" panose="020B0604030504040204" pitchFamily="50" charset="-128"/>
              </a:rPr>
              <a:t>：</a:t>
            </a:r>
            <a:r>
              <a:rPr lang="en-US" altLang="ja-JP" sz="1800" dirty="0">
                <a:latin typeface="メイリオ" panose="020B0604030504040204" pitchFamily="50" charset="-128"/>
                <a:ea typeface="メイリオ" panose="020B0604030504040204" pitchFamily="50" charset="-128"/>
              </a:rPr>
              <a:t>06-6121-6717</a:t>
            </a:r>
          </a:p>
          <a:p>
            <a:r>
              <a:rPr lang="en-US" altLang="ja-JP" sz="1800" dirty="0">
                <a:latin typeface="メイリオ" panose="020B0604030504040204" pitchFamily="50" charset="-128"/>
                <a:ea typeface="メイリオ" panose="020B0604030504040204" pitchFamily="50" charset="-128"/>
              </a:rPr>
              <a:t>Mail</a:t>
            </a:r>
            <a:r>
              <a:rPr lang="ja-JP" altLang="en-US" sz="1800" dirty="0">
                <a:latin typeface="メイリオ" panose="020B0604030504040204" pitchFamily="50" charset="-128"/>
                <a:ea typeface="メイリオ" panose="020B0604030504040204" pitchFamily="50" charset="-128"/>
              </a:rPr>
              <a:t>：</a:t>
            </a:r>
            <a:r>
              <a:rPr lang="en-US" altLang="ja-JP" sz="1800" dirty="0">
                <a:latin typeface="メイリオ" panose="020B0604030504040204" pitchFamily="50" charset="-128"/>
                <a:ea typeface="メイリオ" panose="020B0604030504040204" pitchFamily="50" charset="-128"/>
                <a:hlinkClick r:id="rId3"/>
              </a:rPr>
              <a:t>pj@p-pro.info</a:t>
            </a:r>
            <a:endParaRPr lang="en-US" altLang="ja-JP" sz="1800" dirty="0">
              <a:latin typeface="メイリオ" panose="020B0604030504040204" pitchFamily="50" charset="-128"/>
              <a:ea typeface="メイリオ" panose="020B0604030504040204" pitchFamily="50" charset="-128"/>
            </a:endParaRPr>
          </a:p>
          <a:p>
            <a:r>
              <a:rPr lang="en-US" altLang="ja-JP" sz="1800" dirty="0">
                <a:latin typeface="メイリオ" panose="020B0604030504040204" pitchFamily="50" charset="-128"/>
                <a:ea typeface="メイリオ" panose="020B0604030504040204" pitchFamily="50" charset="-128"/>
              </a:rPr>
              <a:t>https://p-pro.info/japan</a:t>
            </a:r>
            <a:endParaRPr lang="ja-JP" altLang="ja-JP" sz="1800" dirty="0">
              <a:latin typeface="メイリオ" panose="020B0604030504040204" pitchFamily="50" charset="-128"/>
              <a:ea typeface="メイリオ" panose="020B0604030504040204" pitchFamily="50" charset="-128"/>
            </a:endParaRPr>
          </a:p>
        </p:txBody>
      </p:sp>
      <p:sp>
        <p:nvSpPr>
          <p:cNvPr id="8" name="タイトル 1">
            <a:extLst>
              <a:ext uri="{FF2B5EF4-FFF2-40B4-BE49-F238E27FC236}">
                <a16:creationId xmlns:a16="http://schemas.microsoft.com/office/drawing/2014/main" id="{4D4022BC-1EDE-D5C2-31B5-7B7CDBC58575}"/>
              </a:ext>
            </a:extLst>
          </p:cNvPr>
          <p:cNvSpPr txBox="1">
            <a:spLocks/>
          </p:cNvSpPr>
          <p:nvPr/>
        </p:nvSpPr>
        <p:spPr>
          <a:xfrm>
            <a:off x="700488" y="1190424"/>
            <a:ext cx="11223056" cy="657624"/>
          </a:xfrm>
          <a:prstGeom prst="rect">
            <a:avLst/>
          </a:prstGeom>
        </p:spPr>
        <p:txBody>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r>
              <a:rPr lang="en-US" altLang="ja-JP" sz="6000" b="1" dirty="0">
                <a:solidFill>
                  <a:srgbClr val="0066FF"/>
                </a:solidFill>
                <a:latin typeface="メイリオ" panose="020B0604030504040204" pitchFamily="50" charset="-128"/>
                <a:ea typeface="メイリオ" panose="020B0604030504040204" pitchFamily="50" charset="-128"/>
                <a:cs typeface="メイリオ" panose="020B0604030504040204" pitchFamily="50" charset="-128"/>
              </a:rPr>
              <a:t>Thank you </a:t>
            </a:r>
          </a:p>
          <a:p>
            <a:r>
              <a:rPr lang="en-US" altLang="ja-JP" sz="6000" b="1" dirty="0">
                <a:solidFill>
                  <a:srgbClr val="0066FF"/>
                </a:solidFill>
                <a:latin typeface="メイリオ" panose="020B0604030504040204" pitchFamily="50" charset="-128"/>
                <a:ea typeface="メイリオ" panose="020B0604030504040204" pitchFamily="50" charset="-128"/>
                <a:cs typeface="メイリオ" panose="020B0604030504040204" pitchFamily="50" charset="-128"/>
              </a:rPr>
              <a:t>for your kind attention!!</a:t>
            </a:r>
            <a:endParaRPr lang="en-US" altLang="ja-JP" dirty="0">
              <a:solidFill>
                <a:srgbClr val="0066FF"/>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9" name="図 8" descr="室内, 床 が含まれている画像&#10;&#10;自動的に生成された説明">
            <a:extLst>
              <a:ext uri="{FF2B5EF4-FFF2-40B4-BE49-F238E27FC236}">
                <a16:creationId xmlns:a16="http://schemas.microsoft.com/office/drawing/2014/main" id="{27843365-E6A4-495E-A7FC-23270700B0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71464" y="3284984"/>
            <a:ext cx="4124642" cy="2880000"/>
          </a:xfrm>
          <a:prstGeom prst="rect">
            <a:avLst/>
          </a:prstGeom>
        </p:spPr>
      </p:pic>
    </p:spTree>
    <p:extLst>
      <p:ext uri="{BB962C8B-B14F-4D97-AF65-F5344CB8AC3E}">
        <p14:creationId xmlns:p14="http://schemas.microsoft.com/office/powerpoint/2010/main" val="417961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サブタイトル 5"/>
          <p:cNvSpPr>
            <a:spLocks noGrp="1"/>
          </p:cNvSpPr>
          <p:nvPr>
            <p:ph type="subTitle" sz="quarter" idx="1"/>
          </p:nvPr>
        </p:nvSpPr>
        <p:spPr>
          <a:xfrm>
            <a:off x="2895600" y="5691336"/>
            <a:ext cx="6400800" cy="762000"/>
          </a:xfrm>
        </p:spPr>
        <p:txBody>
          <a:bodyPr/>
          <a:lstStyle/>
          <a:p>
            <a:r>
              <a:rPr lang="en-US" altLang="ja-JP" dirty="0"/>
              <a:t>- End of File -</a:t>
            </a:r>
            <a:endParaRPr kumimoji="1" lang="ja-JP" altLang="en-US" dirty="0"/>
          </a:p>
        </p:txBody>
      </p:sp>
      <p:sp>
        <p:nvSpPr>
          <p:cNvPr id="7" name="正方形/長方形 6"/>
          <p:cNvSpPr/>
          <p:nvPr/>
        </p:nvSpPr>
        <p:spPr>
          <a:xfrm>
            <a:off x="8508840" y="9192"/>
            <a:ext cx="2160240"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3626368105"/>
      </p:ext>
    </p:extLst>
  </p:cSld>
  <p:clrMapOvr>
    <a:masterClrMapping/>
  </p:clrMapOvr>
</p:sld>
</file>

<file path=ppt/theme/theme1.xml><?xml version="1.0" encoding="utf-8"?>
<a:theme xmlns:a="http://schemas.openxmlformats.org/drawingml/2006/main" name="スライド雛形4">
  <a:themeElements>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テーマ">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テーマ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テーマ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テーマ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テーマ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テーマ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テーマ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テーマ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テーマ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lide template 1.potx" id="{129D60C9-D70C-4C2A-995F-CBE4331F23B4}" vid="{DFCE9F6C-A473-472A-8CC9-D716626C6024}"/>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slide template 2</Template>
  <TotalTime>1078</TotalTime>
  <Words>2795</Words>
  <Application>Microsoft Office PowerPoint</Application>
  <PresentationFormat>ワイド画面</PresentationFormat>
  <Paragraphs>670</Paragraphs>
  <Slides>29</Slides>
  <Notes>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29</vt:i4>
      </vt:variant>
    </vt:vector>
  </HeadingPairs>
  <TitlesOfParts>
    <vt:vector size="39" baseType="lpstr">
      <vt:lpstr>ＭＳ Ｐゴシック</vt:lpstr>
      <vt:lpstr>Meiryo</vt:lpstr>
      <vt:lpstr>Meiryo</vt:lpstr>
      <vt:lpstr>Century Gothic</vt:lpstr>
      <vt:lpstr>Lucida Calligraphy</vt:lpstr>
      <vt:lpstr>Segoe UI</vt:lpstr>
      <vt:lpstr>Times</vt:lpstr>
      <vt:lpstr>Times New Roman</vt:lpstr>
      <vt:lpstr>Wingdings</vt:lpstr>
      <vt:lpstr>スライド雛形4</vt:lpstr>
      <vt:lpstr>Rで学ぶ医薬データにおける 統計的因果推論入門 </vt:lpstr>
      <vt:lpstr>免責事項</vt:lpstr>
      <vt:lpstr>本演題の内容</vt:lpstr>
      <vt:lpstr>本演題の内容/目次</vt:lpstr>
      <vt:lpstr>観察研究の具体的な事例</vt:lpstr>
      <vt:lpstr>観察研究の具体的な事例</vt:lpstr>
      <vt:lpstr>観察研究における層別のクロス集計表</vt:lpstr>
      <vt:lpstr>観察研究における層別のクロス集計表</vt:lpstr>
      <vt:lpstr>観察研究における層別のクロス集計表</vt:lpstr>
      <vt:lpstr>観察研究における層別のクロス集計表</vt:lpstr>
      <vt:lpstr>層別解析による平均因果効果の推定</vt:lpstr>
      <vt:lpstr>因果推論における潜在アウトカム</vt:lpstr>
      <vt:lpstr>Rによる実装例</vt:lpstr>
      <vt:lpstr>Rによる実装例</vt:lpstr>
      <vt:lpstr>Rによる実装例(作成データの可視化)</vt:lpstr>
      <vt:lpstr>Rによる実装例</vt:lpstr>
      <vt:lpstr>Rによる実装例</vt:lpstr>
      <vt:lpstr>Rによる実装例</vt:lpstr>
      <vt:lpstr>共変量マッチング</vt:lpstr>
      <vt:lpstr>共変量マッチング（full matching）</vt:lpstr>
      <vt:lpstr>共変量マッチング（full matching）</vt:lpstr>
      <vt:lpstr>共変量マッチング（full matching）</vt:lpstr>
      <vt:lpstr>共変量マッチング（full matching）</vt:lpstr>
      <vt:lpstr>共変量マッチング（full matching）による平均因果効果</vt:lpstr>
      <vt:lpstr>共変量マッチング（full matching）による平均因果効果</vt:lpstr>
      <vt:lpstr>まとめ</vt:lpstr>
      <vt:lpstr>参考資料</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牛尾 英孝</dc:creator>
  <cp:lastModifiedBy>牛尾 英孝</cp:lastModifiedBy>
  <cp:revision>356</cp:revision>
  <dcterms:created xsi:type="dcterms:W3CDTF">2026-02-02T09:27:55Z</dcterms:created>
  <dcterms:modified xsi:type="dcterms:W3CDTF">2026-04-03T10:07:43Z</dcterms:modified>
</cp:coreProperties>
</file>