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1" r:id="rId1"/>
  </p:sldMasterIdLst>
  <p:notesMasterIdLst>
    <p:notesMasterId r:id="rId6"/>
  </p:notesMasterIdLst>
  <p:sldIdLst>
    <p:sldId id="257" r:id="rId2"/>
    <p:sldId id="260" r:id="rId3"/>
    <p:sldId id="256" r:id="rId4"/>
    <p:sldId id="259" r:id="rId5"/>
  </p:sldIdLst>
  <p:sldSz cx="12192000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" charset="0"/>
        <a:ea typeface="Osaka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3366FF"/>
    <a:srgbClr val="FF6600"/>
    <a:srgbClr val="0066FF"/>
    <a:srgbClr val="3366CC"/>
    <a:srgbClr val="336699"/>
    <a:srgbClr val="4D4D4D"/>
    <a:srgbClr val="66CC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DA428-51A2-4152-B40C-9C4239318022}" v="3" dt="2026-04-05T10:49:31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59" autoAdjust="0"/>
    <p:restoredTop sz="90929"/>
  </p:normalViewPr>
  <p:slideViewPr>
    <p:cSldViewPr>
      <p:cViewPr varScale="1">
        <p:scale>
          <a:sx n="102" d="100"/>
          <a:sy n="102" d="100"/>
        </p:scale>
        <p:origin x="80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endParaRPr lang="en-US" altLang="ja-JP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endParaRPr lang="en-US" altLang="ja-JP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fld id="{442BAA3F-557D-4B17-AE9E-1755FE9972D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764086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3" name="AutoShape 31"/>
          <p:cNvSpPr>
            <a:spLocks noChangeArrowheads="1"/>
          </p:cNvSpPr>
          <p:nvPr/>
        </p:nvSpPr>
        <p:spPr bwMode="auto">
          <a:xfrm rot="5400000">
            <a:off x="506414" y="2305580"/>
            <a:ext cx="441325" cy="510116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4" name="AutoShape 32"/>
          <p:cNvSpPr>
            <a:spLocks noChangeArrowheads="1"/>
          </p:cNvSpPr>
          <p:nvPr/>
        </p:nvSpPr>
        <p:spPr bwMode="auto">
          <a:xfrm rot="5400000">
            <a:off x="511704" y="3349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5" name="AutoShape 33"/>
          <p:cNvSpPr>
            <a:spLocks noChangeArrowheads="1"/>
          </p:cNvSpPr>
          <p:nvPr/>
        </p:nvSpPr>
        <p:spPr bwMode="auto">
          <a:xfrm rot="5400000">
            <a:off x="289455" y="47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6" name="AutoShape 34"/>
          <p:cNvSpPr>
            <a:spLocks noChangeArrowheads="1"/>
          </p:cNvSpPr>
          <p:nvPr/>
        </p:nvSpPr>
        <p:spPr bwMode="auto">
          <a:xfrm rot="5400000">
            <a:off x="216430" y="665693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7" name="AutoShape 35"/>
          <p:cNvSpPr>
            <a:spLocks noChangeArrowheads="1"/>
          </p:cNvSpPr>
          <p:nvPr/>
        </p:nvSpPr>
        <p:spPr bwMode="auto">
          <a:xfrm rot="5400000">
            <a:off x="511704" y="9985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8" name="AutoShape 36"/>
          <p:cNvSpPr>
            <a:spLocks noChangeArrowheads="1"/>
          </p:cNvSpPr>
          <p:nvPr/>
        </p:nvSpPr>
        <p:spPr bwMode="auto">
          <a:xfrm rot="5400000">
            <a:off x="804069" y="1328474"/>
            <a:ext cx="442913" cy="510117"/>
          </a:xfrm>
          <a:prstGeom prst="hexagon">
            <a:avLst>
              <a:gd name="adj" fmla="val 28942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29" name="AutoShape 37"/>
          <p:cNvSpPr>
            <a:spLocks noChangeArrowheads="1"/>
          </p:cNvSpPr>
          <p:nvPr/>
        </p:nvSpPr>
        <p:spPr bwMode="auto">
          <a:xfrm rot="5400000">
            <a:off x="511704" y="1660526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1" name="AutoShape 39"/>
          <p:cNvSpPr>
            <a:spLocks noChangeArrowheads="1"/>
          </p:cNvSpPr>
          <p:nvPr/>
        </p:nvSpPr>
        <p:spPr bwMode="auto">
          <a:xfrm rot="5400000">
            <a:off x="234422" y="1968501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2" name="AutoShape 40"/>
          <p:cNvSpPr>
            <a:spLocks noChangeArrowheads="1"/>
          </p:cNvSpPr>
          <p:nvPr/>
        </p:nvSpPr>
        <p:spPr bwMode="auto">
          <a:xfrm rot="5400000">
            <a:off x="776288" y="26463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3" name="AutoShape 41"/>
          <p:cNvSpPr>
            <a:spLocks noChangeArrowheads="1"/>
          </p:cNvSpPr>
          <p:nvPr/>
        </p:nvSpPr>
        <p:spPr bwMode="auto">
          <a:xfrm rot="5400000">
            <a:off x="505355" y="2984501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4" name="AutoShape 42"/>
          <p:cNvSpPr>
            <a:spLocks noChangeArrowheads="1"/>
          </p:cNvSpPr>
          <p:nvPr/>
        </p:nvSpPr>
        <p:spPr bwMode="auto">
          <a:xfrm rot="5400000">
            <a:off x="234422" y="33226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5" name="AutoShape 43"/>
          <p:cNvSpPr>
            <a:spLocks noChangeArrowheads="1"/>
          </p:cNvSpPr>
          <p:nvPr/>
        </p:nvSpPr>
        <p:spPr bwMode="auto">
          <a:xfrm rot="5400000">
            <a:off x="505620" y="3660511"/>
            <a:ext cx="442912" cy="510116"/>
          </a:xfrm>
          <a:prstGeom prst="hexagon">
            <a:avLst>
              <a:gd name="adj" fmla="val 28942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6" name="AutoShape 44"/>
          <p:cNvSpPr>
            <a:spLocks noChangeArrowheads="1"/>
          </p:cNvSpPr>
          <p:nvPr/>
        </p:nvSpPr>
        <p:spPr bwMode="auto">
          <a:xfrm rot="5400000">
            <a:off x="234422" y="4000501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7" name="AutoShape 45"/>
          <p:cNvSpPr>
            <a:spLocks noChangeArrowheads="1"/>
          </p:cNvSpPr>
          <p:nvPr/>
        </p:nvSpPr>
        <p:spPr bwMode="auto">
          <a:xfrm rot="5400000">
            <a:off x="505355" y="43386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39" name="AutoShape 47"/>
          <p:cNvSpPr>
            <a:spLocks noChangeArrowheads="1"/>
          </p:cNvSpPr>
          <p:nvPr/>
        </p:nvSpPr>
        <p:spPr bwMode="auto">
          <a:xfrm rot="5400000">
            <a:off x="234422" y="4676776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0" name="AutoShape 48"/>
          <p:cNvSpPr>
            <a:spLocks noChangeArrowheads="1"/>
          </p:cNvSpPr>
          <p:nvPr/>
        </p:nvSpPr>
        <p:spPr bwMode="auto">
          <a:xfrm rot="5400000">
            <a:off x="506414" y="5015443"/>
            <a:ext cx="441325" cy="510116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1" name="AutoShape 49"/>
          <p:cNvSpPr>
            <a:spLocks noChangeArrowheads="1"/>
          </p:cNvSpPr>
          <p:nvPr/>
        </p:nvSpPr>
        <p:spPr bwMode="auto">
          <a:xfrm rot="5400000">
            <a:off x="777347" y="5353580"/>
            <a:ext cx="441325" cy="510116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3" name="AutoShape 51"/>
          <p:cNvSpPr>
            <a:spLocks noChangeArrowheads="1"/>
          </p:cNvSpPr>
          <p:nvPr/>
        </p:nvSpPr>
        <p:spPr bwMode="auto">
          <a:xfrm rot="5400000">
            <a:off x="236538" y="53387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4" name="AutoShape 52"/>
          <p:cNvSpPr>
            <a:spLocks noChangeArrowheads="1"/>
          </p:cNvSpPr>
          <p:nvPr/>
        </p:nvSpPr>
        <p:spPr bwMode="auto">
          <a:xfrm rot="5400000">
            <a:off x="490538" y="56943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5" name="AutoShape 53"/>
          <p:cNvSpPr>
            <a:spLocks noChangeArrowheads="1"/>
          </p:cNvSpPr>
          <p:nvPr/>
        </p:nvSpPr>
        <p:spPr bwMode="auto">
          <a:xfrm rot="5400000">
            <a:off x="236538" y="60372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6" name="AutoShape 54"/>
          <p:cNvSpPr>
            <a:spLocks noChangeArrowheads="1"/>
          </p:cNvSpPr>
          <p:nvPr/>
        </p:nvSpPr>
        <p:spPr bwMode="auto">
          <a:xfrm rot="5400000">
            <a:off x="542396" y="6369580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930400" y="6553200"/>
            <a:ext cx="2336800" cy="457200"/>
          </a:xfrm>
        </p:spPr>
        <p:txBody>
          <a:bodyPr/>
          <a:lstStyle>
            <a:lvl1pPr algn="ctr">
              <a:defRPr kumimoji="1" b="0">
                <a:solidFill>
                  <a:schemeClr val="tx1"/>
                </a:solidFill>
                <a:effectLst/>
                <a:latin typeface="+mn-lt"/>
                <a:ea typeface="+mn-ea"/>
              </a:defRPr>
            </a:lvl1pPr>
          </a:lstStyle>
          <a:p>
            <a:endParaRPr lang="en-US" altLang="ja-JP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20118" y="6553200"/>
            <a:ext cx="355176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endParaRPr lang="en-US" altLang="ja-JP"/>
          </a:p>
        </p:txBody>
      </p:sp>
      <p:sp>
        <p:nvSpPr>
          <p:cNvPr id="8221" name="Rectangle 29"/>
          <p:cNvSpPr>
            <a:spLocks noGrp="1" noChangeArrowheads="1"/>
          </p:cNvSpPr>
          <p:nvPr>
            <p:ph type="ctrTitle" sz="quarter"/>
          </p:nvPr>
        </p:nvSpPr>
        <p:spPr>
          <a:xfrm>
            <a:off x="1274236" y="1752600"/>
            <a:ext cx="968163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4400" i="0"/>
            </a:lvl1pPr>
          </a:lstStyle>
          <a:p>
            <a:pPr lv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8222" name="Rectangle 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4235" y="4038600"/>
            <a:ext cx="9679513" cy="7620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ja-JP" altLang="en-US" noProof="0" dirty="0"/>
              <a:t>マスター サブタイトルの書式設定</a:t>
            </a:r>
          </a:p>
        </p:txBody>
      </p:sp>
      <p:sp>
        <p:nvSpPr>
          <p:cNvPr id="8248" name="AutoShape 56"/>
          <p:cNvSpPr>
            <a:spLocks noChangeArrowheads="1"/>
          </p:cNvSpPr>
          <p:nvPr/>
        </p:nvSpPr>
        <p:spPr bwMode="auto">
          <a:xfrm rot="5400000">
            <a:off x="11295063" y="6369580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49" name="AutoShape 57"/>
          <p:cNvSpPr>
            <a:spLocks noChangeArrowheads="1"/>
          </p:cNvSpPr>
          <p:nvPr/>
        </p:nvSpPr>
        <p:spPr bwMode="auto">
          <a:xfrm rot="5400000">
            <a:off x="11024130" y="6023505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0" name="AutoShape 58"/>
          <p:cNvSpPr>
            <a:spLocks noChangeArrowheads="1"/>
          </p:cNvSpPr>
          <p:nvPr/>
        </p:nvSpPr>
        <p:spPr bwMode="auto">
          <a:xfrm rot="5400000">
            <a:off x="11294004" y="56816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1" name="AutoShape 59"/>
          <p:cNvSpPr>
            <a:spLocks noChangeArrowheads="1"/>
          </p:cNvSpPr>
          <p:nvPr/>
        </p:nvSpPr>
        <p:spPr bwMode="auto">
          <a:xfrm rot="5400000">
            <a:off x="11006138" y="5329238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2" name="AutoShape 60"/>
          <p:cNvSpPr>
            <a:spLocks noChangeArrowheads="1"/>
          </p:cNvSpPr>
          <p:nvPr/>
        </p:nvSpPr>
        <p:spPr bwMode="auto">
          <a:xfrm rot="5400000">
            <a:off x="11260138" y="49704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3" name="AutoShape 61"/>
          <p:cNvSpPr>
            <a:spLocks noChangeArrowheads="1"/>
          </p:cNvSpPr>
          <p:nvPr/>
        </p:nvSpPr>
        <p:spPr bwMode="auto">
          <a:xfrm rot="5400000">
            <a:off x="10989204" y="46275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4" name="AutoShape 62"/>
          <p:cNvSpPr>
            <a:spLocks noChangeArrowheads="1"/>
          </p:cNvSpPr>
          <p:nvPr/>
        </p:nvSpPr>
        <p:spPr bwMode="auto">
          <a:xfrm rot="5400000">
            <a:off x="11277071" y="42973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5" name="AutoShape 63"/>
          <p:cNvSpPr>
            <a:spLocks noChangeArrowheads="1"/>
          </p:cNvSpPr>
          <p:nvPr/>
        </p:nvSpPr>
        <p:spPr bwMode="auto">
          <a:xfrm rot="5400000">
            <a:off x="11564938" y="3954463"/>
            <a:ext cx="441325" cy="508000"/>
          </a:xfrm>
          <a:prstGeom prst="hexagon">
            <a:avLst>
              <a:gd name="adj" fmla="val 2895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6" name="AutoShape 64"/>
          <p:cNvSpPr>
            <a:spLocks noChangeArrowheads="1"/>
          </p:cNvSpPr>
          <p:nvPr/>
        </p:nvSpPr>
        <p:spPr bwMode="auto">
          <a:xfrm rot="5400000">
            <a:off x="11278130" y="3610505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8257" name="AutoShape 65"/>
          <p:cNvSpPr>
            <a:spLocks noChangeArrowheads="1"/>
          </p:cNvSpPr>
          <p:nvPr/>
        </p:nvSpPr>
        <p:spPr bwMode="auto">
          <a:xfrm rot="5400000">
            <a:off x="11565996" y="6023505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B20E4E-3F95-4221-AFE5-FD1FD9CC344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7354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B327E7-9605-4B1F-A86B-23630CCB1D7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9562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10117" y="1219200"/>
            <a:ext cx="5484283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1" y="1219200"/>
            <a:ext cx="5484284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724435-5351-4F85-AB21-E011B281C3F4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1713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91942" y="0"/>
            <a:ext cx="10400602" cy="90872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スライド番号プレースホルダー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BBB600-0FC1-4824-A895-1F4A3020CA1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6198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B6CAD0-26EA-44DC-A34E-525D1C843D8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2003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B969C8-B00C-423B-B7C2-865033CB3CD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492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970866"/>
            <a:ext cx="4011084" cy="52638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970866"/>
            <a:ext cx="6815667" cy="52174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1" y="1497247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517061-3919-4886-BB04-892603DCDF1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2218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1052735"/>
            <a:ext cx="7315200" cy="36748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75D8CF-DD1E-4EAB-BC58-2A87F58CC84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7430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210B1D-38D9-4389-8774-02EB9DE2EE2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9055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940800" y="980728"/>
            <a:ext cx="2844800" cy="5420072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06400" y="980728"/>
            <a:ext cx="8331200" cy="5420072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B424A9-2B98-46EE-806E-1DC4FA4740D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7424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b="1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  <a:ea typeface="Gulim" pitchFamily="34" charset="-127"/>
              </a:defRPr>
            </a:lvl1pPr>
          </a:lstStyle>
          <a:p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64742" y="6477401"/>
            <a:ext cx="547044" cy="280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r">
              <a:defRPr kumimoji="0" sz="1400" b="1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  <a:ea typeface="Gulim" pitchFamily="34" charset="-127"/>
              </a:defRPr>
            </a:lvl1pPr>
          </a:lstStyle>
          <a:p>
            <a:fld id="{9E14BAE2-246D-40C8-99B9-BF4FC5F3B658}" type="slidenum">
              <a:rPr lang="en-US" altLang="ja-JP"/>
              <a:pPr/>
              <a:t>‹#›</a:t>
            </a:fld>
            <a:endParaRPr lang="en-US" altLang="ja-JP" dirty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381000"/>
            <a:ext cx="1066443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0118" y="1219200"/>
            <a:ext cx="11171767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第</a:t>
            </a:r>
            <a:r>
              <a:rPr lang="en-US" altLang="ja-JP"/>
              <a:t>1</a:t>
            </a:r>
            <a:r>
              <a:rPr lang="ja-JP" altLang="en-US"/>
              <a:t>レベル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195" name="AutoShape 27"/>
          <p:cNvSpPr>
            <a:spLocks noChangeArrowheads="1"/>
          </p:cNvSpPr>
          <p:nvPr/>
        </p:nvSpPr>
        <p:spPr bwMode="auto">
          <a:xfrm rot="5400000">
            <a:off x="11664034" y="56759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99FF99"/>
          </a:solidFill>
          <a:ln w="9525">
            <a:solidFill>
              <a:srgbClr val="99FF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7198" name="AutoShape 30"/>
          <p:cNvSpPr>
            <a:spLocks noChangeArrowheads="1"/>
          </p:cNvSpPr>
          <p:nvPr/>
        </p:nvSpPr>
        <p:spPr bwMode="auto">
          <a:xfrm rot="5400000">
            <a:off x="11376167" y="60188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C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7199" name="AutoShape 31"/>
          <p:cNvSpPr>
            <a:spLocks noChangeArrowheads="1"/>
          </p:cNvSpPr>
          <p:nvPr/>
        </p:nvSpPr>
        <p:spPr bwMode="auto">
          <a:xfrm rot="5400000">
            <a:off x="11647100" y="63617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noFill/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>
            <a:off x="0" y="914400"/>
            <a:ext cx="10972800" cy="0"/>
          </a:xfrm>
          <a:prstGeom prst="line">
            <a:avLst/>
          </a:prstGeom>
          <a:noFill/>
          <a:ln w="57150">
            <a:solidFill>
              <a:srgbClr val="99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sz="2400"/>
          </a:p>
        </p:txBody>
      </p:sp>
      <p:sp>
        <p:nvSpPr>
          <p:cNvPr id="7201" name="AutoShape 33"/>
          <p:cNvSpPr>
            <a:spLocks noChangeArrowheads="1"/>
          </p:cNvSpPr>
          <p:nvPr/>
        </p:nvSpPr>
        <p:spPr bwMode="auto">
          <a:xfrm rot="5400000">
            <a:off x="11105234" y="6361719"/>
            <a:ext cx="441325" cy="510117"/>
          </a:xfrm>
          <a:prstGeom prst="hexagon">
            <a:avLst>
              <a:gd name="adj" fmla="val 28838"/>
              <a:gd name="vf" fmla="val 115470"/>
            </a:avLst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 sz="24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AF9AB08-E6F9-EC98-86B3-C6C5EA0F02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262" y="11934"/>
            <a:ext cx="1539323" cy="86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 i="1">
          <a:solidFill>
            <a:srgbClr val="4D4D4D"/>
          </a:solidFill>
          <a:latin typeface="ＭＳ Ｐゴシック" pitchFamily="50" charset="-128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Font typeface="Wingdings" pitchFamily="2" charset="2"/>
        <a:defRPr kumimoji="1" sz="28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3399FF"/>
        </a:buClr>
        <a:buFont typeface="Wingdings" pitchFamily="2" charset="2"/>
        <a:defRPr kumimoji="1" sz="2400">
          <a:solidFill>
            <a:srgbClr val="4D4D4D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FFFF"/>
        </a:buClr>
        <a:buFont typeface="Wingdings" pitchFamily="2" charset="2"/>
        <a:defRPr kumimoji="1" sz="2000">
          <a:solidFill>
            <a:srgbClr val="4D4D4D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>
          <a:solidFill>
            <a:srgbClr val="4D4D4D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1600">
          <a:solidFill>
            <a:srgbClr val="4D4D4D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groups/15873024/" TargetMode="External"/><Relationship Id="rId2" Type="http://schemas.openxmlformats.org/officeDocument/2006/relationships/hyperlink" Target="https://sites.google.com/view/r-with-pharma-lab/%E3%83%9B%E3%83%BC%E3%83%A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oin.slack.com/t/rwithpharmalab/shared_invite/zt-3gweual9e-T_Y5ZVE7P6c8WVSO0m34QQ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FF1A2DC-A995-7304-8C6C-3596ADBE6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336" y="725453"/>
            <a:ext cx="9629328" cy="540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35D4B-1785-6C00-D6CD-E7DF532C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R with </a:t>
            </a:r>
            <a:r>
              <a:rPr lang="en-US" altLang="ja-JP">
                <a:hlinkClick r:id="rId2"/>
              </a:rPr>
              <a:t>Pharma Lab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29234B-1E89-B076-1213-B4817DE20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118" y="1052736"/>
            <a:ext cx="11346522" cy="5705324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ja-JP" altLang="en-US" sz="2600" dirty="0"/>
              <a:t>代表世話人：　森岡　裕さん　（イーピーエス株式会社）</a:t>
            </a:r>
            <a:endParaRPr lang="en-US" altLang="ja-JP" sz="2600" dirty="0"/>
          </a:p>
          <a:p>
            <a:pPr marL="857250" lvl="1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/>
              <a:t>実務・プログラマレベルでの製薬業界でのコミュニティ</a:t>
            </a:r>
          </a:p>
          <a:p>
            <a:pPr marL="857250" lvl="1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/>
              <a:t>敷居はできるだけ低く、ちょっとした </a:t>
            </a:r>
            <a:r>
              <a:rPr kumimoji="1" lang="en-US" altLang="ja-JP" dirty="0"/>
              <a:t>Tips</a:t>
            </a:r>
            <a:r>
              <a:rPr kumimoji="1" lang="ja-JP" altLang="en-US" dirty="0"/>
              <a:t> を分け合って、</a:t>
            </a:r>
            <a:br>
              <a:rPr kumimoji="1" lang="en-US" altLang="ja-JP" dirty="0"/>
            </a:br>
            <a:r>
              <a:rPr kumimoji="1" lang="ja-JP" altLang="en-US" dirty="0"/>
              <a:t>楽しくやっていくぐらいのモチベーションで</a:t>
            </a:r>
          </a:p>
          <a:p>
            <a:pPr marL="857250" lvl="1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ja-JP" altLang="en-US" dirty="0"/>
              <a:t>とりあえず、</a:t>
            </a:r>
            <a:r>
              <a:rPr kumimoji="1" lang="en-US" altLang="ja-JP" dirty="0"/>
              <a:t>2026</a:t>
            </a:r>
            <a:r>
              <a:rPr kumimoji="1" lang="ja-JP" altLang="en-US" dirty="0"/>
              <a:t> 年春ぐらいに意識低めの、勉強会を、大阪から発信したい</a:t>
            </a:r>
            <a:br>
              <a:rPr kumimoji="1" lang="en-US" altLang="ja-JP" dirty="0"/>
            </a:br>
            <a:endParaRPr lang="en-US" altLang="ja-JP" sz="2600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ja-JP" sz="2600" dirty="0"/>
              <a:t>LinkedIn </a:t>
            </a:r>
            <a:r>
              <a:rPr lang="ja-JP" altLang="en-US" sz="2600" dirty="0"/>
              <a:t>グループ： </a:t>
            </a:r>
            <a:r>
              <a:rPr lang="en-US" altLang="ja-JP" sz="2600" u="sng" dirty="0">
                <a:hlinkClick r:id="rId3"/>
              </a:rPr>
              <a:t>R with Pharma Lab</a:t>
            </a:r>
            <a:endParaRPr lang="en-US" altLang="ja-JP" sz="2600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ja-JP" sz="2600" dirty="0"/>
              <a:t>SLACK</a:t>
            </a:r>
            <a:r>
              <a:rPr lang="ja-JP" altLang="en-US" sz="2600" dirty="0"/>
              <a:t> 招待リンク： </a:t>
            </a:r>
            <a:r>
              <a:rPr lang="en-US" altLang="ja-JP" sz="2600" u="sng" dirty="0">
                <a:hlinkClick r:id="rId4"/>
              </a:rPr>
              <a:t>R with </a:t>
            </a:r>
            <a:r>
              <a:rPr lang="en-US" altLang="ja-JP" sz="2600" u="sng" dirty="0" err="1">
                <a:hlinkClick r:id="rId4"/>
              </a:rPr>
              <a:t>PharmaLab</a:t>
            </a:r>
            <a:r>
              <a:rPr lang="en-US" altLang="ja-JP" sz="2600" dirty="0"/>
              <a:t> 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23A62E-499A-B83D-772A-FB8135C4DB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7832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5FA0D0-C050-488D-90EE-3402020C9E19}" type="slidenum">
              <a:rPr lang="en-US" altLang="ja-JP"/>
              <a:pPr/>
              <a:t>3</a:t>
            </a:fld>
            <a:endParaRPr lang="en-US" altLang="ja-JP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title"/>
          </p:nvPr>
        </p:nvSpPr>
        <p:spPr>
          <a:xfrm>
            <a:off x="119336" y="36944"/>
            <a:ext cx="10951502" cy="877456"/>
          </a:xfrm>
        </p:spPr>
        <p:txBody>
          <a:bodyPr/>
          <a:lstStyle/>
          <a:p>
            <a:r>
              <a:rPr lang="ja-JP" altLang="en-US" i="0" dirty="0"/>
              <a:t>プログラム</a:t>
            </a:r>
            <a:endParaRPr lang="ja-JP" altLang="ja-JP" i="0" dirty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19336" y="1268760"/>
            <a:ext cx="12072664" cy="5589240"/>
          </a:xfrm>
        </p:spPr>
        <p:txBody>
          <a:bodyPr/>
          <a:lstStyle/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13:30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13:40 《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開会の挨拶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》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高浪 洋平さん（武田薬品工業株式会社）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13:40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14:00 『 teal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の話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西川 寛来さん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14:00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14:20 『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」による </a:t>
            </a:r>
            <a:r>
              <a:rPr lang="en-US" altLang="ja-JP" sz="17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ADaM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作成～ </a:t>
            </a:r>
            <a:r>
              <a:rPr lang="en-US" altLang="ja-JP" sz="17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ADaM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作成の自動化への道～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山崎 文寛さん（武田薬品工業株式会社）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14:20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14:40 『 R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で学ぶ医薬データにおける統計的因果推論入門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牛尾 英孝さん（株式会社ピープロ・ジャパン）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14:40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15:00 『 R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の頑健なコードを書くにはどのような工夫が必要か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大山 暁史さん（イーピーエス株式会社）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15:00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15:10 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休憩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15:10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15:30 『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はじめての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Quarto』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茅根 健さん（イーピーエス株式会社）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15:30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15:50 『 RWD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分析を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西川 寛来さん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15:50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16:00 『 </a:t>
            </a:r>
            <a:r>
              <a:rPr lang="en-US" altLang="ja-JP" sz="17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tidyverse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in 10 Minutes 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森岡 裕さん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イーピーエス株式会社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16:00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16:10 『 CDISC ARD (Analysis Result Data)』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山野辺 浩己さん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マルホ株式会社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16:10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16:20 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休憩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16:20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16:30 『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はじめてのシミュレーション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中川 雄貴さん（ イーピーエス株式会社）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16:30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16:40 『 </a:t>
            </a:r>
            <a:r>
              <a:rPr lang="en-US" altLang="ja-JP" sz="17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testthat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の紹介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魚田 孝志さん（ イーピーエス株式会社）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16:40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17:00 『 Package development for PMDA Oncology inquiries』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後藤 駿輔さん</a:t>
            </a:r>
            <a:b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              （ノバルティス ファーマ株式会社）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17:00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17:20 『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試してみよう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{</a:t>
            </a:r>
            <a:r>
              <a:rPr lang="en-US" altLang="ja-JP" sz="17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renv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}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！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』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中嶋 優一さん（ グラクソ・スミスクライン株式会社）</a:t>
            </a:r>
          </a:p>
          <a:p>
            <a:pPr marL="0" indent="0"/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17:20 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 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17:30 《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閉会の挨拶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》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森岡 裕さん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イーピーエス株式会社</a:t>
            </a:r>
            <a:r>
              <a:rPr lang="en-US" altLang="ja-JP" sz="1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ja-JP" altLang="en-US" sz="17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CD1889-7B2A-949A-ED2B-BCC83843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381000"/>
            <a:ext cx="10807486" cy="533400"/>
          </a:xfrm>
        </p:spPr>
        <p:txBody>
          <a:bodyPr/>
          <a:lstStyle/>
          <a:p>
            <a:r>
              <a:rPr kumimoji="1" lang="ja-JP" altLang="en-US" dirty="0"/>
              <a:t>ご留意いただきたい事項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E213FD-8F48-5530-62F7-570F8A442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980728"/>
            <a:ext cx="11928648" cy="19442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2600" dirty="0"/>
              <a:t>全室禁煙です、昼食は取っていただけますが</a:t>
            </a:r>
            <a:r>
              <a:rPr kumimoji="1" lang="ja-JP" altLang="en-US" sz="2600" u="sng" dirty="0">
                <a:solidFill>
                  <a:srgbClr val="FF0000"/>
                </a:solidFill>
              </a:rPr>
              <a:t>ゴミは各自でお持ち帰り願います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2600" dirty="0"/>
              <a:t>従業員以外の方がオフィスゾーンへ立ち入らないよう，ご配慮願います</a:t>
            </a:r>
            <a:endParaRPr kumimoji="1" lang="en-US" altLang="ja-JP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600" dirty="0" err="1"/>
              <a:t>Wifi</a:t>
            </a:r>
            <a:r>
              <a:rPr lang="ja-JP" altLang="en-US" sz="2600" dirty="0"/>
              <a:t>：</a:t>
            </a:r>
            <a:r>
              <a:rPr lang="en-US" altLang="ja-JP" sz="2600" b="1" dirty="0">
                <a:solidFill>
                  <a:srgbClr val="FF0000"/>
                </a:solidFill>
              </a:rPr>
              <a:t>Takeda-Guest</a:t>
            </a:r>
            <a:r>
              <a:rPr lang="en-US" altLang="ja-JP" sz="2600" dirty="0"/>
              <a:t> → </a:t>
            </a:r>
            <a:r>
              <a:rPr lang="ja-JP" altLang="en-US" sz="2600" dirty="0"/>
              <a:t>ゲストユーザーは利用規定に同意する必要がありますがパスワードは必要ありません。</a:t>
            </a:r>
            <a:endParaRPr kumimoji="1" lang="ja-JP" altLang="en-US" sz="26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4EF07D-DA62-34D3-056A-BD4FF46E15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B20E4E-3F95-4221-AFE5-FD1FD9CC3448}" type="slidenum">
              <a:rPr lang="en-US" altLang="ja-JP" smtClean="0"/>
              <a:pPr/>
              <a:t>4</a:t>
            </a:fld>
            <a:endParaRPr lang="en-US" altLang="ja-JP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7E9482D-48D0-01AF-9C67-118945329A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741" y="2976452"/>
            <a:ext cx="7712708" cy="38667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44796D0-353E-293A-4840-2F665D1371E5}"/>
              </a:ext>
            </a:extLst>
          </p:cNvPr>
          <p:cNvSpPr/>
          <p:nvPr/>
        </p:nvSpPr>
        <p:spPr>
          <a:xfrm>
            <a:off x="2083010" y="4164956"/>
            <a:ext cx="2088000" cy="25200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9418354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ド雛形4">
  <a:themeElements>
    <a:clrScheme name="Office ​​テーマ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​​テーマ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​​テーマ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​​テーマ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​​テーマ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412</Words>
  <Application>Microsoft Office PowerPoint</Application>
  <PresentationFormat>ワイド画面</PresentationFormat>
  <Paragraphs>31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2" baseType="lpstr">
      <vt:lpstr>ＭＳ Ｐゴシック</vt:lpstr>
      <vt:lpstr>ＭＳ ゴシック</vt:lpstr>
      <vt:lpstr>Arial</vt:lpstr>
      <vt:lpstr>Century Gothic</vt:lpstr>
      <vt:lpstr>Times</vt:lpstr>
      <vt:lpstr>Times New Roman</vt:lpstr>
      <vt:lpstr>Wingdings</vt:lpstr>
      <vt:lpstr>スライド雛形4</vt:lpstr>
      <vt:lpstr>PowerPoint プレゼンテーション</vt:lpstr>
      <vt:lpstr>R with Pharma Lab</vt:lpstr>
      <vt:lpstr>プログラム</vt:lpstr>
      <vt:lpstr>ご留意いただきたい事項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2025-12-11T13:56:03Z</dcterms:created>
  <dcterms:modified xsi:type="dcterms:W3CDTF">2026-04-05T10:50:23Z</dcterms:modified>
</cp:coreProperties>
</file>