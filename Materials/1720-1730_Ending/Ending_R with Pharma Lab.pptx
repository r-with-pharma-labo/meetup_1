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1" r:id="rId1"/>
  </p:sldMasterIdLst>
  <p:notesMasterIdLst>
    <p:notesMasterId r:id="rId10"/>
  </p:notesMasterIdLst>
  <p:sldIdLst>
    <p:sldId id="257" r:id="rId2"/>
    <p:sldId id="261" r:id="rId3"/>
    <p:sldId id="262" r:id="rId4"/>
    <p:sldId id="260" r:id="rId5"/>
    <p:sldId id="256" r:id="rId6"/>
    <p:sldId id="259" r:id="rId7"/>
    <p:sldId id="263" r:id="rId8"/>
    <p:sldId id="264" r:id="rId9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3366FF"/>
    <a:srgbClr val="FF6600"/>
    <a:srgbClr val="0066FF"/>
    <a:srgbClr val="3366CC"/>
    <a:srgbClr val="336699"/>
    <a:srgbClr val="4D4D4D"/>
    <a:srgbClr val="66CC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59" autoAdjust="0"/>
    <p:restoredTop sz="90929"/>
  </p:normalViewPr>
  <p:slideViewPr>
    <p:cSldViewPr>
      <p:cViewPr>
        <p:scale>
          <a:sx n="50" d="100"/>
          <a:sy n="50" d="100"/>
        </p:scale>
        <p:origin x="1560" y="4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fld id="{442BAA3F-557D-4B17-AE9E-1755FE9972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6408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3" name="AutoShape 31"/>
          <p:cNvSpPr>
            <a:spLocks noChangeArrowheads="1"/>
          </p:cNvSpPr>
          <p:nvPr/>
        </p:nvSpPr>
        <p:spPr bwMode="auto">
          <a:xfrm rot="5400000">
            <a:off x="506414" y="2305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4" name="AutoShape 32"/>
          <p:cNvSpPr>
            <a:spLocks noChangeArrowheads="1"/>
          </p:cNvSpPr>
          <p:nvPr/>
        </p:nvSpPr>
        <p:spPr bwMode="auto">
          <a:xfrm rot="5400000">
            <a:off x="511704" y="3349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5" name="AutoShape 33"/>
          <p:cNvSpPr>
            <a:spLocks noChangeArrowheads="1"/>
          </p:cNvSpPr>
          <p:nvPr/>
        </p:nvSpPr>
        <p:spPr bwMode="auto">
          <a:xfrm rot="5400000">
            <a:off x="289455" y="4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6" name="AutoShape 34"/>
          <p:cNvSpPr>
            <a:spLocks noChangeArrowheads="1"/>
          </p:cNvSpPr>
          <p:nvPr/>
        </p:nvSpPr>
        <p:spPr bwMode="auto">
          <a:xfrm rot="5400000">
            <a:off x="216430" y="665693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7" name="AutoShape 35"/>
          <p:cNvSpPr>
            <a:spLocks noChangeArrowheads="1"/>
          </p:cNvSpPr>
          <p:nvPr/>
        </p:nvSpPr>
        <p:spPr bwMode="auto">
          <a:xfrm rot="5400000">
            <a:off x="511704" y="9985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8" name="AutoShape 36"/>
          <p:cNvSpPr>
            <a:spLocks noChangeArrowheads="1"/>
          </p:cNvSpPr>
          <p:nvPr/>
        </p:nvSpPr>
        <p:spPr bwMode="auto">
          <a:xfrm rot="5400000">
            <a:off x="804069" y="1328474"/>
            <a:ext cx="442913" cy="510117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9" name="AutoShape 37"/>
          <p:cNvSpPr>
            <a:spLocks noChangeArrowheads="1"/>
          </p:cNvSpPr>
          <p:nvPr/>
        </p:nvSpPr>
        <p:spPr bwMode="auto">
          <a:xfrm rot="5400000">
            <a:off x="511704" y="166052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1" name="AutoShape 39"/>
          <p:cNvSpPr>
            <a:spLocks noChangeArrowheads="1"/>
          </p:cNvSpPr>
          <p:nvPr/>
        </p:nvSpPr>
        <p:spPr bwMode="auto">
          <a:xfrm rot="5400000">
            <a:off x="234422" y="1968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2" name="AutoShape 40"/>
          <p:cNvSpPr>
            <a:spLocks noChangeArrowheads="1"/>
          </p:cNvSpPr>
          <p:nvPr/>
        </p:nvSpPr>
        <p:spPr bwMode="auto">
          <a:xfrm rot="5400000">
            <a:off x="776288" y="2646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3" name="AutoShape 41"/>
          <p:cNvSpPr>
            <a:spLocks noChangeArrowheads="1"/>
          </p:cNvSpPr>
          <p:nvPr/>
        </p:nvSpPr>
        <p:spPr bwMode="auto">
          <a:xfrm rot="5400000">
            <a:off x="505355" y="2984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4" name="AutoShape 42"/>
          <p:cNvSpPr>
            <a:spLocks noChangeArrowheads="1"/>
          </p:cNvSpPr>
          <p:nvPr/>
        </p:nvSpPr>
        <p:spPr bwMode="auto">
          <a:xfrm rot="5400000">
            <a:off x="234422" y="3322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5" name="AutoShape 43"/>
          <p:cNvSpPr>
            <a:spLocks noChangeArrowheads="1"/>
          </p:cNvSpPr>
          <p:nvPr/>
        </p:nvSpPr>
        <p:spPr bwMode="auto">
          <a:xfrm rot="5400000">
            <a:off x="505620" y="3660511"/>
            <a:ext cx="442912" cy="510116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6" name="AutoShape 44"/>
          <p:cNvSpPr>
            <a:spLocks noChangeArrowheads="1"/>
          </p:cNvSpPr>
          <p:nvPr/>
        </p:nvSpPr>
        <p:spPr bwMode="auto">
          <a:xfrm rot="5400000">
            <a:off x="234422" y="4000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7" name="AutoShape 45"/>
          <p:cNvSpPr>
            <a:spLocks noChangeArrowheads="1"/>
          </p:cNvSpPr>
          <p:nvPr/>
        </p:nvSpPr>
        <p:spPr bwMode="auto">
          <a:xfrm rot="5400000">
            <a:off x="505355" y="4338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9" name="AutoShape 47"/>
          <p:cNvSpPr>
            <a:spLocks noChangeArrowheads="1"/>
          </p:cNvSpPr>
          <p:nvPr/>
        </p:nvSpPr>
        <p:spPr bwMode="auto">
          <a:xfrm rot="5400000">
            <a:off x="234422" y="467677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0" name="AutoShape 48"/>
          <p:cNvSpPr>
            <a:spLocks noChangeArrowheads="1"/>
          </p:cNvSpPr>
          <p:nvPr/>
        </p:nvSpPr>
        <p:spPr bwMode="auto">
          <a:xfrm rot="5400000">
            <a:off x="506414" y="5015443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1" name="AutoShape 49"/>
          <p:cNvSpPr>
            <a:spLocks noChangeArrowheads="1"/>
          </p:cNvSpPr>
          <p:nvPr/>
        </p:nvSpPr>
        <p:spPr bwMode="auto">
          <a:xfrm rot="5400000">
            <a:off x="777347" y="5353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3" name="AutoShape 51"/>
          <p:cNvSpPr>
            <a:spLocks noChangeArrowheads="1"/>
          </p:cNvSpPr>
          <p:nvPr/>
        </p:nvSpPr>
        <p:spPr bwMode="auto">
          <a:xfrm rot="5400000">
            <a:off x="236538" y="5338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4" name="AutoShape 52"/>
          <p:cNvSpPr>
            <a:spLocks noChangeArrowheads="1"/>
          </p:cNvSpPr>
          <p:nvPr/>
        </p:nvSpPr>
        <p:spPr bwMode="auto">
          <a:xfrm rot="5400000">
            <a:off x="490538" y="5694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5" name="AutoShape 53"/>
          <p:cNvSpPr>
            <a:spLocks noChangeArrowheads="1"/>
          </p:cNvSpPr>
          <p:nvPr/>
        </p:nvSpPr>
        <p:spPr bwMode="auto">
          <a:xfrm rot="5400000">
            <a:off x="236538" y="60372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6" name="AutoShape 54"/>
          <p:cNvSpPr>
            <a:spLocks noChangeArrowheads="1"/>
          </p:cNvSpPr>
          <p:nvPr/>
        </p:nvSpPr>
        <p:spPr bwMode="auto">
          <a:xfrm rot="5400000">
            <a:off x="542396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930400" y="6553200"/>
            <a:ext cx="2336800" cy="457200"/>
          </a:xfrm>
        </p:spPr>
        <p:txBody>
          <a:bodyPr/>
          <a:lstStyle>
            <a:lvl1pPr algn="ctr">
              <a:defRPr kumimoji="1" b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20118" y="6553200"/>
            <a:ext cx="355176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221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1274236" y="1752600"/>
            <a:ext cx="968163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4400" i="0"/>
            </a:lvl1pPr>
          </a:lstStyle>
          <a:p>
            <a:pPr lv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8222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4235" y="4038600"/>
            <a:ext cx="9679513" cy="7620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ja-JP" altLang="en-US" noProof="0" dirty="0"/>
              <a:t>マスター サブタイトルの書式設定</a:t>
            </a:r>
          </a:p>
        </p:txBody>
      </p:sp>
      <p:sp>
        <p:nvSpPr>
          <p:cNvPr id="8248" name="AutoShape 56"/>
          <p:cNvSpPr>
            <a:spLocks noChangeArrowheads="1"/>
          </p:cNvSpPr>
          <p:nvPr/>
        </p:nvSpPr>
        <p:spPr bwMode="auto">
          <a:xfrm rot="5400000">
            <a:off x="11295063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9" name="AutoShape 57"/>
          <p:cNvSpPr>
            <a:spLocks noChangeArrowheads="1"/>
          </p:cNvSpPr>
          <p:nvPr/>
        </p:nvSpPr>
        <p:spPr bwMode="auto">
          <a:xfrm rot="5400000">
            <a:off x="11024130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0" name="AutoShape 58"/>
          <p:cNvSpPr>
            <a:spLocks noChangeArrowheads="1"/>
          </p:cNvSpPr>
          <p:nvPr/>
        </p:nvSpPr>
        <p:spPr bwMode="auto">
          <a:xfrm rot="5400000">
            <a:off x="11294004" y="56816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1" name="AutoShape 59"/>
          <p:cNvSpPr>
            <a:spLocks noChangeArrowheads="1"/>
          </p:cNvSpPr>
          <p:nvPr/>
        </p:nvSpPr>
        <p:spPr bwMode="auto">
          <a:xfrm rot="5400000">
            <a:off x="11006138" y="53292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2" name="AutoShape 60"/>
          <p:cNvSpPr>
            <a:spLocks noChangeArrowheads="1"/>
          </p:cNvSpPr>
          <p:nvPr/>
        </p:nvSpPr>
        <p:spPr bwMode="auto">
          <a:xfrm rot="5400000">
            <a:off x="11260138" y="4970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3" name="AutoShape 61"/>
          <p:cNvSpPr>
            <a:spLocks noChangeArrowheads="1"/>
          </p:cNvSpPr>
          <p:nvPr/>
        </p:nvSpPr>
        <p:spPr bwMode="auto">
          <a:xfrm rot="5400000">
            <a:off x="10989204" y="46275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4" name="AutoShape 62"/>
          <p:cNvSpPr>
            <a:spLocks noChangeArrowheads="1"/>
          </p:cNvSpPr>
          <p:nvPr/>
        </p:nvSpPr>
        <p:spPr bwMode="auto">
          <a:xfrm rot="5400000">
            <a:off x="11277071" y="4297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5" name="AutoShape 63"/>
          <p:cNvSpPr>
            <a:spLocks noChangeArrowheads="1"/>
          </p:cNvSpPr>
          <p:nvPr/>
        </p:nvSpPr>
        <p:spPr bwMode="auto">
          <a:xfrm rot="5400000">
            <a:off x="11564938" y="3954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6" name="AutoShape 64"/>
          <p:cNvSpPr>
            <a:spLocks noChangeArrowheads="1"/>
          </p:cNvSpPr>
          <p:nvPr/>
        </p:nvSpPr>
        <p:spPr bwMode="auto">
          <a:xfrm rot="5400000">
            <a:off x="11278130" y="3610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7" name="AutoShape 65"/>
          <p:cNvSpPr>
            <a:spLocks noChangeArrowheads="1"/>
          </p:cNvSpPr>
          <p:nvPr/>
        </p:nvSpPr>
        <p:spPr bwMode="auto">
          <a:xfrm rot="5400000">
            <a:off x="11565996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B20E4E-3F95-4221-AFE5-FD1FD9CC344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7354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B327E7-9605-4B1F-A86B-23630CCB1D7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562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10117" y="1219200"/>
            <a:ext cx="5484283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1" y="1219200"/>
            <a:ext cx="5484284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724435-5351-4F85-AB21-E011B281C3F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713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91942" y="0"/>
            <a:ext cx="10400602" cy="90872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BBB600-0FC1-4824-A895-1F4A3020CA1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6198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B6CAD0-26EA-44DC-A34E-525D1C843D8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2003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B969C8-B00C-423B-B7C2-865033CB3CD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92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970866"/>
            <a:ext cx="4011084" cy="5263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970866"/>
            <a:ext cx="6815667" cy="52174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97247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517061-3919-4886-BB04-892603DCDF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2218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1052735"/>
            <a:ext cx="731520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75D8CF-DD1E-4EAB-BC58-2A87F58CC84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7430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210B1D-38D9-4389-8774-02EB9DE2EE2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055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40800" y="980728"/>
            <a:ext cx="2844800" cy="542007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06400" y="980728"/>
            <a:ext cx="8331200" cy="542007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B424A9-2B98-46EE-806E-1DC4FA4740D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424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4742" y="6477401"/>
            <a:ext cx="547044" cy="28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fld id="{9E14BAE2-246D-40C8-99B9-BF4FC5F3B658}" type="slidenum">
              <a:rPr lang="en-US" altLang="ja-JP"/>
              <a:pPr/>
              <a:t>‹#›</a:t>
            </a:fld>
            <a:endParaRPr lang="en-US" altLang="ja-JP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381000"/>
            <a:ext cx="106644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0118" y="1219200"/>
            <a:ext cx="1117176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第</a:t>
            </a:r>
            <a:r>
              <a:rPr lang="en-US" altLang="ja-JP"/>
              <a:t>1</a:t>
            </a:r>
            <a:r>
              <a:rPr lang="ja-JP" altLang="en-US"/>
              <a:t>レベル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95" name="AutoShape 27"/>
          <p:cNvSpPr>
            <a:spLocks noChangeArrowheads="1"/>
          </p:cNvSpPr>
          <p:nvPr/>
        </p:nvSpPr>
        <p:spPr bwMode="auto">
          <a:xfrm rot="5400000">
            <a:off x="11664034" y="56759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8" name="AutoShape 30"/>
          <p:cNvSpPr>
            <a:spLocks noChangeArrowheads="1"/>
          </p:cNvSpPr>
          <p:nvPr/>
        </p:nvSpPr>
        <p:spPr bwMode="auto">
          <a:xfrm rot="5400000">
            <a:off x="11376167" y="60188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 rot="5400000">
            <a:off x="11647100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0" y="914400"/>
            <a:ext cx="10972800" cy="0"/>
          </a:xfrm>
          <a:prstGeom prst="line">
            <a:avLst/>
          </a:prstGeom>
          <a:noFill/>
          <a:ln w="57150">
            <a:solidFill>
              <a:srgbClr val="99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2400"/>
          </a:p>
        </p:txBody>
      </p:sp>
      <p:sp>
        <p:nvSpPr>
          <p:cNvPr id="7201" name="AutoShape 33"/>
          <p:cNvSpPr>
            <a:spLocks noChangeArrowheads="1"/>
          </p:cNvSpPr>
          <p:nvPr/>
        </p:nvSpPr>
        <p:spPr bwMode="auto">
          <a:xfrm rot="5400000">
            <a:off x="11105234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F9AB08-E6F9-EC98-86B3-C6C5EA0F02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262" y="11934"/>
            <a:ext cx="1539323" cy="8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Font typeface="Wingdings" pitchFamily="2" charset="2"/>
        <a:defRPr kumimoji="1" sz="28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itchFamily="2" charset="2"/>
        <a:defRPr kumimoji="1" sz="24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FFFF"/>
        </a:buClr>
        <a:buFont typeface="Wingdings" pitchFamily="2" charset="2"/>
        <a:defRPr kumimoji="1" sz="20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rgbClr val="4D4D4D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forms/d/e/1FAIpQLSfEocIFbADPeQwFjr5S5YwEGv0Lf355hNZyNzHv2j0f_ElX9g/viewfor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ojE9lNFUBU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inpharma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forms/d/e/1FAIpQLSfEocIFbADPeQwFjr5S5YwEGv0Lf355hNZyNzHv2j0f_ElX9g/viewfor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FF1A2DC-A995-7304-8C6C-3596ADBE6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336" y="725453"/>
            <a:ext cx="9629328" cy="54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C132C5-1964-0843-F909-71BF141C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発表者のみなさま　お疲れ様でした！</a:t>
            </a:r>
            <a:endParaRPr kumimoji="1" lang="en-US" altLang="ja-JP" dirty="0"/>
          </a:p>
          <a:p>
            <a:r>
              <a:rPr lang="ja-JP" altLang="en-US" dirty="0"/>
              <a:t>参加者のみなさま　お疲れ様でした！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運営にご協力いただいたすべての方にお礼申し上げます！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94B735-CB25-E157-52E5-42559D0E11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9977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3F42E-D14E-A8FF-8576-8FDB9A74FC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3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F44C3A-DD2D-1F4E-A16D-41A67DE0157B}"/>
              </a:ext>
            </a:extLst>
          </p:cNvPr>
          <p:cNvSpPr txBox="1"/>
          <p:nvPr/>
        </p:nvSpPr>
        <p:spPr>
          <a:xfrm>
            <a:off x="22920" y="1886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>
                <a:hlinkClick r:id="rId2"/>
              </a:rPr>
              <a:t>採点表</a:t>
            </a:r>
            <a:endParaRPr lang="ja-JP" altLang="en-US" sz="3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93688A9-88D6-F936-1370-FDAE7528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294184"/>
            <a:ext cx="4709323" cy="446449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0F7B013-8513-7A7E-75D1-EC1CF7201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0" y="240902"/>
            <a:ext cx="2088232" cy="205328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27746A-2DC0-2AAF-FAD3-EA3DED2B045B}"/>
              </a:ext>
            </a:extLst>
          </p:cNvPr>
          <p:cNvSpPr txBox="1"/>
          <p:nvPr/>
        </p:nvSpPr>
        <p:spPr>
          <a:xfrm>
            <a:off x="5339411" y="940554"/>
            <a:ext cx="52575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右側，５が高得点なので</a:t>
            </a:r>
            <a:endParaRPr lang="en-US" altLang="ja-JP" dirty="0"/>
          </a:p>
          <a:p>
            <a:r>
              <a:rPr lang="ja-JP" altLang="en-US" dirty="0"/>
              <a:t>お間違え無く．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聴かれていない発表は欠損値のままでＯＫです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28FB60C-3450-0FEE-3FD1-6A1F62FCF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634" y="3638660"/>
            <a:ext cx="6220614" cy="3194188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265C29E-B76C-4E1B-8FB7-E50D9FDFC6FC}"/>
              </a:ext>
            </a:extLst>
          </p:cNvPr>
          <p:cNvSpPr txBox="1"/>
          <p:nvPr/>
        </p:nvSpPr>
        <p:spPr>
          <a:xfrm>
            <a:off x="5405242" y="2884978"/>
            <a:ext cx="6451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サイトの</a:t>
            </a:r>
            <a:r>
              <a:rPr lang="en-US" altLang="ja-JP" dirty="0"/>
              <a:t>meetup#1</a:t>
            </a:r>
            <a:r>
              <a:rPr lang="ja-JP" altLang="en-US" dirty="0"/>
              <a:t>タグからも飛べます</a:t>
            </a:r>
          </a:p>
        </p:txBody>
      </p:sp>
    </p:spTree>
    <p:extLst>
      <p:ext uri="{BB962C8B-B14F-4D97-AF65-F5344CB8AC3E}">
        <p14:creationId xmlns:p14="http://schemas.microsoft.com/office/powerpoint/2010/main" val="192054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23A62E-499A-B83D-772A-FB8135C4D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4</a:t>
            </a:fld>
            <a:endParaRPr lang="en-US" altLang="ja-JP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9EEAE82-93D8-B865-E2E6-9FB6E4BB77CE}"/>
              </a:ext>
            </a:extLst>
          </p:cNvPr>
          <p:cNvSpPr txBox="1"/>
          <p:nvPr/>
        </p:nvSpPr>
        <p:spPr>
          <a:xfrm>
            <a:off x="-27317" y="2787742"/>
            <a:ext cx="108732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800" dirty="0" err="1"/>
              <a:t>Yo</a:t>
            </a:r>
            <a:r>
              <a:rPr lang="ja-JP" altLang="en-US" sz="1800" dirty="0"/>
              <a:t>、日本の</a:t>
            </a:r>
            <a:r>
              <a:rPr lang="en-US" altLang="ja-JP" sz="1800" dirty="0"/>
              <a:t>Pharma</a:t>
            </a:r>
            <a:r>
              <a:rPr lang="ja-JP" altLang="en-US" sz="1800" dirty="0"/>
              <a:t>、現場は</a:t>
            </a:r>
            <a:r>
              <a:rPr lang="en-US" altLang="ja-JP" sz="1800" dirty="0"/>
              <a:t>SAS</a:t>
            </a:r>
            <a:r>
              <a:rPr lang="ja-JP" altLang="en-US" sz="1800" dirty="0"/>
              <a:t>中心</a:t>
            </a:r>
            <a:br>
              <a:rPr lang="ja-JP" altLang="en-US" sz="1800" dirty="0"/>
            </a:br>
            <a:r>
              <a:rPr lang="ja-JP" altLang="en-US" sz="1800" dirty="0"/>
              <a:t>でも</a:t>
            </a:r>
            <a:r>
              <a:rPr lang="en-US" altLang="ja-JP" sz="1800" dirty="0"/>
              <a:t>R</a:t>
            </a:r>
            <a:r>
              <a:rPr lang="ja-JP" altLang="en-US" sz="1800" dirty="0"/>
              <a:t>が来てる、これは単なる新興じゃない進化の本マニューバ</a:t>
            </a:r>
          </a:p>
          <a:p>
            <a:pPr>
              <a:buNone/>
            </a:pPr>
            <a:r>
              <a:rPr lang="ja-JP" altLang="en-US" sz="1800" dirty="0"/>
              <a:t>解析・可視化、再現性の美学</a:t>
            </a:r>
            <a:br>
              <a:rPr lang="ja-JP" altLang="en-US" sz="1800" dirty="0"/>
            </a:br>
            <a:r>
              <a:rPr lang="en-US" altLang="ja-JP" sz="1800" dirty="0"/>
              <a:t>Git</a:t>
            </a:r>
            <a:r>
              <a:rPr lang="ja-JP" altLang="en-US" sz="1800" dirty="0"/>
              <a:t>で回すその文化、まるで工学</a:t>
            </a:r>
          </a:p>
          <a:p>
            <a:pPr>
              <a:buNone/>
            </a:pPr>
            <a:r>
              <a:rPr lang="ja-JP" altLang="en-US" sz="1800" b="1" dirty="0">
                <a:solidFill>
                  <a:srgbClr val="FF0000"/>
                </a:solidFill>
              </a:rPr>
              <a:t>でも一人じゃ無理、孤独なコード</a:t>
            </a:r>
            <a:br>
              <a:rPr lang="ja-JP" altLang="en-US" sz="1800" b="1" dirty="0">
                <a:solidFill>
                  <a:srgbClr val="FF0000"/>
                </a:solidFill>
              </a:rPr>
            </a:br>
            <a:r>
              <a:rPr lang="ja-JP" altLang="en-US" sz="1800" b="1" dirty="0">
                <a:solidFill>
                  <a:srgbClr val="FF0000"/>
                </a:solidFill>
              </a:rPr>
              <a:t>だから必要なんだ、コミュニティのロード</a:t>
            </a:r>
          </a:p>
          <a:p>
            <a:pPr>
              <a:buNone/>
            </a:pPr>
            <a:r>
              <a:rPr lang="en-US" altLang="ja-JP" sz="1800" dirty="0"/>
              <a:t>R</a:t>
            </a:r>
            <a:r>
              <a:rPr lang="ja-JP" altLang="en-US" sz="1800" dirty="0"/>
              <a:t>ユーザー集まる、</a:t>
            </a:r>
            <a:r>
              <a:rPr lang="en-US" altLang="ja-JP" sz="1800" dirty="0"/>
              <a:t>tidy</a:t>
            </a:r>
            <a:r>
              <a:rPr lang="ja-JP" altLang="en-US" sz="1800" dirty="0"/>
              <a:t>みをシェア</a:t>
            </a:r>
            <a:br>
              <a:rPr lang="ja-JP" altLang="en-US" sz="1800" dirty="0"/>
            </a:br>
            <a:r>
              <a:rPr lang="ja-JP" altLang="en-US" sz="1800" b="1" dirty="0">
                <a:solidFill>
                  <a:srgbClr val="FF0000"/>
                </a:solidFill>
              </a:rPr>
              <a:t>「それどう書いた？」って気軽なエア</a:t>
            </a:r>
          </a:p>
          <a:p>
            <a:pPr>
              <a:buNone/>
            </a:pPr>
            <a:r>
              <a:rPr lang="en-US" altLang="ja-JP" sz="1800" dirty="0"/>
              <a:t>Pharma</a:t>
            </a:r>
            <a:r>
              <a:rPr lang="ja-JP" altLang="en-US" sz="1800" dirty="0"/>
              <a:t>特有、規制の壁</a:t>
            </a:r>
            <a:br>
              <a:rPr lang="ja-JP" altLang="en-US" sz="1800" dirty="0"/>
            </a:br>
            <a:r>
              <a:rPr lang="en-US" altLang="ja-JP" sz="1800" dirty="0"/>
              <a:t>CDISC, </a:t>
            </a:r>
            <a:r>
              <a:rPr lang="en-US" altLang="ja-JP" sz="1800" dirty="0" err="1"/>
              <a:t>ADaM</a:t>
            </a:r>
            <a:r>
              <a:rPr lang="ja-JP" altLang="en-US" sz="1800" dirty="0"/>
              <a:t>、ルールはタフで</a:t>
            </a:r>
            <a:r>
              <a:rPr lang="en-US" altLang="ja-JP" sz="1800" dirty="0"/>
              <a:t>heavy</a:t>
            </a:r>
          </a:p>
          <a:p>
            <a:pPr>
              <a:buNone/>
            </a:pPr>
            <a:r>
              <a:rPr lang="ja-JP" altLang="en-US" sz="1800" dirty="0"/>
              <a:t>そこに</a:t>
            </a:r>
            <a:r>
              <a:rPr lang="en-US" altLang="ja-JP" sz="1800" dirty="0"/>
              <a:t>R</a:t>
            </a:r>
            <a:r>
              <a:rPr lang="ja-JP" altLang="en-US" sz="1800" dirty="0"/>
              <a:t>をどう乗せる？ </a:t>
            </a:r>
            <a:r>
              <a:rPr lang="en-US" altLang="ja-JP" sz="1800" dirty="0"/>
              <a:t>that's the key</a:t>
            </a:r>
            <a:br>
              <a:rPr lang="en-US" altLang="ja-JP" sz="1800" dirty="0"/>
            </a:br>
            <a:r>
              <a:rPr lang="ja-JP" altLang="en-US" sz="1800" dirty="0"/>
              <a:t>みんなで議論し進める </a:t>
            </a:r>
            <a:r>
              <a:rPr lang="en-US" altLang="ja-JP" sz="1800" dirty="0"/>
              <a:t>real strategy</a:t>
            </a:r>
          </a:p>
          <a:p>
            <a:pPr>
              <a:buNone/>
            </a:pPr>
            <a:r>
              <a:rPr lang="en-US" altLang="ja-JP" sz="1800" dirty="0"/>
              <a:t>OSS</a:t>
            </a:r>
            <a:r>
              <a:rPr lang="ja-JP" altLang="en-US" sz="1800" dirty="0"/>
              <a:t>の力、日本でも解放</a:t>
            </a:r>
            <a:br>
              <a:rPr lang="ja-JP" altLang="en-US" sz="1800" dirty="0"/>
            </a:br>
            <a:endParaRPr lang="ja-JP" altLang="en-US" sz="18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D6AFF7D-5F88-DEEC-8786-4516CE6466AE}"/>
              </a:ext>
            </a:extLst>
          </p:cNvPr>
          <p:cNvSpPr txBox="1"/>
          <p:nvPr/>
        </p:nvSpPr>
        <p:spPr>
          <a:xfrm>
            <a:off x="4871864" y="3638820"/>
            <a:ext cx="61068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FF0000"/>
                </a:solidFill>
              </a:rPr>
              <a:t>閉じた文化からオープンへ解答</a:t>
            </a:r>
          </a:p>
          <a:p>
            <a:pPr>
              <a:buNone/>
            </a:pPr>
            <a:r>
              <a:rPr lang="ja-JP" altLang="en-US" sz="1800" b="1" dirty="0">
                <a:solidFill>
                  <a:srgbClr val="FF0000"/>
                </a:solidFill>
              </a:rPr>
              <a:t>勉強会、</a:t>
            </a:r>
            <a:r>
              <a:rPr lang="en-US" altLang="ja-JP" sz="1800" b="1" dirty="0">
                <a:solidFill>
                  <a:srgbClr val="FF0000"/>
                </a:solidFill>
              </a:rPr>
              <a:t>meetup</a:t>
            </a:r>
            <a:r>
              <a:rPr lang="ja-JP" altLang="en-US" sz="1800" b="1" dirty="0">
                <a:solidFill>
                  <a:srgbClr val="FF0000"/>
                </a:solidFill>
              </a:rPr>
              <a:t>、つながる現場</a:t>
            </a:r>
            <a:br>
              <a:rPr lang="ja-JP" altLang="en-US" sz="1800" dirty="0"/>
            </a:br>
            <a:r>
              <a:rPr lang="en-US" altLang="ja-JP" sz="1800" dirty="0"/>
              <a:t>SAS</a:t>
            </a:r>
            <a:r>
              <a:rPr lang="ja-JP" altLang="en-US" sz="1800" dirty="0"/>
              <a:t>と</a:t>
            </a:r>
            <a:r>
              <a:rPr lang="en-US" altLang="ja-JP" sz="1800" dirty="0"/>
              <a:t>R</a:t>
            </a:r>
            <a:r>
              <a:rPr lang="ja-JP" altLang="en-US" sz="1800" dirty="0"/>
              <a:t>の融合、それが本番</a:t>
            </a:r>
          </a:p>
          <a:p>
            <a:pPr>
              <a:buNone/>
            </a:pPr>
            <a:r>
              <a:rPr lang="ja-JP" altLang="en-US" sz="1800" dirty="0"/>
              <a:t>競争じゃない、共存のスタイル</a:t>
            </a:r>
            <a:br>
              <a:rPr lang="ja-JP" altLang="en-US" sz="1800" dirty="0"/>
            </a:br>
            <a:r>
              <a:rPr lang="en-US" altLang="ja-JP" sz="1800" dirty="0"/>
              <a:t>Hybrid</a:t>
            </a:r>
            <a:r>
              <a:rPr lang="ja-JP" altLang="en-US" sz="1800" dirty="0"/>
              <a:t>で攻める、それが次のマイル</a:t>
            </a:r>
          </a:p>
          <a:p>
            <a:pPr>
              <a:buNone/>
            </a:pPr>
            <a:r>
              <a:rPr lang="ja-JP" altLang="en-US" sz="1800" dirty="0"/>
              <a:t>若手もベテランも同じ土俵</a:t>
            </a:r>
            <a:br>
              <a:rPr lang="ja-JP" altLang="en-US" sz="1800" dirty="0"/>
            </a:br>
            <a:r>
              <a:rPr lang="ja-JP" altLang="en-US" sz="1800" dirty="0"/>
              <a:t>コードで語る、それが共通言語</a:t>
            </a:r>
          </a:p>
          <a:p>
            <a:pPr>
              <a:buNone/>
            </a:pPr>
            <a:r>
              <a:rPr lang="ja-JP" altLang="en-US" sz="1800" dirty="0"/>
              <a:t>日本の</a:t>
            </a:r>
            <a:r>
              <a:rPr lang="en-US" altLang="ja-JP" sz="1800" dirty="0"/>
              <a:t>Pharma</a:t>
            </a:r>
            <a:r>
              <a:rPr lang="ja-JP" altLang="en-US" sz="1800" dirty="0"/>
              <a:t>、変革の途中</a:t>
            </a:r>
            <a:br>
              <a:rPr lang="ja-JP" altLang="en-US" sz="1800" dirty="0"/>
            </a:br>
            <a:r>
              <a:rPr lang="en-US" altLang="ja-JP" sz="1800" dirty="0"/>
              <a:t>R</a:t>
            </a:r>
            <a:r>
              <a:rPr lang="ja-JP" altLang="en-US" sz="1800" dirty="0"/>
              <a:t>コミュニティがその中心にいる</a:t>
            </a:r>
          </a:p>
          <a:p>
            <a:pPr>
              <a:buNone/>
            </a:pPr>
            <a:r>
              <a:rPr lang="ja-JP" altLang="en-US" sz="1800" dirty="0"/>
              <a:t>知識は共有、価値は</a:t>
            </a:r>
            <a:r>
              <a:rPr lang="en-US" altLang="ja-JP" sz="1800" dirty="0"/>
              <a:t>Towbar</a:t>
            </a:r>
            <a:br>
              <a:rPr lang="en-US" altLang="ja-JP" sz="1800" dirty="0"/>
            </a:br>
            <a:r>
              <a:rPr lang="ja-JP" altLang="en-US" sz="1800" dirty="0"/>
              <a:t>一人の</a:t>
            </a:r>
            <a:r>
              <a:rPr lang="en-US" altLang="ja-JP" sz="1800" dirty="0"/>
              <a:t>100</a:t>
            </a:r>
            <a:r>
              <a:rPr lang="ja-JP" altLang="en-US" sz="1800" dirty="0"/>
              <a:t>倍、みんなでブースト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70F24BE-F00D-D676-0A5E-FF29559E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7" y="917404"/>
            <a:ext cx="3816424" cy="247200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3BAF39E-02B8-D973-D546-97C79AC2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216" y="3486040"/>
            <a:ext cx="2235529" cy="2300853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30ED66A-537F-CCCD-7B2A-0EBF94CDF9EE}"/>
              </a:ext>
            </a:extLst>
          </p:cNvPr>
          <p:cNvSpPr txBox="1"/>
          <p:nvPr/>
        </p:nvSpPr>
        <p:spPr>
          <a:xfrm>
            <a:off x="119336" y="1256035"/>
            <a:ext cx="61341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>
                <a:hlinkClick r:id="rId4"/>
              </a:rPr>
              <a:t>言いたいことは全部ラップにしたので，聴いてくれ！</a:t>
            </a:r>
            <a:endParaRPr lang="ja-JP" altLang="en-US" sz="28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61A92F1-7621-809A-7EC5-9CCE6D82C212}"/>
              </a:ext>
            </a:extLst>
          </p:cNvPr>
          <p:cNvSpPr txBox="1"/>
          <p:nvPr/>
        </p:nvSpPr>
        <p:spPr>
          <a:xfrm>
            <a:off x="135484" y="226906"/>
            <a:ext cx="6134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閉会の言葉を歌に載せて</a:t>
            </a:r>
          </a:p>
        </p:txBody>
      </p:sp>
    </p:spTree>
    <p:extLst>
      <p:ext uri="{BB962C8B-B14F-4D97-AF65-F5344CB8AC3E}">
        <p14:creationId xmlns:p14="http://schemas.microsoft.com/office/powerpoint/2010/main" val="367832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FA0D0-C050-488D-90EE-3402020C9E19}" type="slidenum">
              <a:rPr lang="en-US" altLang="ja-JP"/>
              <a:pPr/>
              <a:t>5</a:t>
            </a:fld>
            <a:endParaRPr lang="en-US" altLang="ja-JP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title"/>
          </p:nvPr>
        </p:nvSpPr>
        <p:spPr>
          <a:xfrm>
            <a:off x="119336" y="36944"/>
            <a:ext cx="10951502" cy="877456"/>
          </a:xfrm>
        </p:spPr>
        <p:txBody>
          <a:bodyPr/>
          <a:lstStyle/>
          <a:p>
            <a:r>
              <a:rPr lang="ja-JP" altLang="en-US" i="0" dirty="0"/>
              <a:t>日本にはいろんな臨床系プログラムのコミュニティあるんやで</a:t>
            </a:r>
            <a:endParaRPr lang="ja-JP" altLang="ja-JP" i="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EF16920-2E56-F3E1-3D4D-2A6C5EF7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922164"/>
            <a:ext cx="10936226" cy="55157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D1889-7B2A-949A-ED2B-BCC83843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381000"/>
            <a:ext cx="10807486" cy="533400"/>
          </a:xfrm>
        </p:spPr>
        <p:txBody>
          <a:bodyPr/>
          <a:lstStyle/>
          <a:p>
            <a:r>
              <a:rPr kumimoji="1" lang="en-US" altLang="ja-JP" dirty="0"/>
              <a:t>R in</a:t>
            </a:r>
            <a:r>
              <a:rPr lang="ja-JP" altLang="en-US" dirty="0"/>
              <a:t> </a:t>
            </a:r>
            <a:r>
              <a:rPr kumimoji="1" lang="en-US" altLang="ja-JP" dirty="0"/>
              <a:t>Pharma</a:t>
            </a:r>
            <a:r>
              <a:rPr kumimoji="1" lang="ja-JP" altLang="en-US" dirty="0"/>
              <a:t>の演題募集がはじまってます！　～</a:t>
            </a:r>
            <a:r>
              <a:rPr kumimoji="1" lang="en-US" altLang="ja-JP" dirty="0"/>
              <a:t>5/2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EF07D-DA62-34D3-056A-BD4FF46E1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6</a:t>
            </a:fld>
            <a:endParaRPr lang="en-US" altLang="ja-JP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92BC644-8806-F973-5D27-BEAA5935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816"/>
            <a:ext cx="12192000" cy="520693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656002-9F98-5FF4-7D3A-56448747AFA2}"/>
              </a:ext>
            </a:extLst>
          </p:cNvPr>
          <p:cNvSpPr txBox="1"/>
          <p:nvPr/>
        </p:nvSpPr>
        <p:spPr>
          <a:xfrm>
            <a:off x="0" y="11127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3"/>
              </a:rPr>
              <a:t>https://rinpharma.com/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941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68C7-CAD5-E44D-689E-9AAB5B07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389752-AC8D-2091-DC97-A71A1D7375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7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D30C7F-805B-2235-B32D-C451B4C6CE15}"/>
              </a:ext>
            </a:extLst>
          </p:cNvPr>
          <p:cNvSpPr txBox="1"/>
          <p:nvPr/>
        </p:nvSpPr>
        <p:spPr>
          <a:xfrm>
            <a:off x="22920" y="1886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>
                <a:hlinkClick r:id="rId2"/>
              </a:rPr>
              <a:t>採点表</a:t>
            </a:r>
            <a:endParaRPr lang="ja-JP" altLang="en-US" sz="3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8D21B74-641D-C826-6879-3844F70BD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294184"/>
            <a:ext cx="4709323" cy="446449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B561BC3-6B39-5505-3BD5-93AE704FF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0" y="240902"/>
            <a:ext cx="2088232" cy="205328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9D77C3-D0BF-9367-0120-37FFEB1B44FE}"/>
              </a:ext>
            </a:extLst>
          </p:cNvPr>
          <p:cNvSpPr txBox="1"/>
          <p:nvPr/>
        </p:nvSpPr>
        <p:spPr>
          <a:xfrm>
            <a:off x="5520634" y="1978713"/>
            <a:ext cx="525759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00" dirty="0"/>
              <a:t>採点中：少々お待ちを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56E93F1-C175-3D83-0849-87EF02174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634" y="3638660"/>
            <a:ext cx="6220614" cy="319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0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D9D660-47E9-60B2-8E9B-18439A31EC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00E358-7BF6-957A-E522-217411099C10}"/>
              </a:ext>
            </a:extLst>
          </p:cNvPr>
          <p:cNvSpPr txBox="1"/>
          <p:nvPr/>
        </p:nvSpPr>
        <p:spPr>
          <a:xfrm>
            <a:off x="2063552" y="1844824"/>
            <a:ext cx="78962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00" dirty="0"/>
              <a:t>みなさま　有難うございます！！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5A21E55-6C45-9DD6-DC56-9C80B11AAD14}"/>
              </a:ext>
            </a:extLst>
          </p:cNvPr>
          <p:cNvSpPr txBox="1"/>
          <p:nvPr/>
        </p:nvSpPr>
        <p:spPr>
          <a:xfrm>
            <a:off x="2067372" y="4089847"/>
            <a:ext cx="7464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「また、必ず会おう」と誰もが言った。</a:t>
            </a:r>
          </a:p>
        </p:txBody>
      </p:sp>
    </p:spTree>
    <p:extLst>
      <p:ext uri="{BB962C8B-B14F-4D97-AF65-F5344CB8AC3E}">
        <p14:creationId xmlns:p14="http://schemas.microsoft.com/office/powerpoint/2010/main" val="2974473336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ド雛形4">
  <a:themeElements>
    <a:clrScheme name="Office ​​テーマ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​​テーマ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​​テーマ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340</Words>
  <Application>Microsoft Office PowerPoint</Application>
  <PresentationFormat>ワイド画面</PresentationFormat>
  <Paragraphs>39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ＭＳ Ｐゴシック</vt:lpstr>
      <vt:lpstr>Century Gothic</vt:lpstr>
      <vt:lpstr>Times</vt:lpstr>
      <vt:lpstr>Times New Roman</vt:lpstr>
      <vt:lpstr>Wingdings</vt:lpstr>
      <vt:lpstr>スライド雛形4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日本にはいろんな臨床系プログラムのコミュニティあるんやで</vt:lpstr>
      <vt:lpstr>R in Pharmaの演題募集がはじまってます！　～5/2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2025-12-11T13:56:03Z</dcterms:created>
  <dcterms:modified xsi:type="dcterms:W3CDTF">2026-04-06T09:33:48Z</dcterms:modified>
</cp:coreProperties>
</file>