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p:sldMasterIdLst>
    <p:sldMasterId id="2147483648" r:id="rId1"/>
  </p:sldMasterIdLst>
  <p:notesMasterIdLst>
    <p:notesMasterId r:id="rId45"/>
  </p:notesMasterIdLst>
  <p:sldIdLst>
    <p:sldId id="270" r:id="rId2"/>
    <p:sldId id="339" r:id="rId3"/>
    <p:sldId id="281" r:id="rId4"/>
    <p:sldId id="342" r:id="rId5"/>
    <p:sldId id="334" r:id="rId6"/>
    <p:sldId id="343" r:id="rId7"/>
    <p:sldId id="380" r:id="rId8"/>
    <p:sldId id="357" r:id="rId9"/>
    <p:sldId id="368" r:id="rId10"/>
    <p:sldId id="369" r:id="rId11"/>
    <p:sldId id="346" r:id="rId12"/>
    <p:sldId id="344" r:id="rId13"/>
    <p:sldId id="361" r:id="rId14"/>
    <p:sldId id="362" r:id="rId15"/>
    <p:sldId id="371" r:id="rId16"/>
    <p:sldId id="372" r:id="rId17"/>
    <p:sldId id="376" r:id="rId18"/>
    <p:sldId id="345" r:id="rId19"/>
    <p:sldId id="352" r:id="rId20"/>
    <p:sldId id="377" r:id="rId21"/>
    <p:sldId id="349" r:id="rId22"/>
    <p:sldId id="356" r:id="rId23"/>
    <p:sldId id="354" r:id="rId24"/>
    <p:sldId id="347" r:id="rId25"/>
    <p:sldId id="348" r:id="rId26"/>
    <p:sldId id="353" r:id="rId27"/>
    <p:sldId id="350" r:id="rId28"/>
    <p:sldId id="355" r:id="rId29"/>
    <p:sldId id="373" r:id="rId30"/>
    <p:sldId id="374" r:id="rId31"/>
    <p:sldId id="359" r:id="rId32"/>
    <p:sldId id="360" r:id="rId33"/>
    <p:sldId id="363" r:id="rId34"/>
    <p:sldId id="365" r:id="rId35"/>
    <p:sldId id="366" r:id="rId36"/>
    <p:sldId id="367" r:id="rId37"/>
    <p:sldId id="378" r:id="rId38"/>
    <p:sldId id="375" r:id="rId39"/>
    <p:sldId id="358" r:id="rId40"/>
    <p:sldId id="370" r:id="rId41"/>
    <p:sldId id="319" r:id="rId42"/>
    <p:sldId id="283" r:id="rId43"/>
    <p:sldId id="267" r:id="rId44"/>
  </p:sldIdLst>
  <p:sldSz cx="14404975" cy="8102600"/>
  <p:notesSz cx="10795000" cy="8102600"/>
  <p:defaultTextStyle>
    <a:defPPr>
      <a:defRPr kern="0"/>
    </a:def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3333FF"/>
    <a:srgbClr val="6600FF"/>
    <a:srgbClr val="148E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7538D-A343-4B60-B3AD-6AE269DB1D99}" v="13" dt="2026-04-02T10:01:22.89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6101" autoAdjust="0"/>
  </p:normalViewPr>
  <p:slideViewPr>
    <p:cSldViewPr snapToGrid="0">
      <p:cViewPr varScale="1">
        <p:scale>
          <a:sx n="84" d="100"/>
          <a:sy n="84" d="100"/>
        </p:scale>
        <p:origin x="1266" y="300"/>
      </p:cViewPr>
      <p:guideLst/>
    </p:cSldViewPr>
  </p:slideViewPr>
  <p:notesTextViewPr>
    <p:cViewPr>
      <p:scale>
        <a:sx n="100" d="100"/>
        <a:sy n="100" d="100"/>
      </p:scale>
      <p:origin x="0" y="0"/>
    </p:cViewPr>
  </p:notesTextViewPr>
  <p:notesViewPr>
    <p:cSldViewPr snapToGrid="0">
      <p:cViewPr varScale="1">
        <p:scale>
          <a:sx n="105" d="100"/>
          <a:sy n="105" d="100"/>
        </p:scale>
        <p:origin x="2224"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678363" cy="4064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6115050" y="0"/>
            <a:ext cx="4676775" cy="406400"/>
          </a:xfrm>
          <a:prstGeom prst="rect">
            <a:avLst/>
          </a:prstGeom>
        </p:spPr>
        <p:txBody>
          <a:bodyPr vert="horz" lIns="91440" tIns="45720" rIns="91440" bIns="45720" rtlCol="0"/>
          <a:lstStyle>
            <a:lvl1pPr algn="r">
              <a:defRPr sz="1200"/>
            </a:lvl1pPr>
          </a:lstStyle>
          <a:p>
            <a:fld id="{466EDA11-FB64-E74C-B19E-49156B88425C}" type="datetimeFigureOut">
              <a:rPr kumimoji="1" lang="ja-JP" altLang="en-US" smtClean="0"/>
              <a:t>2026/4/2</a:t>
            </a:fld>
            <a:endParaRPr kumimoji="1" lang="ja-JP" altLang="en-US"/>
          </a:p>
        </p:txBody>
      </p:sp>
      <p:sp>
        <p:nvSpPr>
          <p:cNvPr id="4" name="スライド イメージ プレースホルダー 3"/>
          <p:cNvSpPr>
            <a:spLocks noGrp="1" noRot="1" noChangeAspect="1"/>
          </p:cNvSpPr>
          <p:nvPr>
            <p:ph type="sldImg" idx="2"/>
          </p:nvPr>
        </p:nvSpPr>
        <p:spPr>
          <a:xfrm>
            <a:off x="2967038" y="1012825"/>
            <a:ext cx="4860925" cy="27352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079500" y="3898900"/>
            <a:ext cx="8636000" cy="319087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7696200"/>
            <a:ext cx="4678363" cy="4064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6115050" y="7696200"/>
            <a:ext cx="4676775" cy="406400"/>
          </a:xfrm>
          <a:prstGeom prst="rect">
            <a:avLst/>
          </a:prstGeom>
        </p:spPr>
        <p:txBody>
          <a:bodyPr vert="horz" lIns="91440" tIns="45720" rIns="91440" bIns="45720" rtlCol="0" anchor="b"/>
          <a:lstStyle>
            <a:lvl1pPr algn="r">
              <a:defRPr sz="1200"/>
            </a:lvl1pPr>
          </a:lstStyle>
          <a:p>
            <a:fld id="{B4E0CB69-4F40-B640-B946-670202B28075}" type="slidenum">
              <a:rPr kumimoji="1" lang="ja-JP" altLang="en-US" smtClean="0"/>
              <a:t>‹#›</a:t>
            </a:fld>
            <a:endParaRPr kumimoji="1" lang="ja-JP" altLang="en-US"/>
          </a:p>
        </p:txBody>
      </p:sp>
    </p:spTree>
    <p:extLst>
      <p:ext uri="{BB962C8B-B14F-4D97-AF65-F5344CB8AC3E}">
        <p14:creationId xmlns:p14="http://schemas.microsoft.com/office/powerpoint/2010/main" val="1375342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4E0CB69-4F40-B640-B946-670202B28075}" type="slidenum">
              <a:rPr kumimoji="1" lang="ja-JP" altLang="en-US" smtClean="0"/>
              <a:t>2</a:t>
            </a:fld>
            <a:endParaRPr kumimoji="1" lang="ja-JP" altLang="en-US"/>
          </a:p>
        </p:txBody>
      </p:sp>
    </p:spTree>
    <p:extLst>
      <p:ext uri="{BB962C8B-B14F-4D97-AF65-F5344CB8AC3E}">
        <p14:creationId xmlns:p14="http://schemas.microsoft.com/office/powerpoint/2010/main" val="357474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4E0CB69-4F40-B640-B946-670202B28075}" type="slidenum">
              <a:rPr kumimoji="1" lang="ja-JP" altLang="en-US" smtClean="0"/>
              <a:t>4</a:t>
            </a:fld>
            <a:endParaRPr kumimoji="1" lang="ja-JP" altLang="en-US"/>
          </a:p>
        </p:txBody>
      </p:sp>
    </p:spTree>
    <p:extLst>
      <p:ext uri="{BB962C8B-B14F-4D97-AF65-F5344CB8AC3E}">
        <p14:creationId xmlns:p14="http://schemas.microsoft.com/office/powerpoint/2010/main" val="3244279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B4E0CB69-4F40-B640-B946-670202B28075}" type="slidenum">
              <a:rPr kumimoji="1" lang="ja-JP" altLang="en-US" smtClean="0"/>
              <a:t>5</a:t>
            </a:fld>
            <a:endParaRPr kumimoji="1" lang="ja-JP" altLang="en-US"/>
          </a:p>
        </p:txBody>
      </p:sp>
    </p:spTree>
    <p:extLst>
      <p:ext uri="{BB962C8B-B14F-4D97-AF65-F5344CB8AC3E}">
        <p14:creationId xmlns:p14="http://schemas.microsoft.com/office/powerpoint/2010/main" val="6653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EF74-A5D1-69BE-3F59-FA8BE58CA7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9CDB57-0D2D-8E66-37DA-82679781BA7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5C17D0C-A7A5-60EE-9686-50C34CF0479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9A8C8CC-2D23-6EE4-85C6-48AB98ECC267}"/>
              </a:ext>
            </a:extLst>
          </p:cNvPr>
          <p:cNvSpPr>
            <a:spLocks noGrp="1"/>
          </p:cNvSpPr>
          <p:nvPr>
            <p:ph type="sldNum" sz="quarter" idx="5"/>
          </p:nvPr>
        </p:nvSpPr>
        <p:spPr/>
        <p:txBody>
          <a:bodyPr/>
          <a:lstStyle/>
          <a:p>
            <a:fld id="{B4E0CB69-4F40-B640-B946-670202B28075}" type="slidenum">
              <a:rPr kumimoji="1" lang="ja-JP" altLang="en-US" smtClean="0"/>
              <a:t>6</a:t>
            </a:fld>
            <a:endParaRPr kumimoji="1" lang="ja-JP" altLang="en-US"/>
          </a:p>
        </p:txBody>
      </p:sp>
    </p:spTree>
    <p:extLst>
      <p:ext uri="{BB962C8B-B14F-4D97-AF65-F5344CB8AC3E}">
        <p14:creationId xmlns:p14="http://schemas.microsoft.com/office/powerpoint/2010/main" val="2404298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1CD77-4EC5-4B0A-E22E-D556BB9A31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62F446-4E07-85C2-75FC-7BF474D294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5B353B6-A5A5-9713-B69E-3104D5A0A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8DD588D-671D-B20C-63C4-8FD3B6BA4706}"/>
              </a:ext>
            </a:extLst>
          </p:cNvPr>
          <p:cNvSpPr>
            <a:spLocks noGrp="1"/>
          </p:cNvSpPr>
          <p:nvPr>
            <p:ph type="sldNum" sz="quarter" idx="5"/>
          </p:nvPr>
        </p:nvSpPr>
        <p:spPr/>
        <p:txBody>
          <a:bodyPr/>
          <a:lstStyle/>
          <a:p>
            <a:fld id="{B4E0CB69-4F40-B640-B946-670202B28075}" type="slidenum">
              <a:rPr kumimoji="1" lang="ja-JP" altLang="en-US" smtClean="0"/>
              <a:t>7</a:t>
            </a:fld>
            <a:endParaRPr kumimoji="1" lang="ja-JP" altLang="en-US"/>
          </a:p>
        </p:txBody>
      </p:sp>
    </p:spTree>
    <p:extLst>
      <p:ext uri="{BB962C8B-B14F-4D97-AF65-F5344CB8AC3E}">
        <p14:creationId xmlns:p14="http://schemas.microsoft.com/office/powerpoint/2010/main" val="2160191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F75D-331A-E09F-969C-895DCB71A3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320B36-2BE3-31B7-4B65-91BC90D987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C75E18A-BE74-5669-578D-11F0DEE208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7632FC8-E8C8-6F1F-5CC3-BF08621018F6}"/>
              </a:ext>
            </a:extLst>
          </p:cNvPr>
          <p:cNvSpPr>
            <a:spLocks noGrp="1"/>
          </p:cNvSpPr>
          <p:nvPr>
            <p:ph type="sldNum" sz="quarter" idx="5"/>
          </p:nvPr>
        </p:nvSpPr>
        <p:spPr/>
        <p:txBody>
          <a:bodyPr/>
          <a:lstStyle/>
          <a:p>
            <a:fld id="{B4E0CB69-4F40-B640-B946-670202B28075}" type="slidenum">
              <a:rPr kumimoji="1" lang="ja-JP" altLang="en-US" smtClean="0"/>
              <a:t>8</a:t>
            </a:fld>
            <a:endParaRPr kumimoji="1" lang="ja-JP" altLang="en-US"/>
          </a:p>
        </p:txBody>
      </p:sp>
    </p:spTree>
    <p:extLst>
      <p:ext uri="{BB962C8B-B14F-4D97-AF65-F5344CB8AC3E}">
        <p14:creationId xmlns:p14="http://schemas.microsoft.com/office/powerpoint/2010/main" val="1995008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FAA7-0A78-E471-378D-FC21B4E89F5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3E7C0F-C1F1-8382-7485-5E606521D1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219C45-8572-5A29-DC1D-F3AF9A5D45D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D4ADE23-D32A-2DFD-45AC-233FE5DECB28}"/>
              </a:ext>
            </a:extLst>
          </p:cNvPr>
          <p:cNvSpPr>
            <a:spLocks noGrp="1"/>
          </p:cNvSpPr>
          <p:nvPr>
            <p:ph type="sldNum" sz="quarter" idx="5"/>
          </p:nvPr>
        </p:nvSpPr>
        <p:spPr/>
        <p:txBody>
          <a:bodyPr/>
          <a:lstStyle/>
          <a:p>
            <a:fld id="{B4E0CB69-4F40-B640-B946-670202B28075}" type="slidenum">
              <a:rPr kumimoji="1" lang="ja-JP" altLang="en-US" smtClean="0"/>
              <a:t>9</a:t>
            </a:fld>
            <a:endParaRPr kumimoji="1" lang="ja-JP" altLang="en-US"/>
          </a:p>
        </p:txBody>
      </p:sp>
    </p:spTree>
    <p:extLst>
      <p:ext uri="{BB962C8B-B14F-4D97-AF65-F5344CB8AC3E}">
        <p14:creationId xmlns:p14="http://schemas.microsoft.com/office/powerpoint/2010/main" val="2651092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55435-7DD6-B4FE-2707-48B5A2EDA1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E8F1667-8FFA-B87F-7E21-0F101B8A96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E67B15-C2A5-C634-4CD4-5C6C5DCAECF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00B3E86-356C-6CA3-97A2-8C50DCB14A2F}"/>
              </a:ext>
            </a:extLst>
          </p:cNvPr>
          <p:cNvSpPr>
            <a:spLocks noGrp="1"/>
          </p:cNvSpPr>
          <p:nvPr>
            <p:ph type="sldNum" sz="quarter" idx="5"/>
          </p:nvPr>
        </p:nvSpPr>
        <p:spPr/>
        <p:txBody>
          <a:bodyPr/>
          <a:lstStyle/>
          <a:p>
            <a:fld id="{B4E0CB69-4F40-B640-B946-670202B28075}" type="slidenum">
              <a:rPr kumimoji="1" lang="ja-JP" altLang="en-US" smtClean="0"/>
              <a:t>10</a:t>
            </a:fld>
            <a:endParaRPr kumimoji="1" lang="ja-JP" altLang="en-US"/>
          </a:p>
        </p:txBody>
      </p:sp>
    </p:spTree>
    <p:extLst>
      <p:ext uri="{BB962C8B-B14F-4D97-AF65-F5344CB8AC3E}">
        <p14:creationId xmlns:p14="http://schemas.microsoft.com/office/powerpoint/2010/main" val="3088638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707C2-185D-F707-0CC6-34752DA74A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B434D6-716F-17FE-9637-1B97ED9A31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F7DAC19-776D-80C3-F86E-06BDC4BFFF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6A8EECE-A9E6-A8DA-026E-B1CE91F2FBCC}"/>
              </a:ext>
            </a:extLst>
          </p:cNvPr>
          <p:cNvSpPr>
            <a:spLocks noGrp="1"/>
          </p:cNvSpPr>
          <p:nvPr>
            <p:ph type="sldNum" sz="quarter" idx="5"/>
          </p:nvPr>
        </p:nvSpPr>
        <p:spPr/>
        <p:txBody>
          <a:bodyPr/>
          <a:lstStyle/>
          <a:p>
            <a:fld id="{B4E0CB69-4F40-B640-B946-670202B28075}" type="slidenum">
              <a:rPr kumimoji="1" lang="ja-JP" altLang="en-US" smtClean="0"/>
              <a:t>11</a:t>
            </a:fld>
            <a:endParaRPr kumimoji="1" lang="ja-JP" altLang="en-US"/>
          </a:p>
        </p:txBody>
      </p:sp>
    </p:spTree>
    <p:extLst>
      <p:ext uri="{BB962C8B-B14F-4D97-AF65-F5344CB8AC3E}">
        <p14:creationId xmlns:p14="http://schemas.microsoft.com/office/powerpoint/2010/main" val="2310203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804C4-9803-121A-6D37-511ABA80E75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2D3841-1A25-187D-5250-B479879780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097E8F-F1E7-CD17-B120-C3C2AE62864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6548D6D-6ED1-4337-EA85-A5DB7EE3E015}"/>
              </a:ext>
            </a:extLst>
          </p:cNvPr>
          <p:cNvSpPr>
            <a:spLocks noGrp="1"/>
          </p:cNvSpPr>
          <p:nvPr>
            <p:ph type="sldNum" sz="quarter" idx="5"/>
          </p:nvPr>
        </p:nvSpPr>
        <p:spPr/>
        <p:txBody>
          <a:bodyPr/>
          <a:lstStyle/>
          <a:p>
            <a:fld id="{B4E0CB69-4F40-B640-B946-670202B28075}" type="slidenum">
              <a:rPr kumimoji="1" lang="ja-JP" altLang="en-US" smtClean="0"/>
              <a:t>12</a:t>
            </a:fld>
            <a:endParaRPr kumimoji="1" lang="ja-JP" altLang="en-US"/>
          </a:p>
        </p:txBody>
      </p:sp>
    </p:spTree>
    <p:extLst>
      <p:ext uri="{BB962C8B-B14F-4D97-AF65-F5344CB8AC3E}">
        <p14:creationId xmlns:p14="http://schemas.microsoft.com/office/powerpoint/2010/main" val="2947588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879DA-E08A-630E-F22E-DF4D0670C8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BB9949-1BBC-C56B-731E-2D88636EDB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BC6F69-6A1C-354A-CFA5-F85777075FE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24ABAAA-D973-D3CE-DD41-97106AE080D0}"/>
              </a:ext>
            </a:extLst>
          </p:cNvPr>
          <p:cNvSpPr>
            <a:spLocks noGrp="1"/>
          </p:cNvSpPr>
          <p:nvPr>
            <p:ph type="sldNum" sz="quarter" idx="5"/>
          </p:nvPr>
        </p:nvSpPr>
        <p:spPr/>
        <p:txBody>
          <a:bodyPr/>
          <a:lstStyle/>
          <a:p>
            <a:fld id="{B4E0CB69-4F40-B640-B946-670202B28075}" type="slidenum">
              <a:rPr kumimoji="1" lang="ja-JP" altLang="en-US" smtClean="0"/>
              <a:t>13</a:t>
            </a:fld>
            <a:endParaRPr kumimoji="1" lang="ja-JP" altLang="en-US"/>
          </a:p>
        </p:txBody>
      </p:sp>
    </p:spTree>
    <p:extLst>
      <p:ext uri="{BB962C8B-B14F-4D97-AF65-F5344CB8AC3E}">
        <p14:creationId xmlns:p14="http://schemas.microsoft.com/office/powerpoint/2010/main" val="300473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3914-E057-49F8-8B28-F9FD456E8D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3009A1-3319-73B8-FBDE-004885979B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D6C28C-B761-FA05-FC90-F4BC9980270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1BC5D16-FA41-D604-EE3C-012297DEC1D0}"/>
              </a:ext>
            </a:extLst>
          </p:cNvPr>
          <p:cNvSpPr>
            <a:spLocks noGrp="1"/>
          </p:cNvSpPr>
          <p:nvPr>
            <p:ph type="sldNum" sz="quarter" idx="5"/>
          </p:nvPr>
        </p:nvSpPr>
        <p:spPr/>
        <p:txBody>
          <a:bodyPr/>
          <a:lstStyle/>
          <a:p>
            <a:fld id="{B4E0CB69-4F40-B640-B946-670202B28075}" type="slidenum">
              <a:rPr kumimoji="1" lang="ja-JP" altLang="en-US" smtClean="0"/>
              <a:t>14</a:t>
            </a:fld>
            <a:endParaRPr kumimoji="1" lang="ja-JP" altLang="en-US"/>
          </a:p>
        </p:txBody>
      </p:sp>
    </p:spTree>
    <p:extLst>
      <p:ext uri="{BB962C8B-B14F-4D97-AF65-F5344CB8AC3E}">
        <p14:creationId xmlns:p14="http://schemas.microsoft.com/office/powerpoint/2010/main" val="1461839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F0DA9-1F29-D0FB-8534-F3C601D706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122242-3BCA-602E-B809-1D044C217F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B9F9C1-E2AA-95A1-690D-0EBEF76D927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69E714-B8D2-8C88-A704-7B914605E18F}"/>
              </a:ext>
            </a:extLst>
          </p:cNvPr>
          <p:cNvSpPr>
            <a:spLocks noGrp="1"/>
          </p:cNvSpPr>
          <p:nvPr>
            <p:ph type="sldNum" sz="quarter" idx="5"/>
          </p:nvPr>
        </p:nvSpPr>
        <p:spPr/>
        <p:txBody>
          <a:bodyPr/>
          <a:lstStyle/>
          <a:p>
            <a:fld id="{B4E0CB69-4F40-B640-B946-670202B28075}" type="slidenum">
              <a:rPr kumimoji="1" lang="ja-JP" altLang="en-US" smtClean="0"/>
              <a:t>15</a:t>
            </a:fld>
            <a:endParaRPr kumimoji="1" lang="ja-JP" altLang="en-US"/>
          </a:p>
        </p:txBody>
      </p:sp>
    </p:spTree>
    <p:extLst>
      <p:ext uri="{BB962C8B-B14F-4D97-AF65-F5344CB8AC3E}">
        <p14:creationId xmlns:p14="http://schemas.microsoft.com/office/powerpoint/2010/main" val="3092557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4DF9C-4B8D-5122-E3DA-69B62F6B30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C11D05-1639-4124-2EDE-92E2731ADB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961549-9956-EA83-7A8B-D823660A59E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CB06C86-E065-9B34-783F-50FFB15D9F7D}"/>
              </a:ext>
            </a:extLst>
          </p:cNvPr>
          <p:cNvSpPr>
            <a:spLocks noGrp="1"/>
          </p:cNvSpPr>
          <p:nvPr>
            <p:ph type="sldNum" sz="quarter" idx="5"/>
          </p:nvPr>
        </p:nvSpPr>
        <p:spPr/>
        <p:txBody>
          <a:bodyPr/>
          <a:lstStyle/>
          <a:p>
            <a:fld id="{B4E0CB69-4F40-B640-B946-670202B28075}" type="slidenum">
              <a:rPr kumimoji="1" lang="ja-JP" altLang="en-US" smtClean="0"/>
              <a:t>16</a:t>
            </a:fld>
            <a:endParaRPr kumimoji="1" lang="ja-JP" altLang="en-US"/>
          </a:p>
        </p:txBody>
      </p:sp>
    </p:spTree>
    <p:extLst>
      <p:ext uri="{BB962C8B-B14F-4D97-AF65-F5344CB8AC3E}">
        <p14:creationId xmlns:p14="http://schemas.microsoft.com/office/powerpoint/2010/main" val="2984664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7E82D-267A-CA96-B2C6-8BE38B471CA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331180F-C6AD-FC8B-14F5-F73F79EFDC8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F116BF-8609-0C85-17DF-663AD1FDDDA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2A019C7-2103-B9D4-4DC8-FD46F0964549}"/>
              </a:ext>
            </a:extLst>
          </p:cNvPr>
          <p:cNvSpPr>
            <a:spLocks noGrp="1"/>
          </p:cNvSpPr>
          <p:nvPr>
            <p:ph type="sldNum" sz="quarter" idx="5"/>
          </p:nvPr>
        </p:nvSpPr>
        <p:spPr/>
        <p:txBody>
          <a:bodyPr/>
          <a:lstStyle/>
          <a:p>
            <a:fld id="{B4E0CB69-4F40-B640-B946-670202B28075}" type="slidenum">
              <a:rPr kumimoji="1" lang="ja-JP" altLang="en-US" smtClean="0"/>
              <a:t>17</a:t>
            </a:fld>
            <a:endParaRPr kumimoji="1" lang="ja-JP" altLang="en-US"/>
          </a:p>
        </p:txBody>
      </p:sp>
    </p:spTree>
    <p:extLst>
      <p:ext uri="{BB962C8B-B14F-4D97-AF65-F5344CB8AC3E}">
        <p14:creationId xmlns:p14="http://schemas.microsoft.com/office/powerpoint/2010/main" val="4047773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A0A86-00C5-8C06-62AA-67082BD86C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83E1F9-73A0-72B8-80E3-F1E5B63AA6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7F586F8-D9DC-B9C5-3081-BABD0048F98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D948084-9386-F71E-692A-50FFD6802FD0}"/>
              </a:ext>
            </a:extLst>
          </p:cNvPr>
          <p:cNvSpPr>
            <a:spLocks noGrp="1"/>
          </p:cNvSpPr>
          <p:nvPr>
            <p:ph type="sldNum" sz="quarter" idx="5"/>
          </p:nvPr>
        </p:nvSpPr>
        <p:spPr/>
        <p:txBody>
          <a:bodyPr/>
          <a:lstStyle/>
          <a:p>
            <a:fld id="{B4E0CB69-4F40-B640-B946-670202B28075}" type="slidenum">
              <a:rPr kumimoji="1" lang="ja-JP" altLang="en-US" smtClean="0"/>
              <a:t>18</a:t>
            </a:fld>
            <a:endParaRPr kumimoji="1" lang="ja-JP" altLang="en-US"/>
          </a:p>
        </p:txBody>
      </p:sp>
    </p:spTree>
    <p:extLst>
      <p:ext uri="{BB962C8B-B14F-4D97-AF65-F5344CB8AC3E}">
        <p14:creationId xmlns:p14="http://schemas.microsoft.com/office/powerpoint/2010/main" val="317983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FF0E-B569-EA48-3BD8-4AABA4483D5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5BA671-768B-B2FB-EE12-E8EF1ACAD4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F6A83D-6313-CB2C-0C80-BD53A862090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944BA0A-0F81-700C-0BFB-F47FEEFE3573}"/>
              </a:ext>
            </a:extLst>
          </p:cNvPr>
          <p:cNvSpPr>
            <a:spLocks noGrp="1"/>
          </p:cNvSpPr>
          <p:nvPr>
            <p:ph type="sldNum" sz="quarter" idx="5"/>
          </p:nvPr>
        </p:nvSpPr>
        <p:spPr/>
        <p:txBody>
          <a:bodyPr/>
          <a:lstStyle/>
          <a:p>
            <a:fld id="{B4E0CB69-4F40-B640-B946-670202B28075}" type="slidenum">
              <a:rPr kumimoji="1" lang="ja-JP" altLang="en-US" smtClean="0"/>
              <a:t>19</a:t>
            </a:fld>
            <a:endParaRPr kumimoji="1" lang="ja-JP" altLang="en-US"/>
          </a:p>
        </p:txBody>
      </p:sp>
    </p:spTree>
    <p:extLst>
      <p:ext uri="{BB962C8B-B14F-4D97-AF65-F5344CB8AC3E}">
        <p14:creationId xmlns:p14="http://schemas.microsoft.com/office/powerpoint/2010/main" val="3223692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6A392-2C61-6828-BB48-A2BC2CE270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C85B9F-AEDA-1C9E-4331-BEFEBD0D44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6C22EF-2DAD-39C8-748C-ADAFDDFC6FB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23576B9-8BDB-A373-10F4-BE3C1B14B45A}"/>
              </a:ext>
            </a:extLst>
          </p:cNvPr>
          <p:cNvSpPr>
            <a:spLocks noGrp="1"/>
          </p:cNvSpPr>
          <p:nvPr>
            <p:ph type="sldNum" sz="quarter" idx="5"/>
          </p:nvPr>
        </p:nvSpPr>
        <p:spPr/>
        <p:txBody>
          <a:bodyPr/>
          <a:lstStyle/>
          <a:p>
            <a:fld id="{B4E0CB69-4F40-B640-B946-670202B28075}" type="slidenum">
              <a:rPr kumimoji="1" lang="ja-JP" altLang="en-US" smtClean="0"/>
              <a:t>20</a:t>
            </a:fld>
            <a:endParaRPr kumimoji="1" lang="ja-JP" altLang="en-US"/>
          </a:p>
        </p:txBody>
      </p:sp>
    </p:spTree>
    <p:extLst>
      <p:ext uri="{BB962C8B-B14F-4D97-AF65-F5344CB8AC3E}">
        <p14:creationId xmlns:p14="http://schemas.microsoft.com/office/powerpoint/2010/main" val="2085749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5A888-7563-5CA2-1221-A67702D783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6D2D40-06D9-F6CD-B99B-3D0847788F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20948A-B114-8D9F-EC9B-E30064DBF5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B27BFF-5329-6259-C042-1002AC97B609}"/>
              </a:ext>
            </a:extLst>
          </p:cNvPr>
          <p:cNvSpPr>
            <a:spLocks noGrp="1"/>
          </p:cNvSpPr>
          <p:nvPr>
            <p:ph type="sldNum" sz="quarter" idx="5"/>
          </p:nvPr>
        </p:nvSpPr>
        <p:spPr/>
        <p:txBody>
          <a:bodyPr/>
          <a:lstStyle/>
          <a:p>
            <a:fld id="{B4E0CB69-4F40-B640-B946-670202B28075}" type="slidenum">
              <a:rPr kumimoji="1" lang="ja-JP" altLang="en-US" smtClean="0"/>
              <a:t>21</a:t>
            </a:fld>
            <a:endParaRPr kumimoji="1" lang="ja-JP" altLang="en-US"/>
          </a:p>
        </p:txBody>
      </p:sp>
    </p:spTree>
    <p:extLst>
      <p:ext uri="{BB962C8B-B14F-4D97-AF65-F5344CB8AC3E}">
        <p14:creationId xmlns:p14="http://schemas.microsoft.com/office/powerpoint/2010/main" val="3598383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F2DC-A677-BE9A-6900-63357B293C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6F80AF-0942-C9AD-806D-17AD33700C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8F741AB-DA22-94AA-3102-6067082D059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911A900-FAD2-F4F4-7CAF-08F3C59A344C}"/>
              </a:ext>
            </a:extLst>
          </p:cNvPr>
          <p:cNvSpPr>
            <a:spLocks noGrp="1"/>
          </p:cNvSpPr>
          <p:nvPr>
            <p:ph type="sldNum" sz="quarter" idx="5"/>
          </p:nvPr>
        </p:nvSpPr>
        <p:spPr/>
        <p:txBody>
          <a:bodyPr/>
          <a:lstStyle/>
          <a:p>
            <a:fld id="{B4E0CB69-4F40-B640-B946-670202B28075}" type="slidenum">
              <a:rPr kumimoji="1" lang="ja-JP" altLang="en-US" smtClean="0"/>
              <a:t>22</a:t>
            </a:fld>
            <a:endParaRPr kumimoji="1" lang="ja-JP" altLang="en-US"/>
          </a:p>
        </p:txBody>
      </p:sp>
    </p:spTree>
    <p:extLst>
      <p:ext uri="{BB962C8B-B14F-4D97-AF65-F5344CB8AC3E}">
        <p14:creationId xmlns:p14="http://schemas.microsoft.com/office/powerpoint/2010/main" val="2104773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AED56-6A52-988C-7DF5-9BE22F1A9F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9F67701-8EDC-CCD1-74B4-D4D78D5FBB4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8CB2820-39D7-EB43-8C8C-D40F56BA754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6F7EEBC-57A1-7DEF-0EC3-8E4375802045}"/>
              </a:ext>
            </a:extLst>
          </p:cNvPr>
          <p:cNvSpPr>
            <a:spLocks noGrp="1"/>
          </p:cNvSpPr>
          <p:nvPr>
            <p:ph type="sldNum" sz="quarter" idx="5"/>
          </p:nvPr>
        </p:nvSpPr>
        <p:spPr/>
        <p:txBody>
          <a:bodyPr/>
          <a:lstStyle/>
          <a:p>
            <a:fld id="{B4E0CB69-4F40-B640-B946-670202B28075}" type="slidenum">
              <a:rPr kumimoji="1" lang="ja-JP" altLang="en-US" smtClean="0"/>
              <a:t>23</a:t>
            </a:fld>
            <a:endParaRPr kumimoji="1" lang="ja-JP" altLang="en-US"/>
          </a:p>
        </p:txBody>
      </p:sp>
    </p:spTree>
    <p:extLst>
      <p:ext uri="{BB962C8B-B14F-4D97-AF65-F5344CB8AC3E}">
        <p14:creationId xmlns:p14="http://schemas.microsoft.com/office/powerpoint/2010/main" val="1469800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0F84-45BD-29BE-B6EF-7970CE8346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3EE0FA-1F22-E3B1-16D1-CE76D6C680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1DA457-41C8-83EF-57EB-863510F803C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B0EC75C-5ACC-9393-8624-684A52A3298A}"/>
              </a:ext>
            </a:extLst>
          </p:cNvPr>
          <p:cNvSpPr>
            <a:spLocks noGrp="1"/>
          </p:cNvSpPr>
          <p:nvPr>
            <p:ph type="sldNum" sz="quarter" idx="5"/>
          </p:nvPr>
        </p:nvSpPr>
        <p:spPr/>
        <p:txBody>
          <a:bodyPr/>
          <a:lstStyle/>
          <a:p>
            <a:fld id="{B4E0CB69-4F40-B640-B946-670202B28075}" type="slidenum">
              <a:rPr kumimoji="1" lang="ja-JP" altLang="en-US" smtClean="0"/>
              <a:t>24</a:t>
            </a:fld>
            <a:endParaRPr kumimoji="1" lang="ja-JP" altLang="en-US"/>
          </a:p>
        </p:txBody>
      </p:sp>
    </p:spTree>
    <p:extLst>
      <p:ext uri="{BB962C8B-B14F-4D97-AF65-F5344CB8AC3E}">
        <p14:creationId xmlns:p14="http://schemas.microsoft.com/office/powerpoint/2010/main" val="2513083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2BE83-5A6D-3949-361D-64B40C5FD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56839F-C5B6-5B3A-717C-4D8C6486C9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E55D429-C257-0F2B-4715-590B253CA72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D312A6-26E9-64D6-B4A0-755CD6BE7CF3}"/>
              </a:ext>
            </a:extLst>
          </p:cNvPr>
          <p:cNvSpPr>
            <a:spLocks noGrp="1"/>
          </p:cNvSpPr>
          <p:nvPr>
            <p:ph type="sldNum" sz="quarter" idx="5"/>
          </p:nvPr>
        </p:nvSpPr>
        <p:spPr/>
        <p:txBody>
          <a:bodyPr/>
          <a:lstStyle/>
          <a:p>
            <a:fld id="{B4E0CB69-4F40-B640-B946-670202B28075}" type="slidenum">
              <a:rPr kumimoji="1" lang="ja-JP" altLang="en-US" smtClean="0"/>
              <a:t>25</a:t>
            </a:fld>
            <a:endParaRPr kumimoji="1" lang="ja-JP" altLang="en-US"/>
          </a:p>
        </p:txBody>
      </p:sp>
    </p:spTree>
    <p:extLst>
      <p:ext uri="{BB962C8B-B14F-4D97-AF65-F5344CB8AC3E}">
        <p14:creationId xmlns:p14="http://schemas.microsoft.com/office/powerpoint/2010/main" val="2289453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884D2-ADAE-42CD-F384-2395E3B7E7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3B2918-8D0C-F76F-8CE3-5EF78116B33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CAE096-C14A-28F8-998D-5B496ACD15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9660234-5452-CFF1-9E35-D0244445E30F}"/>
              </a:ext>
            </a:extLst>
          </p:cNvPr>
          <p:cNvSpPr>
            <a:spLocks noGrp="1"/>
          </p:cNvSpPr>
          <p:nvPr>
            <p:ph type="sldNum" sz="quarter" idx="5"/>
          </p:nvPr>
        </p:nvSpPr>
        <p:spPr/>
        <p:txBody>
          <a:bodyPr/>
          <a:lstStyle/>
          <a:p>
            <a:fld id="{B4E0CB69-4F40-B640-B946-670202B28075}" type="slidenum">
              <a:rPr kumimoji="1" lang="ja-JP" altLang="en-US" smtClean="0"/>
              <a:t>26</a:t>
            </a:fld>
            <a:endParaRPr kumimoji="1" lang="ja-JP" altLang="en-US"/>
          </a:p>
        </p:txBody>
      </p:sp>
    </p:spTree>
    <p:extLst>
      <p:ext uri="{BB962C8B-B14F-4D97-AF65-F5344CB8AC3E}">
        <p14:creationId xmlns:p14="http://schemas.microsoft.com/office/powerpoint/2010/main" val="1444446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A4EB2-4A5E-B7D3-6958-523A90A4A9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061727-88ED-30D6-16E9-28DF61D5A12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5155BB-5E47-A5BC-ED16-43067568229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01C9BD-D492-3C79-EEF2-019D7F9DE3C6}"/>
              </a:ext>
            </a:extLst>
          </p:cNvPr>
          <p:cNvSpPr>
            <a:spLocks noGrp="1"/>
          </p:cNvSpPr>
          <p:nvPr>
            <p:ph type="sldNum" sz="quarter" idx="5"/>
          </p:nvPr>
        </p:nvSpPr>
        <p:spPr/>
        <p:txBody>
          <a:bodyPr/>
          <a:lstStyle/>
          <a:p>
            <a:fld id="{B4E0CB69-4F40-B640-B946-670202B28075}" type="slidenum">
              <a:rPr kumimoji="1" lang="ja-JP" altLang="en-US" smtClean="0"/>
              <a:t>27</a:t>
            </a:fld>
            <a:endParaRPr kumimoji="1" lang="ja-JP" altLang="en-US"/>
          </a:p>
        </p:txBody>
      </p:sp>
    </p:spTree>
    <p:extLst>
      <p:ext uri="{BB962C8B-B14F-4D97-AF65-F5344CB8AC3E}">
        <p14:creationId xmlns:p14="http://schemas.microsoft.com/office/powerpoint/2010/main" val="493902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FBCE-03B2-DC3F-F5B5-16F3959EAE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C553D9-3390-602B-789A-3D6EF7B8F76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EB909B-BF29-0B26-30AA-E826182E2AE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10DEA2-514E-B30A-13BA-F46E94AA82AF}"/>
              </a:ext>
            </a:extLst>
          </p:cNvPr>
          <p:cNvSpPr>
            <a:spLocks noGrp="1"/>
          </p:cNvSpPr>
          <p:nvPr>
            <p:ph type="sldNum" sz="quarter" idx="5"/>
          </p:nvPr>
        </p:nvSpPr>
        <p:spPr/>
        <p:txBody>
          <a:bodyPr/>
          <a:lstStyle/>
          <a:p>
            <a:fld id="{B4E0CB69-4F40-B640-B946-670202B28075}" type="slidenum">
              <a:rPr kumimoji="1" lang="ja-JP" altLang="en-US" smtClean="0"/>
              <a:t>28</a:t>
            </a:fld>
            <a:endParaRPr kumimoji="1" lang="ja-JP" altLang="en-US"/>
          </a:p>
        </p:txBody>
      </p:sp>
    </p:spTree>
    <p:extLst>
      <p:ext uri="{BB962C8B-B14F-4D97-AF65-F5344CB8AC3E}">
        <p14:creationId xmlns:p14="http://schemas.microsoft.com/office/powerpoint/2010/main" val="3555295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089DD-4DED-9B8D-5164-E3A5D43418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8CB8B-E574-F774-A654-1EAFA75520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0FDD477-8A8D-7D69-1D2E-71674E9DC45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ACE7FF-018D-2DC9-E54B-0B957DBDBDA7}"/>
              </a:ext>
            </a:extLst>
          </p:cNvPr>
          <p:cNvSpPr>
            <a:spLocks noGrp="1"/>
          </p:cNvSpPr>
          <p:nvPr>
            <p:ph type="sldNum" sz="quarter" idx="5"/>
          </p:nvPr>
        </p:nvSpPr>
        <p:spPr/>
        <p:txBody>
          <a:bodyPr/>
          <a:lstStyle/>
          <a:p>
            <a:fld id="{B4E0CB69-4F40-B640-B946-670202B28075}" type="slidenum">
              <a:rPr kumimoji="1" lang="ja-JP" altLang="en-US" smtClean="0"/>
              <a:t>29</a:t>
            </a:fld>
            <a:endParaRPr kumimoji="1" lang="ja-JP" altLang="en-US"/>
          </a:p>
        </p:txBody>
      </p:sp>
    </p:spTree>
    <p:extLst>
      <p:ext uri="{BB962C8B-B14F-4D97-AF65-F5344CB8AC3E}">
        <p14:creationId xmlns:p14="http://schemas.microsoft.com/office/powerpoint/2010/main" val="327121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9CFF9-07B8-E66A-184A-9D3D625413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9A1F07-9F1D-6E5F-5634-4F8CA44300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0E92FA-3C59-D0ED-ED71-118F636067A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4192C29-9591-6EA4-E157-3446DFA8AC50}"/>
              </a:ext>
            </a:extLst>
          </p:cNvPr>
          <p:cNvSpPr>
            <a:spLocks noGrp="1"/>
          </p:cNvSpPr>
          <p:nvPr>
            <p:ph type="sldNum" sz="quarter" idx="5"/>
          </p:nvPr>
        </p:nvSpPr>
        <p:spPr/>
        <p:txBody>
          <a:bodyPr/>
          <a:lstStyle/>
          <a:p>
            <a:fld id="{B4E0CB69-4F40-B640-B946-670202B28075}" type="slidenum">
              <a:rPr kumimoji="1" lang="ja-JP" altLang="en-US" smtClean="0"/>
              <a:t>30</a:t>
            </a:fld>
            <a:endParaRPr kumimoji="1" lang="ja-JP" altLang="en-US"/>
          </a:p>
        </p:txBody>
      </p:sp>
    </p:spTree>
    <p:extLst>
      <p:ext uri="{BB962C8B-B14F-4D97-AF65-F5344CB8AC3E}">
        <p14:creationId xmlns:p14="http://schemas.microsoft.com/office/powerpoint/2010/main" val="81169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0995-8060-521D-7D57-C47653CD97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8232C8-A9C9-B853-2F7E-2CAD1079AF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700A67C-6207-915D-5128-B1AC0A204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4FEAE4A-2FB8-C846-EE49-51C2B124B053}"/>
              </a:ext>
            </a:extLst>
          </p:cNvPr>
          <p:cNvSpPr>
            <a:spLocks noGrp="1"/>
          </p:cNvSpPr>
          <p:nvPr>
            <p:ph type="sldNum" sz="quarter" idx="5"/>
          </p:nvPr>
        </p:nvSpPr>
        <p:spPr/>
        <p:txBody>
          <a:bodyPr/>
          <a:lstStyle/>
          <a:p>
            <a:fld id="{B4E0CB69-4F40-B640-B946-670202B28075}" type="slidenum">
              <a:rPr kumimoji="1" lang="ja-JP" altLang="en-US" smtClean="0"/>
              <a:t>31</a:t>
            </a:fld>
            <a:endParaRPr kumimoji="1" lang="ja-JP" altLang="en-US"/>
          </a:p>
        </p:txBody>
      </p:sp>
    </p:spTree>
    <p:extLst>
      <p:ext uri="{BB962C8B-B14F-4D97-AF65-F5344CB8AC3E}">
        <p14:creationId xmlns:p14="http://schemas.microsoft.com/office/powerpoint/2010/main" val="39063911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23C4-BB86-DF22-66B8-B95713FF32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5E6732-F27E-D17B-29F0-EA991003C9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C9DA238-1325-B1D9-BB1B-C48B92E3D48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33BF4C-1304-1E43-B357-1FF67976D54C}"/>
              </a:ext>
            </a:extLst>
          </p:cNvPr>
          <p:cNvSpPr>
            <a:spLocks noGrp="1"/>
          </p:cNvSpPr>
          <p:nvPr>
            <p:ph type="sldNum" sz="quarter" idx="5"/>
          </p:nvPr>
        </p:nvSpPr>
        <p:spPr/>
        <p:txBody>
          <a:bodyPr/>
          <a:lstStyle/>
          <a:p>
            <a:fld id="{B4E0CB69-4F40-B640-B946-670202B28075}" type="slidenum">
              <a:rPr kumimoji="1" lang="ja-JP" altLang="en-US" smtClean="0"/>
              <a:t>32</a:t>
            </a:fld>
            <a:endParaRPr kumimoji="1" lang="ja-JP" altLang="en-US"/>
          </a:p>
        </p:txBody>
      </p:sp>
    </p:spTree>
    <p:extLst>
      <p:ext uri="{BB962C8B-B14F-4D97-AF65-F5344CB8AC3E}">
        <p14:creationId xmlns:p14="http://schemas.microsoft.com/office/powerpoint/2010/main" val="9665138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43229-E6FA-CDDB-7ECF-5FD51D0EB2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8F6F3A-5411-E37C-401B-3BDBBADB4E7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F71AF8-1C0A-C9C2-FC82-3478FFF976F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8F9AF06-6FB4-113F-1C67-A01A7DB078DD}"/>
              </a:ext>
            </a:extLst>
          </p:cNvPr>
          <p:cNvSpPr>
            <a:spLocks noGrp="1"/>
          </p:cNvSpPr>
          <p:nvPr>
            <p:ph type="sldNum" sz="quarter" idx="5"/>
          </p:nvPr>
        </p:nvSpPr>
        <p:spPr/>
        <p:txBody>
          <a:bodyPr/>
          <a:lstStyle/>
          <a:p>
            <a:fld id="{B4E0CB69-4F40-B640-B946-670202B28075}" type="slidenum">
              <a:rPr kumimoji="1" lang="ja-JP" altLang="en-US" smtClean="0"/>
              <a:t>33</a:t>
            </a:fld>
            <a:endParaRPr kumimoji="1" lang="ja-JP" altLang="en-US"/>
          </a:p>
        </p:txBody>
      </p:sp>
    </p:spTree>
    <p:extLst>
      <p:ext uri="{BB962C8B-B14F-4D97-AF65-F5344CB8AC3E}">
        <p14:creationId xmlns:p14="http://schemas.microsoft.com/office/powerpoint/2010/main" val="3797628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D24F-A0AA-E57A-D441-C5765B068E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5F224A-C4BF-1828-DB30-62362D3263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406F56-A1A7-D236-59B1-616932F7290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7F8DBF7-F60A-287E-7ABB-DD8B1432BF0A}"/>
              </a:ext>
            </a:extLst>
          </p:cNvPr>
          <p:cNvSpPr>
            <a:spLocks noGrp="1"/>
          </p:cNvSpPr>
          <p:nvPr>
            <p:ph type="sldNum" sz="quarter" idx="5"/>
          </p:nvPr>
        </p:nvSpPr>
        <p:spPr/>
        <p:txBody>
          <a:bodyPr/>
          <a:lstStyle/>
          <a:p>
            <a:fld id="{B4E0CB69-4F40-B640-B946-670202B28075}" type="slidenum">
              <a:rPr kumimoji="1" lang="ja-JP" altLang="en-US" smtClean="0"/>
              <a:t>34</a:t>
            </a:fld>
            <a:endParaRPr kumimoji="1" lang="ja-JP" altLang="en-US"/>
          </a:p>
        </p:txBody>
      </p:sp>
    </p:spTree>
    <p:extLst>
      <p:ext uri="{BB962C8B-B14F-4D97-AF65-F5344CB8AC3E}">
        <p14:creationId xmlns:p14="http://schemas.microsoft.com/office/powerpoint/2010/main" val="9946711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7209-EE2C-5F5F-D607-0493A482CF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7212B-3ADD-115B-9760-ACB41C4390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8A3835-3DA2-8153-2CF3-A5600D3D7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0F7F3-349F-E8D7-33E7-BD1DE99B3C2C}"/>
              </a:ext>
            </a:extLst>
          </p:cNvPr>
          <p:cNvSpPr>
            <a:spLocks noGrp="1"/>
          </p:cNvSpPr>
          <p:nvPr>
            <p:ph type="sldNum" sz="quarter" idx="5"/>
          </p:nvPr>
        </p:nvSpPr>
        <p:spPr/>
        <p:txBody>
          <a:bodyPr/>
          <a:lstStyle/>
          <a:p>
            <a:fld id="{B4E0CB69-4F40-B640-B946-670202B28075}" type="slidenum">
              <a:rPr kumimoji="1" lang="ja-JP" altLang="en-US" smtClean="0"/>
              <a:t>35</a:t>
            </a:fld>
            <a:endParaRPr kumimoji="1" lang="ja-JP" altLang="en-US"/>
          </a:p>
        </p:txBody>
      </p:sp>
    </p:spTree>
    <p:extLst>
      <p:ext uri="{BB962C8B-B14F-4D97-AF65-F5344CB8AC3E}">
        <p14:creationId xmlns:p14="http://schemas.microsoft.com/office/powerpoint/2010/main" val="4278085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97D10-52F7-C163-174C-A00938D9E2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1FC083-AC4B-E39D-41FE-40A690BE18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946C79-87FD-0485-457D-EB1DDF58819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3F7DA4F-196B-EAFB-2815-D1A7A48EE8A1}"/>
              </a:ext>
            </a:extLst>
          </p:cNvPr>
          <p:cNvSpPr>
            <a:spLocks noGrp="1"/>
          </p:cNvSpPr>
          <p:nvPr>
            <p:ph type="sldNum" sz="quarter" idx="5"/>
          </p:nvPr>
        </p:nvSpPr>
        <p:spPr/>
        <p:txBody>
          <a:bodyPr/>
          <a:lstStyle/>
          <a:p>
            <a:fld id="{B4E0CB69-4F40-B640-B946-670202B28075}" type="slidenum">
              <a:rPr kumimoji="1" lang="ja-JP" altLang="en-US" smtClean="0"/>
              <a:t>36</a:t>
            </a:fld>
            <a:endParaRPr kumimoji="1" lang="ja-JP" altLang="en-US"/>
          </a:p>
        </p:txBody>
      </p:sp>
    </p:spTree>
    <p:extLst>
      <p:ext uri="{BB962C8B-B14F-4D97-AF65-F5344CB8AC3E}">
        <p14:creationId xmlns:p14="http://schemas.microsoft.com/office/powerpoint/2010/main" val="27862771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76CC-E86B-2184-E0EA-03FF873959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4A5B1F-BB4D-F379-33E9-11CD10D3FE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256523-64F3-B86E-8F6F-79738FA305D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B1C9FE6-6FCE-3FC5-0971-1591DD8EAE86}"/>
              </a:ext>
            </a:extLst>
          </p:cNvPr>
          <p:cNvSpPr>
            <a:spLocks noGrp="1"/>
          </p:cNvSpPr>
          <p:nvPr>
            <p:ph type="sldNum" sz="quarter" idx="5"/>
          </p:nvPr>
        </p:nvSpPr>
        <p:spPr/>
        <p:txBody>
          <a:bodyPr/>
          <a:lstStyle/>
          <a:p>
            <a:fld id="{B4E0CB69-4F40-B640-B946-670202B28075}" type="slidenum">
              <a:rPr kumimoji="1" lang="ja-JP" altLang="en-US" smtClean="0"/>
              <a:t>37</a:t>
            </a:fld>
            <a:endParaRPr kumimoji="1" lang="ja-JP" altLang="en-US"/>
          </a:p>
        </p:txBody>
      </p:sp>
    </p:spTree>
    <p:extLst>
      <p:ext uri="{BB962C8B-B14F-4D97-AF65-F5344CB8AC3E}">
        <p14:creationId xmlns:p14="http://schemas.microsoft.com/office/powerpoint/2010/main" val="12388089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7DA9-405C-F607-F6F1-9F4F6E7B4F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8C2EE4-8EA7-7A39-667F-78276FFE491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AA2A39-8AD3-BBE8-FDC3-E48A3126BB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1154A55-2EB3-35CC-C8AC-6351228297D8}"/>
              </a:ext>
            </a:extLst>
          </p:cNvPr>
          <p:cNvSpPr>
            <a:spLocks noGrp="1"/>
          </p:cNvSpPr>
          <p:nvPr>
            <p:ph type="sldNum" sz="quarter" idx="5"/>
          </p:nvPr>
        </p:nvSpPr>
        <p:spPr/>
        <p:txBody>
          <a:bodyPr/>
          <a:lstStyle/>
          <a:p>
            <a:fld id="{B4E0CB69-4F40-B640-B946-670202B28075}" type="slidenum">
              <a:rPr kumimoji="1" lang="ja-JP" altLang="en-US" smtClean="0"/>
              <a:t>38</a:t>
            </a:fld>
            <a:endParaRPr kumimoji="1" lang="ja-JP" altLang="en-US"/>
          </a:p>
        </p:txBody>
      </p:sp>
    </p:spTree>
    <p:extLst>
      <p:ext uri="{BB962C8B-B14F-4D97-AF65-F5344CB8AC3E}">
        <p14:creationId xmlns:p14="http://schemas.microsoft.com/office/powerpoint/2010/main" val="5854088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7BA3-0447-09D0-FF08-CCE27C3AFA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EEE4B6F-EFB0-3742-4CD7-42EB243C90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C3F589-01BD-35D0-B1A8-03934674F8F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62AB4C8-C0B9-C6D6-9FA2-75E883E4C35C}"/>
              </a:ext>
            </a:extLst>
          </p:cNvPr>
          <p:cNvSpPr>
            <a:spLocks noGrp="1"/>
          </p:cNvSpPr>
          <p:nvPr>
            <p:ph type="sldNum" sz="quarter" idx="5"/>
          </p:nvPr>
        </p:nvSpPr>
        <p:spPr/>
        <p:txBody>
          <a:bodyPr/>
          <a:lstStyle/>
          <a:p>
            <a:fld id="{B4E0CB69-4F40-B640-B946-670202B28075}" type="slidenum">
              <a:rPr kumimoji="1" lang="ja-JP" altLang="en-US" smtClean="0"/>
              <a:t>39</a:t>
            </a:fld>
            <a:endParaRPr kumimoji="1" lang="ja-JP" altLang="en-US"/>
          </a:p>
        </p:txBody>
      </p:sp>
    </p:spTree>
    <p:extLst>
      <p:ext uri="{BB962C8B-B14F-4D97-AF65-F5344CB8AC3E}">
        <p14:creationId xmlns:p14="http://schemas.microsoft.com/office/powerpoint/2010/main" val="10142201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F477-969F-8B46-056C-9E869C6079F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8323CC-AFC1-7FD7-234F-14999C04AA5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E4778A-8871-C512-E2CA-D696C647C04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1086112-2E9E-69CE-86CD-F20218C12D39}"/>
              </a:ext>
            </a:extLst>
          </p:cNvPr>
          <p:cNvSpPr>
            <a:spLocks noGrp="1"/>
          </p:cNvSpPr>
          <p:nvPr>
            <p:ph type="sldNum" sz="quarter" idx="5"/>
          </p:nvPr>
        </p:nvSpPr>
        <p:spPr/>
        <p:txBody>
          <a:bodyPr/>
          <a:lstStyle/>
          <a:p>
            <a:fld id="{B4E0CB69-4F40-B640-B946-670202B28075}" type="slidenum">
              <a:rPr kumimoji="1" lang="ja-JP" altLang="en-US" smtClean="0"/>
              <a:t>40</a:t>
            </a:fld>
            <a:endParaRPr kumimoji="1" lang="ja-JP" altLang="en-US"/>
          </a:p>
        </p:txBody>
      </p:sp>
    </p:spTree>
    <p:extLst>
      <p:ext uri="{BB962C8B-B14F-4D97-AF65-F5344CB8AC3E}">
        <p14:creationId xmlns:p14="http://schemas.microsoft.com/office/powerpoint/2010/main" val="13682698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4E0CB69-4F40-B640-B946-670202B28075}" type="slidenum">
              <a:rPr kumimoji="1" lang="ja-JP" altLang="en-US" smtClean="0"/>
              <a:t>41</a:t>
            </a:fld>
            <a:endParaRPr kumimoji="1" lang="ja-JP" altLang="en-US"/>
          </a:p>
        </p:txBody>
      </p:sp>
    </p:spTree>
    <p:extLst>
      <p:ext uri="{BB962C8B-B14F-4D97-AF65-F5344CB8AC3E}">
        <p14:creationId xmlns:p14="http://schemas.microsoft.com/office/powerpoint/2010/main" val="1116575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64E5347C-2422-0F42-8948-2E6996E500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425340" cy="8102600"/>
          </a:xfrm>
          <a:prstGeom prst="rect">
            <a:avLst/>
          </a:prstGeom>
        </p:spPr>
      </p:pic>
      <p:pic>
        <p:nvPicPr>
          <p:cNvPr id="5" name="図 4">
            <a:extLst>
              <a:ext uri="{FF2B5EF4-FFF2-40B4-BE49-F238E27FC236}">
                <a16:creationId xmlns:a16="http://schemas.microsoft.com/office/drawing/2014/main" id="{F6F7E6CB-34CA-4A93-D715-F4510E559E2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5115" y="-5542"/>
            <a:ext cx="3368776" cy="2166851"/>
          </a:xfrm>
          <a:prstGeom prst="rect">
            <a:avLst/>
          </a:prstGeom>
        </p:spPr>
      </p:pic>
      <p:sp>
        <p:nvSpPr>
          <p:cNvPr id="2" name="タイトル 1">
            <a:extLst>
              <a:ext uri="{FF2B5EF4-FFF2-40B4-BE49-F238E27FC236}">
                <a16:creationId xmlns:a16="http://schemas.microsoft.com/office/drawing/2014/main" id="{CA8593FA-492D-6041-A365-6B712E91DB02}"/>
              </a:ext>
            </a:extLst>
          </p:cNvPr>
          <p:cNvSpPr>
            <a:spLocks noGrp="1"/>
          </p:cNvSpPr>
          <p:nvPr>
            <p:ph type="title" hasCustomPrompt="1"/>
          </p:nvPr>
        </p:nvSpPr>
        <p:spPr>
          <a:xfrm>
            <a:off x="720000" y="3060700"/>
            <a:ext cx="9919887" cy="1565275"/>
          </a:xfrm>
          <a:prstGeom prst="rect">
            <a:avLst/>
          </a:prstGeom>
        </p:spPr>
        <p:txBody>
          <a:bodyPr lIns="0" tIns="0" rIns="0" bIns="0" anchor="ctr"/>
          <a:lstStyle>
            <a:lvl1pPr>
              <a:lnSpc>
                <a:spcPct val="125000"/>
              </a:lnSpc>
              <a:defRPr sz="4000" b="1" i="0">
                <a:solidFill>
                  <a:schemeClr val="accent2"/>
                </a:solidFill>
                <a:latin typeface="Meiryo UI" panose="020B0604030504040204" pitchFamily="34" charset="-128"/>
                <a:ea typeface="Meiryo UI" panose="020B0604030504040204" pitchFamily="34" charset="-128"/>
              </a:defRPr>
            </a:lvl1pPr>
          </a:lstStyle>
          <a:p>
            <a:r>
              <a:rPr kumimoji="1" lang="ja-JP" altLang="en-US"/>
              <a:t>タイトル：</a:t>
            </a:r>
            <a:r>
              <a:rPr kumimoji="1" lang="en-US" altLang="ja-JP" dirty="0" err="1"/>
              <a:t>Meiryo</a:t>
            </a:r>
            <a:r>
              <a:rPr kumimoji="1" lang="en-US" altLang="ja-JP" dirty="0"/>
              <a:t> UI 40pt</a:t>
            </a:r>
            <a:br>
              <a:rPr kumimoji="1" lang="en-US" altLang="ja-JP" dirty="0"/>
            </a:br>
            <a:r>
              <a:rPr kumimoji="1" lang="en-US" altLang="ja-JP" dirty="0"/>
              <a:t>XXXXXXXXXXXXXXXXXXXX</a:t>
            </a:r>
            <a:endParaRPr kumimoji="1" lang="ja-JP" altLang="en-US"/>
          </a:p>
        </p:txBody>
      </p:sp>
    </p:spTree>
  </p:cSld>
  <p:clrMapOvr>
    <a:masterClrMapping/>
  </p:clrMapOvr>
  <p:extLst>
    <p:ext uri="{DCECCB84-F9BA-43D5-87BE-67443E8EF086}">
      <p15:sldGuideLst xmlns:p15="http://schemas.microsoft.com/office/powerpoint/2012/main">
        <p15:guide id="1" orient="horz" pos="2552" userDrawn="1">
          <p15:clr>
            <a:srgbClr val="FBAE40"/>
          </p15:clr>
        </p15:guide>
        <p15:guide id="2" pos="453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302C48A3-803B-08DA-8922-545339A0576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425340" cy="8102600"/>
          </a:xfrm>
          <a:prstGeom prst="rect">
            <a:avLst/>
          </a:prstGeom>
        </p:spPr>
      </p:pic>
      <p:sp>
        <p:nvSpPr>
          <p:cNvPr id="15" name="テキスト プレースホルダー 30">
            <a:extLst>
              <a:ext uri="{FF2B5EF4-FFF2-40B4-BE49-F238E27FC236}">
                <a16:creationId xmlns:a16="http://schemas.microsoft.com/office/drawing/2014/main" id="{14BC2DAC-A44F-8344-88F0-41AD69CD6CDB}"/>
              </a:ext>
            </a:extLst>
          </p:cNvPr>
          <p:cNvSpPr>
            <a:spLocks noGrp="1"/>
          </p:cNvSpPr>
          <p:nvPr>
            <p:ph type="body" sz="quarter" idx="10" hasCustomPrompt="1"/>
          </p:nvPr>
        </p:nvSpPr>
        <p:spPr>
          <a:xfrm>
            <a:off x="720000" y="1689874"/>
            <a:ext cx="12256939" cy="4969688"/>
          </a:xfrm>
          <a:prstGeom prst="rect">
            <a:avLst/>
          </a:prstGeom>
        </p:spPr>
        <p:txBody>
          <a:bodyPr lIns="0" tIns="0" rIns="0" bIns="0"/>
          <a:lstStyle>
            <a:lvl1pPr marL="0" indent="0">
              <a:lnSpc>
                <a:spcPct val="125000"/>
              </a:lnSpc>
              <a:buClr>
                <a:schemeClr val="accent2"/>
              </a:buClr>
              <a:buFont typeface="+mj-lt"/>
              <a:buAutoNum type="arabicPeriod"/>
              <a:defRPr sz="2800" b="1" i="0">
                <a:latin typeface="Meiryo UI" panose="020B0604030504040204" pitchFamily="34" charset="-128"/>
                <a:ea typeface="Meiryo UI" panose="020B0604030504040204" pitchFamily="34" charset="-128"/>
              </a:defRPr>
            </a:lvl1pPr>
          </a:lstStyle>
          <a:p>
            <a:r>
              <a:rPr kumimoji="1" lang="en-US" altLang="ja-JP" dirty="0"/>
              <a:t> </a:t>
            </a:r>
            <a:r>
              <a:rPr kumimoji="1" lang="en-US" altLang="ja-JP" dirty="0" err="1"/>
              <a:t>Meiryo</a:t>
            </a:r>
            <a:r>
              <a:rPr kumimoji="1" lang="en-US" altLang="ja-JP" dirty="0"/>
              <a:t> UI 28pt / </a:t>
            </a:r>
            <a:r>
              <a:rPr kumimoji="1" lang="ja-JP" altLang="en-US"/>
              <a:t>ブラック</a:t>
            </a:r>
            <a:endParaRPr kumimoji="1" lang="en-US" altLang="ja-JP" dirty="0"/>
          </a:p>
          <a:p>
            <a:r>
              <a:rPr kumimoji="1" lang="en-US" altLang="ja-JP" dirty="0"/>
              <a:t> </a:t>
            </a:r>
            <a:r>
              <a:rPr kumimoji="1" lang="en-US" altLang="ja-JP" dirty="0" err="1"/>
              <a:t>Meiryo</a:t>
            </a:r>
            <a:r>
              <a:rPr kumimoji="1" lang="en-US" altLang="ja-JP" dirty="0"/>
              <a:t> UI 28pt / </a:t>
            </a:r>
            <a:r>
              <a:rPr kumimoji="1" lang="ja-JP" altLang="en-US"/>
              <a:t>ブラック</a:t>
            </a:r>
            <a:endParaRPr kumimoji="1" lang="en-US" altLang="ja-JP" dirty="0"/>
          </a:p>
          <a:p>
            <a:r>
              <a:rPr kumimoji="1" lang="en-US" altLang="ja-JP" dirty="0"/>
              <a:t> </a:t>
            </a:r>
            <a:r>
              <a:rPr kumimoji="1" lang="en-US" altLang="ja-JP" dirty="0" err="1"/>
              <a:t>Meiryo</a:t>
            </a:r>
            <a:r>
              <a:rPr kumimoji="1" lang="en-US" altLang="ja-JP" dirty="0"/>
              <a:t> UI 28pt / </a:t>
            </a:r>
            <a:r>
              <a:rPr kumimoji="1" lang="ja-JP" altLang="en-US"/>
              <a:t>ブラック</a:t>
            </a:r>
            <a:endParaRPr kumimoji="1" lang="en-US" altLang="ja-JP" dirty="0"/>
          </a:p>
          <a:p>
            <a:r>
              <a:rPr kumimoji="1" lang="en-US" altLang="ja-JP" dirty="0"/>
              <a:t> </a:t>
            </a:r>
            <a:r>
              <a:rPr kumimoji="1" lang="en-US" altLang="ja-JP" dirty="0" err="1"/>
              <a:t>Meiryo</a:t>
            </a:r>
            <a:r>
              <a:rPr kumimoji="1" lang="en-US" altLang="ja-JP" dirty="0"/>
              <a:t> UI 28pt / </a:t>
            </a:r>
            <a:r>
              <a:rPr kumimoji="1" lang="ja-JP" altLang="en-US"/>
              <a:t>ブラック</a:t>
            </a:r>
            <a:endParaRPr kumimoji="1" lang="en-US" altLang="ja-JP" dirty="0"/>
          </a:p>
          <a:p>
            <a:r>
              <a:rPr kumimoji="1" lang="en-US" altLang="ja-JP" dirty="0"/>
              <a:t> </a:t>
            </a:r>
            <a:r>
              <a:rPr kumimoji="1" lang="en-US" altLang="ja-JP" dirty="0" err="1"/>
              <a:t>Meiryo</a:t>
            </a:r>
            <a:r>
              <a:rPr kumimoji="1" lang="en-US" altLang="ja-JP" dirty="0"/>
              <a:t> UI 28pt / </a:t>
            </a:r>
            <a:r>
              <a:rPr kumimoji="1" lang="ja-JP" altLang="en-US"/>
              <a:t>ブラック</a:t>
            </a:r>
          </a:p>
        </p:txBody>
      </p:sp>
      <p:sp>
        <p:nvSpPr>
          <p:cNvPr id="8" name="スライド番号プレースホルダー 9">
            <a:extLst>
              <a:ext uri="{FF2B5EF4-FFF2-40B4-BE49-F238E27FC236}">
                <a16:creationId xmlns:a16="http://schemas.microsoft.com/office/drawing/2014/main" id="{ACD5BF6A-E2EF-892F-E113-512CFB1FC623}"/>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716811C4-9235-4448-BF80-3507A67BB411}" type="slidenum">
              <a:rPr kumimoji="1" lang="en-US" altLang="ja-JP" smtClean="0"/>
              <a:pPr/>
              <a:t>‹#›</a:t>
            </a:fld>
            <a:endParaRPr kumimoji="1" lang="en-US" altLang="ja-JP" dirty="0"/>
          </a:p>
        </p:txBody>
      </p:sp>
      <p:sp>
        <p:nvSpPr>
          <p:cNvPr id="9" name="テキスト ボックス 8">
            <a:extLst>
              <a:ext uri="{FF2B5EF4-FFF2-40B4-BE49-F238E27FC236}">
                <a16:creationId xmlns:a16="http://schemas.microsoft.com/office/drawing/2014/main" id="{11B482DF-28D5-F071-775D-8501935521CD}"/>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
        <p:nvSpPr>
          <p:cNvPr id="6" name="object 11">
            <a:extLst>
              <a:ext uri="{FF2B5EF4-FFF2-40B4-BE49-F238E27FC236}">
                <a16:creationId xmlns:a16="http://schemas.microsoft.com/office/drawing/2014/main" id="{DB60A731-11AA-EDD4-C989-7A109C7F2FF7}"/>
              </a:ext>
            </a:extLst>
          </p:cNvPr>
          <p:cNvSpPr txBox="1"/>
          <p:nvPr userDrawn="1"/>
        </p:nvSpPr>
        <p:spPr>
          <a:xfrm>
            <a:off x="720000" y="856800"/>
            <a:ext cx="1279501" cy="509555"/>
          </a:xfrm>
          <a:prstGeom prst="rect">
            <a:avLst/>
          </a:prstGeom>
        </p:spPr>
        <p:txBody>
          <a:bodyPr vert="horz" wrap="square" lIns="0" tIns="16947" rIns="0" bIns="0" rtlCol="0">
            <a:spAutoFit/>
          </a:bodyPr>
          <a:lstStyle/>
          <a:p>
            <a:pPr marL="16947">
              <a:lnSpc>
                <a:spcPct val="100000"/>
              </a:lnSpc>
              <a:spcBef>
                <a:spcPts val="133"/>
              </a:spcBef>
            </a:pPr>
            <a:r>
              <a:rPr sz="3200" b="1" u="sng" spc="200" dirty="0">
                <a:solidFill>
                  <a:schemeClr val="accent2"/>
                </a:solidFill>
                <a:latin typeface="Meiryo UI"/>
                <a:cs typeface="Meiryo UI"/>
              </a:rPr>
              <a:t>目次</a:t>
            </a:r>
            <a:endParaRPr sz="3200" u="sng" dirty="0">
              <a:solidFill>
                <a:schemeClr val="accent2"/>
              </a:solidFill>
              <a:latin typeface="Meiryo UI"/>
              <a:cs typeface="Meiryo U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ddle Content_1">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ED03CA5-0C14-0E4F-AF0C-0D4B362FF4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425340" cy="8102600"/>
          </a:xfrm>
          <a:prstGeom prst="rect">
            <a:avLst/>
          </a:prstGeom>
        </p:spPr>
      </p:pic>
      <p:sp>
        <p:nvSpPr>
          <p:cNvPr id="9" name="object 8">
            <a:extLst>
              <a:ext uri="{FF2B5EF4-FFF2-40B4-BE49-F238E27FC236}">
                <a16:creationId xmlns:a16="http://schemas.microsoft.com/office/drawing/2014/main" id="{D2F004A0-CDDA-4D4D-8779-49503586D84E}"/>
              </a:ext>
            </a:extLst>
          </p:cNvPr>
          <p:cNvSpPr txBox="1">
            <a:spLocks noGrp="1"/>
          </p:cNvSpPr>
          <p:nvPr>
            <p:ph type="title" hasCustomPrompt="1"/>
          </p:nvPr>
        </p:nvSpPr>
        <p:spPr>
          <a:xfrm>
            <a:off x="720000" y="3176702"/>
            <a:ext cx="11745034" cy="1749197"/>
          </a:xfrm>
          <a:prstGeom prst="rect">
            <a:avLst/>
          </a:prstGeom>
        </p:spPr>
        <p:txBody>
          <a:bodyPr vert="horz" wrap="square" lIns="0" tIns="0" rIns="0" bIns="0" rtlCol="0" anchor="ctr">
            <a:spAutoFit/>
          </a:bodyPr>
          <a:lstStyle>
            <a:lvl1pPr marL="12700" marR="5080">
              <a:lnSpc>
                <a:spcPct val="108300"/>
              </a:lnSpc>
              <a:spcBef>
                <a:spcPts val="95"/>
              </a:spcBef>
              <a:defRPr sz="3600" b="1" i="0">
                <a:solidFill>
                  <a:schemeClr val="tx1"/>
                </a:solidFill>
                <a:latin typeface="Meiryo UI" panose="020B0604030504040204" pitchFamily="34" charset="-128"/>
                <a:ea typeface="Meiryo UI" panose="020B0604030504040204" pitchFamily="34" charset="-128"/>
              </a:defRPr>
            </a:lvl1pPr>
          </a:lstStyle>
          <a:p>
            <a:pPr marL="12700" marR="5080">
              <a:lnSpc>
                <a:spcPct val="108300"/>
              </a:lnSpc>
              <a:spcBef>
                <a:spcPts val="95"/>
              </a:spcBef>
            </a:pPr>
            <a:r>
              <a:rPr spc="200" dirty="0" err="1"/>
              <a:t>中表紙</a:t>
            </a:r>
            <a:r>
              <a:rPr lang="en-US" spc="200" dirty="0"/>
              <a:t>①</a:t>
            </a:r>
            <a:r>
              <a:rPr spc="173" dirty="0"/>
              <a:t>:</a:t>
            </a:r>
            <a:r>
              <a:rPr spc="173" dirty="0" err="1"/>
              <a:t>Meiryo</a:t>
            </a:r>
            <a:r>
              <a:rPr spc="400" dirty="0"/>
              <a:t> </a:t>
            </a:r>
            <a:r>
              <a:rPr spc="147" dirty="0"/>
              <a:t>UI</a:t>
            </a:r>
            <a:r>
              <a:rPr lang="en-US" spc="147" dirty="0"/>
              <a:t>36</a:t>
            </a:r>
            <a:r>
              <a:rPr spc="147" dirty="0"/>
              <a:t>pt </a:t>
            </a:r>
            <a:br>
              <a:rPr lang="en-US" spc="147" dirty="0"/>
            </a:br>
            <a:r>
              <a:rPr spc="173" dirty="0"/>
              <a:t>XXXXXXXXXXXXXXXX</a:t>
            </a:r>
            <a:br>
              <a:rPr lang="en-US" spc="173" dirty="0"/>
            </a:br>
            <a:r>
              <a:rPr lang="en" altLang="ja-JP" spc="173" dirty="0"/>
              <a:t>XXXXXXXXXXXXXXXX</a:t>
            </a:r>
            <a:endParaRPr spc="173" dirty="0"/>
          </a:p>
        </p:txBody>
      </p:sp>
      <p:sp>
        <p:nvSpPr>
          <p:cNvPr id="6" name="スライド番号プレースホルダー 9">
            <a:extLst>
              <a:ext uri="{FF2B5EF4-FFF2-40B4-BE49-F238E27FC236}">
                <a16:creationId xmlns:a16="http://schemas.microsoft.com/office/drawing/2014/main" id="{350104F5-246C-85C6-9030-6C9AD03D8216}"/>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1C9D8209-0A89-0244-9738-BE10EA14D47E}" type="slidenum">
              <a:rPr kumimoji="1" lang="en-US" altLang="ja-JP" smtClean="0"/>
              <a:pPr/>
              <a:t>‹#›</a:t>
            </a:fld>
            <a:endParaRPr kumimoji="1" lang="en-US" altLang="ja-JP" dirty="0"/>
          </a:p>
        </p:txBody>
      </p:sp>
      <p:sp>
        <p:nvSpPr>
          <p:cNvPr id="7" name="テキスト ボックス 6">
            <a:extLst>
              <a:ext uri="{FF2B5EF4-FFF2-40B4-BE49-F238E27FC236}">
                <a16:creationId xmlns:a16="http://schemas.microsoft.com/office/drawing/2014/main" id="{5848B09A-50B3-4ACD-BEFD-EE7E0E4DF843}"/>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Tree>
    <p:extLst>
      <p:ext uri="{BB962C8B-B14F-4D97-AF65-F5344CB8AC3E}">
        <p14:creationId xmlns:p14="http://schemas.microsoft.com/office/powerpoint/2010/main" val="3042756430"/>
      </p:ext>
    </p:extLst>
  </p:cSld>
  <p:clrMapOvr>
    <a:masterClrMapping/>
  </p:clrMapOvr>
  <p:extLst>
    <p:ext uri="{DCECCB84-F9BA-43D5-87BE-67443E8EF086}">
      <p15:sldGuideLst xmlns:p15="http://schemas.microsoft.com/office/powerpoint/2012/main">
        <p15:guide id="1" orient="horz" pos="2552" userDrawn="1">
          <p15:clr>
            <a:srgbClr val="FBAE40"/>
          </p15:clr>
        </p15:guide>
        <p15:guide id="2" pos="453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dle Content_2">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D4C4F5E-5905-FE4F-A83B-82EFCFD4A8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425340" cy="8102600"/>
          </a:xfrm>
          <a:prstGeom prst="rect">
            <a:avLst/>
          </a:prstGeom>
        </p:spPr>
      </p:pic>
      <p:sp>
        <p:nvSpPr>
          <p:cNvPr id="7" name="object 12">
            <a:extLst>
              <a:ext uri="{FF2B5EF4-FFF2-40B4-BE49-F238E27FC236}">
                <a16:creationId xmlns:a16="http://schemas.microsoft.com/office/drawing/2014/main" id="{A8D0467E-C046-9F40-8D87-539417ADA83C}"/>
              </a:ext>
            </a:extLst>
          </p:cNvPr>
          <p:cNvSpPr txBox="1">
            <a:spLocks noGrp="1"/>
          </p:cNvSpPr>
          <p:nvPr>
            <p:ph type="title" hasCustomPrompt="1"/>
          </p:nvPr>
        </p:nvSpPr>
        <p:spPr>
          <a:xfrm>
            <a:off x="720000" y="3475854"/>
            <a:ext cx="12664612" cy="1150892"/>
          </a:xfrm>
          <a:prstGeom prst="rect">
            <a:avLst/>
          </a:prstGeom>
        </p:spPr>
        <p:txBody>
          <a:bodyPr vert="horz" wrap="square" lIns="0" tIns="12065" rIns="0" bIns="0" rtlCol="0" anchor="ctr">
            <a:spAutoFit/>
          </a:bodyPr>
          <a:lstStyle>
            <a:lvl1pPr marL="16947" marR="6779">
              <a:lnSpc>
                <a:spcPct val="108300"/>
              </a:lnSpc>
              <a:spcBef>
                <a:spcPts val="127"/>
              </a:spcBef>
              <a:defRPr sz="3600" b="1" i="0">
                <a:solidFill>
                  <a:schemeClr val="bg1"/>
                </a:solidFill>
                <a:latin typeface="Meiryo UI" panose="020B0604030504040204" pitchFamily="34" charset="-128"/>
                <a:ea typeface="Meiryo UI" panose="020B0604030504040204" pitchFamily="34" charset="-128"/>
              </a:defRPr>
            </a:lvl1pPr>
          </a:lstStyle>
          <a:p>
            <a:pPr marL="12700" marR="5080">
              <a:lnSpc>
                <a:spcPct val="108300"/>
              </a:lnSpc>
              <a:spcBef>
                <a:spcPts val="95"/>
              </a:spcBef>
            </a:pPr>
            <a:r>
              <a:rPr spc="200" dirty="0" err="1">
                <a:solidFill>
                  <a:srgbClr val="FFFFFF"/>
                </a:solidFill>
              </a:rPr>
              <a:t>中表紙</a:t>
            </a:r>
            <a:r>
              <a:rPr lang="en-US" spc="173" dirty="0">
                <a:solidFill>
                  <a:srgbClr val="FFFFFF"/>
                </a:solidFill>
              </a:rPr>
              <a:t>②:</a:t>
            </a:r>
            <a:r>
              <a:rPr lang="en" spc="173" dirty="0" err="1">
                <a:solidFill>
                  <a:srgbClr val="FFFFFF"/>
                </a:solidFill>
              </a:rPr>
              <a:t>Meiryo</a:t>
            </a:r>
            <a:r>
              <a:rPr spc="400" dirty="0">
                <a:solidFill>
                  <a:srgbClr val="FFFFFF"/>
                </a:solidFill>
              </a:rPr>
              <a:t> </a:t>
            </a:r>
            <a:r>
              <a:rPr spc="147" dirty="0">
                <a:solidFill>
                  <a:srgbClr val="FFFFFF"/>
                </a:solidFill>
              </a:rPr>
              <a:t>UI</a:t>
            </a:r>
            <a:r>
              <a:rPr lang="en-US" spc="147" dirty="0">
                <a:solidFill>
                  <a:srgbClr val="FFFFFF"/>
                </a:solidFill>
              </a:rPr>
              <a:t> 36</a:t>
            </a:r>
            <a:r>
              <a:rPr spc="147" dirty="0">
                <a:solidFill>
                  <a:srgbClr val="FFFFFF"/>
                </a:solidFill>
              </a:rPr>
              <a:t>pt </a:t>
            </a:r>
            <a:br>
              <a:rPr lang="en-US" spc="147" dirty="0">
                <a:solidFill>
                  <a:srgbClr val="FFFFFF"/>
                </a:solidFill>
              </a:rPr>
            </a:br>
            <a:r>
              <a:rPr spc="173" dirty="0">
                <a:solidFill>
                  <a:srgbClr val="FFFFFF"/>
                </a:solidFill>
              </a:rPr>
              <a:t>XXXXXXXXXXXXXXXX</a:t>
            </a:r>
          </a:p>
        </p:txBody>
      </p:sp>
      <p:sp>
        <p:nvSpPr>
          <p:cNvPr id="9" name="テキスト ボックス 8">
            <a:extLst>
              <a:ext uri="{FF2B5EF4-FFF2-40B4-BE49-F238E27FC236}">
                <a16:creationId xmlns:a16="http://schemas.microsoft.com/office/drawing/2014/main" id="{6F756D76-865F-8041-AEAA-8F999D45749A}"/>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
        <p:nvSpPr>
          <p:cNvPr id="6" name="スライド番号プレースホルダー 9">
            <a:extLst>
              <a:ext uri="{FF2B5EF4-FFF2-40B4-BE49-F238E27FC236}">
                <a16:creationId xmlns:a16="http://schemas.microsoft.com/office/drawing/2014/main" id="{D0DEB56B-F1EA-66D3-674F-05BAAC39042D}"/>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F4530870-5BD9-3644-9E49-7AE209E108F6}" type="slidenum">
              <a:rPr kumimoji="1" lang="en-US" altLang="ja-JP" smtClean="0"/>
              <a:pPr/>
              <a:t>‹#›</a:t>
            </a:fld>
            <a:endParaRPr kumimoji="1" lang="en-US" altLang="ja-JP" dirty="0"/>
          </a:p>
        </p:txBody>
      </p:sp>
    </p:spTree>
    <p:extLst>
      <p:ext uri="{BB962C8B-B14F-4D97-AF65-F5344CB8AC3E}">
        <p14:creationId xmlns:p14="http://schemas.microsoft.com/office/powerpoint/2010/main" val="1678204091"/>
      </p:ext>
    </p:extLst>
  </p:cSld>
  <p:clrMapOvr>
    <a:masterClrMapping/>
  </p:clrMapOvr>
  <p:extLst>
    <p:ext uri="{DCECCB84-F9BA-43D5-87BE-67443E8EF086}">
      <p15:sldGuideLst xmlns:p15="http://schemas.microsoft.com/office/powerpoint/2012/main">
        <p15:guide id="1" orient="horz" pos="2552" userDrawn="1">
          <p15:clr>
            <a:srgbClr val="FBAE40"/>
          </p15:clr>
        </p15:guide>
        <p15:guide id="2" pos="453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Slide-1">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1EB221-EEAC-2047-BA84-37C12351F28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425340" cy="8102599"/>
          </a:xfrm>
          <a:prstGeom prst="rect">
            <a:avLst/>
          </a:prstGeom>
        </p:spPr>
      </p:pic>
      <p:sp>
        <p:nvSpPr>
          <p:cNvPr id="2" name="正方形/長方形 1">
            <a:extLst>
              <a:ext uri="{FF2B5EF4-FFF2-40B4-BE49-F238E27FC236}">
                <a16:creationId xmlns:a16="http://schemas.microsoft.com/office/drawing/2014/main" id="{9605DA93-40A7-7B6C-60D1-C0BA6BB73EF9}"/>
              </a:ext>
            </a:extLst>
          </p:cNvPr>
          <p:cNvSpPr/>
          <p:nvPr userDrawn="1"/>
        </p:nvSpPr>
        <p:spPr>
          <a:xfrm>
            <a:off x="469900" y="1350964"/>
            <a:ext cx="13438188" cy="6013450"/>
          </a:xfrm>
          <a:prstGeom prst="rect">
            <a:avLst/>
          </a:prstGeom>
          <a:solidFill>
            <a:srgbClr val="EBE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7E6DD77-6327-F847-B394-33257E06E651}"/>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
        <p:nvSpPr>
          <p:cNvPr id="4" name="タイトル 3">
            <a:extLst>
              <a:ext uri="{FF2B5EF4-FFF2-40B4-BE49-F238E27FC236}">
                <a16:creationId xmlns:a16="http://schemas.microsoft.com/office/drawing/2014/main" id="{3F35CD68-C66A-494E-89D0-0EB7FC99F748}"/>
              </a:ext>
            </a:extLst>
          </p:cNvPr>
          <p:cNvSpPr>
            <a:spLocks noGrp="1"/>
          </p:cNvSpPr>
          <p:nvPr>
            <p:ph type="title" hasCustomPrompt="1"/>
          </p:nvPr>
        </p:nvSpPr>
        <p:spPr>
          <a:xfrm>
            <a:off x="496887" y="270000"/>
            <a:ext cx="13411200" cy="626110"/>
          </a:xfrm>
          <a:prstGeom prst="rect">
            <a:avLst/>
          </a:prstGeom>
        </p:spPr>
        <p:txBody>
          <a:bodyPr lIns="0" tIns="0" rIns="0" bIns="0" anchor="ctr"/>
          <a:lstStyle>
            <a:lvl1pPr>
              <a:defRPr sz="3600" b="1" i="0">
                <a:solidFill>
                  <a:schemeClr val="tx1"/>
                </a:solidFill>
                <a:latin typeface="Meiryo UI" panose="020B0604030504040204" pitchFamily="34" charset="-128"/>
                <a:ea typeface="Meiryo UI" panose="020B0604030504040204" pitchFamily="34" charset="-128"/>
              </a:defRPr>
            </a:lvl1pPr>
          </a:lstStyle>
          <a:p>
            <a:r>
              <a:rPr kumimoji="1" lang="ja-JP" altLang="en-US"/>
              <a:t>見出し</a:t>
            </a:r>
            <a:r>
              <a:rPr kumimoji="1" lang="en-US" altLang="ja-JP" dirty="0"/>
              <a:t>:</a:t>
            </a:r>
            <a:r>
              <a:rPr kumimoji="1" lang="en-US" altLang="ja-JP" dirty="0" err="1"/>
              <a:t>Meiryo</a:t>
            </a:r>
            <a:r>
              <a:rPr kumimoji="1" lang="en-US" altLang="ja-JP" dirty="0"/>
              <a:t> UI 36pt</a:t>
            </a:r>
            <a:endParaRPr kumimoji="1" lang="ja-JP" altLang="en-US"/>
          </a:p>
        </p:txBody>
      </p:sp>
      <p:sp>
        <p:nvSpPr>
          <p:cNvPr id="7" name="スライド番号プレースホルダー 9">
            <a:extLst>
              <a:ext uri="{FF2B5EF4-FFF2-40B4-BE49-F238E27FC236}">
                <a16:creationId xmlns:a16="http://schemas.microsoft.com/office/drawing/2014/main" id="{8CE392B0-E126-D9FF-F3D9-816D15D1D6F7}"/>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E344939B-814D-4B4A-AFC5-697B95F02328}" type="slidenum">
              <a:rPr kumimoji="1" lang="en-US" altLang="ja-JP" smtClean="0"/>
              <a:pPr/>
              <a:t>‹#›</a:t>
            </a:fld>
            <a:endParaRPr kumimoji="1" lang="en-US" altLang="ja-JP" dirty="0"/>
          </a:p>
        </p:txBody>
      </p:sp>
      <p:sp>
        <p:nvSpPr>
          <p:cNvPr id="15" name="Holder 3">
            <a:extLst>
              <a:ext uri="{FF2B5EF4-FFF2-40B4-BE49-F238E27FC236}">
                <a16:creationId xmlns:a16="http://schemas.microsoft.com/office/drawing/2014/main" id="{8F113295-B21B-23A6-0F6E-205BF62947DF}"/>
              </a:ext>
            </a:extLst>
          </p:cNvPr>
          <p:cNvSpPr>
            <a:spLocks noGrp="1"/>
          </p:cNvSpPr>
          <p:nvPr>
            <p:ph sz="half" idx="10" hasCustomPrompt="1"/>
          </p:nvPr>
        </p:nvSpPr>
        <p:spPr>
          <a:xfrm>
            <a:off x="720000" y="2134185"/>
            <a:ext cx="12964478" cy="472437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vl3pPr>
          </a:lstStyle>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p:txBody>
      </p:sp>
      <p:sp>
        <p:nvSpPr>
          <p:cNvPr id="5" name="テキスト プレースホルダー 4">
            <a:extLst>
              <a:ext uri="{FF2B5EF4-FFF2-40B4-BE49-F238E27FC236}">
                <a16:creationId xmlns:a16="http://schemas.microsoft.com/office/drawing/2014/main" id="{773809DE-2C40-C48C-68B1-9D0F43507458}"/>
              </a:ext>
            </a:extLst>
          </p:cNvPr>
          <p:cNvSpPr>
            <a:spLocks noGrp="1"/>
          </p:cNvSpPr>
          <p:nvPr>
            <p:ph type="body" sz="quarter" idx="11" hasCustomPrompt="1"/>
          </p:nvPr>
        </p:nvSpPr>
        <p:spPr>
          <a:xfrm>
            <a:off x="720000" y="1368000"/>
            <a:ext cx="12963600" cy="612000"/>
          </a:xfrm>
          <a:prstGeom prst="rect">
            <a:avLst/>
          </a:prstGeom>
        </p:spPr>
        <p:txBody>
          <a:bodyPr lIns="0" tIns="180000" rIns="0" bIns="180000"/>
          <a:lstStyle>
            <a:lvl1pPr>
              <a:defRPr sz="2800" b="1" i="0">
                <a:solidFill>
                  <a:schemeClr val="accent2"/>
                </a:solidFill>
                <a:latin typeface="Meiryo UI" panose="020B0604030504040204" pitchFamily="34" charset="-128"/>
                <a:ea typeface="Meiryo UI" panose="020B0604030504040204" pitchFamily="34" charset="-128"/>
              </a:defRPr>
            </a:lvl1pPr>
          </a:lstStyle>
          <a:p>
            <a:r>
              <a:rPr lang="en-US" altLang="ja-JP" dirty="0" err="1"/>
              <a:t>見出し:Meiryo</a:t>
            </a:r>
            <a:r>
              <a:rPr lang="en-US" altLang="ja-JP" dirty="0"/>
              <a:t> UI 28pt / </a:t>
            </a:r>
            <a:r>
              <a:rPr lang="en-US" altLang="ja-JP" dirty="0" err="1"/>
              <a:t>セグメントカラ</a:t>
            </a:r>
            <a:r>
              <a:rPr lang="en-US" altLang="ja-JP" dirty="0"/>
              <a:t>ー</a:t>
            </a:r>
          </a:p>
        </p:txBody>
      </p:sp>
    </p:spTree>
    <p:extLst>
      <p:ext uri="{BB962C8B-B14F-4D97-AF65-F5344CB8AC3E}">
        <p14:creationId xmlns:p14="http://schemas.microsoft.com/office/powerpoint/2010/main" val="1426851525"/>
      </p:ext>
    </p:extLst>
  </p:cSld>
  <p:clrMapOvr>
    <a:masterClrMapping/>
  </p:clrMapOvr>
  <p:extLst>
    <p:ext uri="{DCECCB84-F9BA-43D5-87BE-67443E8EF086}">
      <p15:sldGuideLst xmlns:p15="http://schemas.microsoft.com/office/powerpoint/2012/main">
        <p15:guide id="1" orient="horz" pos="851" userDrawn="1">
          <p15:clr>
            <a:srgbClr val="FBAE40"/>
          </p15:clr>
        </p15:guide>
        <p15:guide id="2" pos="8761" userDrawn="1">
          <p15:clr>
            <a:srgbClr val="FBAE40"/>
          </p15:clr>
        </p15:guide>
        <p15:guide id="3" orient="horz" pos="4639" userDrawn="1">
          <p15:clr>
            <a:srgbClr val="FBAE40"/>
          </p15:clr>
        </p15:guide>
        <p15:guide id="4" pos="29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 Slide-2">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1EB221-EEAC-2047-BA84-37C12351F28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425340" cy="8102600"/>
          </a:xfrm>
          <a:prstGeom prst="rect">
            <a:avLst/>
          </a:prstGeom>
        </p:spPr>
      </p:pic>
      <p:sp>
        <p:nvSpPr>
          <p:cNvPr id="14" name="テキスト ボックス 13">
            <a:extLst>
              <a:ext uri="{FF2B5EF4-FFF2-40B4-BE49-F238E27FC236}">
                <a16:creationId xmlns:a16="http://schemas.microsoft.com/office/drawing/2014/main" id="{37E6DD77-6327-F847-B394-33257E06E651}"/>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
        <p:nvSpPr>
          <p:cNvPr id="4" name="タイトル 3">
            <a:extLst>
              <a:ext uri="{FF2B5EF4-FFF2-40B4-BE49-F238E27FC236}">
                <a16:creationId xmlns:a16="http://schemas.microsoft.com/office/drawing/2014/main" id="{3F35CD68-C66A-494E-89D0-0EB7FC99F748}"/>
              </a:ext>
            </a:extLst>
          </p:cNvPr>
          <p:cNvSpPr>
            <a:spLocks noGrp="1"/>
          </p:cNvSpPr>
          <p:nvPr>
            <p:ph type="title" hasCustomPrompt="1"/>
          </p:nvPr>
        </p:nvSpPr>
        <p:spPr>
          <a:xfrm>
            <a:off x="496887" y="270008"/>
            <a:ext cx="13411200" cy="626110"/>
          </a:xfrm>
          <a:prstGeom prst="rect">
            <a:avLst/>
          </a:prstGeom>
        </p:spPr>
        <p:txBody>
          <a:bodyPr lIns="0" tIns="0" rIns="0" bIns="0" anchor="ctr"/>
          <a:lstStyle>
            <a:lvl1pPr>
              <a:defRPr sz="3600" b="1" i="0">
                <a:solidFill>
                  <a:schemeClr val="tx1"/>
                </a:solidFill>
                <a:latin typeface="Meiryo UI" panose="020B0604030504040204" pitchFamily="34" charset="-128"/>
                <a:ea typeface="Meiryo UI" panose="020B0604030504040204" pitchFamily="34" charset="-128"/>
              </a:defRPr>
            </a:lvl1pPr>
          </a:lstStyle>
          <a:p>
            <a:r>
              <a:rPr kumimoji="1" lang="ja-JP" altLang="en-US"/>
              <a:t>見出し</a:t>
            </a:r>
            <a:r>
              <a:rPr kumimoji="1" lang="en-US" altLang="ja-JP" dirty="0"/>
              <a:t>:</a:t>
            </a:r>
            <a:r>
              <a:rPr kumimoji="1" lang="en-US" altLang="ja-JP" dirty="0" err="1"/>
              <a:t>Meiryo</a:t>
            </a:r>
            <a:r>
              <a:rPr kumimoji="1" lang="en-US" altLang="ja-JP" dirty="0"/>
              <a:t> UI 36pt</a:t>
            </a:r>
            <a:endParaRPr kumimoji="1" lang="ja-JP" altLang="en-US"/>
          </a:p>
        </p:txBody>
      </p:sp>
      <p:sp>
        <p:nvSpPr>
          <p:cNvPr id="7" name="スライド番号プレースホルダー 9">
            <a:extLst>
              <a:ext uri="{FF2B5EF4-FFF2-40B4-BE49-F238E27FC236}">
                <a16:creationId xmlns:a16="http://schemas.microsoft.com/office/drawing/2014/main" id="{8CE392B0-E126-D9FF-F3D9-816D15D1D6F7}"/>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53EB70E3-6BB6-D846-AD6B-AC9D0F4B4ED1}" type="slidenum">
              <a:rPr kumimoji="1" lang="en-US" altLang="ja-JP" smtClean="0"/>
              <a:pPr/>
              <a:t>‹#›</a:t>
            </a:fld>
            <a:endParaRPr kumimoji="1" lang="en-US" altLang="ja-JP" dirty="0"/>
          </a:p>
        </p:txBody>
      </p:sp>
      <p:sp>
        <p:nvSpPr>
          <p:cNvPr id="15" name="Holder 3">
            <a:extLst>
              <a:ext uri="{FF2B5EF4-FFF2-40B4-BE49-F238E27FC236}">
                <a16:creationId xmlns:a16="http://schemas.microsoft.com/office/drawing/2014/main" id="{8F113295-B21B-23A6-0F6E-205BF62947DF}"/>
              </a:ext>
            </a:extLst>
          </p:cNvPr>
          <p:cNvSpPr>
            <a:spLocks noGrp="1"/>
          </p:cNvSpPr>
          <p:nvPr>
            <p:ph sz="half" idx="10" hasCustomPrompt="1"/>
          </p:nvPr>
        </p:nvSpPr>
        <p:spPr>
          <a:xfrm>
            <a:off x="720000" y="2134185"/>
            <a:ext cx="12964478" cy="472437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vl3pPr>
          </a:lstStyle>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pPr marL="1219200" marR="0" lvl="2" indent="-858838" defTabSz="914400" eaLnBrk="1" fontAlgn="auto" latinLnBrk="0" hangingPunct="1">
              <a:lnSpc>
                <a:spcPct val="100000"/>
              </a:lnSpc>
              <a:spcBef>
                <a:spcPts val="0"/>
              </a:spcBef>
              <a:spcAft>
                <a:spcPts val="0"/>
              </a:spcAft>
              <a:buClrTx/>
              <a:buSzTx/>
              <a:buFontTx/>
              <a:buNone/>
              <a:tabLst/>
              <a:defRPr/>
            </a:pPr>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a:p>
            <a:r>
              <a:rPr lang="en-US" altLang="ja-JP" dirty="0" err="1"/>
              <a:t>小見出し:Meiryo</a:t>
            </a:r>
            <a:r>
              <a:rPr lang="en-US" altLang="ja-JP" dirty="0"/>
              <a:t> UI Bold / 20pt / </a:t>
            </a:r>
            <a:r>
              <a:rPr lang="en-US" altLang="ja-JP" dirty="0" err="1"/>
              <a:t>ブラック</a:t>
            </a:r>
            <a:endParaRPr lang="en-US" altLang="ja-JP" dirty="0"/>
          </a:p>
          <a:p>
            <a:pPr lvl="2"/>
            <a:r>
              <a:rPr lang="en-US" altLang="ja-JP" dirty="0" err="1"/>
              <a:t>本文:Meiryo</a:t>
            </a:r>
            <a:r>
              <a:rPr lang="en-US" altLang="ja-JP" dirty="0"/>
              <a:t> UI Regular/ 20pt / </a:t>
            </a:r>
            <a:r>
              <a:rPr lang="en-US" altLang="ja-JP" dirty="0" err="1"/>
              <a:t>ブラック</a:t>
            </a:r>
            <a:endParaRPr lang="en-US" altLang="ja-JP" dirty="0"/>
          </a:p>
        </p:txBody>
      </p:sp>
      <p:sp>
        <p:nvSpPr>
          <p:cNvPr id="8" name="テキスト プレースホルダー 4">
            <a:extLst>
              <a:ext uri="{FF2B5EF4-FFF2-40B4-BE49-F238E27FC236}">
                <a16:creationId xmlns:a16="http://schemas.microsoft.com/office/drawing/2014/main" id="{D80256D9-E39E-83D8-D493-F8A90F1DF027}"/>
              </a:ext>
            </a:extLst>
          </p:cNvPr>
          <p:cNvSpPr>
            <a:spLocks noGrp="1"/>
          </p:cNvSpPr>
          <p:nvPr>
            <p:ph type="body" sz="quarter" idx="11" hasCustomPrompt="1"/>
          </p:nvPr>
        </p:nvSpPr>
        <p:spPr>
          <a:xfrm>
            <a:off x="720000" y="1368000"/>
            <a:ext cx="12963600" cy="612000"/>
          </a:xfrm>
          <a:prstGeom prst="rect">
            <a:avLst/>
          </a:prstGeom>
        </p:spPr>
        <p:txBody>
          <a:bodyPr lIns="0" tIns="180000" rIns="0" bIns="180000"/>
          <a:lstStyle>
            <a:lvl1pPr>
              <a:defRPr sz="2800" b="1" i="0">
                <a:solidFill>
                  <a:schemeClr val="accent2"/>
                </a:solidFill>
                <a:latin typeface="Meiryo UI" panose="020B0604030504040204" pitchFamily="34" charset="-128"/>
                <a:ea typeface="Meiryo UI" panose="020B0604030504040204" pitchFamily="34" charset="-128"/>
              </a:defRPr>
            </a:lvl1pPr>
          </a:lstStyle>
          <a:p>
            <a:r>
              <a:rPr lang="en-US" altLang="ja-JP" dirty="0" err="1"/>
              <a:t>見出し:Meiryo</a:t>
            </a:r>
            <a:r>
              <a:rPr lang="en-US" altLang="ja-JP" dirty="0"/>
              <a:t> UI 28pt / </a:t>
            </a:r>
            <a:r>
              <a:rPr lang="en-US" altLang="ja-JP" dirty="0" err="1"/>
              <a:t>セグメントカラ</a:t>
            </a:r>
            <a:r>
              <a:rPr lang="en-US" altLang="ja-JP" dirty="0"/>
              <a:t>ー</a:t>
            </a:r>
          </a:p>
        </p:txBody>
      </p:sp>
    </p:spTree>
    <p:extLst>
      <p:ext uri="{BB962C8B-B14F-4D97-AF65-F5344CB8AC3E}">
        <p14:creationId xmlns:p14="http://schemas.microsoft.com/office/powerpoint/2010/main" val="2405921905"/>
      </p:ext>
    </p:extLst>
  </p:cSld>
  <p:clrMapOvr>
    <a:masterClrMapping/>
  </p:clrMapOvr>
  <p:extLst>
    <p:ext uri="{DCECCB84-F9BA-43D5-87BE-67443E8EF086}">
      <p15:sldGuideLst xmlns:p15="http://schemas.microsoft.com/office/powerpoint/2012/main">
        <p15:guide id="1" orient="horz" pos="851" userDrawn="1">
          <p15:clr>
            <a:srgbClr val="FBAE40"/>
          </p15:clr>
        </p15:guide>
        <p15:guide id="2" pos="8761" userDrawn="1">
          <p15:clr>
            <a:srgbClr val="FBAE40"/>
          </p15:clr>
        </p15:guide>
        <p15:guide id="3" orient="horz" pos="4639" userDrawn="1">
          <p15:clr>
            <a:srgbClr val="FBAE40"/>
          </p15:clr>
        </p15:guide>
        <p15:guide id="4" pos="29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経営理念">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1EB221-EEAC-2047-BA84-37C12351F28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425340" cy="8102600"/>
          </a:xfrm>
          <a:prstGeom prst="rect">
            <a:avLst/>
          </a:prstGeom>
        </p:spPr>
      </p:pic>
      <p:sp>
        <p:nvSpPr>
          <p:cNvPr id="14" name="テキスト ボックス 13">
            <a:extLst>
              <a:ext uri="{FF2B5EF4-FFF2-40B4-BE49-F238E27FC236}">
                <a16:creationId xmlns:a16="http://schemas.microsoft.com/office/drawing/2014/main" id="{37E6DD77-6327-F847-B394-33257E06E651}"/>
              </a:ext>
            </a:extLst>
          </p:cNvPr>
          <p:cNvSpPr txBox="1"/>
          <p:nvPr userDrawn="1"/>
        </p:nvSpPr>
        <p:spPr>
          <a:xfrm>
            <a:off x="120097" y="7732801"/>
            <a:ext cx="7202488" cy="256673"/>
          </a:xfrm>
          <a:prstGeom prst="rect">
            <a:avLst/>
          </a:prstGeom>
          <a:noFill/>
        </p:spPr>
        <p:txBody>
          <a:bodyPr wrap="square">
            <a:spAutoFit/>
          </a:bodyPr>
          <a:lstStyle/>
          <a:p>
            <a:r>
              <a:rPr lang="ja-JP" altLang="en-US" sz="1068" b="0" i="0">
                <a:solidFill>
                  <a:schemeClr val="tx1"/>
                </a:solidFill>
                <a:latin typeface="Meiryo UI" panose="020B0604030504040204" pitchFamily="34" charset="-128"/>
                <a:ea typeface="Meiryo UI" panose="020B0604030504040204" pitchFamily="34" charset="-128"/>
              </a:rPr>
              <a:t>Copyright©EPS All rights reserved.</a:t>
            </a:r>
          </a:p>
        </p:txBody>
      </p:sp>
      <p:sp>
        <p:nvSpPr>
          <p:cNvPr id="4" name="タイトル 3">
            <a:extLst>
              <a:ext uri="{FF2B5EF4-FFF2-40B4-BE49-F238E27FC236}">
                <a16:creationId xmlns:a16="http://schemas.microsoft.com/office/drawing/2014/main" id="{3F35CD68-C66A-494E-89D0-0EB7FC99F748}"/>
              </a:ext>
            </a:extLst>
          </p:cNvPr>
          <p:cNvSpPr>
            <a:spLocks noGrp="1"/>
          </p:cNvSpPr>
          <p:nvPr>
            <p:ph type="title" hasCustomPrompt="1"/>
          </p:nvPr>
        </p:nvSpPr>
        <p:spPr>
          <a:xfrm>
            <a:off x="496887" y="270008"/>
            <a:ext cx="13411200" cy="626110"/>
          </a:xfrm>
          <a:prstGeom prst="rect">
            <a:avLst/>
          </a:prstGeom>
        </p:spPr>
        <p:txBody>
          <a:bodyPr lIns="0" tIns="0" rIns="0" bIns="0" anchor="ctr"/>
          <a:lstStyle>
            <a:lvl1pPr>
              <a:defRPr sz="3600" b="1" i="0">
                <a:solidFill>
                  <a:schemeClr val="tx1"/>
                </a:solidFill>
                <a:latin typeface="Meiryo UI" panose="020B0604030504040204" pitchFamily="34" charset="-128"/>
                <a:ea typeface="Meiryo UI" panose="020B0604030504040204" pitchFamily="34" charset="-128"/>
              </a:defRPr>
            </a:lvl1pPr>
          </a:lstStyle>
          <a:p>
            <a:r>
              <a:rPr kumimoji="1" lang="ja-JP" altLang="en-US"/>
              <a:t>経営理念</a:t>
            </a:r>
          </a:p>
        </p:txBody>
      </p:sp>
      <p:sp>
        <p:nvSpPr>
          <p:cNvPr id="7" name="スライド番号プレースホルダー 9">
            <a:extLst>
              <a:ext uri="{FF2B5EF4-FFF2-40B4-BE49-F238E27FC236}">
                <a16:creationId xmlns:a16="http://schemas.microsoft.com/office/drawing/2014/main" id="{8CE392B0-E126-D9FF-F3D9-816D15D1D6F7}"/>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225629D7-24A9-D64F-86CB-0D6A6E78F08F}" type="slidenum">
              <a:rPr kumimoji="1" lang="en-US" altLang="ja-JP" smtClean="0"/>
              <a:pPr/>
              <a:t>‹#›</a:t>
            </a:fld>
            <a:endParaRPr kumimoji="1" lang="en-US" altLang="ja-JP" dirty="0"/>
          </a:p>
        </p:txBody>
      </p:sp>
    </p:spTree>
    <p:extLst>
      <p:ext uri="{BB962C8B-B14F-4D97-AF65-F5344CB8AC3E}">
        <p14:creationId xmlns:p14="http://schemas.microsoft.com/office/powerpoint/2010/main" val="3320152475"/>
      </p:ext>
    </p:extLst>
  </p:cSld>
  <p:clrMapOvr>
    <a:masterClrMapping/>
  </p:clrMapOvr>
  <p:extLst>
    <p:ext uri="{DCECCB84-F9BA-43D5-87BE-67443E8EF086}">
      <p15:sldGuideLst xmlns:p15="http://schemas.microsoft.com/office/powerpoint/2012/main">
        <p15:guide id="1" orient="horz" pos="851" userDrawn="1">
          <p15:clr>
            <a:srgbClr val="FBAE40"/>
          </p15:clr>
        </p15:guide>
        <p15:guide id="2" pos="8761" userDrawn="1">
          <p15:clr>
            <a:srgbClr val="FBAE40"/>
          </p15:clr>
        </p15:guide>
        <p15:guide id="3" orient="horz" pos="4639" userDrawn="1">
          <p15:clr>
            <a:srgbClr val="FBAE40"/>
          </p15:clr>
        </p15:guide>
        <p15:guide id="4" pos="2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DBED480-DB8D-E3F2-A8FD-B46B27FB1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03519" y="2602240"/>
            <a:ext cx="4364068" cy="1950995"/>
          </a:xfrm>
          <a:prstGeom prst="rect">
            <a:avLst/>
          </a:prstGeom>
        </p:spPr>
      </p:pic>
    </p:spTree>
    <p:extLst>
      <p:ext uri="{BB962C8B-B14F-4D97-AF65-F5344CB8AC3E}">
        <p14:creationId xmlns:p14="http://schemas.microsoft.com/office/powerpoint/2010/main" val="221422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スライド番号プレースホルダー 9">
            <a:extLst>
              <a:ext uri="{FF2B5EF4-FFF2-40B4-BE49-F238E27FC236}">
                <a16:creationId xmlns:a16="http://schemas.microsoft.com/office/drawing/2014/main" id="{97A07057-976D-064B-8808-0B5ADC049C7F}"/>
              </a:ext>
            </a:extLst>
          </p:cNvPr>
          <p:cNvSpPr>
            <a:spLocks noGrp="1"/>
          </p:cNvSpPr>
          <p:nvPr>
            <p:ph type="sldNum" sz="quarter" idx="4"/>
          </p:nvPr>
        </p:nvSpPr>
        <p:spPr>
          <a:xfrm>
            <a:off x="12896690" y="7764565"/>
            <a:ext cx="1220187" cy="154940"/>
          </a:xfrm>
          <a:prstGeom prst="rect">
            <a:avLst/>
          </a:prstGeom>
        </p:spPr>
        <p:txBody>
          <a:bodyPr vert="horz" lIns="91440" tIns="45720" rIns="91440" bIns="45720" rtlCol="0" anchor="ctr"/>
          <a:lstStyle>
            <a:lvl1pPr marL="0" marR="0" indent="0" algn="r" defTabSz="1220175" eaLnBrk="1" fontAlgn="auto" latinLnBrk="0" hangingPunct="1">
              <a:lnSpc>
                <a:spcPct val="100000"/>
              </a:lnSpc>
              <a:spcBef>
                <a:spcPts val="0"/>
              </a:spcBef>
              <a:spcAft>
                <a:spcPts val="0"/>
              </a:spcAft>
              <a:buClrTx/>
              <a:buSzTx/>
              <a:buFontTx/>
              <a:buNone/>
              <a:tabLst/>
              <a:defRPr sz="1068" b="0" i="0">
                <a:solidFill>
                  <a:schemeClr val="tx1"/>
                </a:solidFill>
                <a:latin typeface="Meiryo UI" panose="020B0604030504040204" pitchFamily="34" charset="-128"/>
                <a:ea typeface="Meiryo UI" panose="020B0604030504040204" pitchFamily="34" charset="-128"/>
              </a:defRPr>
            </a:lvl1pPr>
          </a:lstStyle>
          <a:p>
            <a:fld id="{24AEDCA4-7D12-E34A-9125-9C962139F6EA}" type="slidenum">
              <a:rPr kumimoji="1" lang="en-US" altLang="ja-JP" smtClean="0"/>
              <a:pPr/>
              <a:t>‹#›</a:t>
            </a:fld>
            <a:endParaRPr kumimoji="1" lang="en-US" altLang="ja-JP"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7" r:id="rId4"/>
    <p:sldLayoutId id="2147483668" r:id="rId5"/>
    <p:sldLayoutId id="2147483670" r:id="rId6"/>
    <p:sldLayoutId id="2147483671" r:id="rId7"/>
    <p:sldLayoutId id="2147483669" r:id="rId8"/>
  </p:sldLayoutIdLst>
  <p:hf hdr="0" ftr="0" dt="0"/>
  <p:txStyles>
    <p:titleStyle>
      <a:lvl1pPr>
        <a:defRPr>
          <a:latin typeface="+mj-lt"/>
          <a:ea typeface="+mj-ea"/>
          <a:cs typeface="+mj-cs"/>
        </a:defRPr>
      </a:lvl1pPr>
    </p:titleStyle>
    <p:bodyStyle>
      <a:lvl1pPr marL="0">
        <a:defRPr>
          <a:latin typeface="+mn-lt"/>
          <a:ea typeface="+mn-ea"/>
          <a:cs typeface="+mn-cs"/>
        </a:defRPr>
      </a:lvl1pPr>
      <a:lvl2pPr marL="610088">
        <a:defRPr>
          <a:latin typeface="+mn-lt"/>
          <a:ea typeface="+mn-ea"/>
          <a:cs typeface="+mn-cs"/>
        </a:defRPr>
      </a:lvl2pPr>
      <a:lvl3pPr marL="1220175">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p:bodyStyle>
    <p:otherStyle>
      <a:lvl1pPr marL="0">
        <a:defRPr>
          <a:latin typeface="+mn-lt"/>
          <a:ea typeface="+mn-ea"/>
          <a:cs typeface="+mn-cs"/>
        </a:defRPr>
      </a:lvl1pPr>
      <a:lvl2pPr marL="610088">
        <a:defRPr>
          <a:latin typeface="+mn-lt"/>
          <a:ea typeface="+mn-ea"/>
          <a:cs typeface="+mn-cs"/>
        </a:defRPr>
      </a:lvl2pPr>
      <a:lvl3pPr marL="1220175">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hyperlink" Target="https://www.rdocumentation.org/" TargetMode="External"/><Relationship Id="rId2" Type="http://schemas.openxmlformats.org/officeDocument/2006/relationships/hyperlink" Target="https://www.r-project.org/" TargetMode="External"/><Relationship Id="rId1" Type="http://schemas.openxmlformats.org/officeDocument/2006/relationships/slideLayout" Target="../slideLayouts/slideLayout6.xml"/><Relationship Id="rId6" Type="http://schemas.openxmlformats.org/officeDocument/2006/relationships/hyperlink" Target="https://style.tidyverse.org/" TargetMode="External"/><Relationship Id="rId5" Type="http://schemas.openxmlformats.org/officeDocument/2006/relationships/hyperlink" Target="https://www.educa.nagoya-u.ac.jp/~ishii-h/materials/R_errors.pdf" TargetMode="External"/><Relationship Id="rId4" Type="http://schemas.openxmlformats.org/officeDocument/2006/relationships/hyperlink" Target="https://design.tidyverse.org/call-data-details.html"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4B800041-FFB0-9887-7337-6C4D0F81CC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00" y="5996396"/>
            <a:ext cx="4807097" cy="288766"/>
          </a:xfrm>
          <a:prstGeom prst="rect">
            <a:avLst/>
          </a:prstGeom>
        </p:spPr>
      </p:pic>
      <p:sp>
        <p:nvSpPr>
          <p:cNvPr id="2" name="タイトル 1">
            <a:extLst>
              <a:ext uri="{FF2B5EF4-FFF2-40B4-BE49-F238E27FC236}">
                <a16:creationId xmlns:a16="http://schemas.microsoft.com/office/drawing/2014/main" id="{8F7204A3-4B33-DBA0-FAFF-DDD9EF9B9459}"/>
              </a:ext>
            </a:extLst>
          </p:cNvPr>
          <p:cNvSpPr>
            <a:spLocks noGrp="1"/>
          </p:cNvSpPr>
          <p:nvPr>
            <p:ph type="title"/>
          </p:nvPr>
        </p:nvSpPr>
        <p:spPr>
          <a:xfrm>
            <a:off x="707643" y="3060700"/>
            <a:ext cx="10722357" cy="1565275"/>
          </a:xfrm>
        </p:spPr>
        <p:txBody>
          <a:bodyPr/>
          <a:lstStyle/>
          <a:p>
            <a:r>
              <a:rPr kumimoji="1" lang="en-US" altLang="ja-JP" sz="1800" dirty="0"/>
              <a:t>R with Pharma Lab Meetup #1</a:t>
            </a:r>
            <a:br>
              <a:rPr kumimoji="1" lang="en-US" altLang="ja-JP" dirty="0"/>
            </a:br>
            <a:r>
              <a:rPr kumimoji="1" lang="en-US" altLang="ja-JP" sz="3600" dirty="0"/>
              <a:t>R</a:t>
            </a:r>
            <a:r>
              <a:rPr kumimoji="1" lang="ja-JP" altLang="en-US" sz="3600" dirty="0"/>
              <a:t>の頑健なコードを書くにはどのような工夫が必要か</a:t>
            </a:r>
          </a:p>
        </p:txBody>
      </p:sp>
      <p:sp>
        <p:nvSpPr>
          <p:cNvPr id="3" name="object 9">
            <a:extLst>
              <a:ext uri="{FF2B5EF4-FFF2-40B4-BE49-F238E27FC236}">
                <a16:creationId xmlns:a16="http://schemas.microsoft.com/office/drawing/2014/main" id="{72AE5D8C-76A8-9D50-01AC-FA1E875702DC}"/>
              </a:ext>
            </a:extLst>
          </p:cNvPr>
          <p:cNvSpPr txBox="1"/>
          <p:nvPr/>
        </p:nvSpPr>
        <p:spPr>
          <a:xfrm>
            <a:off x="720000" y="6408714"/>
            <a:ext cx="4367249" cy="228011"/>
          </a:xfrm>
          <a:prstGeom prst="rect">
            <a:avLst/>
          </a:prstGeom>
        </p:spPr>
        <p:txBody>
          <a:bodyPr vert="horz" wrap="square" lIns="0" tIns="0" rIns="0" bIns="0" rtlCol="0">
            <a:spAutoFit/>
          </a:bodyPr>
          <a:lstStyle/>
          <a:p>
            <a:pPr>
              <a:lnSpc>
                <a:spcPts val="2000"/>
              </a:lnSpc>
            </a:pPr>
            <a:r>
              <a:rPr lang="ja-JP" altLang="en-US" sz="1400" dirty="0">
                <a:solidFill>
                  <a:srgbClr val="231916"/>
                </a:solidFill>
                <a:latin typeface="Meiryo UI"/>
                <a:cs typeface="Meiryo UI"/>
              </a:rPr>
              <a:t>大山暁史</a:t>
            </a:r>
            <a:endParaRPr lang="en" altLang="ja-JP" sz="1400" dirty="0">
              <a:solidFill>
                <a:srgbClr val="231916"/>
              </a:solidFill>
              <a:latin typeface="Meiryo UI"/>
              <a:cs typeface="Meiryo UI"/>
            </a:endParaRPr>
          </a:p>
        </p:txBody>
      </p:sp>
      <p:sp>
        <p:nvSpPr>
          <p:cNvPr id="4" name="テキスト ボックス 3">
            <a:extLst>
              <a:ext uri="{FF2B5EF4-FFF2-40B4-BE49-F238E27FC236}">
                <a16:creationId xmlns:a16="http://schemas.microsoft.com/office/drawing/2014/main" id="{75F1DA10-AA69-FA6D-6959-0C27CA8E6BC6}"/>
              </a:ext>
            </a:extLst>
          </p:cNvPr>
          <p:cNvSpPr txBox="1"/>
          <p:nvPr/>
        </p:nvSpPr>
        <p:spPr>
          <a:xfrm>
            <a:off x="720000" y="540000"/>
            <a:ext cx="2133600" cy="184666"/>
          </a:xfrm>
          <a:prstGeom prst="rect">
            <a:avLst/>
          </a:prstGeom>
          <a:noFill/>
        </p:spPr>
        <p:txBody>
          <a:bodyPr wrap="square" lIns="0" tIns="0" rIns="0" bIns="0" rtlCol="0">
            <a:spAutoFit/>
          </a:bodyPr>
          <a:lstStyle/>
          <a:p>
            <a:r>
              <a:rPr kumimoji="1" lang="en-US" altLang="ja-JP" sz="1200" dirty="0">
                <a:latin typeface="Meiryo UI" panose="020B0604030504040204" pitchFamily="34" charset="-128"/>
                <a:ea typeface="Meiryo UI" panose="020B0604030504040204" pitchFamily="34" charset="-128"/>
              </a:rPr>
              <a:t>2026</a:t>
            </a:r>
            <a:r>
              <a:rPr kumimoji="1" lang="ja-JP" altLang="en-US" sz="1200" dirty="0">
                <a:latin typeface="Meiryo UI" panose="020B0604030504040204" pitchFamily="34" charset="-128"/>
                <a:ea typeface="Meiryo UI" panose="020B0604030504040204" pitchFamily="34" charset="-128"/>
              </a:rPr>
              <a:t>年</a:t>
            </a:r>
            <a:r>
              <a:rPr kumimoji="1" lang="en-US" altLang="ja-JP" sz="1200" dirty="0">
                <a:latin typeface="Meiryo UI" panose="020B0604030504040204" pitchFamily="34" charset="-128"/>
                <a:ea typeface="Meiryo UI" panose="020B0604030504040204" pitchFamily="34" charset="-128"/>
              </a:rPr>
              <a:t>4</a:t>
            </a:r>
            <a:r>
              <a:rPr kumimoji="1" lang="ja-JP" altLang="en-US" sz="1200" dirty="0">
                <a:latin typeface="Meiryo UI" panose="020B0604030504040204" pitchFamily="34" charset="-128"/>
                <a:ea typeface="Meiryo UI" panose="020B0604030504040204" pitchFamily="34" charset="-128"/>
              </a:rPr>
              <a:t>月</a:t>
            </a:r>
            <a:r>
              <a:rPr kumimoji="1" lang="en-US" altLang="ja-JP" sz="1200" dirty="0">
                <a:latin typeface="Meiryo UI" panose="020B0604030504040204" pitchFamily="34" charset="-128"/>
                <a:ea typeface="Meiryo UI" panose="020B0604030504040204" pitchFamily="34" charset="-128"/>
              </a:rPr>
              <a:t>8</a:t>
            </a:r>
            <a:r>
              <a:rPr kumimoji="1" lang="ja-JP" altLang="en-US" sz="1200" dirty="0">
                <a:latin typeface="Meiryo UI" panose="020B0604030504040204" pitchFamily="34" charset="-128"/>
                <a:ea typeface="Meiryo UI" panose="020B0604030504040204" pitchFamily="34" charset="-128"/>
              </a:rPr>
              <a:t>日</a:t>
            </a:r>
          </a:p>
        </p:txBody>
      </p:sp>
    </p:spTree>
    <p:extLst>
      <p:ext uri="{BB962C8B-B14F-4D97-AF65-F5344CB8AC3E}">
        <p14:creationId xmlns:p14="http://schemas.microsoft.com/office/powerpoint/2010/main" val="616313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89C9C-40BE-B444-98C8-4801BB02380E}"/>
              </a:ext>
            </a:extLst>
          </p:cNvPr>
          <p:cNvSpPr>
            <a:spLocks noGrp="1"/>
          </p:cNvSpPr>
          <p:nvPr>
            <p:ph type="title"/>
          </p:nvPr>
        </p:nvSpPr>
        <p:spPr/>
        <p:txBody>
          <a:bodyPr/>
          <a:lstStyle/>
          <a:p>
            <a:r>
              <a:rPr kumimoji="1" lang="ja-JP" altLang="en-US" dirty="0"/>
              <a:t>はじめに</a:t>
            </a:r>
          </a:p>
        </p:txBody>
      </p:sp>
      <p:sp>
        <p:nvSpPr>
          <p:cNvPr id="3" name="スライド番号プレースホルダー 2">
            <a:extLst>
              <a:ext uri="{FF2B5EF4-FFF2-40B4-BE49-F238E27FC236}">
                <a16:creationId xmlns:a16="http://schemas.microsoft.com/office/drawing/2014/main" id="{061F3F4E-0518-E973-EA96-11CED2D87267}"/>
              </a:ext>
            </a:extLst>
          </p:cNvPr>
          <p:cNvSpPr>
            <a:spLocks noGrp="1"/>
          </p:cNvSpPr>
          <p:nvPr>
            <p:ph type="sldNum" sz="quarter" idx="4"/>
          </p:nvPr>
        </p:nvSpPr>
        <p:spPr/>
        <p:txBody>
          <a:bodyPr/>
          <a:lstStyle/>
          <a:p>
            <a:fld id="{24AEDCA4-7D12-E34A-9125-9C962139F6EA}" type="slidenum">
              <a:rPr kumimoji="1" lang="en-US" altLang="ja-JP" smtClean="0"/>
              <a:pPr/>
              <a:t>2</a:t>
            </a:fld>
            <a:endParaRPr kumimoji="1" lang="en-US" altLang="ja-JP" dirty="0"/>
          </a:p>
        </p:txBody>
      </p:sp>
      <p:sp>
        <p:nvSpPr>
          <p:cNvPr id="4" name="コンテンツ プレースホルダー 3">
            <a:extLst>
              <a:ext uri="{FF2B5EF4-FFF2-40B4-BE49-F238E27FC236}">
                <a16:creationId xmlns:a16="http://schemas.microsoft.com/office/drawing/2014/main" id="{907A13CA-42B6-09B4-AAA8-B13B640EB08A}"/>
              </a:ext>
            </a:extLst>
          </p:cNvPr>
          <p:cNvSpPr>
            <a:spLocks noGrp="1"/>
          </p:cNvSpPr>
          <p:nvPr>
            <p:ph sz="half" idx="10"/>
          </p:nvPr>
        </p:nvSpPr>
        <p:spPr>
          <a:xfrm>
            <a:off x="720000" y="1328057"/>
            <a:ext cx="12964478" cy="6017032"/>
          </a:xfrm>
        </p:spPr>
        <p:txBody>
          <a:bodyPr/>
          <a:lstStyle/>
          <a:p>
            <a:pPr marL="0" indent="0">
              <a:buNone/>
            </a:pPr>
            <a:r>
              <a:rPr kumimoji="1" lang="en-US" altLang="ja-JP" sz="2800" b="0" dirty="0"/>
              <a:t>R</a:t>
            </a:r>
            <a:r>
              <a:rPr kumimoji="1" lang="ja-JP" altLang="en-US" sz="2800" b="0" dirty="0"/>
              <a:t>プログラムを動かす機会が増えたが、意図通りに処理されているか不安</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sz="2800" b="0" dirty="0"/>
              <a:t>　　　</a:t>
            </a:r>
            <a:endParaRPr kumimoji="1" lang="en-US" altLang="ja-JP" sz="2800" b="0" dirty="0"/>
          </a:p>
          <a:p>
            <a:pPr marL="0" indent="0">
              <a:buNone/>
            </a:pPr>
            <a:r>
              <a:rPr kumimoji="1" lang="ja-JP" altLang="en-US" sz="2800" b="0" dirty="0"/>
              <a:t>　　　　　　　　　　</a:t>
            </a:r>
            <a:endParaRPr kumimoji="1" lang="en-US" altLang="ja-JP" sz="2800" b="0" dirty="0"/>
          </a:p>
          <a:p>
            <a:pPr marL="0" indent="0">
              <a:buNone/>
            </a:pPr>
            <a:r>
              <a:rPr kumimoji="1" lang="ja-JP" altLang="en-US" sz="2800" b="0" u="sng" dirty="0"/>
              <a:t>頑健な</a:t>
            </a:r>
            <a:r>
              <a:rPr kumimoji="1" lang="en-US" altLang="ja-JP" sz="2800" b="0" u="sng" dirty="0"/>
              <a:t>R</a:t>
            </a:r>
            <a:r>
              <a:rPr kumimoji="1" lang="ja-JP" altLang="en-US" sz="2800" b="0" u="sng" dirty="0"/>
              <a:t>プログラムの例</a:t>
            </a:r>
            <a:endParaRPr kumimoji="1" lang="en-US" altLang="ja-JP" sz="2800" b="0" u="sng" dirty="0"/>
          </a:p>
          <a:p>
            <a:pPr marL="0" indent="0">
              <a:buNone/>
            </a:pPr>
            <a:r>
              <a:rPr kumimoji="1" lang="ja-JP" altLang="en-US" sz="2800" b="0" dirty="0"/>
              <a:t>　・ 想定外のデータが入ってきた場合にも意図通りの処理または手当てができる</a:t>
            </a:r>
            <a:endParaRPr kumimoji="1" lang="en-US" altLang="ja-JP" sz="2800" b="0" dirty="0"/>
          </a:p>
          <a:p>
            <a:pPr marL="0" indent="0">
              <a:buNone/>
            </a:pPr>
            <a:r>
              <a:rPr kumimoji="1" lang="ja-JP" altLang="en-US" sz="2800" b="0" dirty="0"/>
              <a:t>　・ 実行環境を変えても意図通りの処理になる</a:t>
            </a:r>
            <a:endParaRPr kumimoji="1" lang="en-US" altLang="ja-JP" sz="2800" b="0" dirty="0"/>
          </a:p>
          <a:p>
            <a:pPr marL="0" indent="0">
              <a:buNone/>
            </a:pPr>
            <a:r>
              <a:rPr kumimoji="1" lang="ja-JP" altLang="en-US" sz="2800" b="0" dirty="0"/>
              <a:t>　・ バージョンが変わっても意図通りの処理になる</a:t>
            </a:r>
            <a:endParaRPr kumimoji="1" lang="en-US" altLang="ja-JP" sz="2800" b="0" dirty="0"/>
          </a:p>
          <a:p>
            <a:pPr marL="0" indent="0">
              <a:buNone/>
            </a:pPr>
            <a:r>
              <a:rPr kumimoji="1" lang="ja-JP" altLang="en-US" sz="2800" b="0" dirty="0"/>
              <a:t>　・ 処理が意図通りでない場合には検知できる</a:t>
            </a:r>
            <a:endParaRPr kumimoji="1" lang="en-US" altLang="ja-JP" sz="2800" b="0" dirty="0"/>
          </a:p>
          <a:p>
            <a:pPr marL="0" indent="0">
              <a:buNone/>
            </a:pPr>
            <a:r>
              <a:rPr kumimoji="1" lang="ja-JP" altLang="en-US" sz="2800" b="0" dirty="0"/>
              <a:t>　・ 可読である</a:t>
            </a:r>
            <a:r>
              <a:rPr kumimoji="1" lang="en-US" altLang="ja-JP" sz="2800" b="0" dirty="0"/>
              <a:t>(</a:t>
            </a:r>
            <a:r>
              <a:rPr kumimoji="1" lang="ja-JP" altLang="en-US" sz="2800" b="0" dirty="0"/>
              <a:t>他プログラマーも問題なく流用・メンテナンスできる</a:t>
            </a:r>
            <a:r>
              <a:rPr kumimoji="1" lang="en-US" altLang="ja-JP" sz="2800" b="0" dirty="0"/>
              <a:t>)</a:t>
            </a:r>
          </a:p>
          <a:p>
            <a:pPr marL="0" indent="0">
              <a:buNone/>
            </a:pPr>
            <a:endParaRPr kumimoji="1" lang="en-US" altLang="ja-JP" sz="2800" b="0" dirty="0"/>
          </a:p>
        </p:txBody>
      </p:sp>
      <p:sp>
        <p:nvSpPr>
          <p:cNvPr id="8" name="テキスト ボックス 7">
            <a:extLst>
              <a:ext uri="{FF2B5EF4-FFF2-40B4-BE49-F238E27FC236}">
                <a16:creationId xmlns:a16="http://schemas.microsoft.com/office/drawing/2014/main" id="{6FDD60AB-FE4A-FACA-7555-E42A2B672619}"/>
              </a:ext>
            </a:extLst>
          </p:cNvPr>
          <p:cNvSpPr txBox="1"/>
          <p:nvPr/>
        </p:nvSpPr>
        <p:spPr>
          <a:xfrm>
            <a:off x="3503295" y="2476853"/>
            <a:ext cx="4669155" cy="523220"/>
          </a:xfrm>
          <a:prstGeom prst="rect">
            <a:avLst/>
          </a:prstGeom>
          <a:noFill/>
        </p:spPr>
        <p:txBody>
          <a:bodyPr wrap="square">
            <a:spAutoFit/>
          </a:bodyPr>
          <a:lstStyle/>
          <a:p>
            <a:pPr marL="0" indent="0">
              <a:buNone/>
            </a:pPr>
            <a:r>
              <a:rPr kumimoji="1" lang="ja-JP" altLang="en-US" sz="2800" b="0" dirty="0">
                <a:latin typeface="Meiryo UI" panose="020B0604030504040204" pitchFamily="50" charset="-128"/>
                <a:ea typeface="Meiryo UI" panose="020B0604030504040204" pitchFamily="50" charset="-128"/>
              </a:rPr>
              <a:t>頑健なプログラムを書きたい！</a:t>
            </a:r>
            <a:endParaRPr kumimoji="1" lang="en-US" altLang="ja-JP" sz="2800" b="0" dirty="0">
              <a:latin typeface="Meiryo UI" panose="020B0604030504040204" pitchFamily="50" charset="-128"/>
              <a:ea typeface="Meiryo UI" panose="020B0604030504040204" pitchFamily="50" charset="-128"/>
            </a:endParaRPr>
          </a:p>
        </p:txBody>
      </p:sp>
      <p:sp>
        <p:nvSpPr>
          <p:cNvPr id="9" name="矢印: 下 8">
            <a:extLst>
              <a:ext uri="{FF2B5EF4-FFF2-40B4-BE49-F238E27FC236}">
                <a16:creationId xmlns:a16="http://schemas.microsoft.com/office/drawing/2014/main" id="{8734B0A8-56EF-B619-2393-D2804274C2BC}"/>
              </a:ext>
            </a:extLst>
          </p:cNvPr>
          <p:cNvSpPr/>
          <p:nvPr/>
        </p:nvSpPr>
        <p:spPr>
          <a:xfrm>
            <a:off x="5234940" y="1930773"/>
            <a:ext cx="484632" cy="523220"/>
          </a:xfrm>
          <a:prstGeom prst="down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01390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89C9C-40BE-B444-98C8-4801BB02380E}"/>
              </a:ext>
            </a:extLst>
          </p:cNvPr>
          <p:cNvSpPr>
            <a:spLocks noGrp="1"/>
          </p:cNvSpPr>
          <p:nvPr>
            <p:ph type="title"/>
          </p:nvPr>
        </p:nvSpPr>
        <p:spPr/>
        <p:txBody>
          <a:bodyPr/>
          <a:lstStyle/>
          <a:p>
            <a:r>
              <a:rPr kumimoji="1" lang="ja-JP" altLang="en-US" dirty="0"/>
              <a:t>本発表について</a:t>
            </a:r>
          </a:p>
        </p:txBody>
      </p:sp>
      <p:sp>
        <p:nvSpPr>
          <p:cNvPr id="3" name="スライド番号プレースホルダー 2">
            <a:extLst>
              <a:ext uri="{FF2B5EF4-FFF2-40B4-BE49-F238E27FC236}">
                <a16:creationId xmlns:a16="http://schemas.microsoft.com/office/drawing/2014/main" id="{061F3F4E-0518-E973-EA96-11CED2D87267}"/>
              </a:ext>
            </a:extLst>
          </p:cNvPr>
          <p:cNvSpPr>
            <a:spLocks noGrp="1"/>
          </p:cNvSpPr>
          <p:nvPr>
            <p:ph type="sldNum" sz="quarter" idx="4"/>
          </p:nvPr>
        </p:nvSpPr>
        <p:spPr/>
        <p:txBody>
          <a:bodyPr/>
          <a:lstStyle/>
          <a:p>
            <a:fld id="{24AEDCA4-7D12-E34A-9125-9C962139F6EA}" type="slidenum">
              <a:rPr kumimoji="1" lang="en-US" altLang="ja-JP" smtClean="0"/>
              <a:pPr/>
              <a:t>3</a:t>
            </a:fld>
            <a:endParaRPr kumimoji="1" lang="en-US" altLang="ja-JP" dirty="0"/>
          </a:p>
        </p:txBody>
      </p:sp>
      <p:sp>
        <p:nvSpPr>
          <p:cNvPr id="4" name="コンテンツ プレースホルダー 3">
            <a:extLst>
              <a:ext uri="{FF2B5EF4-FFF2-40B4-BE49-F238E27FC236}">
                <a16:creationId xmlns:a16="http://schemas.microsoft.com/office/drawing/2014/main" id="{907A13CA-42B6-09B4-AAA8-B13B640EB08A}"/>
              </a:ext>
            </a:extLst>
          </p:cNvPr>
          <p:cNvSpPr>
            <a:spLocks noGrp="1"/>
          </p:cNvSpPr>
          <p:nvPr>
            <p:ph sz="half" idx="10"/>
          </p:nvPr>
        </p:nvSpPr>
        <p:spPr>
          <a:xfrm>
            <a:off x="719999" y="1328058"/>
            <a:ext cx="13188088" cy="5001369"/>
          </a:xfrm>
        </p:spPr>
        <p:txBody>
          <a:bodyPr/>
          <a:lstStyle/>
          <a:p>
            <a:pPr marL="0" indent="0">
              <a:buNone/>
            </a:pPr>
            <a:r>
              <a:rPr kumimoji="1" lang="en-US" altLang="ja-JP" sz="2800" b="0" dirty="0"/>
              <a:t>R</a:t>
            </a:r>
            <a:r>
              <a:rPr kumimoji="1" lang="ja-JP" altLang="en-US" sz="2800" b="0" dirty="0"/>
              <a:t>の標準パッケージ</a:t>
            </a:r>
            <a:r>
              <a:rPr kumimoji="1" lang="en-US" altLang="ja-JP" sz="2800" b="0" dirty="0"/>
              <a:t>(version 4.5.2)</a:t>
            </a:r>
            <a:r>
              <a:rPr kumimoji="1" lang="ja-JP" altLang="en-US" sz="2800" b="0" dirty="0"/>
              <a:t>のコーディングについて、</a:t>
            </a:r>
            <a:endParaRPr kumimoji="1" lang="en-US" altLang="ja-JP" sz="2800" b="0" dirty="0"/>
          </a:p>
          <a:p>
            <a:pPr marL="0" indent="0">
              <a:buNone/>
            </a:pPr>
            <a:r>
              <a:rPr kumimoji="1" lang="ja-JP" altLang="en-US" sz="2800" b="0" dirty="0"/>
              <a:t>想定外の挙動を起こさないように理解しておくべきこと、工夫できることを調査・検討した</a:t>
            </a:r>
            <a:endParaRPr kumimoji="1" lang="en-US" altLang="ja-JP" sz="2800" b="0" dirty="0"/>
          </a:p>
          <a:p>
            <a:pPr marL="0" indent="0">
              <a:buNone/>
            </a:pPr>
            <a:endParaRPr kumimoji="1" lang="en-US" altLang="ja-JP" sz="2800" b="0" dirty="0"/>
          </a:p>
          <a:p>
            <a:pPr marL="0" indent="0">
              <a:buNone/>
            </a:pPr>
            <a:r>
              <a:rPr kumimoji="1" lang="ja-JP" altLang="en-US" sz="2800" b="0" dirty="0"/>
              <a:t>以下は本発表のスコープ外とする</a:t>
            </a:r>
            <a:endParaRPr kumimoji="1" lang="en-US" altLang="ja-JP" sz="2800" b="0" dirty="0"/>
          </a:p>
          <a:p>
            <a:pPr marL="0" indent="0">
              <a:buNone/>
            </a:pPr>
            <a:r>
              <a:rPr kumimoji="1" lang="ja-JP" altLang="en-US" sz="2800" b="0" dirty="0"/>
              <a:t>　・ 追加パッケージのコーディング・処理</a:t>
            </a:r>
            <a:endParaRPr kumimoji="1" lang="en-US" altLang="ja-JP" sz="2800" b="0" dirty="0"/>
          </a:p>
          <a:p>
            <a:pPr marL="0" indent="0">
              <a:buNone/>
            </a:pPr>
            <a:r>
              <a:rPr kumimoji="1" lang="ja-JP" altLang="en-US" sz="2800" b="0" dirty="0"/>
              <a:t>　・ パッケージ</a:t>
            </a:r>
            <a:r>
              <a:rPr kumimoji="1" lang="en-US" altLang="ja-JP" sz="2800" b="0" dirty="0"/>
              <a:t>/</a:t>
            </a:r>
            <a:r>
              <a:rPr kumimoji="1" lang="ja-JP" altLang="en-US" sz="2800" b="0" dirty="0"/>
              <a:t>バージョン管理</a:t>
            </a:r>
            <a:endParaRPr kumimoji="1" lang="en-US" altLang="ja-JP" sz="2800" b="0" dirty="0"/>
          </a:p>
          <a:p>
            <a:pPr marL="0" indent="0">
              <a:buNone/>
            </a:pPr>
            <a:r>
              <a:rPr kumimoji="1" lang="ja-JP" altLang="en-US" sz="2800" b="0" dirty="0"/>
              <a:t>　・ バリデーション　　</a:t>
            </a:r>
            <a:endParaRPr kumimoji="1" lang="en-US" altLang="ja-JP" sz="2800" b="0" dirty="0"/>
          </a:p>
          <a:p>
            <a:pPr marL="0" indent="0">
              <a:buNone/>
            </a:pPr>
            <a:r>
              <a:rPr kumimoji="1" lang="ja-JP" altLang="en-US" sz="2800" b="0" dirty="0"/>
              <a:t>　・ ログチェック</a:t>
            </a:r>
            <a:endParaRPr kumimoji="1" lang="en-US" altLang="ja-JP" sz="2800" b="0" dirty="0"/>
          </a:p>
          <a:p>
            <a:pPr marL="0" indent="0">
              <a:buNone/>
            </a:pPr>
            <a:r>
              <a:rPr kumimoji="1" lang="ja-JP" altLang="en-US" sz="2800" b="0" dirty="0"/>
              <a:t>　・ </a:t>
            </a:r>
            <a:r>
              <a:rPr kumimoji="1" lang="en-US" altLang="ja-JP" sz="2800" b="0" dirty="0"/>
              <a:t>IDE(</a:t>
            </a:r>
            <a:r>
              <a:rPr kumimoji="1" lang="en-US" altLang="ja-JP" sz="2800" b="0" dirty="0" err="1"/>
              <a:t>Rstudio</a:t>
            </a:r>
            <a:r>
              <a:rPr kumimoji="1" lang="en-US" altLang="ja-JP" sz="2800" b="0" dirty="0"/>
              <a:t>)</a:t>
            </a:r>
            <a:r>
              <a:rPr kumimoji="1" lang="ja-JP" altLang="en-US" sz="2800" b="0" dirty="0"/>
              <a:t>の設定</a:t>
            </a:r>
            <a:endParaRPr kumimoji="1" lang="en-US" altLang="ja-JP" sz="2800" b="0" dirty="0"/>
          </a:p>
          <a:p>
            <a:pPr marL="0" indent="0">
              <a:buNone/>
            </a:pPr>
            <a:endParaRPr kumimoji="1" lang="en-US" altLang="ja-JP" sz="2800" b="0" dirty="0"/>
          </a:p>
        </p:txBody>
      </p:sp>
    </p:spTree>
    <p:extLst>
      <p:ext uri="{BB962C8B-B14F-4D97-AF65-F5344CB8AC3E}">
        <p14:creationId xmlns:p14="http://schemas.microsoft.com/office/powerpoint/2010/main" val="779194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E8F47-1974-2C36-42F1-44C0D55020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1BA06A-83C9-DC8D-6CB7-2750AF8716FE}"/>
              </a:ext>
            </a:extLst>
          </p:cNvPr>
          <p:cNvSpPr>
            <a:spLocks noGrp="1"/>
          </p:cNvSpPr>
          <p:nvPr>
            <p:ph type="title"/>
          </p:nvPr>
        </p:nvSpPr>
        <p:spPr/>
        <p:txBody>
          <a:bodyPr/>
          <a:lstStyle/>
          <a:p>
            <a:r>
              <a:rPr kumimoji="1" lang="ja-JP" altLang="en-US" dirty="0"/>
              <a:t>プログラム実行前に作業メモリ上のデータを消去する</a:t>
            </a:r>
          </a:p>
        </p:txBody>
      </p:sp>
      <p:sp>
        <p:nvSpPr>
          <p:cNvPr id="3" name="スライド番号プレースホルダー 2">
            <a:extLst>
              <a:ext uri="{FF2B5EF4-FFF2-40B4-BE49-F238E27FC236}">
                <a16:creationId xmlns:a16="http://schemas.microsoft.com/office/drawing/2014/main" id="{E010ADF2-9463-D447-1BBE-7372AF6F7D88}"/>
              </a:ext>
            </a:extLst>
          </p:cNvPr>
          <p:cNvSpPr>
            <a:spLocks noGrp="1"/>
          </p:cNvSpPr>
          <p:nvPr>
            <p:ph type="sldNum" sz="quarter" idx="4"/>
          </p:nvPr>
        </p:nvSpPr>
        <p:spPr/>
        <p:txBody>
          <a:bodyPr/>
          <a:lstStyle/>
          <a:p>
            <a:fld id="{24AEDCA4-7D12-E34A-9125-9C962139F6EA}" type="slidenum">
              <a:rPr kumimoji="1" lang="en-US" altLang="ja-JP" smtClean="0"/>
              <a:pPr/>
              <a:t>4</a:t>
            </a:fld>
            <a:endParaRPr kumimoji="1" lang="en-US" altLang="ja-JP" dirty="0"/>
          </a:p>
        </p:txBody>
      </p:sp>
      <p:sp>
        <p:nvSpPr>
          <p:cNvPr id="4" name="コンテンツ プレースホルダー 3">
            <a:extLst>
              <a:ext uri="{FF2B5EF4-FFF2-40B4-BE49-F238E27FC236}">
                <a16:creationId xmlns:a16="http://schemas.microsoft.com/office/drawing/2014/main" id="{576891EC-13FE-1DE7-84C0-4A2650DEC9A5}"/>
              </a:ext>
            </a:extLst>
          </p:cNvPr>
          <p:cNvSpPr>
            <a:spLocks noGrp="1"/>
          </p:cNvSpPr>
          <p:nvPr>
            <p:ph sz="half" idx="10"/>
          </p:nvPr>
        </p:nvSpPr>
        <p:spPr>
          <a:xfrm>
            <a:off x="719999" y="1328058"/>
            <a:ext cx="12933371" cy="2970044"/>
          </a:xfrm>
        </p:spPr>
        <p:txBody>
          <a:bodyPr/>
          <a:lstStyle/>
          <a:p>
            <a:pPr marL="0" indent="0">
              <a:buNone/>
            </a:pPr>
            <a:r>
              <a:rPr kumimoji="1" lang="ja-JP" altLang="en-US" sz="2800" b="0" dirty="0"/>
              <a:t>以下コードを実行することで、作業メモリ上のオブジェクトが消去される</a:t>
            </a:r>
            <a:endParaRPr kumimoji="1" lang="en-US" altLang="ja-JP" sz="2800" b="0" dirty="0"/>
          </a:p>
          <a:p>
            <a:pPr marL="0" indent="0">
              <a:buNone/>
            </a:pPr>
            <a:r>
              <a:rPr kumimoji="1" lang="ja-JP" altLang="en-US" sz="2800" b="0" dirty="0"/>
              <a:t>不要なオブジェクトの影響を受けないよう、</a:t>
            </a:r>
            <a:r>
              <a:rPr kumimoji="1" lang="en-US" altLang="ja-JP" sz="2800" b="0" dirty="0"/>
              <a:t>R</a:t>
            </a:r>
            <a:r>
              <a:rPr kumimoji="1" lang="ja-JP" altLang="en-US" sz="2800" b="0" dirty="0"/>
              <a:t>スクリプトの先頭に記載すると良い</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800" b="0" dirty="0"/>
              <a:t>※SAS</a:t>
            </a:r>
            <a:r>
              <a:rPr kumimoji="1" lang="ja-JP" altLang="en-US" sz="2800" b="0" dirty="0"/>
              <a:t>の以下の処理のようなもの</a:t>
            </a:r>
            <a:endParaRPr kumimoji="1" lang="en-US" altLang="ja-JP" sz="2800" b="0" dirty="0"/>
          </a:p>
        </p:txBody>
      </p:sp>
      <p:sp>
        <p:nvSpPr>
          <p:cNvPr id="5" name="正方形/長方形 4">
            <a:extLst>
              <a:ext uri="{FF2B5EF4-FFF2-40B4-BE49-F238E27FC236}">
                <a16:creationId xmlns:a16="http://schemas.microsoft.com/office/drawing/2014/main" id="{5C2B2D9E-78E0-6151-1D85-EADC695F265B}"/>
              </a:ext>
            </a:extLst>
          </p:cNvPr>
          <p:cNvSpPr/>
          <p:nvPr/>
        </p:nvSpPr>
        <p:spPr>
          <a:xfrm>
            <a:off x="751605" y="2543267"/>
            <a:ext cx="1648695" cy="593634"/>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BBC3478-154B-3D13-1517-ADBA64ACEA3F}"/>
              </a:ext>
            </a:extLst>
          </p:cNvPr>
          <p:cNvSpPr txBox="1"/>
          <p:nvPr/>
        </p:nvSpPr>
        <p:spPr>
          <a:xfrm>
            <a:off x="852486" y="2612515"/>
            <a:ext cx="1662114" cy="400110"/>
          </a:xfrm>
          <a:prstGeom prst="rect">
            <a:avLst/>
          </a:prstGeom>
          <a:noFill/>
        </p:spPr>
        <p:txBody>
          <a:bodyPr wrap="square">
            <a:spAutoFit/>
          </a:bodyPr>
          <a:lstStyle/>
          <a:p>
            <a:r>
              <a:rPr lang="en-US" altLang="ja-JP" sz="2000" dirty="0"/>
              <a:t>rm(list=ls())</a:t>
            </a:r>
            <a:endParaRPr lang="ja-JP" altLang="en-US" sz="2000" dirty="0">
              <a:solidFill>
                <a:srgbClr val="3333FF"/>
              </a:solidFill>
            </a:endParaRPr>
          </a:p>
        </p:txBody>
      </p:sp>
      <p:sp>
        <p:nvSpPr>
          <p:cNvPr id="7" name="正方形/長方形 6">
            <a:extLst>
              <a:ext uri="{FF2B5EF4-FFF2-40B4-BE49-F238E27FC236}">
                <a16:creationId xmlns:a16="http://schemas.microsoft.com/office/drawing/2014/main" id="{553F74D3-A87E-F0ED-723B-C09F798072ED}"/>
              </a:ext>
            </a:extLst>
          </p:cNvPr>
          <p:cNvSpPr/>
          <p:nvPr/>
        </p:nvSpPr>
        <p:spPr>
          <a:xfrm>
            <a:off x="751605" y="4433225"/>
            <a:ext cx="5204695" cy="593634"/>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80"/>
                </a:solidFill>
                <a:latin typeface="Courier New" panose="02070309020205020404" pitchFamily="49" charset="0"/>
              </a:rPr>
              <a:t>proc</a:t>
            </a:r>
            <a:r>
              <a:rPr lang="en-US" altLang="ja-JP" sz="2000" b="0" dirty="0">
                <a:solidFill>
                  <a:srgbClr val="000000"/>
                </a:solidFill>
                <a:latin typeface="Courier New" panose="02070309020205020404" pitchFamily="49" charset="0"/>
              </a:rPr>
              <a:t> </a:t>
            </a:r>
            <a:r>
              <a:rPr lang="en-US" altLang="ja-JP" sz="2000" b="1" dirty="0">
                <a:solidFill>
                  <a:srgbClr val="000080"/>
                </a:solidFill>
                <a:latin typeface="Courier New" panose="02070309020205020404" pitchFamily="49" charset="0"/>
              </a:rPr>
              <a:t>datasets</a:t>
            </a:r>
            <a:r>
              <a:rPr lang="en-US" altLang="ja-JP" sz="2000" b="0" dirty="0">
                <a:solidFill>
                  <a:srgbClr val="000000"/>
                </a:solidFill>
                <a:latin typeface="Courier New" panose="02070309020205020404" pitchFamily="49" charset="0"/>
              </a:rPr>
              <a:t> </a:t>
            </a:r>
            <a:r>
              <a:rPr lang="en-US" altLang="ja-JP" sz="2000" b="0" dirty="0">
                <a:solidFill>
                  <a:srgbClr val="0000FF"/>
                </a:solidFill>
                <a:latin typeface="Courier New" panose="02070309020205020404" pitchFamily="49" charset="0"/>
              </a:rPr>
              <a:t>kill</a:t>
            </a:r>
            <a:r>
              <a:rPr lang="en-US" altLang="ja-JP" sz="2000" b="0" dirty="0">
                <a:solidFill>
                  <a:srgbClr val="000000"/>
                </a:solidFill>
                <a:latin typeface="Courier New" panose="02070309020205020404" pitchFamily="49" charset="0"/>
              </a:rPr>
              <a:t> </a:t>
            </a:r>
            <a:r>
              <a:rPr lang="en-US" altLang="ja-JP" sz="2000" b="0" dirty="0" err="1">
                <a:solidFill>
                  <a:srgbClr val="0000FF"/>
                </a:solidFill>
                <a:latin typeface="Courier New" panose="02070309020205020404" pitchFamily="49" charset="0"/>
              </a:rPr>
              <a:t>nolist</a:t>
            </a:r>
            <a:r>
              <a:rPr lang="en-US" altLang="ja-JP" sz="2000" b="0" dirty="0">
                <a:solidFill>
                  <a:srgbClr val="000000"/>
                </a:solidFill>
                <a:latin typeface="Courier New" panose="02070309020205020404" pitchFamily="49" charset="0"/>
              </a:rPr>
              <a:t>; </a:t>
            </a:r>
            <a:r>
              <a:rPr lang="en-US" altLang="ja-JP" sz="2000" b="1" dirty="0">
                <a:solidFill>
                  <a:srgbClr val="000080"/>
                </a:solidFill>
                <a:latin typeface="Courier New" panose="02070309020205020404" pitchFamily="49" charset="0"/>
              </a:rPr>
              <a:t>quit</a:t>
            </a:r>
            <a:r>
              <a:rPr lang="en-US" altLang="ja-JP" sz="2000" b="0" dirty="0">
                <a:solidFill>
                  <a:srgbClr val="000000"/>
                </a:solidFill>
                <a:latin typeface="Courier New" panose="02070309020205020404" pitchFamily="49" charset="0"/>
              </a:rPr>
              <a:t>;</a:t>
            </a:r>
            <a:endParaRPr kumimoji="1" lang="ja-JP" altLang="en-US" sz="2000" dirty="0"/>
          </a:p>
        </p:txBody>
      </p:sp>
    </p:spTree>
    <p:extLst>
      <p:ext uri="{BB962C8B-B14F-4D97-AF65-F5344CB8AC3E}">
        <p14:creationId xmlns:p14="http://schemas.microsoft.com/office/powerpoint/2010/main" val="2882989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89C9C-40BE-B444-98C8-4801BB02380E}"/>
              </a:ext>
            </a:extLst>
          </p:cNvPr>
          <p:cNvSpPr>
            <a:spLocks noGrp="1"/>
          </p:cNvSpPr>
          <p:nvPr>
            <p:ph type="title"/>
          </p:nvPr>
        </p:nvSpPr>
        <p:spPr/>
        <p:txBody>
          <a:bodyPr/>
          <a:lstStyle/>
          <a:p>
            <a:r>
              <a:rPr kumimoji="1" lang="ja-JP" altLang="en-US" dirty="0"/>
              <a:t>式の途中の改行に注意</a:t>
            </a:r>
          </a:p>
        </p:txBody>
      </p:sp>
      <p:sp>
        <p:nvSpPr>
          <p:cNvPr id="3" name="スライド番号プレースホルダー 2">
            <a:extLst>
              <a:ext uri="{FF2B5EF4-FFF2-40B4-BE49-F238E27FC236}">
                <a16:creationId xmlns:a16="http://schemas.microsoft.com/office/drawing/2014/main" id="{061F3F4E-0518-E973-EA96-11CED2D87267}"/>
              </a:ext>
            </a:extLst>
          </p:cNvPr>
          <p:cNvSpPr>
            <a:spLocks noGrp="1"/>
          </p:cNvSpPr>
          <p:nvPr>
            <p:ph type="sldNum" sz="quarter" idx="4"/>
          </p:nvPr>
        </p:nvSpPr>
        <p:spPr/>
        <p:txBody>
          <a:bodyPr/>
          <a:lstStyle/>
          <a:p>
            <a:fld id="{24AEDCA4-7D12-E34A-9125-9C962139F6EA}" type="slidenum">
              <a:rPr kumimoji="1" lang="en-US" altLang="ja-JP" smtClean="0"/>
              <a:pPr/>
              <a:t>5</a:t>
            </a:fld>
            <a:endParaRPr kumimoji="1" lang="en-US" altLang="ja-JP" dirty="0"/>
          </a:p>
        </p:txBody>
      </p:sp>
      <p:sp>
        <p:nvSpPr>
          <p:cNvPr id="4" name="コンテンツ プレースホルダー 3">
            <a:extLst>
              <a:ext uri="{FF2B5EF4-FFF2-40B4-BE49-F238E27FC236}">
                <a16:creationId xmlns:a16="http://schemas.microsoft.com/office/drawing/2014/main" id="{BC069454-E2EE-1349-180D-87AEB7B21078}"/>
              </a:ext>
            </a:extLst>
          </p:cNvPr>
          <p:cNvSpPr>
            <a:spLocks noGrp="1"/>
          </p:cNvSpPr>
          <p:nvPr>
            <p:ph sz="half" idx="10"/>
          </p:nvPr>
        </p:nvSpPr>
        <p:spPr>
          <a:xfrm>
            <a:off x="673249" y="4599871"/>
            <a:ext cx="13058476" cy="1446550"/>
          </a:xfrm>
        </p:spPr>
        <p:txBody>
          <a:bodyPr/>
          <a:lstStyle/>
          <a:p>
            <a:pPr marL="0" indent="0">
              <a:buNone/>
            </a:pPr>
            <a:endParaRPr kumimoji="1" lang="en-US" altLang="ja-JP" sz="2800" b="0" dirty="0"/>
          </a:p>
          <a:p>
            <a:pPr marL="0" indent="0">
              <a:buNone/>
            </a:pPr>
            <a:r>
              <a:rPr kumimoji="1" lang="ja-JP" altLang="en-US" sz="2800" b="0" dirty="0"/>
              <a:t>基本的に不要な改行はすべきではないが、</a:t>
            </a:r>
            <a:endParaRPr kumimoji="1" lang="en-US" altLang="ja-JP" sz="2800" b="0" dirty="0"/>
          </a:p>
          <a:p>
            <a:pPr marL="0" indent="0">
              <a:buNone/>
            </a:pPr>
            <a:r>
              <a:rPr kumimoji="1" lang="ja-JP" altLang="en-US" sz="2800" b="0" dirty="0"/>
              <a:t>可読性の観点などから式の途中で改行する場合は注意　</a:t>
            </a:r>
            <a:endParaRPr kumimoji="1" lang="en-US" altLang="ja-JP" sz="2800" b="0" dirty="0"/>
          </a:p>
        </p:txBody>
      </p:sp>
      <p:sp>
        <p:nvSpPr>
          <p:cNvPr id="5" name="正方形/長方形 4">
            <a:extLst>
              <a:ext uri="{FF2B5EF4-FFF2-40B4-BE49-F238E27FC236}">
                <a16:creationId xmlns:a16="http://schemas.microsoft.com/office/drawing/2014/main" id="{97CB2988-9C0C-0710-54E9-AA022FE604A0}"/>
              </a:ext>
            </a:extLst>
          </p:cNvPr>
          <p:cNvSpPr/>
          <p:nvPr/>
        </p:nvSpPr>
        <p:spPr>
          <a:xfrm>
            <a:off x="2871787" y="2654971"/>
            <a:ext cx="2043113" cy="93871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C417512-D769-55FD-91D3-6BD826AAA280}"/>
              </a:ext>
            </a:extLst>
          </p:cNvPr>
          <p:cNvSpPr txBox="1"/>
          <p:nvPr/>
        </p:nvSpPr>
        <p:spPr>
          <a:xfrm>
            <a:off x="2897186" y="2725929"/>
            <a:ext cx="2132014" cy="707886"/>
          </a:xfrm>
          <a:prstGeom prst="rect">
            <a:avLst/>
          </a:prstGeom>
          <a:noFill/>
        </p:spPr>
        <p:txBody>
          <a:bodyPr wrap="square">
            <a:spAutoFit/>
          </a:bodyPr>
          <a:lstStyle/>
          <a:p>
            <a:r>
              <a:rPr lang="en-US" altLang="ja-JP" sz="2000" dirty="0"/>
              <a:t>a1 &lt;- </a:t>
            </a:r>
            <a:r>
              <a:rPr lang="ja-JP" altLang="en-US" sz="2000" dirty="0">
                <a:solidFill>
                  <a:srgbClr val="3333FF"/>
                </a:solidFill>
              </a:rPr>
              <a:t>1 </a:t>
            </a:r>
            <a:r>
              <a:rPr lang="ja-JP" altLang="en-US" sz="2000" dirty="0"/>
              <a:t>+ </a:t>
            </a:r>
            <a:r>
              <a:rPr lang="ja-JP" altLang="en-US" sz="2000" dirty="0">
                <a:solidFill>
                  <a:srgbClr val="3333FF"/>
                </a:solidFill>
              </a:rPr>
              <a:t>2 </a:t>
            </a:r>
            <a:r>
              <a:rPr lang="ja-JP" altLang="en-US" sz="2000" dirty="0"/>
              <a:t>+ </a:t>
            </a:r>
            <a:r>
              <a:rPr lang="ja-JP" altLang="en-US" sz="2000" dirty="0">
                <a:solidFill>
                  <a:srgbClr val="3333FF"/>
                </a:solidFill>
              </a:rPr>
              <a:t>3</a:t>
            </a:r>
            <a:endParaRPr lang="en-US" altLang="ja-JP" sz="2000" dirty="0">
              <a:solidFill>
                <a:srgbClr val="3333FF"/>
              </a:solidFill>
            </a:endParaRPr>
          </a:p>
          <a:p>
            <a:r>
              <a:rPr lang="ja-JP" altLang="en-US" sz="2000" dirty="0">
                <a:solidFill>
                  <a:srgbClr val="FF0000"/>
                </a:solidFill>
              </a:rPr>
              <a:t>   + </a:t>
            </a:r>
            <a:r>
              <a:rPr lang="ja-JP" altLang="en-US" sz="2000" dirty="0">
                <a:solidFill>
                  <a:srgbClr val="3333FF"/>
                </a:solidFill>
              </a:rPr>
              <a:t>4 </a:t>
            </a:r>
            <a:r>
              <a:rPr lang="ja-JP" altLang="en-US" sz="2000" dirty="0"/>
              <a:t>+ </a:t>
            </a:r>
            <a:r>
              <a:rPr lang="ja-JP" altLang="en-US" sz="2000" dirty="0">
                <a:solidFill>
                  <a:srgbClr val="3333FF"/>
                </a:solidFill>
              </a:rPr>
              <a:t>5</a:t>
            </a:r>
          </a:p>
        </p:txBody>
      </p:sp>
      <p:sp>
        <p:nvSpPr>
          <p:cNvPr id="10" name="正方形/長方形 9">
            <a:extLst>
              <a:ext uri="{FF2B5EF4-FFF2-40B4-BE49-F238E27FC236}">
                <a16:creationId xmlns:a16="http://schemas.microsoft.com/office/drawing/2014/main" id="{B32ABFDC-DB24-220D-33AA-453E8E11A0AD}"/>
              </a:ext>
            </a:extLst>
          </p:cNvPr>
          <p:cNvSpPr/>
          <p:nvPr/>
        </p:nvSpPr>
        <p:spPr>
          <a:xfrm>
            <a:off x="8243887" y="2654971"/>
            <a:ext cx="2259014" cy="93871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F51323B-44C5-5627-148D-6E2BF15654FC}"/>
              </a:ext>
            </a:extLst>
          </p:cNvPr>
          <p:cNvSpPr txBox="1"/>
          <p:nvPr/>
        </p:nvSpPr>
        <p:spPr>
          <a:xfrm>
            <a:off x="8269286" y="2725929"/>
            <a:ext cx="2538413" cy="707886"/>
          </a:xfrm>
          <a:prstGeom prst="rect">
            <a:avLst/>
          </a:prstGeom>
          <a:noFill/>
        </p:spPr>
        <p:txBody>
          <a:bodyPr wrap="square">
            <a:spAutoFit/>
          </a:bodyPr>
          <a:lstStyle/>
          <a:p>
            <a:r>
              <a:rPr lang="en-US" altLang="ja-JP" sz="2000" dirty="0"/>
              <a:t>a2 &lt;- </a:t>
            </a:r>
            <a:r>
              <a:rPr lang="ja-JP" altLang="en-US" sz="2000" dirty="0">
                <a:solidFill>
                  <a:srgbClr val="3333FF"/>
                </a:solidFill>
              </a:rPr>
              <a:t>1 </a:t>
            </a:r>
            <a:r>
              <a:rPr lang="ja-JP" altLang="en-US" sz="2000" dirty="0"/>
              <a:t>+ </a:t>
            </a:r>
            <a:r>
              <a:rPr lang="ja-JP" altLang="en-US" sz="2000" dirty="0">
                <a:solidFill>
                  <a:srgbClr val="3333FF"/>
                </a:solidFill>
              </a:rPr>
              <a:t>2 </a:t>
            </a:r>
            <a:r>
              <a:rPr lang="ja-JP" altLang="en-US" sz="2000" dirty="0"/>
              <a:t>+ </a:t>
            </a:r>
            <a:r>
              <a:rPr lang="ja-JP" altLang="en-US" sz="2000" dirty="0">
                <a:solidFill>
                  <a:srgbClr val="3333FF"/>
                </a:solidFill>
              </a:rPr>
              <a:t>3 </a:t>
            </a:r>
            <a:r>
              <a:rPr lang="ja-JP" altLang="en-US" sz="2000" dirty="0">
                <a:solidFill>
                  <a:srgbClr val="FF0000"/>
                </a:solidFill>
              </a:rPr>
              <a:t>+</a:t>
            </a:r>
            <a:endParaRPr lang="en-US" altLang="ja-JP" sz="2000" dirty="0">
              <a:solidFill>
                <a:srgbClr val="FF0000"/>
              </a:solidFill>
            </a:endParaRPr>
          </a:p>
          <a:p>
            <a:r>
              <a:rPr lang="ja-JP" altLang="en-US" sz="2000" dirty="0">
                <a:solidFill>
                  <a:srgbClr val="3333FF"/>
                </a:solidFill>
              </a:rPr>
              <a:t>   4 </a:t>
            </a:r>
            <a:r>
              <a:rPr lang="ja-JP" altLang="en-US" sz="2000" dirty="0"/>
              <a:t>+ </a:t>
            </a:r>
            <a:r>
              <a:rPr lang="ja-JP" altLang="en-US" sz="2000" dirty="0">
                <a:solidFill>
                  <a:srgbClr val="3333FF"/>
                </a:solidFill>
              </a:rPr>
              <a:t>5</a:t>
            </a:r>
          </a:p>
        </p:txBody>
      </p:sp>
      <p:sp>
        <p:nvSpPr>
          <p:cNvPr id="12" name="コンテンツ プレースホルダー 3">
            <a:extLst>
              <a:ext uri="{FF2B5EF4-FFF2-40B4-BE49-F238E27FC236}">
                <a16:creationId xmlns:a16="http://schemas.microsoft.com/office/drawing/2014/main" id="{9D3B9984-F44A-6F05-87F9-854D5E3DCE52}"/>
              </a:ext>
            </a:extLst>
          </p:cNvPr>
          <p:cNvSpPr txBox="1">
            <a:spLocks/>
          </p:cNvSpPr>
          <p:nvPr/>
        </p:nvSpPr>
        <p:spPr>
          <a:xfrm>
            <a:off x="522286" y="1406985"/>
            <a:ext cx="9318943"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改行位置が演算子前後で処理が変わる</a:t>
            </a:r>
            <a:endParaRPr kumimoji="1" lang="en-US" altLang="ja-JP" sz="2800" b="0" dirty="0"/>
          </a:p>
          <a:p>
            <a:pPr marL="0" indent="0">
              <a:buNone/>
            </a:pPr>
            <a:r>
              <a:rPr kumimoji="1" lang="ja-JP" altLang="en-US" sz="2800" b="0" dirty="0"/>
              <a:t>行が演算子で終わっている場合、式は完結していないとみなされる</a:t>
            </a:r>
            <a:endParaRPr kumimoji="1" lang="en-US" altLang="ja-JP" sz="2800" b="0" dirty="0"/>
          </a:p>
          <a:p>
            <a:pPr marL="0" indent="0">
              <a:buFont typeface="Arial" panose="020B0604020202020204" pitchFamily="34" charset="0"/>
              <a:buNone/>
            </a:pPr>
            <a:endParaRPr kumimoji="1" lang="en-US" altLang="ja-JP" sz="2800" b="0" dirty="0"/>
          </a:p>
        </p:txBody>
      </p:sp>
      <p:sp>
        <p:nvSpPr>
          <p:cNvPr id="6" name="コンテンツ プレースホルダー 3">
            <a:extLst>
              <a:ext uri="{FF2B5EF4-FFF2-40B4-BE49-F238E27FC236}">
                <a16:creationId xmlns:a16="http://schemas.microsoft.com/office/drawing/2014/main" id="{7F88E9ED-A731-7383-D573-2B109D1F2032}"/>
              </a:ext>
            </a:extLst>
          </p:cNvPr>
          <p:cNvSpPr txBox="1">
            <a:spLocks/>
          </p:cNvSpPr>
          <p:nvPr/>
        </p:nvSpPr>
        <p:spPr>
          <a:xfrm>
            <a:off x="814536" y="3758308"/>
            <a:ext cx="6970564" cy="69249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en-US" altLang="ja-JP" b="0" dirty="0"/>
              <a:t>1+2+3 </a:t>
            </a:r>
            <a:r>
              <a:rPr kumimoji="1" lang="ja-JP" altLang="en-US" b="0" dirty="0"/>
              <a:t>と</a:t>
            </a:r>
            <a:r>
              <a:rPr kumimoji="1" lang="en-US" altLang="ja-JP" b="0" dirty="0"/>
              <a:t>4+5</a:t>
            </a:r>
            <a:r>
              <a:rPr kumimoji="1" lang="ja-JP" altLang="en-US" b="0" dirty="0"/>
              <a:t>でそれぞれ</a:t>
            </a:r>
            <a:r>
              <a:rPr kumimoji="1" lang="en-US" altLang="ja-JP" b="0" dirty="0"/>
              <a:t>2</a:t>
            </a:r>
            <a:r>
              <a:rPr kumimoji="1" lang="ja-JP" altLang="en-US" b="0" dirty="0"/>
              <a:t>つの計算式としてみなされるので、</a:t>
            </a:r>
            <a:endParaRPr kumimoji="1" lang="en-US" altLang="ja-JP" b="0" dirty="0"/>
          </a:p>
          <a:p>
            <a:pPr marL="0" indent="0">
              <a:buFont typeface="Arial" panose="020B0604020202020204" pitchFamily="34" charset="0"/>
              <a:buNone/>
            </a:pPr>
            <a:r>
              <a:rPr kumimoji="1" lang="ja-JP" altLang="en-US" b="0" dirty="0"/>
              <a:t>実行すると</a:t>
            </a:r>
            <a:r>
              <a:rPr kumimoji="1" lang="en-US" altLang="ja-JP" b="0" dirty="0"/>
              <a:t>a1</a:t>
            </a:r>
            <a:r>
              <a:rPr kumimoji="1" lang="ja-JP" altLang="en-US" b="0" dirty="0"/>
              <a:t>には</a:t>
            </a:r>
            <a:r>
              <a:rPr kumimoji="1" lang="en-US" altLang="ja-JP" b="0" dirty="0"/>
              <a:t>6</a:t>
            </a:r>
            <a:r>
              <a:rPr kumimoji="1" lang="ja-JP" altLang="en-US" b="0" dirty="0"/>
              <a:t>が格納され、コンソールに</a:t>
            </a:r>
            <a:r>
              <a:rPr kumimoji="1" lang="en-US" altLang="ja-JP" b="0" dirty="0"/>
              <a:t>9</a:t>
            </a:r>
            <a:r>
              <a:rPr kumimoji="1" lang="ja-JP" altLang="en-US" b="0" dirty="0"/>
              <a:t>が出力される</a:t>
            </a:r>
            <a:endParaRPr kumimoji="1" lang="en-US" altLang="ja-JP" b="0" dirty="0"/>
          </a:p>
        </p:txBody>
      </p:sp>
      <p:sp>
        <p:nvSpPr>
          <p:cNvPr id="7" name="コンテンツ プレースホルダー 3">
            <a:extLst>
              <a:ext uri="{FF2B5EF4-FFF2-40B4-BE49-F238E27FC236}">
                <a16:creationId xmlns:a16="http://schemas.microsoft.com/office/drawing/2014/main" id="{734A08FF-AE8F-CF64-8371-098AC04A2315}"/>
              </a:ext>
            </a:extLst>
          </p:cNvPr>
          <p:cNvSpPr txBox="1">
            <a:spLocks/>
          </p:cNvSpPr>
          <p:nvPr/>
        </p:nvSpPr>
        <p:spPr>
          <a:xfrm>
            <a:off x="7805810" y="3758308"/>
            <a:ext cx="3465364" cy="30777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en-US" altLang="ja-JP" b="0" dirty="0"/>
              <a:t>a2</a:t>
            </a:r>
            <a:r>
              <a:rPr kumimoji="1" lang="ja-JP" altLang="en-US" b="0" dirty="0"/>
              <a:t>に</a:t>
            </a:r>
            <a:r>
              <a:rPr kumimoji="1" lang="en-US" altLang="ja-JP" b="0" dirty="0"/>
              <a:t>15</a:t>
            </a:r>
            <a:r>
              <a:rPr kumimoji="1" lang="ja-JP" altLang="en-US" b="0" dirty="0"/>
              <a:t>という結果が格納される　</a:t>
            </a:r>
            <a:endParaRPr kumimoji="1" lang="en-US" altLang="ja-JP" b="0" dirty="0"/>
          </a:p>
        </p:txBody>
      </p:sp>
    </p:spTree>
    <p:extLst>
      <p:ext uri="{BB962C8B-B14F-4D97-AF65-F5344CB8AC3E}">
        <p14:creationId xmlns:p14="http://schemas.microsoft.com/office/powerpoint/2010/main" val="254332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5ADB7-54CC-537F-E598-AE44C3919E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54F7E4-B08C-66E2-482E-2543CAD3E849}"/>
              </a:ext>
            </a:extLst>
          </p:cNvPr>
          <p:cNvSpPr>
            <a:spLocks noGrp="1"/>
          </p:cNvSpPr>
          <p:nvPr>
            <p:ph type="title"/>
          </p:nvPr>
        </p:nvSpPr>
        <p:spPr/>
        <p:txBody>
          <a:bodyPr/>
          <a:lstStyle/>
          <a:p>
            <a:r>
              <a:rPr kumimoji="1" lang="ja-JP" altLang="en-US" dirty="0"/>
              <a:t>演算子の前後には半角スペースを入れる</a:t>
            </a:r>
          </a:p>
        </p:txBody>
      </p:sp>
      <p:sp>
        <p:nvSpPr>
          <p:cNvPr id="3" name="スライド番号プレースホルダー 2">
            <a:extLst>
              <a:ext uri="{FF2B5EF4-FFF2-40B4-BE49-F238E27FC236}">
                <a16:creationId xmlns:a16="http://schemas.microsoft.com/office/drawing/2014/main" id="{65D6565E-AC3C-5F03-6C21-979AB1F92C55}"/>
              </a:ext>
            </a:extLst>
          </p:cNvPr>
          <p:cNvSpPr>
            <a:spLocks noGrp="1"/>
          </p:cNvSpPr>
          <p:nvPr>
            <p:ph type="sldNum" sz="quarter" idx="4"/>
          </p:nvPr>
        </p:nvSpPr>
        <p:spPr/>
        <p:txBody>
          <a:bodyPr/>
          <a:lstStyle/>
          <a:p>
            <a:fld id="{24AEDCA4-7D12-E34A-9125-9C962139F6EA}" type="slidenum">
              <a:rPr kumimoji="1" lang="en-US" altLang="ja-JP" smtClean="0"/>
              <a:pPr/>
              <a:t>6</a:t>
            </a:fld>
            <a:endParaRPr kumimoji="1" lang="en-US" altLang="ja-JP" dirty="0"/>
          </a:p>
        </p:txBody>
      </p:sp>
      <p:sp>
        <p:nvSpPr>
          <p:cNvPr id="4" name="コンテンツ プレースホルダー 3">
            <a:extLst>
              <a:ext uri="{FF2B5EF4-FFF2-40B4-BE49-F238E27FC236}">
                <a16:creationId xmlns:a16="http://schemas.microsoft.com/office/drawing/2014/main" id="{C1E3B3EF-0A78-EB48-2AD5-4CCCCC02FEA7}"/>
              </a:ext>
            </a:extLst>
          </p:cNvPr>
          <p:cNvSpPr>
            <a:spLocks noGrp="1"/>
          </p:cNvSpPr>
          <p:nvPr>
            <p:ph sz="half" idx="10"/>
          </p:nvPr>
        </p:nvSpPr>
        <p:spPr>
          <a:xfrm>
            <a:off x="7975601" y="1936721"/>
            <a:ext cx="3656014" cy="430887"/>
          </a:xfrm>
        </p:spPr>
        <p:txBody>
          <a:bodyPr/>
          <a:lstStyle/>
          <a:p>
            <a:pPr marL="0" indent="0">
              <a:buNone/>
            </a:pPr>
            <a:r>
              <a:rPr kumimoji="1" lang="ja-JP" altLang="en-US" sz="2800" b="0" dirty="0"/>
              <a:t>← </a:t>
            </a:r>
            <a:r>
              <a:rPr kumimoji="1" lang="en-US" altLang="ja-JP" sz="2800" b="0" dirty="0"/>
              <a:t>x</a:t>
            </a:r>
            <a:r>
              <a:rPr kumimoji="1" lang="ja-JP" altLang="en-US" sz="2800" b="0" dirty="0"/>
              <a:t>に</a:t>
            </a:r>
            <a:r>
              <a:rPr kumimoji="1" lang="en-US" altLang="ja-JP" sz="2800" b="0" dirty="0"/>
              <a:t>15</a:t>
            </a:r>
            <a:r>
              <a:rPr kumimoji="1" lang="ja-JP" altLang="en-US" sz="2800" b="0" dirty="0"/>
              <a:t>を代入する</a:t>
            </a:r>
            <a:endParaRPr kumimoji="1" lang="en-US" altLang="ja-JP" sz="2800" b="0" dirty="0"/>
          </a:p>
        </p:txBody>
      </p:sp>
      <p:sp>
        <p:nvSpPr>
          <p:cNvPr id="5" name="正方形/長方形 4">
            <a:extLst>
              <a:ext uri="{FF2B5EF4-FFF2-40B4-BE49-F238E27FC236}">
                <a16:creationId xmlns:a16="http://schemas.microsoft.com/office/drawing/2014/main" id="{44E6EFF7-E6BB-7954-CABD-7A8D15E30D41}"/>
              </a:ext>
            </a:extLst>
          </p:cNvPr>
          <p:cNvSpPr/>
          <p:nvPr/>
        </p:nvSpPr>
        <p:spPr>
          <a:xfrm>
            <a:off x="496887" y="1987522"/>
            <a:ext cx="3300413" cy="38989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91B45BB-DABB-7129-6E66-361B966AB6BC}"/>
              </a:ext>
            </a:extLst>
          </p:cNvPr>
          <p:cNvSpPr txBox="1"/>
          <p:nvPr/>
        </p:nvSpPr>
        <p:spPr>
          <a:xfrm>
            <a:off x="560387" y="1987521"/>
            <a:ext cx="3656013" cy="3785652"/>
          </a:xfrm>
          <a:prstGeom prst="rect">
            <a:avLst/>
          </a:prstGeom>
          <a:noFill/>
        </p:spPr>
        <p:txBody>
          <a:bodyPr wrap="square">
            <a:spAutoFit/>
          </a:bodyPr>
          <a:lstStyle/>
          <a:p>
            <a:r>
              <a:rPr lang="en-US" altLang="ja-JP" sz="2000" dirty="0"/>
              <a:t>x &lt;- </a:t>
            </a:r>
            <a:r>
              <a:rPr lang="en-US" altLang="ja-JP" sz="2000" dirty="0">
                <a:solidFill>
                  <a:srgbClr val="3333FF"/>
                </a:solidFill>
              </a:rPr>
              <a:t>15</a:t>
            </a:r>
          </a:p>
          <a:p>
            <a:r>
              <a:rPr lang="en-US" altLang="ja-JP" sz="2000" dirty="0"/>
              <a:t>x</a:t>
            </a:r>
          </a:p>
          <a:p>
            <a:endParaRPr lang="en-US" altLang="ja-JP" sz="2000" dirty="0"/>
          </a:p>
          <a:p>
            <a:r>
              <a:rPr lang="en-US" altLang="ja-JP" sz="2000" dirty="0">
                <a:solidFill>
                  <a:srgbClr val="3333FF"/>
                </a:solidFill>
              </a:rPr>
              <a:t>if</a:t>
            </a:r>
            <a:r>
              <a:rPr lang="en-US" altLang="ja-JP" sz="2000" dirty="0"/>
              <a:t> (x &lt; -</a:t>
            </a:r>
            <a:r>
              <a:rPr lang="en-US" altLang="ja-JP" sz="2000" dirty="0">
                <a:solidFill>
                  <a:srgbClr val="3333FF"/>
                </a:solidFill>
              </a:rPr>
              <a:t>10</a:t>
            </a:r>
            <a:r>
              <a:rPr lang="en-US" altLang="ja-JP" sz="2000" dirty="0"/>
              <a:t>){</a:t>
            </a:r>
          </a:p>
          <a:p>
            <a:r>
              <a:rPr lang="en-US" altLang="ja-JP" sz="2000" dirty="0"/>
              <a:t>  print(</a:t>
            </a:r>
            <a:r>
              <a:rPr lang="en-US" altLang="ja-JP" sz="2000" dirty="0">
                <a:solidFill>
                  <a:srgbClr val="00B050"/>
                </a:solidFill>
              </a:rPr>
              <a:t>"x</a:t>
            </a:r>
            <a:r>
              <a:rPr lang="ja-JP" altLang="en-US" sz="2000" dirty="0">
                <a:solidFill>
                  <a:srgbClr val="00B050"/>
                </a:solidFill>
              </a:rPr>
              <a:t>は</a:t>
            </a:r>
            <a:r>
              <a:rPr lang="en-US" altLang="ja-JP" sz="2000" dirty="0">
                <a:solidFill>
                  <a:srgbClr val="00B050"/>
                </a:solidFill>
              </a:rPr>
              <a:t>-10</a:t>
            </a:r>
            <a:r>
              <a:rPr lang="ja-JP" altLang="en-US" sz="2000" dirty="0">
                <a:solidFill>
                  <a:srgbClr val="00B050"/>
                </a:solidFill>
              </a:rPr>
              <a:t>より小さい</a:t>
            </a:r>
            <a:r>
              <a:rPr lang="en-US" altLang="ja-JP" sz="2000" dirty="0">
                <a:solidFill>
                  <a:srgbClr val="00B050"/>
                </a:solidFill>
              </a:rPr>
              <a:t>"</a:t>
            </a:r>
            <a:r>
              <a:rPr lang="en-US" altLang="ja-JP" sz="2000" dirty="0"/>
              <a:t>)</a:t>
            </a:r>
          </a:p>
          <a:p>
            <a:r>
              <a:rPr lang="en-US" altLang="ja-JP" sz="2000" dirty="0"/>
              <a:t>}</a:t>
            </a:r>
          </a:p>
          <a:p>
            <a:r>
              <a:rPr lang="en-US" altLang="ja-JP" sz="2000" dirty="0"/>
              <a:t>x</a:t>
            </a:r>
          </a:p>
          <a:p>
            <a:endParaRPr lang="en-US" altLang="ja-JP" sz="2000" dirty="0"/>
          </a:p>
          <a:p>
            <a:r>
              <a:rPr lang="en-US" altLang="ja-JP" sz="2000" dirty="0">
                <a:solidFill>
                  <a:srgbClr val="3333FF"/>
                </a:solidFill>
              </a:rPr>
              <a:t>if</a:t>
            </a:r>
            <a:r>
              <a:rPr lang="en-US" altLang="ja-JP" sz="2000" dirty="0"/>
              <a:t> (x &lt;-</a:t>
            </a:r>
            <a:r>
              <a:rPr lang="en-US" altLang="ja-JP" sz="2000" dirty="0">
                <a:solidFill>
                  <a:srgbClr val="3333FF"/>
                </a:solidFill>
              </a:rPr>
              <a:t>10</a:t>
            </a:r>
            <a:r>
              <a:rPr lang="en-US" altLang="ja-JP" sz="2000" dirty="0"/>
              <a:t>){</a:t>
            </a:r>
          </a:p>
          <a:p>
            <a:r>
              <a:rPr lang="en-US" altLang="ja-JP" sz="2000" dirty="0"/>
              <a:t> print(</a:t>
            </a:r>
            <a:r>
              <a:rPr lang="en-US" altLang="ja-JP" sz="2000" dirty="0">
                <a:solidFill>
                  <a:srgbClr val="00B050"/>
                </a:solidFill>
              </a:rPr>
              <a:t>"x</a:t>
            </a:r>
            <a:r>
              <a:rPr lang="ja-JP" altLang="en-US" sz="2000" dirty="0">
                <a:solidFill>
                  <a:srgbClr val="00B050"/>
                </a:solidFill>
              </a:rPr>
              <a:t>は</a:t>
            </a:r>
            <a:r>
              <a:rPr lang="en-US" altLang="ja-JP" sz="2000" dirty="0">
                <a:solidFill>
                  <a:srgbClr val="00B050"/>
                </a:solidFill>
              </a:rPr>
              <a:t>-10</a:t>
            </a:r>
            <a:r>
              <a:rPr lang="ja-JP" altLang="en-US" sz="2000" dirty="0">
                <a:solidFill>
                  <a:srgbClr val="00B050"/>
                </a:solidFill>
              </a:rPr>
              <a:t>より小さい</a:t>
            </a:r>
            <a:r>
              <a:rPr lang="en-US" altLang="ja-JP" sz="2000" dirty="0">
                <a:solidFill>
                  <a:srgbClr val="00B050"/>
                </a:solidFill>
              </a:rPr>
              <a:t>"</a:t>
            </a:r>
            <a:r>
              <a:rPr lang="en-US" altLang="ja-JP" sz="2000" dirty="0"/>
              <a:t>)</a:t>
            </a:r>
          </a:p>
          <a:p>
            <a:r>
              <a:rPr lang="en-US" altLang="ja-JP" sz="2000" dirty="0"/>
              <a:t>}</a:t>
            </a:r>
          </a:p>
          <a:p>
            <a:r>
              <a:rPr lang="en-US" altLang="ja-JP" sz="2000" dirty="0"/>
              <a:t>x</a:t>
            </a:r>
            <a:endParaRPr lang="ja-JP" altLang="en-US" sz="2000" dirty="0"/>
          </a:p>
        </p:txBody>
      </p:sp>
      <p:sp>
        <p:nvSpPr>
          <p:cNvPr id="6" name="コンテンツ プレースホルダー 3">
            <a:extLst>
              <a:ext uri="{FF2B5EF4-FFF2-40B4-BE49-F238E27FC236}">
                <a16:creationId xmlns:a16="http://schemas.microsoft.com/office/drawing/2014/main" id="{9AA890A0-A20A-1D0C-A58A-F2BC8A18D991}"/>
              </a:ext>
            </a:extLst>
          </p:cNvPr>
          <p:cNvSpPr txBox="1">
            <a:spLocks/>
          </p:cNvSpPr>
          <p:nvPr/>
        </p:nvSpPr>
        <p:spPr>
          <a:xfrm>
            <a:off x="560387" y="6534829"/>
            <a:ext cx="13058476" cy="43088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en-US" altLang="ja-JP" sz="2800" b="0" dirty="0"/>
              <a:t>R</a:t>
            </a:r>
            <a:r>
              <a:rPr kumimoji="1" lang="ja-JP" altLang="en-US" sz="2800" b="0" dirty="0"/>
              <a:t>では演算子の前後には半角スペースを入れないと意図しない処理になる危険がある</a:t>
            </a:r>
            <a:endParaRPr kumimoji="1" lang="en-US" altLang="ja-JP" sz="2800" b="0" dirty="0"/>
          </a:p>
        </p:txBody>
      </p:sp>
      <p:sp>
        <p:nvSpPr>
          <p:cNvPr id="7" name="コンテンツ プレースホルダー 3">
            <a:extLst>
              <a:ext uri="{FF2B5EF4-FFF2-40B4-BE49-F238E27FC236}">
                <a16:creationId xmlns:a16="http://schemas.microsoft.com/office/drawing/2014/main" id="{75C76E91-0A24-79E8-427E-4345B2072FD8}"/>
              </a:ext>
            </a:extLst>
          </p:cNvPr>
          <p:cNvSpPr txBox="1">
            <a:spLocks/>
          </p:cNvSpPr>
          <p:nvPr/>
        </p:nvSpPr>
        <p:spPr>
          <a:xfrm>
            <a:off x="7975601" y="2730067"/>
            <a:ext cx="5943599"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 </a:t>
            </a:r>
            <a:r>
              <a:rPr kumimoji="1" lang="en-US" altLang="ja-JP" sz="2800" b="0" dirty="0"/>
              <a:t>x</a:t>
            </a:r>
            <a:r>
              <a:rPr kumimoji="1" lang="ja-JP" altLang="en-US" sz="2800" b="0" dirty="0"/>
              <a:t>には</a:t>
            </a:r>
            <a:r>
              <a:rPr kumimoji="1" lang="en-US" altLang="ja-JP" sz="2800" b="0" dirty="0"/>
              <a:t>15</a:t>
            </a:r>
            <a:r>
              <a:rPr kumimoji="1" lang="ja-JP" altLang="en-US" sz="2800" b="0" dirty="0"/>
              <a:t>が代入されており、</a:t>
            </a:r>
            <a:endParaRPr kumimoji="1" lang="en-US" altLang="ja-JP" sz="2800" b="0" dirty="0"/>
          </a:p>
          <a:p>
            <a:pPr marL="0" indent="0">
              <a:buNone/>
            </a:pPr>
            <a:r>
              <a:rPr kumimoji="1" lang="ja-JP" altLang="en-US" sz="2800" b="0" dirty="0"/>
              <a:t>　　</a:t>
            </a:r>
            <a:r>
              <a:rPr kumimoji="1" lang="en-US" altLang="ja-JP" sz="2800" b="0" dirty="0"/>
              <a:t>x</a:t>
            </a:r>
            <a:r>
              <a:rPr kumimoji="1" lang="ja-JP" altLang="en-US" sz="2800" b="0" dirty="0"/>
              <a:t>が</a:t>
            </a:r>
            <a:r>
              <a:rPr kumimoji="1" lang="en-US" altLang="ja-JP" sz="2800" b="0" dirty="0"/>
              <a:t>-10</a:t>
            </a:r>
            <a:r>
              <a:rPr kumimoji="1" lang="ja-JP" altLang="en-US" sz="2800" b="0" dirty="0"/>
              <a:t>より小さいと判定されない</a:t>
            </a:r>
            <a:endParaRPr kumimoji="1" lang="en-US" altLang="ja-JP" sz="2800" b="0" dirty="0"/>
          </a:p>
          <a:p>
            <a:pPr marL="0" indent="0">
              <a:buFont typeface="Arial" panose="020B0604020202020204" pitchFamily="34" charset="0"/>
              <a:buNone/>
            </a:pPr>
            <a:endParaRPr kumimoji="1" lang="en-US" altLang="ja-JP" sz="2800" b="0" dirty="0"/>
          </a:p>
        </p:txBody>
      </p:sp>
      <p:pic>
        <p:nvPicPr>
          <p:cNvPr id="14" name="図 13">
            <a:extLst>
              <a:ext uri="{FF2B5EF4-FFF2-40B4-BE49-F238E27FC236}">
                <a16:creationId xmlns:a16="http://schemas.microsoft.com/office/drawing/2014/main" id="{69A4E29E-E8B2-2846-AC20-AABDD0A6D128}"/>
              </a:ext>
            </a:extLst>
          </p:cNvPr>
          <p:cNvPicPr>
            <a:picLocks noChangeAspect="1"/>
          </p:cNvPicPr>
          <p:nvPr/>
        </p:nvPicPr>
        <p:blipFill>
          <a:blip r:embed="rId3"/>
          <a:stretch>
            <a:fillRect/>
          </a:stretch>
        </p:blipFill>
        <p:spPr>
          <a:xfrm>
            <a:off x="4089399" y="1997274"/>
            <a:ext cx="3718665" cy="3859524"/>
          </a:xfrm>
          <a:prstGeom prst="rect">
            <a:avLst/>
          </a:prstGeom>
        </p:spPr>
      </p:pic>
      <p:sp>
        <p:nvSpPr>
          <p:cNvPr id="15" name="コンテンツ プレースホルダー 3">
            <a:extLst>
              <a:ext uri="{FF2B5EF4-FFF2-40B4-BE49-F238E27FC236}">
                <a16:creationId xmlns:a16="http://schemas.microsoft.com/office/drawing/2014/main" id="{5CD30BEF-1483-11C4-D1F1-C4B564B1136F}"/>
              </a:ext>
            </a:extLst>
          </p:cNvPr>
          <p:cNvSpPr txBox="1">
            <a:spLocks/>
          </p:cNvSpPr>
          <p:nvPr/>
        </p:nvSpPr>
        <p:spPr>
          <a:xfrm>
            <a:off x="7975600" y="4191799"/>
            <a:ext cx="6769099" cy="1954381"/>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 </a:t>
            </a:r>
            <a:r>
              <a:rPr kumimoji="1" lang="ja-JP" altLang="en-US" sz="2800" b="0" dirty="0">
                <a:solidFill>
                  <a:srgbClr val="FF0000"/>
                </a:solidFill>
              </a:rPr>
              <a:t>演算子</a:t>
            </a:r>
            <a:r>
              <a:rPr kumimoji="1" lang="en-US" altLang="ja-JP" sz="2800" b="0" dirty="0">
                <a:solidFill>
                  <a:srgbClr val="FF0000"/>
                </a:solidFill>
              </a:rPr>
              <a:t>(&lt;</a:t>
            </a:r>
            <a:r>
              <a:rPr kumimoji="1" lang="ja-JP" altLang="en-US" sz="2800" b="0" dirty="0">
                <a:solidFill>
                  <a:srgbClr val="FF0000"/>
                </a:solidFill>
              </a:rPr>
              <a:t>と</a:t>
            </a:r>
            <a:r>
              <a:rPr kumimoji="1" lang="en-US" altLang="ja-JP" sz="2800" b="0" dirty="0">
                <a:solidFill>
                  <a:srgbClr val="FF0000"/>
                </a:solidFill>
              </a:rPr>
              <a:t>-)</a:t>
            </a:r>
            <a:r>
              <a:rPr kumimoji="1" lang="ja-JP" altLang="en-US" sz="2800" b="0" dirty="0">
                <a:solidFill>
                  <a:srgbClr val="FF0000"/>
                </a:solidFill>
              </a:rPr>
              <a:t>の間にスペースがないことで、</a:t>
            </a:r>
            <a:endParaRPr kumimoji="1" lang="en-US" altLang="ja-JP" sz="2800" b="0" dirty="0">
              <a:solidFill>
                <a:srgbClr val="FF0000"/>
              </a:solidFill>
            </a:endParaRPr>
          </a:p>
          <a:p>
            <a:pPr marL="0" indent="0">
              <a:buFont typeface="Arial" panose="020B0604020202020204" pitchFamily="34" charset="0"/>
              <a:buNone/>
            </a:pPr>
            <a:r>
              <a:rPr kumimoji="1" lang="ja-JP" altLang="en-US" sz="2800" b="0" dirty="0">
                <a:solidFill>
                  <a:srgbClr val="FF0000"/>
                </a:solidFill>
              </a:rPr>
              <a:t>　　代入演算子</a:t>
            </a:r>
            <a:r>
              <a:rPr kumimoji="1" lang="en-US" altLang="ja-JP" sz="2800" b="0" dirty="0">
                <a:solidFill>
                  <a:srgbClr val="FF0000"/>
                </a:solidFill>
              </a:rPr>
              <a:t>(&lt;-)</a:t>
            </a:r>
            <a:r>
              <a:rPr kumimoji="1" lang="ja-JP" altLang="en-US" sz="2800" b="0" dirty="0">
                <a:solidFill>
                  <a:srgbClr val="FF0000"/>
                </a:solidFill>
              </a:rPr>
              <a:t>と判定され、</a:t>
            </a:r>
            <a:endParaRPr kumimoji="1" lang="en-US" altLang="ja-JP" sz="2800" b="0" dirty="0">
              <a:solidFill>
                <a:srgbClr val="FF0000"/>
              </a:solidFill>
            </a:endParaRPr>
          </a:p>
          <a:p>
            <a:pPr marL="0" indent="0">
              <a:buFont typeface="Arial" panose="020B0604020202020204" pitchFamily="34" charset="0"/>
              <a:buNone/>
            </a:pPr>
            <a:r>
              <a:rPr kumimoji="1" lang="ja-JP" altLang="en-US" sz="2800" b="0" dirty="0">
                <a:solidFill>
                  <a:srgbClr val="FF0000"/>
                </a:solidFill>
              </a:rPr>
              <a:t>　　</a:t>
            </a:r>
            <a:r>
              <a:rPr kumimoji="1" lang="en-US" altLang="ja-JP" sz="2800" b="0" dirty="0">
                <a:solidFill>
                  <a:srgbClr val="FF0000"/>
                </a:solidFill>
              </a:rPr>
              <a:t>x&lt;-10</a:t>
            </a:r>
            <a:r>
              <a:rPr kumimoji="1" lang="ja-JP" altLang="en-US" sz="2800" b="0" dirty="0">
                <a:solidFill>
                  <a:srgbClr val="FF0000"/>
                </a:solidFill>
              </a:rPr>
              <a:t>により、</a:t>
            </a:r>
            <a:r>
              <a:rPr kumimoji="1" lang="en-US" altLang="ja-JP" sz="2800" b="0" dirty="0">
                <a:solidFill>
                  <a:srgbClr val="FF0000"/>
                </a:solidFill>
              </a:rPr>
              <a:t>x</a:t>
            </a:r>
            <a:r>
              <a:rPr kumimoji="1" lang="ja-JP" altLang="en-US" sz="2800" b="0" dirty="0">
                <a:solidFill>
                  <a:srgbClr val="FF0000"/>
                </a:solidFill>
              </a:rPr>
              <a:t>に</a:t>
            </a:r>
            <a:r>
              <a:rPr kumimoji="1" lang="en-US" altLang="ja-JP" sz="2800" b="0" dirty="0">
                <a:solidFill>
                  <a:srgbClr val="FF0000"/>
                </a:solidFill>
              </a:rPr>
              <a:t>10</a:t>
            </a:r>
            <a:r>
              <a:rPr kumimoji="1" lang="ja-JP" altLang="en-US" sz="2800" b="0" dirty="0">
                <a:solidFill>
                  <a:srgbClr val="FF0000"/>
                </a:solidFill>
              </a:rPr>
              <a:t>が代入されてしまう</a:t>
            </a:r>
            <a:endParaRPr kumimoji="1" lang="en-US" altLang="ja-JP" sz="2800" b="0" dirty="0">
              <a:solidFill>
                <a:srgbClr val="FF0000"/>
              </a:solidFill>
            </a:endParaRPr>
          </a:p>
          <a:p>
            <a:pPr marL="0" indent="0">
              <a:buFont typeface="Arial" panose="020B0604020202020204" pitchFamily="34" charset="0"/>
              <a:buNone/>
            </a:pPr>
            <a:r>
              <a:rPr kumimoji="1" lang="ja-JP" altLang="en-US" sz="2800" b="0" dirty="0">
                <a:solidFill>
                  <a:srgbClr val="FF0000"/>
                </a:solidFill>
              </a:rPr>
              <a:t>　　また、条件は常に真と判定される</a:t>
            </a:r>
            <a:endParaRPr kumimoji="1" lang="en-US" altLang="ja-JP" sz="2800" b="0" dirty="0">
              <a:solidFill>
                <a:srgbClr val="FF0000"/>
              </a:solidFill>
            </a:endParaRPr>
          </a:p>
        </p:txBody>
      </p:sp>
      <p:sp>
        <p:nvSpPr>
          <p:cNvPr id="16" name="コンテンツ プレースホルダー 3">
            <a:extLst>
              <a:ext uri="{FF2B5EF4-FFF2-40B4-BE49-F238E27FC236}">
                <a16:creationId xmlns:a16="http://schemas.microsoft.com/office/drawing/2014/main" id="{4C6A85B2-AADD-F3D5-2F34-775348BD418B}"/>
              </a:ext>
            </a:extLst>
          </p:cNvPr>
          <p:cNvSpPr txBox="1">
            <a:spLocks/>
          </p:cNvSpPr>
          <p:nvPr/>
        </p:nvSpPr>
        <p:spPr>
          <a:xfrm>
            <a:off x="244614" y="1200976"/>
            <a:ext cx="13058476" cy="43088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ja-JP" altLang="en-US" sz="2800" b="0" dirty="0"/>
              <a:t>　例）</a:t>
            </a:r>
            <a:r>
              <a:rPr kumimoji="1" lang="en-US" altLang="ja-JP" sz="2800" b="0" dirty="0"/>
              <a:t>x </a:t>
            </a:r>
            <a:r>
              <a:rPr kumimoji="1" lang="ja-JP" altLang="en-US" sz="2800" b="0" dirty="0"/>
              <a:t>が </a:t>
            </a:r>
            <a:r>
              <a:rPr kumimoji="1" lang="en-US" altLang="ja-JP" sz="2800" b="0" dirty="0"/>
              <a:t>-10</a:t>
            </a:r>
            <a:r>
              <a:rPr kumimoji="1" lang="ja-JP" altLang="en-US" sz="2800" b="0" dirty="0"/>
              <a:t>以下の値である場合には </a:t>
            </a:r>
            <a:r>
              <a:rPr kumimoji="1" lang="en-US" altLang="ja-JP" sz="2800" b="0" dirty="0"/>
              <a:t>”x</a:t>
            </a:r>
            <a:r>
              <a:rPr kumimoji="1" lang="ja-JP" altLang="en-US" sz="2800" b="0" dirty="0"/>
              <a:t>は</a:t>
            </a:r>
            <a:r>
              <a:rPr kumimoji="1" lang="en-US" altLang="ja-JP" sz="2800" b="0" dirty="0"/>
              <a:t>-10</a:t>
            </a:r>
            <a:r>
              <a:rPr kumimoji="1" lang="ja-JP" altLang="en-US" sz="2800" b="0" dirty="0"/>
              <a:t>より小さい</a:t>
            </a:r>
            <a:r>
              <a:rPr kumimoji="1" lang="en-US" altLang="ja-JP" sz="2800" b="0" dirty="0"/>
              <a:t>” </a:t>
            </a:r>
            <a:r>
              <a:rPr kumimoji="1" lang="ja-JP" altLang="en-US" sz="2800" b="0" dirty="0"/>
              <a:t>と出力したい</a:t>
            </a:r>
            <a:endParaRPr kumimoji="1" lang="en-US" altLang="ja-JP" sz="2800" b="0" dirty="0"/>
          </a:p>
        </p:txBody>
      </p:sp>
    </p:spTree>
    <p:extLst>
      <p:ext uri="{BB962C8B-B14F-4D97-AF65-F5344CB8AC3E}">
        <p14:creationId xmlns:p14="http://schemas.microsoft.com/office/powerpoint/2010/main" val="115113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E310D-A034-9B14-892A-D6E25BD46E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F942E2-FD1A-2404-70D6-A82A3EAC7252}"/>
              </a:ext>
            </a:extLst>
          </p:cNvPr>
          <p:cNvSpPr>
            <a:spLocks noGrp="1"/>
          </p:cNvSpPr>
          <p:nvPr>
            <p:ph type="title"/>
          </p:nvPr>
        </p:nvSpPr>
        <p:spPr/>
        <p:txBody>
          <a:bodyPr/>
          <a:lstStyle/>
          <a:p>
            <a:r>
              <a:rPr kumimoji="1" lang="en-US" altLang="ja-JP" dirty="0"/>
              <a:t>NA</a:t>
            </a:r>
            <a:r>
              <a:rPr kumimoji="1" lang="ja-JP" altLang="en-US" dirty="0"/>
              <a:t>に注意</a:t>
            </a:r>
          </a:p>
        </p:txBody>
      </p:sp>
      <p:sp>
        <p:nvSpPr>
          <p:cNvPr id="3" name="スライド番号プレースホルダー 2">
            <a:extLst>
              <a:ext uri="{FF2B5EF4-FFF2-40B4-BE49-F238E27FC236}">
                <a16:creationId xmlns:a16="http://schemas.microsoft.com/office/drawing/2014/main" id="{7D1DD6D6-5E74-55AA-8313-44CE5DDA608A}"/>
              </a:ext>
            </a:extLst>
          </p:cNvPr>
          <p:cNvSpPr>
            <a:spLocks noGrp="1"/>
          </p:cNvSpPr>
          <p:nvPr>
            <p:ph type="sldNum" sz="quarter" idx="4"/>
          </p:nvPr>
        </p:nvSpPr>
        <p:spPr/>
        <p:txBody>
          <a:bodyPr/>
          <a:lstStyle/>
          <a:p>
            <a:fld id="{24AEDCA4-7D12-E34A-9125-9C962139F6EA}" type="slidenum">
              <a:rPr kumimoji="1" lang="en-US" altLang="ja-JP" smtClean="0"/>
              <a:pPr/>
              <a:t>7</a:t>
            </a:fld>
            <a:endParaRPr kumimoji="1" lang="en-US" altLang="ja-JP" dirty="0"/>
          </a:p>
        </p:txBody>
      </p:sp>
      <p:sp>
        <p:nvSpPr>
          <p:cNvPr id="4" name="コンテンツ プレースホルダー 3">
            <a:extLst>
              <a:ext uri="{FF2B5EF4-FFF2-40B4-BE49-F238E27FC236}">
                <a16:creationId xmlns:a16="http://schemas.microsoft.com/office/drawing/2014/main" id="{FFAC553E-8367-6568-4D0C-532B14895D95}"/>
              </a:ext>
            </a:extLst>
          </p:cNvPr>
          <p:cNvSpPr>
            <a:spLocks noGrp="1"/>
          </p:cNvSpPr>
          <p:nvPr>
            <p:ph sz="half" idx="10"/>
          </p:nvPr>
        </p:nvSpPr>
        <p:spPr>
          <a:xfrm>
            <a:off x="719999" y="1328057"/>
            <a:ext cx="13411200" cy="6463308"/>
          </a:xfrm>
        </p:spPr>
        <p:txBody>
          <a:bodyPr/>
          <a:lstStyle/>
          <a:p>
            <a:pPr marL="0" indent="0">
              <a:buNone/>
            </a:pPr>
            <a:r>
              <a:rPr kumimoji="1" lang="en-US" altLang="ja-JP" sz="2800" b="0" dirty="0"/>
              <a:t>NA(</a:t>
            </a:r>
            <a:r>
              <a:rPr kumimoji="1" lang="ja-JP" altLang="en-US" sz="2800" b="0" dirty="0"/>
              <a:t>欠損値</a:t>
            </a:r>
            <a:r>
              <a:rPr kumimoji="1" lang="en-US" altLang="ja-JP" sz="2800" b="0" dirty="0"/>
              <a:t>)</a:t>
            </a:r>
            <a:r>
              <a:rPr kumimoji="1" lang="ja-JP" altLang="en-US" sz="2800" b="0" dirty="0"/>
              <a:t>があると結果を</a:t>
            </a:r>
            <a:r>
              <a:rPr kumimoji="1" lang="en-US" altLang="ja-JP" sz="2800" b="0" dirty="0"/>
              <a:t>NA</a:t>
            </a:r>
            <a:r>
              <a:rPr kumimoji="1" lang="ja-JP" altLang="en-US" sz="2800" b="0" dirty="0"/>
              <a:t>で戻すなど、うまく動かない関数がある</a:t>
            </a:r>
            <a:endParaRPr kumimoji="1" lang="en-US" altLang="ja-JP" sz="2800" b="0" dirty="0"/>
          </a:p>
          <a:p>
            <a:pPr marL="0" indent="0">
              <a:buNone/>
            </a:pPr>
            <a:r>
              <a:rPr kumimoji="1" lang="ja-JP" altLang="en-US" sz="2800" b="0" dirty="0"/>
              <a:t>→事前に</a:t>
            </a:r>
            <a:r>
              <a:rPr kumimoji="1" lang="en-US" altLang="ja-JP" sz="2800" b="0" dirty="0"/>
              <a:t>NA</a:t>
            </a:r>
            <a:r>
              <a:rPr kumimoji="1" lang="ja-JP" altLang="en-US" sz="2800" b="0" dirty="0"/>
              <a:t>の有無を確認</a:t>
            </a:r>
            <a:endParaRPr kumimoji="1" lang="en-US" altLang="ja-JP" sz="2800" b="0" dirty="0"/>
          </a:p>
          <a:p>
            <a:pPr marL="0" indent="0">
              <a:buNone/>
            </a:pPr>
            <a:endParaRPr kumimoji="1" lang="en-US" altLang="ja-JP" sz="2800" b="0" dirty="0"/>
          </a:p>
          <a:p>
            <a:pPr marL="0" indent="0">
              <a:buNone/>
            </a:pPr>
            <a:r>
              <a:rPr kumimoji="1" lang="en-US" altLang="ja-JP" sz="2800" b="0" dirty="0"/>
              <a:t>NA</a:t>
            </a:r>
            <a:r>
              <a:rPr kumimoji="1" lang="ja-JP" altLang="en-US" sz="2800" b="0" dirty="0"/>
              <a:t>の判定については</a:t>
            </a:r>
            <a:r>
              <a:rPr kumimoji="1" lang="en-US" altLang="ja-JP" sz="2800" b="0" dirty="0"/>
              <a:t>is.na()</a:t>
            </a:r>
            <a:r>
              <a:rPr kumimoji="1" lang="ja-JP" altLang="en-US" sz="2800" b="0" dirty="0"/>
              <a:t>関数を用いる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sz="2800" b="0" dirty="0"/>
              <a:t>ただし、</a:t>
            </a:r>
            <a:r>
              <a:rPr kumimoji="1" lang="en-US" altLang="ja-JP" sz="2800" b="0" dirty="0"/>
              <a:t>is.na()</a:t>
            </a:r>
            <a:r>
              <a:rPr kumimoji="1" lang="ja-JP" altLang="en-US" sz="2800" b="0" dirty="0"/>
              <a:t>は</a:t>
            </a:r>
            <a:r>
              <a:rPr kumimoji="1" lang="en-US" altLang="ja-JP" sz="2800" b="0" dirty="0" err="1"/>
              <a:t>NaN</a:t>
            </a:r>
            <a:r>
              <a:rPr kumimoji="1" lang="en-US" altLang="ja-JP" sz="2800" b="0" dirty="0"/>
              <a:t>(</a:t>
            </a:r>
            <a:r>
              <a:rPr kumimoji="1" lang="ja-JP" altLang="en-US" sz="2800" b="0" dirty="0"/>
              <a:t>非数</a:t>
            </a:r>
            <a:r>
              <a:rPr kumimoji="1" lang="en-US" altLang="ja-JP" sz="2800" b="0" dirty="0"/>
              <a:t>)</a:t>
            </a:r>
            <a:r>
              <a:rPr kumimoji="1" lang="ja-JP" altLang="en-US" sz="2800" b="0" dirty="0"/>
              <a:t>も</a:t>
            </a:r>
            <a:r>
              <a:rPr kumimoji="1" lang="en-US" altLang="ja-JP" sz="2800" b="0" dirty="0"/>
              <a:t>TRUE</a:t>
            </a:r>
            <a:r>
              <a:rPr kumimoji="1" lang="ja-JP" altLang="en-US" sz="2800" b="0" dirty="0"/>
              <a:t>で判定してしまうことに留意</a:t>
            </a:r>
            <a:endParaRPr kumimoji="1" lang="en-US" altLang="ja-JP" sz="2800" b="0" dirty="0"/>
          </a:p>
          <a:p>
            <a:pPr marL="0" indent="0">
              <a:buNone/>
            </a:pPr>
            <a:r>
              <a:rPr kumimoji="1" lang="en-US" altLang="ja-JP" sz="2800" b="0" dirty="0" err="1"/>
              <a:t>NaN</a:t>
            </a:r>
            <a:r>
              <a:rPr kumimoji="1" lang="ja-JP" altLang="en-US" sz="2800" b="0" dirty="0"/>
              <a:t>を判定するには</a:t>
            </a:r>
            <a:r>
              <a:rPr kumimoji="1" lang="en-US" altLang="ja-JP" sz="2800" b="0" dirty="0" err="1"/>
              <a:t>is.nan</a:t>
            </a:r>
            <a:r>
              <a:rPr kumimoji="1" lang="en-US" altLang="ja-JP" sz="2800" b="0" dirty="0"/>
              <a:t>()</a:t>
            </a:r>
            <a:r>
              <a:rPr kumimoji="1" lang="ja-JP" altLang="en-US" sz="2800" b="0" dirty="0"/>
              <a:t>を用いる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400" b="0" dirty="0"/>
              <a:t>※sum</a:t>
            </a:r>
            <a:r>
              <a:rPr kumimoji="1" lang="ja-JP" altLang="en-US" sz="2400" b="0" dirty="0"/>
              <a:t>関数など、実行時に</a:t>
            </a:r>
            <a:r>
              <a:rPr kumimoji="1" lang="en-US" altLang="ja-JP" sz="2400" b="0" dirty="0"/>
              <a:t>NA(</a:t>
            </a:r>
            <a:r>
              <a:rPr kumimoji="1" lang="ja-JP" altLang="en-US" sz="2400" b="0" dirty="0"/>
              <a:t>および</a:t>
            </a:r>
            <a:r>
              <a:rPr kumimoji="1" lang="en-US" altLang="ja-JP" sz="2400" b="0" dirty="0" err="1"/>
              <a:t>NaN</a:t>
            </a:r>
            <a:r>
              <a:rPr kumimoji="1" lang="en-US" altLang="ja-JP" sz="2400" b="0" dirty="0"/>
              <a:t>)</a:t>
            </a:r>
            <a:r>
              <a:rPr kumimoji="1" lang="ja-JP" altLang="en-US" sz="2400" b="0" dirty="0"/>
              <a:t>を除外して処理できる</a:t>
            </a:r>
            <a:r>
              <a:rPr kumimoji="1" lang="en-US" altLang="ja-JP" sz="2400" b="0" dirty="0"/>
              <a:t>na.rm</a:t>
            </a:r>
            <a:r>
              <a:rPr kumimoji="1" lang="ja-JP" altLang="en-US" sz="2400" b="0" dirty="0"/>
              <a:t>オプションがついている関数もある</a:t>
            </a:r>
            <a:endParaRPr kumimoji="1" lang="en-US" altLang="ja-JP" sz="2400" b="0" dirty="0"/>
          </a:p>
        </p:txBody>
      </p:sp>
      <p:sp>
        <p:nvSpPr>
          <p:cNvPr id="5" name="正方形/長方形 4">
            <a:extLst>
              <a:ext uri="{FF2B5EF4-FFF2-40B4-BE49-F238E27FC236}">
                <a16:creationId xmlns:a16="http://schemas.microsoft.com/office/drawing/2014/main" id="{E57FE7C7-7B5C-9C65-9AF3-8F228E7FAE2A}"/>
              </a:ext>
            </a:extLst>
          </p:cNvPr>
          <p:cNvSpPr/>
          <p:nvPr/>
        </p:nvSpPr>
        <p:spPr>
          <a:xfrm>
            <a:off x="751605" y="3457496"/>
            <a:ext cx="2601195" cy="108491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5317141-0BD0-0902-CD35-28786D64F6E9}"/>
              </a:ext>
            </a:extLst>
          </p:cNvPr>
          <p:cNvSpPr txBox="1"/>
          <p:nvPr/>
        </p:nvSpPr>
        <p:spPr>
          <a:xfrm>
            <a:off x="852486" y="3526745"/>
            <a:ext cx="4849814" cy="1015663"/>
          </a:xfrm>
          <a:prstGeom prst="rect">
            <a:avLst/>
          </a:prstGeom>
          <a:noFill/>
        </p:spPr>
        <p:txBody>
          <a:bodyPr wrap="square">
            <a:spAutoFit/>
          </a:bodyPr>
          <a:lstStyle/>
          <a:p>
            <a:r>
              <a:rPr lang="pl-PL" altLang="ja-JP" sz="2000" dirty="0"/>
              <a:t>x &lt;- c(1, 2, 3, </a:t>
            </a:r>
            <a:r>
              <a:rPr lang="pl-PL" altLang="ja-JP" sz="2000" dirty="0">
                <a:solidFill>
                  <a:srgbClr val="3333FF"/>
                </a:solidFill>
              </a:rPr>
              <a:t>NA</a:t>
            </a:r>
            <a:r>
              <a:rPr lang="pl-PL" altLang="ja-JP" sz="2000" dirty="0"/>
              <a:t>)</a:t>
            </a:r>
          </a:p>
          <a:p>
            <a:r>
              <a:rPr lang="pl-PL" altLang="ja-JP" sz="2000" dirty="0"/>
              <a:t>x == </a:t>
            </a:r>
            <a:r>
              <a:rPr lang="pl-PL" altLang="ja-JP" sz="2000" dirty="0">
                <a:solidFill>
                  <a:srgbClr val="3333FF"/>
                </a:solidFill>
              </a:rPr>
              <a:t>NA</a:t>
            </a:r>
          </a:p>
          <a:p>
            <a:r>
              <a:rPr lang="pl-PL" altLang="ja-JP" sz="2000" dirty="0"/>
              <a:t>is.na(x)</a:t>
            </a:r>
            <a:endParaRPr lang="ja-JP" altLang="en-US" sz="2000" dirty="0">
              <a:solidFill>
                <a:srgbClr val="3333FF"/>
              </a:solidFill>
            </a:endParaRPr>
          </a:p>
        </p:txBody>
      </p:sp>
      <p:pic>
        <p:nvPicPr>
          <p:cNvPr id="9" name="図 8">
            <a:extLst>
              <a:ext uri="{FF2B5EF4-FFF2-40B4-BE49-F238E27FC236}">
                <a16:creationId xmlns:a16="http://schemas.microsoft.com/office/drawing/2014/main" id="{29FAF0FC-2B4A-6BF6-B1AA-4929423D1087}"/>
              </a:ext>
            </a:extLst>
          </p:cNvPr>
          <p:cNvPicPr>
            <a:picLocks noChangeAspect="1"/>
          </p:cNvPicPr>
          <p:nvPr/>
        </p:nvPicPr>
        <p:blipFill>
          <a:blip r:embed="rId3"/>
          <a:stretch>
            <a:fillRect/>
          </a:stretch>
        </p:blipFill>
        <p:spPr>
          <a:xfrm>
            <a:off x="3633631" y="3463245"/>
            <a:ext cx="2885773" cy="1015663"/>
          </a:xfrm>
          <a:prstGeom prst="rect">
            <a:avLst/>
          </a:prstGeom>
        </p:spPr>
      </p:pic>
      <p:sp>
        <p:nvSpPr>
          <p:cNvPr id="10" name="正方形/長方形 9">
            <a:extLst>
              <a:ext uri="{FF2B5EF4-FFF2-40B4-BE49-F238E27FC236}">
                <a16:creationId xmlns:a16="http://schemas.microsoft.com/office/drawing/2014/main" id="{F2200457-5429-6279-8929-647E51C203F8}"/>
              </a:ext>
            </a:extLst>
          </p:cNvPr>
          <p:cNvSpPr/>
          <p:nvPr/>
        </p:nvSpPr>
        <p:spPr>
          <a:xfrm>
            <a:off x="719999" y="5921466"/>
            <a:ext cx="3039201" cy="108491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D1DDE51-C3A7-2E27-B85E-9D2C3274F245}"/>
              </a:ext>
            </a:extLst>
          </p:cNvPr>
          <p:cNvSpPr txBox="1"/>
          <p:nvPr/>
        </p:nvSpPr>
        <p:spPr>
          <a:xfrm>
            <a:off x="751605" y="5946865"/>
            <a:ext cx="4849814" cy="1015663"/>
          </a:xfrm>
          <a:prstGeom prst="rect">
            <a:avLst/>
          </a:prstGeom>
          <a:noFill/>
        </p:spPr>
        <p:txBody>
          <a:bodyPr wrap="square">
            <a:spAutoFit/>
          </a:bodyPr>
          <a:lstStyle/>
          <a:p>
            <a:r>
              <a:rPr lang="fi-FI" altLang="ja-JP" sz="2000" dirty="0"/>
              <a:t>x2 &lt;- c(1, 2, 3, </a:t>
            </a:r>
            <a:r>
              <a:rPr lang="fi-FI" altLang="ja-JP" sz="2000" dirty="0">
                <a:solidFill>
                  <a:srgbClr val="3333FF"/>
                </a:solidFill>
              </a:rPr>
              <a:t>NA</a:t>
            </a:r>
            <a:r>
              <a:rPr lang="fi-FI" altLang="ja-JP" sz="2000" dirty="0"/>
              <a:t>, </a:t>
            </a:r>
            <a:r>
              <a:rPr lang="fi-FI" altLang="ja-JP" sz="2000" dirty="0">
                <a:solidFill>
                  <a:srgbClr val="3333FF"/>
                </a:solidFill>
              </a:rPr>
              <a:t>NaN</a:t>
            </a:r>
            <a:r>
              <a:rPr lang="fi-FI" altLang="ja-JP" sz="2000" dirty="0"/>
              <a:t>)</a:t>
            </a:r>
          </a:p>
          <a:p>
            <a:r>
              <a:rPr lang="fi-FI" altLang="ja-JP" sz="2000" dirty="0"/>
              <a:t>is.na(x2)</a:t>
            </a:r>
          </a:p>
          <a:p>
            <a:r>
              <a:rPr lang="fi-FI" altLang="ja-JP" sz="2000" dirty="0"/>
              <a:t>is.nan(x2)</a:t>
            </a:r>
            <a:endParaRPr lang="ja-JP" altLang="en-US" sz="2000" dirty="0">
              <a:solidFill>
                <a:srgbClr val="3333FF"/>
              </a:solidFill>
            </a:endParaRPr>
          </a:p>
        </p:txBody>
      </p:sp>
      <p:pic>
        <p:nvPicPr>
          <p:cNvPr id="13" name="図 12">
            <a:extLst>
              <a:ext uri="{FF2B5EF4-FFF2-40B4-BE49-F238E27FC236}">
                <a16:creationId xmlns:a16="http://schemas.microsoft.com/office/drawing/2014/main" id="{F070F0D9-1135-A7ED-CD72-2CB9011094A6}"/>
              </a:ext>
            </a:extLst>
          </p:cNvPr>
          <p:cNvPicPr>
            <a:picLocks noChangeAspect="1"/>
          </p:cNvPicPr>
          <p:nvPr/>
        </p:nvPicPr>
        <p:blipFill>
          <a:blip r:embed="rId4"/>
          <a:stretch>
            <a:fillRect/>
          </a:stretch>
        </p:blipFill>
        <p:spPr>
          <a:xfrm>
            <a:off x="3966079" y="5946865"/>
            <a:ext cx="3612354" cy="1059512"/>
          </a:xfrm>
          <a:prstGeom prst="rect">
            <a:avLst/>
          </a:prstGeom>
        </p:spPr>
      </p:pic>
    </p:spTree>
    <p:extLst>
      <p:ext uri="{BB962C8B-B14F-4D97-AF65-F5344CB8AC3E}">
        <p14:creationId xmlns:p14="http://schemas.microsoft.com/office/powerpoint/2010/main" val="58489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3DF85-7B29-4F14-DE2B-79456238DD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F6F4F9-0D47-EFC3-D4C4-DACCBDC9A36D}"/>
              </a:ext>
            </a:extLst>
          </p:cNvPr>
          <p:cNvSpPr>
            <a:spLocks noGrp="1"/>
          </p:cNvSpPr>
          <p:nvPr>
            <p:ph type="title"/>
          </p:nvPr>
        </p:nvSpPr>
        <p:spPr/>
        <p:txBody>
          <a:bodyPr/>
          <a:lstStyle/>
          <a:p>
            <a:r>
              <a:rPr kumimoji="1" lang="ja-JP" altLang="en-US" dirty="0"/>
              <a:t>データハンドリング時に</a:t>
            </a:r>
            <a:r>
              <a:rPr kumimoji="1" lang="en-US" altLang="ja-JP" dirty="0"/>
              <a:t>NULL</a:t>
            </a:r>
            <a:r>
              <a:rPr kumimoji="1" lang="ja-JP" altLang="en-US" dirty="0"/>
              <a:t>を発生させないように留意</a:t>
            </a:r>
          </a:p>
        </p:txBody>
      </p:sp>
      <p:sp>
        <p:nvSpPr>
          <p:cNvPr id="3" name="スライド番号プレースホルダー 2">
            <a:extLst>
              <a:ext uri="{FF2B5EF4-FFF2-40B4-BE49-F238E27FC236}">
                <a16:creationId xmlns:a16="http://schemas.microsoft.com/office/drawing/2014/main" id="{F209D5C2-6D93-AC16-0926-898554F46FE2}"/>
              </a:ext>
            </a:extLst>
          </p:cNvPr>
          <p:cNvSpPr>
            <a:spLocks noGrp="1"/>
          </p:cNvSpPr>
          <p:nvPr>
            <p:ph type="sldNum" sz="quarter" idx="4"/>
          </p:nvPr>
        </p:nvSpPr>
        <p:spPr/>
        <p:txBody>
          <a:bodyPr/>
          <a:lstStyle/>
          <a:p>
            <a:fld id="{24AEDCA4-7D12-E34A-9125-9C962139F6EA}" type="slidenum">
              <a:rPr kumimoji="1" lang="en-US" altLang="ja-JP" smtClean="0"/>
              <a:pPr/>
              <a:t>8</a:t>
            </a:fld>
            <a:endParaRPr kumimoji="1" lang="en-US" altLang="ja-JP" dirty="0"/>
          </a:p>
        </p:txBody>
      </p:sp>
      <p:sp>
        <p:nvSpPr>
          <p:cNvPr id="4" name="コンテンツ プレースホルダー 3">
            <a:extLst>
              <a:ext uri="{FF2B5EF4-FFF2-40B4-BE49-F238E27FC236}">
                <a16:creationId xmlns:a16="http://schemas.microsoft.com/office/drawing/2014/main" id="{31D4D462-50B8-1FC9-B23D-3C1EE8D5A103}"/>
              </a:ext>
            </a:extLst>
          </p:cNvPr>
          <p:cNvSpPr>
            <a:spLocks noGrp="1"/>
          </p:cNvSpPr>
          <p:nvPr>
            <p:ph sz="half" idx="10"/>
          </p:nvPr>
        </p:nvSpPr>
        <p:spPr>
          <a:xfrm>
            <a:off x="719999" y="1328058"/>
            <a:ext cx="12933371" cy="2462213"/>
          </a:xfrm>
        </p:spPr>
        <p:txBody>
          <a:bodyPr/>
          <a:lstStyle/>
          <a:p>
            <a:pPr marL="0" indent="0">
              <a:buNone/>
            </a:pPr>
            <a:r>
              <a:rPr kumimoji="1" lang="en-US" altLang="ja-JP" sz="2800" b="0" dirty="0"/>
              <a:t>NULL</a:t>
            </a:r>
            <a:r>
              <a:rPr kumimoji="1" lang="ja-JP" altLang="en-US" sz="2800" b="0" dirty="0"/>
              <a:t>は何もないことを示すもの</a:t>
            </a:r>
            <a:endParaRPr kumimoji="1" lang="en-US" altLang="ja-JP" sz="2800" b="0" dirty="0"/>
          </a:p>
          <a:p>
            <a:pPr marL="0" indent="0">
              <a:buNone/>
            </a:pPr>
            <a:r>
              <a:rPr kumimoji="1" lang="ja-JP" altLang="en-US" sz="2800" b="0" dirty="0"/>
              <a:t>解析時に意図しない挙動を起こしうる</a:t>
            </a:r>
            <a:endParaRPr kumimoji="1" lang="en-US" altLang="ja-JP" sz="2800" b="0" dirty="0"/>
          </a:p>
          <a:p>
            <a:pPr marL="0" indent="0">
              <a:buNone/>
            </a:pPr>
            <a:endParaRPr kumimoji="1" lang="en-US" altLang="ja-JP" sz="2800" b="0" dirty="0"/>
          </a:p>
          <a:p>
            <a:pPr marL="0" indent="0">
              <a:buNone/>
            </a:pPr>
            <a:r>
              <a:rPr kumimoji="1" lang="ja-JP" altLang="en-US" sz="2800" b="0" dirty="0"/>
              <a:t>条件分岐で該当がない場合、</a:t>
            </a:r>
            <a:r>
              <a:rPr kumimoji="1" lang="en-US" altLang="ja-JP" sz="2800" b="0" dirty="0"/>
              <a:t>NULL</a:t>
            </a:r>
            <a:r>
              <a:rPr kumimoji="1" lang="ja-JP" altLang="en-US" sz="2800" b="0" dirty="0"/>
              <a:t>が戻るので、</a:t>
            </a:r>
            <a:endParaRPr kumimoji="1" lang="en-US" altLang="ja-JP" sz="2800" b="0" dirty="0"/>
          </a:p>
          <a:p>
            <a:pPr marL="0" indent="0">
              <a:buNone/>
            </a:pPr>
            <a:r>
              <a:rPr kumimoji="1" lang="ja-JP" altLang="en-US" sz="2800" b="0" dirty="0"/>
              <a:t>該当しない場合は</a:t>
            </a:r>
            <a:r>
              <a:rPr kumimoji="1" lang="en-US" altLang="ja-JP" sz="2800" b="0" dirty="0"/>
              <a:t>NA(</a:t>
            </a:r>
            <a:r>
              <a:rPr kumimoji="1" lang="ja-JP" altLang="en-US" sz="2800" b="0" dirty="0"/>
              <a:t>欠損値</a:t>
            </a:r>
            <a:r>
              <a:rPr kumimoji="1" lang="en-US" altLang="ja-JP" sz="2800" b="0" dirty="0"/>
              <a:t>)</a:t>
            </a:r>
            <a:r>
              <a:rPr kumimoji="1" lang="ja-JP" altLang="en-US" sz="2800" b="0" dirty="0"/>
              <a:t>を格納するようにコードに明示する必要がある</a:t>
            </a:r>
            <a:endParaRPr kumimoji="1" lang="en-US" altLang="ja-JP" sz="2800" b="0" dirty="0"/>
          </a:p>
        </p:txBody>
      </p:sp>
      <p:sp>
        <p:nvSpPr>
          <p:cNvPr id="5" name="正方形/長方形 4">
            <a:extLst>
              <a:ext uri="{FF2B5EF4-FFF2-40B4-BE49-F238E27FC236}">
                <a16:creationId xmlns:a16="http://schemas.microsoft.com/office/drawing/2014/main" id="{8DF556A6-D2FF-CF71-77D3-4196EA8C2A80}"/>
              </a:ext>
            </a:extLst>
          </p:cNvPr>
          <p:cNvSpPr/>
          <p:nvPr/>
        </p:nvSpPr>
        <p:spPr>
          <a:xfrm>
            <a:off x="719999" y="4045849"/>
            <a:ext cx="7931767" cy="307794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D9F7B0F-A663-AE28-7ACE-ADCBE4B05C18}"/>
              </a:ext>
            </a:extLst>
          </p:cNvPr>
          <p:cNvSpPr txBox="1"/>
          <p:nvPr/>
        </p:nvSpPr>
        <p:spPr>
          <a:xfrm>
            <a:off x="820879" y="4115097"/>
            <a:ext cx="7830887" cy="2862322"/>
          </a:xfrm>
          <a:prstGeom prst="rect">
            <a:avLst/>
          </a:prstGeom>
          <a:noFill/>
        </p:spPr>
        <p:txBody>
          <a:bodyPr wrap="square">
            <a:spAutoFit/>
          </a:bodyPr>
          <a:lstStyle/>
          <a:p>
            <a:r>
              <a:rPr lang="en-US" altLang="ja-JP" sz="2000" dirty="0" err="1"/>
              <a:t>df</a:t>
            </a:r>
            <a:r>
              <a:rPr lang="en-US" altLang="ja-JP" sz="2000" dirty="0"/>
              <a:t> &lt;- </a:t>
            </a:r>
            <a:r>
              <a:rPr lang="en-US" altLang="ja-JP" sz="2000" dirty="0" err="1"/>
              <a:t>data.frame</a:t>
            </a:r>
            <a:r>
              <a:rPr lang="en-US" altLang="ja-JP" sz="2000" dirty="0"/>
              <a:t>(id = </a:t>
            </a:r>
            <a:r>
              <a:rPr lang="en-US" altLang="ja-JP" sz="2000" dirty="0">
                <a:solidFill>
                  <a:srgbClr val="3333FF"/>
                </a:solidFill>
              </a:rPr>
              <a:t>1</a:t>
            </a:r>
            <a:r>
              <a:rPr lang="en-US" altLang="ja-JP" sz="2000" dirty="0"/>
              <a:t>:</a:t>
            </a:r>
            <a:r>
              <a:rPr lang="en-US" altLang="ja-JP" sz="2000" dirty="0">
                <a:solidFill>
                  <a:srgbClr val="3333FF"/>
                </a:solidFill>
              </a:rPr>
              <a:t>3</a:t>
            </a:r>
            <a:r>
              <a:rPr lang="en-US" altLang="ja-JP" sz="2000" dirty="0"/>
              <a:t>, aval = c(</a:t>
            </a:r>
            <a:r>
              <a:rPr lang="en-US" altLang="ja-JP" sz="2000" dirty="0">
                <a:solidFill>
                  <a:srgbClr val="3333FF"/>
                </a:solidFill>
              </a:rPr>
              <a:t>1</a:t>
            </a:r>
            <a:r>
              <a:rPr lang="en-US" altLang="ja-JP" sz="2000" dirty="0"/>
              <a:t>, -</a:t>
            </a:r>
            <a:r>
              <a:rPr lang="en-US" altLang="ja-JP" sz="2000" dirty="0">
                <a:solidFill>
                  <a:srgbClr val="3333FF"/>
                </a:solidFill>
              </a:rPr>
              <a:t>1</a:t>
            </a:r>
            <a:r>
              <a:rPr lang="en-US" altLang="ja-JP" sz="2000" dirty="0"/>
              <a:t>, </a:t>
            </a:r>
            <a:r>
              <a:rPr lang="en-US" altLang="ja-JP" sz="2000" dirty="0">
                <a:solidFill>
                  <a:srgbClr val="3333FF"/>
                </a:solidFill>
              </a:rPr>
              <a:t>2</a:t>
            </a:r>
            <a:r>
              <a:rPr lang="en-US" altLang="ja-JP" sz="2000" dirty="0"/>
              <a:t>))</a:t>
            </a:r>
          </a:p>
          <a:p>
            <a:endParaRPr lang="en-US" altLang="ja-JP" sz="2000" dirty="0"/>
          </a:p>
          <a:p>
            <a:r>
              <a:rPr lang="en-US" altLang="ja-JP" sz="2000" dirty="0" err="1"/>
              <a:t>make_flag</a:t>
            </a:r>
            <a:r>
              <a:rPr lang="en-US" altLang="ja-JP" sz="2000" dirty="0"/>
              <a:t> &lt;- </a:t>
            </a:r>
            <a:r>
              <a:rPr lang="en-US" altLang="ja-JP" sz="2000" dirty="0">
                <a:solidFill>
                  <a:srgbClr val="3333FF"/>
                </a:solidFill>
              </a:rPr>
              <a:t>function</a:t>
            </a:r>
            <a:r>
              <a:rPr lang="en-US" altLang="ja-JP" sz="2000" dirty="0"/>
              <a:t>(x) {</a:t>
            </a:r>
          </a:p>
          <a:p>
            <a:r>
              <a:rPr lang="en-US" altLang="ja-JP" sz="2000" dirty="0"/>
              <a:t>  </a:t>
            </a:r>
            <a:r>
              <a:rPr lang="en-US" altLang="ja-JP" sz="2000" dirty="0">
                <a:solidFill>
                  <a:srgbClr val="3333FF"/>
                </a:solidFill>
              </a:rPr>
              <a:t>if</a:t>
            </a:r>
            <a:r>
              <a:rPr lang="en-US" altLang="ja-JP" sz="2000" dirty="0"/>
              <a:t> (x &gt; 0) {</a:t>
            </a:r>
          </a:p>
          <a:p>
            <a:r>
              <a:rPr lang="en-US" altLang="ja-JP" sz="2000" dirty="0"/>
              <a:t>    </a:t>
            </a:r>
            <a:r>
              <a:rPr lang="en-US" altLang="ja-JP" sz="2000" dirty="0">
                <a:solidFill>
                  <a:srgbClr val="3333FF"/>
                </a:solidFill>
              </a:rPr>
              <a:t>return</a:t>
            </a:r>
            <a:r>
              <a:rPr lang="en-US" altLang="ja-JP" sz="2000" dirty="0">
                <a:solidFill>
                  <a:schemeClr val="tx1"/>
                </a:solidFill>
              </a:rPr>
              <a:t>(</a:t>
            </a:r>
            <a:r>
              <a:rPr lang="en-US" altLang="ja-JP" sz="2000" dirty="0">
                <a:solidFill>
                  <a:srgbClr val="00B050"/>
                </a:solidFill>
              </a:rPr>
              <a:t>"Y"</a:t>
            </a:r>
            <a:r>
              <a:rPr lang="en-US" altLang="ja-JP" sz="2000" dirty="0"/>
              <a:t>)</a:t>
            </a:r>
            <a:r>
              <a:rPr lang="ja-JP" altLang="en-US" sz="2000" dirty="0"/>
              <a:t> </a:t>
            </a:r>
            <a:r>
              <a:rPr lang="en-US" altLang="ja-JP" sz="2000" dirty="0">
                <a:solidFill>
                  <a:srgbClr val="00B050"/>
                </a:solidFill>
              </a:rPr>
              <a:t># if</a:t>
            </a:r>
            <a:r>
              <a:rPr lang="ja-JP" altLang="en-US" sz="2000" dirty="0">
                <a:solidFill>
                  <a:srgbClr val="00B050"/>
                </a:solidFill>
              </a:rPr>
              <a:t>に該当しない場合、手当をしないと </a:t>
            </a:r>
            <a:r>
              <a:rPr lang="en-US" altLang="ja-JP" sz="2000" dirty="0">
                <a:solidFill>
                  <a:srgbClr val="00B050"/>
                </a:solidFill>
              </a:rPr>
              <a:t>NULL </a:t>
            </a:r>
            <a:r>
              <a:rPr lang="ja-JP" altLang="en-US" sz="2000" dirty="0">
                <a:solidFill>
                  <a:srgbClr val="00B050"/>
                </a:solidFill>
              </a:rPr>
              <a:t>が戻る</a:t>
            </a:r>
            <a:endParaRPr lang="en-US" altLang="ja-JP" sz="2000" dirty="0"/>
          </a:p>
          <a:p>
            <a:r>
              <a:rPr lang="en-US" altLang="ja-JP" sz="2000" dirty="0"/>
              <a:t>  }</a:t>
            </a:r>
            <a:r>
              <a:rPr lang="ja-JP" altLang="en-US" sz="2000" dirty="0"/>
              <a:t> </a:t>
            </a:r>
            <a:r>
              <a:rPr lang="en-US" altLang="ja-JP" sz="2000" dirty="0">
                <a:solidFill>
                  <a:srgbClr val="00B050"/>
                </a:solidFill>
              </a:rPr>
              <a:t># NA</a:t>
            </a:r>
            <a:r>
              <a:rPr lang="ja-JP" altLang="en-US" sz="2000" dirty="0">
                <a:solidFill>
                  <a:srgbClr val="00B050"/>
                </a:solidFill>
              </a:rPr>
              <a:t>を格納するには</a:t>
            </a:r>
            <a:r>
              <a:rPr lang="en-US" altLang="ja-JP" sz="2000" dirty="0">
                <a:solidFill>
                  <a:srgbClr val="00B050"/>
                </a:solidFill>
              </a:rPr>
              <a:t>else if (x &lt;= 0){return(NA)}</a:t>
            </a:r>
            <a:r>
              <a:rPr lang="ja-JP" altLang="en-US" sz="2000" dirty="0">
                <a:solidFill>
                  <a:srgbClr val="00B050"/>
                </a:solidFill>
              </a:rPr>
              <a:t> を追記</a:t>
            </a:r>
            <a:endParaRPr lang="en-US" altLang="ja-JP" sz="2000" dirty="0">
              <a:solidFill>
                <a:srgbClr val="00B050"/>
              </a:solidFill>
            </a:endParaRPr>
          </a:p>
          <a:p>
            <a:r>
              <a:rPr lang="en-US" altLang="ja-JP" sz="2000" dirty="0"/>
              <a:t>}</a:t>
            </a:r>
          </a:p>
          <a:p>
            <a:endParaRPr lang="en-US" altLang="ja-JP" sz="2000" dirty="0"/>
          </a:p>
          <a:p>
            <a:r>
              <a:rPr lang="en-US" altLang="ja-JP" sz="2000" dirty="0" err="1"/>
              <a:t>df$flag</a:t>
            </a:r>
            <a:r>
              <a:rPr lang="en-US" altLang="ja-JP" sz="2000" dirty="0"/>
              <a:t> &lt;- </a:t>
            </a:r>
            <a:r>
              <a:rPr lang="en-US" altLang="ja-JP" sz="2000" dirty="0" err="1"/>
              <a:t>sapply</a:t>
            </a:r>
            <a:r>
              <a:rPr lang="en-US" altLang="ja-JP" sz="2000" dirty="0"/>
              <a:t>(</a:t>
            </a:r>
            <a:r>
              <a:rPr lang="en-US" altLang="ja-JP" sz="2000" dirty="0" err="1"/>
              <a:t>df$aval</a:t>
            </a:r>
            <a:r>
              <a:rPr lang="en-US" altLang="ja-JP" sz="2000" dirty="0"/>
              <a:t>, </a:t>
            </a:r>
            <a:r>
              <a:rPr lang="en-US" altLang="ja-JP" sz="2000" dirty="0" err="1"/>
              <a:t>make_flag</a:t>
            </a:r>
            <a:r>
              <a:rPr lang="en-US" altLang="ja-JP" sz="2000" dirty="0"/>
              <a:t>)</a:t>
            </a:r>
            <a:endParaRPr lang="ja-JP" altLang="en-US" sz="2000" dirty="0">
              <a:solidFill>
                <a:srgbClr val="3333FF"/>
              </a:solidFill>
            </a:endParaRPr>
          </a:p>
        </p:txBody>
      </p:sp>
      <p:pic>
        <p:nvPicPr>
          <p:cNvPr id="9" name="図 8">
            <a:extLst>
              <a:ext uri="{FF2B5EF4-FFF2-40B4-BE49-F238E27FC236}">
                <a16:creationId xmlns:a16="http://schemas.microsoft.com/office/drawing/2014/main" id="{3B70BBF9-A223-607B-3045-1886AF9A83FD}"/>
              </a:ext>
            </a:extLst>
          </p:cNvPr>
          <p:cNvPicPr>
            <a:picLocks noChangeAspect="1"/>
          </p:cNvPicPr>
          <p:nvPr/>
        </p:nvPicPr>
        <p:blipFill>
          <a:blip r:embed="rId3"/>
          <a:stretch>
            <a:fillRect/>
          </a:stretch>
        </p:blipFill>
        <p:spPr>
          <a:xfrm>
            <a:off x="8854966" y="5997246"/>
            <a:ext cx="2460734" cy="980173"/>
          </a:xfrm>
          <a:prstGeom prst="rect">
            <a:avLst/>
          </a:prstGeom>
        </p:spPr>
      </p:pic>
      <p:pic>
        <p:nvPicPr>
          <p:cNvPr id="8" name="図 7">
            <a:extLst>
              <a:ext uri="{FF2B5EF4-FFF2-40B4-BE49-F238E27FC236}">
                <a16:creationId xmlns:a16="http://schemas.microsoft.com/office/drawing/2014/main" id="{1F9B8072-9680-4806-EF69-72D1292F4557}"/>
              </a:ext>
            </a:extLst>
          </p:cNvPr>
          <p:cNvPicPr>
            <a:picLocks noChangeAspect="1"/>
          </p:cNvPicPr>
          <p:nvPr/>
        </p:nvPicPr>
        <p:blipFill>
          <a:blip r:embed="rId4"/>
          <a:stretch>
            <a:fillRect/>
          </a:stretch>
        </p:blipFill>
        <p:spPr>
          <a:xfrm>
            <a:off x="8854966" y="4045849"/>
            <a:ext cx="1801054" cy="1074938"/>
          </a:xfrm>
          <a:prstGeom prst="rect">
            <a:avLst/>
          </a:prstGeom>
        </p:spPr>
      </p:pic>
    </p:spTree>
    <p:extLst>
      <p:ext uri="{BB962C8B-B14F-4D97-AF65-F5344CB8AC3E}">
        <p14:creationId xmlns:p14="http://schemas.microsoft.com/office/powerpoint/2010/main" val="1160882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AE10F-9F55-7402-073F-D3313F2888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538670-6C2C-0AA9-017E-5ADD0E60325D}"/>
              </a:ext>
            </a:extLst>
          </p:cNvPr>
          <p:cNvSpPr>
            <a:spLocks noGrp="1"/>
          </p:cNvSpPr>
          <p:nvPr>
            <p:ph type="title"/>
          </p:nvPr>
        </p:nvSpPr>
        <p:spPr/>
        <p:txBody>
          <a:bodyPr/>
          <a:lstStyle/>
          <a:p>
            <a:r>
              <a:rPr kumimoji="1" lang="ja-JP" altLang="en-US" dirty="0"/>
              <a:t>算術処理前に適切な値か確認する</a:t>
            </a:r>
          </a:p>
        </p:txBody>
      </p:sp>
      <p:sp>
        <p:nvSpPr>
          <p:cNvPr id="3" name="スライド番号プレースホルダー 2">
            <a:extLst>
              <a:ext uri="{FF2B5EF4-FFF2-40B4-BE49-F238E27FC236}">
                <a16:creationId xmlns:a16="http://schemas.microsoft.com/office/drawing/2014/main" id="{D00C962A-D632-D743-CE03-6D14115565B6}"/>
              </a:ext>
            </a:extLst>
          </p:cNvPr>
          <p:cNvSpPr>
            <a:spLocks noGrp="1"/>
          </p:cNvSpPr>
          <p:nvPr>
            <p:ph type="sldNum" sz="quarter" idx="4"/>
          </p:nvPr>
        </p:nvSpPr>
        <p:spPr/>
        <p:txBody>
          <a:bodyPr/>
          <a:lstStyle/>
          <a:p>
            <a:fld id="{24AEDCA4-7D12-E34A-9125-9C962139F6EA}" type="slidenum">
              <a:rPr kumimoji="1" lang="en-US" altLang="ja-JP" smtClean="0"/>
              <a:pPr/>
              <a:t>9</a:t>
            </a:fld>
            <a:endParaRPr kumimoji="1" lang="en-US" altLang="ja-JP" dirty="0"/>
          </a:p>
        </p:txBody>
      </p:sp>
      <p:sp>
        <p:nvSpPr>
          <p:cNvPr id="4" name="コンテンツ プレースホルダー 3">
            <a:extLst>
              <a:ext uri="{FF2B5EF4-FFF2-40B4-BE49-F238E27FC236}">
                <a16:creationId xmlns:a16="http://schemas.microsoft.com/office/drawing/2014/main" id="{28387554-96F4-54CF-63B9-655803F0FA94}"/>
              </a:ext>
            </a:extLst>
          </p:cNvPr>
          <p:cNvSpPr>
            <a:spLocks noGrp="1"/>
          </p:cNvSpPr>
          <p:nvPr>
            <p:ph sz="half" idx="10"/>
          </p:nvPr>
        </p:nvSpPr>
        <p:spPr>
          <a:xfrm>
            <a:off x="719998" y="1328058"/>
            <a:ext cx="13684977" cy="5509200"/>
          </a:xfrm>
        </p:spPr>
        <p:txBody>
          <a:bodyPr/>
          <a:lstStyle/>
          <a:p>
            <a:pPr marL="0" indent="0">
              <a:buNone/>
            </a:pPr>
            <a:r>
              <a:rPr kumimoji="1" lang="en-US" altLang="ja-JP" sz="2800" b="0" dirty="0"/>
              <a:t>log()</a:t>
            </a:r>
            <a:r>
              <a:rPr kumimoji="1" lang="ja-JP" altLang="en-US" sz="2800" b="0" dirty="0"/>
              <a:t>関数や</a:t>
            </a:r>
            <a:r>
              <a:rPr kumimoji="1" lang="en-US" altLang="ja-JP" sz="2800" b="0" dirty="0"/>
              <a:t>sqrt()</a:t>
            </a:r>
            <a:r>
              <a:rPr kumimoji="1" lang="ja-JP" altLang="en-US" sz="2800" b="0" dirty="0"/>
              <a:t>関数に負の数値を指定すると</a:t>
            </a:r>
            <a:r>
              <a:rPr kumimoji="1" lang="en-US" altLang="ja-JP" sz="2800" b="0" dirty="0"/>
              <a:t>warning</a:t>
            </a:r>
            <a:r>
              <a:rPr kumimoji="1" lang="ja-JP" altLang="en-US" sz="2800" b="0" dirty="0"/>
              <a:t>を出してくれる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sz="2800" b="0" dirty="0"/>
              <a:t>しかし、割合の分母に</a:t>
            </a:r>
            <a:r>
              <a:rPr kumimoji="1" lang="en-US" altLang="ja-JP" sz="2800" b="0" dirty="0"/>
              <a:t>0</a:t>
            </a:r>
            <a:r>
              <a:rPr kumimoji="1" lang="ja-JP" altLang="en-US" sz="2800" b="0" dirty="0"/>
              <a:t>を指定した場合には</a:t>
            </a:r>
            <a:r>
              <a:rPr kumimoji="1" lang="en-US" altLang="ja-JP" sz="2800" b="0" dirty="0"/>
              <a:t>warning</a:t>
            </a:r>
            <a:r>
              <a:rPr kumimoji="1" lang="ja-JP" altLang="en-US" sz="2800" b="0" dirty="0"/>
              <a:t>なしで</a:t>
            </a:r>
            <a:r>
              <a:rPr kumimoji="1" lang="en-US" altLang="ja-JP" sz="2800" b="0" dirty="0"/>
              <a:t>Inf</a:t>
            </a:r>
            <a:r>
              <a:rPr kumimoji="1" lang="ja-JP" altLang="en-US" sz="2800" b="0" dirty="0"/>
              <a:t>や</a:t>
            </a:r>
            <a:r>
              <a:rPr kumimoji="1" lang="en-US" altLang="ja-JP" sz="2800" b="0" dirty="0" err="1"/>
              <a:t>NaN</a:t>
            </a:r>
            <a:r>
              <a:rPr kumimoji="1" lang="ja-JP" altLang="en-US" sz="2800" b="0" dirty="0"/>
              <a:t>が格納されるため、</a:t>
            </a:r>
            <a:endParaRPr kumimoji="1" lang="en-US" altLang="ja-JP" sz="2800" b="0" dirty="0"/>
          </a:p>
          <a:p>
            <a:pPr marL="0" indent="0">
              <a:buNone/>
            </a:pPr>
            <a:r>
              <a:rPr kumimoji="1" lang="ja-JP" altLang="en-US" sz="2800" b="0" dirty="0"/>
              <a:t>分母が</a:t>
            </a:r>
            <a:r>
              <a:rPr kumimoji="1" lang="en-US" altLang="ja-JP" sz="2800" b="0" dirty="0"/>
              <a:t>0</a:t>
            </a:r>
            <a:r>
              <a:rPr kumimoji="1" lang="ja-JP" altLang="en-US" sz="2800" b="0" dirty="0"/>
              <a:t>でないか前処理で確認する必要がある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p:txBody>
      </p:sp>
      <p:pic>
        <p:nvPicPr>
          <p:cNvPr id="9" name="図 8">
            <a:extLst>
              <a:ext uri="{FF2B5EF4-FFF2-40B4-BE49-F238E27FC236}">
                <a16:creationId xmlns:a16="http://schemas.microsoft.com/office/drawing/2014/main" id="{F2EE0FA0-547C-A57D-6854-BA78BF9E502D}"/>
              </a:ext>
            </a:extLst>
          </p:cNvPr>
          <p:cNvPicPr>
            <a:picLocks noChangeAspect="1"/>
          </p:cNvPicPr>
          <p:nvPr/>
        </p:nvPicPr>
        <p:blipFill>
          <a:blip r:embed="rId3"/>
          <a:stretch>
            <a:fillRect/>
          </a:stretch>
        </p:blipFill>
        <p:spPr>
          <a:xfrm>
            <a:off x="719998" y="1900258"/>
            <a:ext cx="2430737" cy="1410945"/>
          </a:xfrm>
          <a:prstGeom prst="rect">
            <a:avLst/>
          </a:prstGeom>
        </p:spPr>
      </p:pic>
      <p:sp>
        <p:nvSpPr>
          <p:cNvPr id="10" name="正方形/長方形 9">
            <a:extLst>
              <a:ext uri="{FF2B5EF4-FFF2-40B4-BE49-F238E27FC236}">
                <a16:creationId xmlns:a16="http://schemas.microsoft.com/office/drawing/2014/main" id="{58AA02C1-85C5-DABB-EA2F-60952F92CD08}"/>
              </a:ext>
            </a:extLst>
          </p:cNvPr>
          <p:cNvSpPr/>
          <p:nvPr/>
        </p:nvSpPr>
        <p:spPr>
          <a:xfrm>
            <a:off x="719998" y="4971235"/>
            <a:ext cx="6246095" cy="2462213"/>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99449F30-3B54-DE31-BAD7-CD66703A018A}"/>
              </a:ext>
            </a:extLst>
          </p:cNvPr>
          <p:cNvSpPr txBox="1"/>
          <p:nvPr/>
        </p:nvSpPr>
        <p:spPr>
          <a:xfrm>
            <a:off x="820879" y="5040484"/>
            <a:ext cx="6005514" cy="2246769"/>
          </a:xfrm>
          <a:prstGeom prst="rect">
            <a:avLst/>
          </a:prstGeom>
          <a:noFill/>
        </p:spPr>
        <p:txBody>
          <a:bodyPr wrap="square">
            <a:spAutoFit/>
          </a:bodyPr>
          <a:lstStyle/>
          <a:p>
            <a:r>
              <a:rPr lang="en-US" altLang="ja-JP" sz="2000" dirty="0"/>
              <a:t>event &lt;- </a:t>
            </a:r>
            <a:r>
              <a:rPr lang="en-US" altLang="ja-JP" sz="2000" dirty="0">
                <a:solidFill>
                  <a:srgbClr val="3333FF"/>
                </a:solidFill>
              </a:rPr>
              <a:t>10</a:t>
            </a:r>
          </a:p>
          <a:p>
            <a:r>
              <a:rPr lang="en-US" altLang="ja-JP" sz="2000" dirty="0"/>
              <a:t>subject &lt;- </a:t>
            </a:r>
            <a:r>
              <a:rPr lang="en-US" altLang="ja-JP" sz="2000" dirty="0">
                <a:solidFill>
                  <a:srgbClr val="3333FF"/>
                </a:solidFill>
              </a:rPr>
              <a:t>0</a:t>
            </a:r>
          </a:p>
          <a:p>
            <a:r>
              <a:rPr lang="en-US" altLang="ja-JP" sz="2000" dirty="0"/>
              <a:t>proportion &lt;- event / subject </a:t>
            </a:r>
            <a:r>
              <a:rPr lang="ja-JP" altLang="en-US" sz="2000" dirty="0"/>
              <a:t> </a:t>
            </a:r>
            <a:r>
              <a:rPr lang="en-US" altLang="ja-JP" sz="2000" dirty="0">
                <a:solidFill>
                  <a:srgbClr val="00B050"/>
                </a:solidFill>
              </a:rPr>
              <a:t>#Inf</a:t>
            </a:r>
            <a:r>
              <a:rPr lang="ja-JP" altLang="en-US" sz="2000" dirty="0">
                <a:solidFill>
                  <a:srgbClr val="00B050"/>
                </a:solidFill>
              </a:rPr>
              <a:t>が格納される</a:t>
            </a:r>
          </a:p>
          <a:p>
            <a:endParaRPr lang="ja-JP" altLang="en-US" sz="2000" dirty="0"/>
          </a:p>
          <a:p>
            <a:r>
              <a:rPr lang="en-US" altLang="ja-JP" sz="2000" dirty="0"/>
              <a:t>event &lt;- </a:t>
            </a:r>
            <a:r>
              <a:rPr lang="en-US" altLang="ja-JP" sz="2000" dirty="0">
                <a:solidFill>
                  <a:srgbClr val="3333FF"/>
                </a:solidFill>
              </a:rPr>
              <a:t>0</a:t>
            </a:r>
          </a:p>
          <a:p>
            <a:r>
              <a:rPr lang="en-US" altLang="ja-JP" sz="2000" dirty="0"/>
              <a:t>subject &lt;- </a:t>
            </a:r>
            <a:r>
              <a:rPr lang="en-US" altLang="ja-JP" sz="2000" dirty="0">
                <a:solidFill>
                  <a:srgbClr val="3333FF"/>
                </a:solidFill>
              </a:rPr>
              <a:t>0</a:t>
            </a:r>
          </a:p>
          <a:p>
            <a:r>
              <a:rPr lang="en-US" altLang="ja-JP" sz="2000" dirty="0"/>
              <a:t>proportion &lt;- event / subject  </a:t>
            </a:r>
            <a:r>
              <a:rPr lang="en-US" altLang="ja-JP" sz="2000" dirty="0">
                <a:solidFill>
                  <a:srgbClr val="00B050"/>
                </a:solidFill>
              </a:rPr>
              <a:t>#NaN</a:t>
            </a:r>
            <a:r>
              <a:rPr lang="ja-JP" altLang="en-US" sz="2000" dirty="0">
                <a:solidFill>
                  <a:srgbClr val="00B050"/>
                </a:solidFill>
              </a:rPr>
              <a:t>が格納される</a:t>
            </a:r>
          </a:p>
        </p:txBody>
      </p:sp>
    </p:spTree>
    <p:extLst>
      <p:ext uri="{BB962C8B-B14F-4D97-AF65-F5344CB8AC3E}">
        <p14:creationId xmlns:p14="http://schemas.microsoft.com/office/powerpoint/2010/main" val="44656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81A74-BCFB-9536-9807-2133498335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44B872-707D-BC87-985B-66A60BE2C6EA}"/>
              </a:ext>
            </a:extLst>
          </p:cNvPr>
          <p:cNvSpPr>
            <a:spLocks noGrp="1"/>
          </p:cNvSpPr>
          <p:nvPr>
            <p:ph type="title"/>
          </p:nvPr>
        </p:nvSpPr>
        <p:spPr/>
        <p:txBody>
          <a:bodyPr/>
          <a:lstStyle/>
          <a:p>
            <a:r>
              <a:rPr kumimoji="1" lang="ja-JP" altLang="en-US" dirty="0"/>
              <a:t>算術処理前に適切な値か確認する</a:t>
            </a:r>
          </a:p>
        </p:txBody>
      </p:sp>
      <p:sp>
        <p:nvSpPr>
          <p:cNvPr id="3" name="スライド番号プレースホルダー 2">
            <a:extLst>
              <a:ext uri="{FF2B5EF4-FFF2-40B4-BE49-F238E27FC236}">
                <a16:creationId xmlns:a16="http://schemas.microsoft.com/office/drawing/2014/main" id="{904CDB61-00C9-0F72-34EA-C6BAEDFCE0D8}"/>
              </a:ext>
            </a:extLst>
          </p:cNvPr>
          <p:cNvSpPr>
            <a:spLocks noGrp="1"/>
          </p:cNvSpPr>
          <p:nvPr>
            <p:ph type="sldNum" sz="quarter" idx="4"/>
          </p:nvPr>
        </p:nvSpPr>
        <p:spPr/>
        <p:txBody>
          <a:bodyPr/>
          <a:lstStyle/>
          <a:p>
            <a:fld id="{24AEDCA4-7D12-E34A-9125-9C962139F6EA}" type="slidenum">
              <a:rPr kumimoji="1" lang="en-US" altLang="ja-JP" smtClean="0"/>
              <a:pPr/>
              <a:t>10</a:t>
            </a:fld>
            <a:endParaRPr kumimoji="1" lang="en-US" altLang="ja-JP" dirty="0"/>
          </a:p>
        </p:txBody>
      </p:sp>
      <p:sp>
        <p:nvSpPr>
          <p:cNvPr id="4" name="コンテンツ プレースホルダー 3">
            <a:extLst>
              <a:ext uri="{FF2B5EF4-FFF2-40B4-BE49-F238E27FC236}">
                <a16:creationId xmlns:a16="http://schemas.microsoft.com/office/drawing/2014/main" id="{6C0F9BEF-1EE4-B833-EDAF-BF9FC2CF024F}"/>
              </a:ext>
            </a:extLst>
          </p:cNvPr>
          <p:cNvSpPr>
            <a:spLocks noGrp="1"/>
          </p:cNvSpPr>
          <p:nvPr>
            <p:ph sz="half" idx="10"/>
          </p:nvPr>
        </p:nvSpPr>
        <p:spPr>
          <a:xfrm>
            <a:off x="719998" y="1328058"/>
            <a:ext cx="13580201" cy="1954381"/>
          </a:xfrm>
        </p:spPr>
        <p:txBody>
          <a:bodyPr/>
          <a:lstStyle/>
          <a:p>
            <a:pPr marL="0" indent="0">
              <a:buNone/>
            </a:pPr>
            <a:r>
              <a:rPr kumimoji="1" lang="ja-JP" altLang="en-US" sz="2800" b="0" dirty="0"/>
              <a:t>平均は</a:t>
            </a:r>
            <a:r>
              <a:rPr kumimoji="1" lang="en-US" altLang="ja-JP" sz="2800" b="0" dirty="0"/>
              <a:t>NA, Inf, </a:t>
            </a:r>
            <a:r>
              <a:rPr kumimoji="1" lang="en-US" altLang="ja-JP" sz="2800" b="0" dirty="0" err="1"/>
              <a:t>NaN</a:t>
            </a:r>
            <a:r>
              <a:rPr kumimoji="1" lang="ja-JP" altLang="en-US" sz="2800" b="0" dirty="0"/>
              <a:t>でない数値が</a:t>
            </a:r>
            <a:r>
              <a:rPr kumimoji="1" lang="en-US" altLang="ja-JP" sz="2800" b="0" dirty="0"/>
              <a:t>1</a:t>
            </a:r>
            <a:r>
              <a:rPr kumimoji="1" lang="ja-JP" altLang="en-US" sz="2800" b="0" dirty="0"/>
              <a:t>以上、</a:t>
            </a:r>
            <a:r>
              <a:rPr kumimoji="1" lang="en-US" altLang="ja-JP" sz="2800" b="0" dirty="0"/>
              <a:t>SD</a:t>
            </a:r>
            <a:r>
              <a:rPr kumimoji="1" lang="ja-JP" altLang="en-US" sz="2800" b="0" dirty="0"/>
              <a:t>は</a:t>
            </a:r>
            <a:r>
              <a:rPr kumimoji="1" lang="en-US" altLang="ja-JP" sz="2800" b="0" dirty="0"/>
              <a:t>2</a:t>
            </a:r>
            <a:r>
              <a:rPr kumimoji="1" lang="ja-JP" altLang="en-US" sz="2800" b="0" dirty="0"/>
              <a:t>以上ないとうまく算出できないため、</a:t>
            </a:r>
            <a:endParaRPr kumimoji="1" lang="en-US" altLang="ja-JP" sz="2800" b="0" dirty="0"/>
          </a:p>
          <a:p>
            <a:pPr marL="0" indent="0">
              <a:buNone/>
            </a:pPr>
            <a:r>
              <a:rPr kumimoji="1" lang="en-US" altLang="ja-JP" sz="2800" b="0" dirty="0" err="1"/>
              <a:t>is.finite</a:t>
            </a:r>
            <a:r>
              <a:rPr kumimoji="1" lang="ja-JP" altLang="en-US" sz="2800" b="0" dirty="0"/>
              <a:t>関数や</a:t>
            </a:r>
            <a:r>
              <a:rPr kumimoji="1" lang="en-US" altLang="ja-JP" sz="2800" b="0" dirty="0"/>
              <a:t>length</a:t>
            </a:r>
            <a:r>
              <a:rPr kumimoji="1" lang="ja-JP" altLang="en-US" sz="2800" b="0" dirty="0"/>
              <a:t>関数で確認してから算出すると良い</a:t>
            </a:r>
            <a:endParaRPr kumimoji="1" lang="en-US" altLang="ja-JP" sz="2800" b="0" dirty="0"/>
          </a:p>
          <a:p>
            <a:pPr marL="0" indent="0">
              <a:buNone/>
            </a:pPr>
            <a:endParaRPr kumimoji="1" lang="en-US" altLang="ja-JP" sz="2800" b="0" dirty="0"/>
          </a:p>
          <a:p>
            <a:pPr marL="0" indent="0">
              <a:buNone/>
            </a:pPr>
            <a:endParaRPr kumimoji="1" lang="en-US" altLang="ja-JP" sz="2800" b="0" dirty="0"/>
          </a:p>
        </p:txBody>
      </p:sp>
      <p:sp>
        <p:nvSpPr>
          <p:cNvPr id="10" name="正方形/長方形 9">
            <a:extLst>
              <a:ext uri="{FF2B5EF4-FFF2-40B4-BE49-F238E27FC236}">
                <a16:creationId xmlns:a16="http://schemas.microsoft.com/office/drawing/2014/main" id="{347E8A97-984C-E0CF-49C7-CC9A813AC36D}"/>
              </a:ext>
            </a:extLst>
          </p:cNvPr>
          <p:cNvSpPr/>
          <p:nvPr/>
        </p:nvSpPr>
        <p:spPr>
          <a:xfrm>
            <a:off x="751605" y="2571695"/>
            <a:ext cx="6246095" cy="3067106"/>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9B20E74-CE49-3A3A-45EB-781E39AD4A67}"/>
              </a:ext>
            </a:extLst>
          </p:cNvPr>
          <p:cNvSpPr txBox="1"/>
          <p:nvPr/>
        </p:nvSpPr>
        <p:spPr>
          <a:xfrm>
            <a:off x="852486" y="2640944"/>
            <a:ext cx="6005514" cy="2862322"/>
          </a:xfrm>
          <a:prstGeom prst="rect">
            <a:avLst/>
          </a:prstGeom>
          <a:noFill/>
        </p:spPr>
        <p:txBody>
          <a:bodyPr wrap="square">
            <a:spAutoFit/>
          </a:bodyPr>
          <a:lstStyle/>
          <a:p>
            <a:r>
              <a:rPr lang="en-US" altLang="ja-JP" sz="2000" dirty="0"/>
              <a:t>x &lt;- c(</a:t>
            </a:r>
            <a:r>
              <a:rPr lang="en-US" altLang="ja-JP" sz="2000" dirty="0">
                <a:solidFill>
                  <a:srgbClr val="3333FF"/>
                </a:solidFill>
              </a:rPr>
              <a:t>10</a:t>
            </a:r>
            <a:r>
              <a:rPr lang="en-US" altLang="ja-JP" sz="2000" dirty="0"/>
              <a:t>, </a:t>
            </a:r>
            <a:r>
              <a:rPr lang="en-US" altLang="ja-JP" sz="2000" dirty="0">
                <a:solidFill>
                  <a:srgbClr val="3333FF"/>
                </a:solidFill>
              </a:rPr>
              <a:t>12</a:t>
            </a:r>
            <a:r>
              <a:rPr lang="en-US" altLang="ja-JP" sz="2000" dirty="0"/>
              <a:t>, </a:t>
            </a:r>
            <a:r>
              <a:rPr lang="en-US" altLang="ja-JP" sz="2000" dirty="0">
                <a:solidFill>
                  <a:srgbClr val="3333FF"/>
                </a:solidFill>
              </a:rPr>
              <a:t>NA</a:t>
            </a:r>
            <a:r>
              <a:rPr lang="en-US" altLang="ja-JP" sz="2000" dirty="0"/>
              <a:t>, </a:t>
            </a:r>
            <a:r>
              <a:rPr lang="en-US" altLang="ja-JP" sz="2000" dirty="0">
                <a:solidFill>
                  <a:srgbClr val="3333FF"/>
                </a:solidFill>
              </a:rPr>
              <a:t>Inf</a:t>
            </a:r>
            <a:r>
              <a:rPr lang="en-US" altLang="ja-JP" sz="2000" dirty="0"/>
              <a:t>, </a:t>
            </a:r>
            <a:r>
              <a:rPr lang="en-US" altLang="ja-JP" sz="2000" dirty="0" err="1">
                <a:solidFill>
                  <a:srgbClr val="3333FF"/>
                </a:solidFill>
              </a:rPr>
              <a:t>NaN</a:t>
            </a:r>
            <a:r>
              <a:rPr lang="en-US" altLang="ja-JP" sz="2000" dirty="0"/>
              <a:t>)</a:t>
            </a:r>
          </a:p>
          <a:p>
            <a:r>
              <a:rPr lang="en-US" altLang="ja-JP" sz="2000" dirty="0"/>
              <a:t>x2 &lt;- x[</a:t>
            </a:r>
            <a:r>
              <a:rPr lang="en-US" altLang="ja-JP" sz="2000" dirty="0" err="1"/>
              <a:t>is.finite</a:t>
            </a:r>
            <a:r>
              <a:rPr lang="en-US" altLang="ja-JP" sz="2000" dirty="0"/>
              <a:t>(x)] </a:t>
            </a:r>
            <a:r>
              <a:rPr lang="en-US" altLang="ja-JP" sz="2000" dirty="0">
                <a:solidFill>
                  <a:srgbClr val="00B050"/>
                </a:solidFill>
              </a:rPr>
              <a:t>#</a:t>
            </a:r>
            <a:r>
              <a:rPr lang="ja-JP" altLang="en-US" sz="2000" dirty="0">
                <a:solidFill>
                  <a:srgbClr val="00B050"/>
                </a:solidFill>
              </a:rPr>
              <a:t>有限な数値だけを取り出す</a:t>
            </a:r>
            <a:endParaRPr lang="en-US" altLang="ja-JP" sz="2000" dirty="0"/>
          </a:p>
          <a:p>
            <a:endParaRPr lang="ja-JP" altLang="en-US" sz="2000" dirty="0"/>
          </a:p>
          <a:p>
            <a:r>
              <a:rPr lang="en-US" altLang="ja-JP" sz="2000" dirty="0">
                <a:solidFill>
                  <a:srgbClr val="00B050"/>
                </a:solidFill>
              </a:rPr>
              <a:t>#length</a:t>
            </a:r>
            <a:r>
              <a:rPr lang="ja-JP" altLang="en-US" sz="2000" dirty="0">
                <a:solidFill>
                  <a:srgbClr val="00B050"/>
                </a:solidFill>
              </a:rPr>
              <a:t>はオブジェクトの要素数を戻す関数</a:t>
            </a:r>
          </a:p>
          <a:p>
            <a:r>
              <a:rPr lang="en-US" altLang="ja-JP" sz="2000" dirty="0">
                <a:solidFill>
                  <a:srgbClr val="3333FF"/>
                </a:solidFill>
              </a:rPr>
              <a:t>if</a:t>
            </a:r>
            <a:r>
              <a:rPr lang="en-US" altLang="ja-JP" sz="2000" dirty="0"/>
              <a:t> (length(x2) &gt;= </a:t>
            </a:r>
            <a:r>
              <a:rPr lang="en-US" altLang="ja-JP" sz="2000" dirty="0">
                <a:solidFill>
                  <a:srgbClr val="3333FF"/>
                </a:solidFill>
              </a:rPr>
              <a:t>2</a:t>
            </a:r>
            <a:r>
              <a:rPr lang="en-US" altLang="ja-JP" sz="2000" dirty="0"/>
              <a:t>) {</a:t>
            </a:r>
          </a:p>
          <a:p>
            <a:r>
              <a:rPr lang="en-US" altLang="ja-JP" sz="2000" dirty="0"/>
              <a:t>  </a:t>
            </a:r>
            <a:r>
              <a:rPr lang="en-US" altLang="ja-JP" sz="2000" dirty="0" err="1"/>
              <a:t>sd</a:t>
            </a:r>
            <a:r>
              <a:rPr lang="en-US" altLang="ja-JP" sz="2000" dirty="0"/>
              <a:t>(x2)</a:t>
            </a:r>
          </a:p>
          <a:p>
            <a:r>
              <a:rPr lang="en-US" altLang="ja-JP" sz="2000" dirty="0"/>
              <a:t>} </a:t>
            </a:r>
            <a:r>
              <a:rPr lang="en-US" altLang="ja-JP" sz="2000" dirty="0">
                <a:solidFill>
                  <a:srgbClr val="3333FF"/>
                </a:solidFill>
              </a:rPr>
              <a:t>else</a:t>
            </a:r>
            <a:r>
              <a:rPr lang="en-US" altLang="ja-JP" sz="2000" dirty="0"/>
              <a:t> {</a:t>
            </a:r>
          </a:p>
          <a:p>
            <a:r>
              <a:rPr lang="en-US" altLang="ja-JP" sz="2000" dirty="0"/>
              <a:t>  </a:t>
            </a:r>
            <a:r>
              <a:rPr lang="en-US" altLang="ja-JP" sz="2000" dirty="0">
                <a:solidFill>
                  <a:srgbClr val="3333FF"/>
                </a:solidFill>
              </a:rPr>
              <a:t>NA</a:t>
            </a:r>
          </a:p>
          <a:p>
            <a:r>
              <a:rPr lang="en-US" altLang="ja-JP" sz="2000" dirty="0"/>
              <a:t>}</a:t>
            </a:r>
            <a:endParaRPr lang="ja-JP" altLang="en-US" sz="2000" dirty="0">
              <a:solidFill>
                <a:srgbClr val="00B050"/>
              </a:solidFill>
            </a:endParaRPr>
          </a:p>
        </p:txBody>
      </p:sp>
      <p:pic>
        <p:nvPicPr>
          <p:cNvPr id="6" name="図 5">
            <a:extLst>
              <a:ext uri="{FF2B5EF4-FFF2-40B4-BE49-F238E27FC236}">
                <a16:creationId xmlns:a16="http://schemas.microsoft.com/office/drawing/2014/main" id="{1E583B25-E214-0B2B-5CA0-08453F01B7C8}"/>
              </a:ext>
            </a:extLst>
          </p:cNvPr>
          <p:cNvPicPr>
            <a:picLocks noChangeAspect="1"/>
          </p:cNvPicPr>
          <p:nvPr/>
        </p:nvPicPr>
        <p:blipFill>
          <a:blip r:embed="rId3"/>
          <a:stretch>
            <a:fillRect/>
          </a:stretch>
        </p:blipFill>
        <p:spPr>
          <a:xfrm>
            <a:off x="7202487" y="2571695"/>
            <a:ext cx="3281064" cy="1073435"/>
          </a:xfrm>
          <a:prstGeom prst="rect">
            <a:avLst/>
          </a:prstGeom>
        </p:spPr>
      </p:pic>
    </p:spTree>
    <p:extLst>
      <p:ext uri="{BB962C8B-B14F-4D97-AF65-F5344CB8AC3E}">
        <p14:creationId xmlns:p14="http://schemas.microsoft.com/office/powerpoint/2010/main" val="61436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294D2-3194-24F3-D266-0F9F20E034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AEB2B7-7223-AC5F-9D80-1D4C5DD8D171}"/>
              </a:ext>
            </a:extLst>
          </p:cNvPr>
          <p:cNvSpPr>
            <a:spLocks noGrp="1"/>
          </p:cNvSpPr>
          <p:nvPr>
            <p:ph type="title"/>
          </p:nvPr>
        </p:nvSpPr>
        <p:spPr/>
        <p:txBody>
          <a:bodyPr/>
          <a:lstStyle/>
          <a:p>
            <a:r>
              <a:rPr kumimoji="1" lang="ja-JP" altLang="en-US" dirty="0"/>
              <a:t>​</a:t>
            </a:r>
            <a:r>
              <a:rPr kumimoji="1" lang="en-US" altLang="ja-JP" dirty="0"/>
              <a:t>switch</a:t>
            </a:r>
            <a:r>
              <a:rPr kumimoji="1" lang="ja-JP" altLang="en-US" dirty="0"/>
              <a:t>関数でも想定外のデータを検知できるように</a:t>
            </a:r>
          </a:p>
        </p:txBody>
      </p:sp>
      <p:sp>
        <p:nvSpPr>
          <p:cNvPr id="3" name="スライド番号プレースホルダー 2">
            <a:extLst>
              <a:ext uri="{FF2B5EF4-FFF2-40B4-BE49-F238E27FC236}">
                <a16:creationId xmlns:a16="http://schemas.microsoft.com/office/drawing/2014/main" id="{7AE2019F-2829-CEF1-6467-A999E94EBD0D}"/>
              </a:ext>
            </a:extLst>
          </p:cNvPr>
          <p:cNvSpPr>
            <a:spLocks noGrp="1"/>
          </p:cNvSpPr>
          <p:nvPr>
            <p:ph type="sldNum" sz="quarter" idx="4"/>
          </p:nvPr>
        </p:nvSpPr>
        <p:spPr/>
        <p:txBody>
          <a:bodyPr/>
          <a:lstStyle/>
          <a:p>
            <a:fld id="{24AEDCA4-7D12-E34A-9125-9C962139F6EA}" type="slidenum">
              <a:rPr kumimoji="1" lang="en-US" altLang="ja-JP" smtClean="0"/>
              <a:pPr/>
              <a:t>11</a:t>
            </a:fld>
            <a:endParaRPr kumimoji="1" lang="en-US" altLang="ja-JP" dirty="0"/>
          </a:p>
        </p:txBody>
      </p:sp>
      <p:sp>
        <p:nvSpPr>
          <p:cNvPr id="4" name="コンテンツ プレースホルダー 3">
            <a:extLst>
              <a:ext uri="{FF2B5EF4-FFF2-40B4-BE49-F238E27FC236}">
                <a16:creationId xmlns:a16="http://schemas.microsoft.com/office/drawing/2014/main" id="{19470EF2-D743-23B2-C4A0-F431D5115170}"/>
              </a:ext>
            </a:extLst>
          </p:cNvPr>
          <p:cNvSpPr>
            <a:spLocks noGrp="1"/>
          </p:cNvSpPr>
          <p:nvPr>
            <p:ph sz="half" idx="10"/>
          </p:nvPr>
        </p:nvSpPr>
        <p:spPr>
          <a:xfrm>
            <a:off x="496885" y="1426912"/>
            <a:ext cx="13745207" cy="5001369"/>
          </a:xfrm>
        </p:spPr>
        <p:txBody>
          <a:bodyPr/>
          <a:lstStyle/>
          <a:p>
            <a:pPr marL="0" indent="0">
              <a:buNone/>
            </a:pPr>
            <a:r>
              <a:rPr kumimoji="1" lang="en-US" altLang="ja-JP" sz="2800" b="0" dirty="0"/>
              <a:t>SAS</a:t>
            </a:r>
            <a:r>
              <a:rPr kumimoji="1" lang="ja-JP" altLang="en-US" sz="2800" b="0" dirty="0"/>
              <a:t>でも</a:t>
            </a:r>
            <a:r>
              <a:rPr kumimoji="1" lang="en-US" altLang="ja-JP" sz="2800" b="0" dirty="0"/>
              <a:t>if</a:t>
            </a:r>
            <a:r>
              <a:rPr kumimoji="1" lang="ja-JP" altLang="en-US" sz="2800" b="0" dirty="0"/>
              <a:t>文、</a:t>
            </a:r>
            <a:r>
              <a:rPr kumimoji="1" lang="en-US" altLang="ja-JP" sz="2800" b="0" dirty="0"/>
              <a:t>else if</a:t>
            </a:r>
            <a:r>
              <a:rPr kumimoji="1" lang="ja-JP" altLang="en-US" sz="2800" b="0" dirty="0"/>
              <a:t>文を記載して、</a:t>
            </a:r>
            <a:endParaRPr kumimoji="1" lang="en-US" altLang="ja-JP" sz="2800" b="0" dirty="0"/>
          </a:p>
          <a:p>
            <a:pPr marL="0" indent="0">
              <a:buNone/>
            </a:pPr>
            <a:r>
              <a:rPr kumimoji="1" lang="ja-JP" altLang="en-US" sz="2800" b="0" dirty="0"/>
              <a:t>それらに当てはまらない想定外のデータを</a:t>
            </a:r>
            <a:r>
              <a:rPr kumimoji="1" lang="en-US" altLang="ja-JP" sz="2800" b="0" dirty="0"/>
              <a:t>else</a:t>
            </a:r>
            <a:r>
              <a:rPr kumimoji="1" lang="ja-JP" altLang="en-US" sz="2800" b="0" dirty="0"/>
              <a:t>文で捕捉することがあるが、</a:t>
            </a:r>
            <a:endParaRPr kumimoji="1" lang="en-US" altLang="ja-JP" sz="2800" b="0" dirty="0"/>
          </a:p>
          <a:p>
            <a:pPr marL="0" indent="0">
              <a:buNone/>
            </a:pPr>
            <a:endParaRPr kumimoji="1" lang="en-US" altLang="ja-JP" sz="2800" b="0" dirty="0"/>
          </a:p>
          <a:p>
            <a:pPr marL="0" indent="0">
              <a:buNone/>
            </a:pPr>
            <a:r>
              <a:rPr kumimoji="1" lang="en-US" altLang="ja-JP" sz="2800" b="0" dirty="0"/>
              <a:t>R</a:t>
            </a:r>
            <a:r>
              <a:rPr kumimoji="1" lang="ja-JP" altLang="en-US" sz="2800" b="0" dirty="0"/>
              <a:t>の</a:t>
            </a:r>
            <a:r>
              <a:rPr kumimoji="1" lang="en-US" altLang="ja-JP" sz="2800" b="0" dirty="0"/>
              <a:t>switch</a:t>
            </a:r>
            <a:r>
              <a:rPr kumimoji="1" lang="ja-JP" altLang="en-US" sz="2800" b="0" dirty="0"/>
              <a:t>関数で条件分岐を実施する場合には、</a:t>
            </a:r>
            <a:endParaRPr kumimoji="1" lang="en-US" altLang="ja-JP" sz="2800" b="0" dirty="0"/>
          </a:p>
          <a:p>
            <a:pPr marL="0" indent="0">
              <a:buNone/>
            </a:pPr>
            <a:r>
              <a:rPr kumimoji="1" lang="ja-JP" altLang="en-US" sz="2800" b="0" dirty="0"/>
              <a:t>閉じ括弧の上の行に該当する条件がない旨を検知できるような処理などを書く　</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16F37115-6AB5-4F16-5515-3764FB67675C}"/>
              </a:ext>
            </a:extLst>
          </p:cNvPr>
          <p:cNvSpPr/>
          <p:nvPr/>
        </p:nvSpPr>
        <p:spPr>
          <a:xfrm>
            <a:off x="496885" y="4207116"/>
            <a:ext cx="4973050" cy="1700465"/>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9E7D969-DCF8-5AFB-35AF-9D2EA34CD0FD}"/>
              </a:ext>
            </a:extLst>
          </p:cNvPr>
          <p:cNvSpPr txBox="1"/>
          <p:nvPr/>
        </p:nvSpPr>
        <p:spPr>
          <a:xfrm>
            <a:off x="496885" y="4276365"/>
            <a:ext cx="4973050" cy="1631216"/>
          </a:xfrm>
          <a:prstGeom prst="rect">
            <a:avLst/>
          </a:prstGeom>
          <a:noFill/>
        </p:spPr>
        <p:txBody>
          <a:bodyPr wrap="square">
            <a:spAutoFit/>
          </a:bodyPr>
          <a:lstStyle/>
          <a:p>
            <a:r>
              <a:rPr lang="en-US" altLang="ja-JP" sz="2000" dirty="0">
                <a:solidFill>
                  <a:srgbClr val="3333FF"/>
                </a:solidFill>
              </a:rPr>
              <a:t>switch</a:t>
            </a:r>
            <a:r>
              <a:rPr lang="en-US" altLang="ja-JP" sz="2000" dirty="0"/>
              <a:t>(a,</a:t>
            </a:r>
          </a:p>
          <a:p>
            <a:r>
              <a:rPr lang="en-US" altLang="ja-JP" sz="2000" dirty="0"/>
              <a:t>       </a:t>
            </a:r>
            <a:r>
              <a:rPr lang="en-US" altLang="ja-JP" sz="2000" dirty="0">
                <a:solidFill>
                  <a:srgbClr val="00B050"/>
                </a:solidFill>
              </a:rPr>
              <a:t>"1" </a:t>
            </a:r>
            <a:r>
              <a:rPr lang="en-US" altLang="ja-JP" sz="2000" dirty="0"/>
              <a:t>= x &lt;- </a:t>
            </a:r>
            <a:r>
              <a:rPr lang="en-US" altLang="ja-JP" sz="2000" dirty="0">
                <a:solidFill>
                  <a:srgbClr val="3333FF"/>
                </a:solidFill>
              </a:rPr>
              <a:t>1</a:t>
            </a:r>
            <a:r>
              <a:rPr lang="en-US" altLang="ja-JP" sz="2000" dirty="0"/>
              <a:t>,</a:t>
            </a:r>
          </a:p>
          <a:p>
            <a:r>
              <a:rPr lang="en-US" altLang="ja-JP" sz="2000" dirty="0"/>
              <a:t>      </a:t>
            </a:r>
            <a:r>
              <a:rPr lang="en-US" altLang="ja-JP" sz="2000" dirty="0">
                <a:solidFill>
                  <a:srgbClr val="00B050"/>
                </a:solidFill>
              </a:rPr>
              <a:t> "2" </a:t>
            </a:r>
            <a:r>
              <a:rPr lang="en-US" altLang="ja-JP" sz="2000" dirty="0"/>
              <a:t>= x &lt;- </a:t>
            </a:r>
            <a:r>
              <a:rPr lang="en-US" altLang="ja-JP" sz="2000" dirty="0">
                <a:solidFill>
                  <a:srgbClr val="3333FF"/>
                </a:solidFill>
              </a:rPr>
              <a:t>2</a:t>
            </a:r>
            <a:r>
              <a:rPr lang="en-US" altLang="ja-JP" sz="2000" dirty="0"/>
              <a:t>,</a:t>
            </a:r>
          </a:p>
          <a:p>
            <a:r>
              <a:rPr lang="en-US" altLang="ja-JP" sz="2000" dirty="0"/>
              <a:t>        print(</a:t>
            </a:r>
            <a:r>
              <a:rPr lang="en-US" altLang="ja-JP" sz="2000" dirty="0">
                <a:solidFill>
                  <a:srgbClr val="00B050"/>
                </a:solidFill>
              </a:rPr>
              <a:t>"</a:t>
            </a:r>
            <a:r>
              <a:rPr lang="ja-JP" altLang="en-US" sz="2000" dirty="0">
                <a:solidFill>
                  <a:srgbClr val="00B050"/>
                </a:solidFill>
              </a:rPr>
              <a:t>該当する条件がありません</a:t>
            </a:r>
            <a:r>
              <a:rPr lang="en-US" altLang="ja-JP" sz="2000" dirty="0">
                <a:solidFill>
                  <a:srgbClr val="00B050"/>
                </a:solidFill>
              </a:rPr>
              <a:t>"</a:t>
            </a:r>
            <a:r>
              <a:rPr lang="en-US" altLang="ja-JP" sz="2000" dirty="0"/>
              <a:t>)</a:t>
            </a:r>
          </a:p>
          <a:p>
            <a:r>
              <a:rPr lang="en-US" altLang="ja-JP" sz="2000" dirty="0"/>
              <a:t>        )</a:t>
            </a:r>
            <a:endParaRPr lang="ja-JP" altLang="en-US" sz="2000" dirty="0">
              <a:solidFill>
                <a:srgbClr val="3333FF"/>
              </a:solidFill>
            </a:endParaRPr>
          </a:p>
        </p:txBody>
      </p:sp>
    </p:spTree>
    <p:extLst>
      <p:ext uri="{BB962C8B-B14F-4D97-AF65-F5344CB8AC3E}">
        <p14:creationId xmlns:p14="http://schemas.microsoft.com/office/powerpoint/2010/main" val="706865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C4C5-314E-4EA0-F1F6-EB44969A59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627FA1-A78F-725C-9158-B7CF4778332D}"/>
              </a:ext>
            </a:extLst>
          </p:cNvPr>
          <p:cNvSpPr>
            <a:spLocks noGrp="1"/>
          </p:cNvSpPr>
          <p:nvPr>
            <p:ph type="title"/>
          </p:nvPr>
        </p:nvSpPr>
        <p:spPr/>
        <p:txBody>
          <a:bodyPr/>
          <a:lstStyle/>
          <a:p>
            <a:r>
              <a:rPr kumimoji="1" lang="ja-JP" altLang="en-US" dirty="0"/>
              <a:t>代入演算子​</a:t>
            </a:r>
          </a:p>
        </p:txBody>
      </p:sp>
      <p:sp>
        <p:nvSpPr>
          <p:cNvPr id="3" name="スライド番号プレースホルダー 2">
            <a:extLst>
              <a:ext uri="{FF2B5EF4-FFF2-40B4-BE49-F238E27FC236}">
                <a16:creationId xmlns:a16="http://schemas.microsoft.com/office/drawing/2014/main" id="{A225990B-BE62-0DC6-B2B0-49515D00FE78}"/>
              </a:ext>
            </a:extLst>
          </p:cNvPr>
          <p:cNvSpPr>
            <a:spLocks noGrp="1"/>
          </p:cNvSpPr>
          <p:nvPr>
            <p:ph type="sldNum" sz="quarter" idx="4"/>
          </p:nvPr>
        </p:nvSpPr>
        <p:spPr/>
        <p:txBody>
          <a:bodyPr/>
          <a:lstStyle/>
          <a:p>
            <a:fld id="{24AEDCA4-7D12-E34A-9125-9C962139F6EA}" type="slidenum">
              <a:rPr kumimoji="1" lang="en-US" altLang="ja-JP" smtClean="0"/>
              <a:pPr/>
              <a:t>12</a:t>
            </a:fld>
            <a:endParaRPr kumimoji="1" lang="en-US" altLang="ja-JP" dirty="0"/>
          </a:p>
        </p:txBody>
      </p:sp>
      <p:sp>
        <p:nvSpPr>
          <p:cNvPr id="4" name="コンテンツ プレースホルダー 3">
            <a:extLst>
              <a:ext uri="{FF2B5EF4-FFF2-40B4-BE49-F238E27FC236}">
                <a16:creationId xmlns:a16="http://schemas.microsoft.com/office/drawing/2014/main" id="{B48DE3DC-2ED0-12D2-588A-FCB88AEFE8BC}"/>
              </a:ext>
            </a:extLst>
          </p:cNvPr>
          <p:cNvSpPr>
            <a:spLocks noGrp="1"/>
          </p:cNvSpPr>
          <p:nvPr>
            <p:ph sz="half" idx="10"/>
          </p:nvPr>
        </p:nvSpPr>
        <p:spPr>
          <a:xfrm>
            <a:off x="496885" y="1426912"/>
            <a:ext cx="13745207" cy="5509200"/>
          </a:xfrm>
        </p:spPr>
        <p:txBody>
          <a:bodyPr/>
          <a:lstStyle/>
          <a:p>
            <a:pPr marL="0" indent="0">
              <a:buNone/>
            </a:pPr>
            <a:r>
              <a:rPr kumimoji="1" lang="ja-JP" altLang="en-US" sz="2800" b="0" dirty="0"/>
              <a:t>・ 代入演算子として </a:t>
            </a:r>
            <a:r>
              <a:rPr kumimoji="1" lang="en-US" altLang="ja-JP" sz="2800" b="0" dirty="0"/>
              <a:t>=</a:t>
            </a:r>
            <a:r>
              <a:rPr kumimoji="1" lang="ja-JP" altLang="en-US" sz="2800" b="0" dirty="0"/>
              <a:t> は使わない</a:t>
            </a:r>
            <a:endParaRPr kumimoji="1" lang="en-US" altLang="ja-JP" sz="2800" b="0" dirty="0"/>
          </a:p>
          <a:p>
            <a:pPr marL="0" indent="0">
              <a:buNone/>
            </a:pPr>
            <a:r>
              <a:rPr kumimoji="1" lang="ja-JP" altLang="en-US" sz="2800" b="0" dirty="0"/>
              <a:t>　可読性、検索性の観点からオブジェクトに値を代入する際は </a:t>
            </a:r>
            <a:r>
              <a:rPr kumimoji="1" lang="en-US" altLang="ja-JP" sz="2800" b="0" dirty="0"/>
              <a:t>&lt;- </a:t>
            </a:r>
            <a:r>
              <a:rPr kumimoji="1" lang="ja-JP" altLang="en-US" sz="2800" b="0" dirty="0"/>
              <a:t>を使うことが良い</a:t>
            </a:r>
            <a:endParaRPr kumimoji="1" lang="en-US" altLang="ja-JP" sz="2800" b="0" dirty="0"/>
          </a:p>
          <a:p>
            <a:pPr marL="0" indent="0">
              <a:buNone/>
            </a:pPr>
            <a:r>
              <a:rPr kumimoji="1" lang="ja-JP" altLang="en-US" sz="2800" b="0" dirty="0"/>
              <a:t>　</a:t>
            </a:r>
            <a:r>
              <a:rPr kumimoji="1" lang="en-US" altLang="ja-JP" sz="2800" b="0" dirty="0"/>
              <a:t>(</a:t>
            </a:r>
            <a:r>
              <a:rPr kumimoji="1" lang="en-US" altLang="ja-JP" sz="2800" b="0" dirty="0" err="1"/>
              <a:t>Tidyverse</a:t>
            </a:r>
            <a:r>
              <a:rPr kumimoji="1" lang="en-US" altLang="ja-JP" sz="2800" b="0" dirty="0"/>
              <a:t> style guide</a:t>
            </a:r>
            <a:r>
              <a:rPr kumimoji="1" lang="ja-JP" altLang="en-US" sz="2800" b="0" dirty="0"/>
              <a:t>でも代入に </a:t>
            </a:r>
            <a:r>
              <a:rPr kumimoji="1" lang="en-US" altLang="ja-JP" sz="2800" b="0" dirty="0"/>
              <a:t>&lt;- </a:t>
            </a:r>
            <a:r>
              <a:rPr kumimoji="1" lang="ja-JP" altLang="en-US" sz="2800" b="0" dirty="0"/>
              <a:t>を用いるよう記載されている）</a:t>
            </a:r>
            <a:endParaRPr kumimoji="1" lang="en-US" altLang="ja-JP" sz="2800" b="0" dirty="0"/>
          </a:p>
          <a:p>
            <a:pPr marL="0" indent="0">
              <a:buNone/>
            </a:pPr>
            <a:r>
              <a:rPr kumimoji="1" lang="ja-JP" altLang="en-US" sz="2800" b="0" dirty="0"/>
              <a:t>　</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sz="2800" b="0" dirty="0"/>
              <a:t>・ 永続代入演算子 </a:t>
            </a:r>
            <a:r>
              <a:rPr kumimoji="1" lang="en-US" altLang="ja-JP" sz="2800" b="0" dirty="0"/>
              <a:t>&lt;&lt;- </a:t>
            </a:r>
            <a:r>
              <a:rPr kumimoji="1" lang="ja-JP" altLang="en-US" sz="2800" b="0" dirty="0"/>
              <a:t>は使わない</a:t>
            </a:r>
            <a:endParaRPr kumimoji="1" lang="en-US" altLang="ja-JP" sz="2800" b="0" dirty="0"/>
          </a:p>
          <a:p>
            <a:pPr marL="0" indent="0">
              <a:buNone/>
            </a:pPr>
            <a:r>
              <a:rPr kumimoji="1" lang="ja-JP" altLang="en-US" sz="2800" b="0" dirty="0"/>
              <a:t>　関数定義内からグローバル </a:t>
            </a:r>
            <a:r>
              <a:rPr kumimoji="1" lang="en-US" altLang="ja-JP" sz="2800" b="0" dirty="0"/>
              <a:t>(</a:t>
            </a:r>
            <a:r>
              <a:rPr kumimoji="1" lang="ja-JP" altLang="en-US" sz="2800" b="0" dirty="0"/>
              <a:t>関数定義外</a:t>
            </a:r>
            <a:r>
              <a:rPr kumimoji="1" lang="en-US" altLang="ja-JP" sz="2800" b="0" dirty="0"/>
              <a:t>)</a:t>
            </a:r>
            <a:r>
              <a:rPr kumimoji="1" lang="ja-JP" altLang="en-US" sz="2800" b="0" dirty="0"/>
              <a:t>のオブジェクトを上書きするもの</a:t>
            </a:r>
            <a:endParaRPr kumimoji="1" lang="en-US" altLang="ja-JP" sz="2800" b="0" dirty="0"/>
          </a:p>
          <a:p>
            <a:pPr marL="0" indent="0">
              <a:buNone/>
            </a:pPr>
            <a:r>
              <a:rPr kumimoji="1" lang="ja-JP" altLang="en-US" sz="2800" b="0" dirty="0"/>
              <a:t>　ミスの原因になることから、基本的に使用しない方が良い</a:t>
            </a: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05512846-0263-A40E-866E-1B927C954EA2}"/>
              </a:ext>
            </a:extLst>
          </p:cNvPr>
          <p:cNvSpPr/>
          <p:nvPr/>
        </p:nvSpPr>
        <p:spPr>
          <a:xfrm>
            <a:off x="725486" y="3169517"/>
            <a:ext cx="12355514" cy="881783"/>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9769A2A-2C4D-6A66-790C-6B10443B2C8A}"/>
              </a:ext>
            </a:extLst>
          </p:cNvPr>
          <p:cNvSpPr txBox="1"/>
          <p:nvPr/>
        </p:nvSpPr>
        <p:spPr>
          <a:xfrm>
            <a:off x="738185" y="3238766"/>
            <a:ext cx="12495216" cy="707886"/>
          </a:xfrm>
          <a:prstGeom prst="rect">
            <a:avLst/>
          </a:prstGeom>
          <a:noFill/>
        </p:spPr>
        <p:txBody>
          <a:bodyPr wrap="square">
            <a:spAutoFit/>
          </a:bodyPr>
          <a:lstStyle/>
          <a:p>
            <a:r>
              <a:rPr lang="en-US" altLang="ja-JP" sz="2000" dirty="0"/>
              <a:t>y = mean (x=</a:t>
            </a:r>
            <a:r>
              <a:rPr lang="en-US" altLang="ja-JP" sz="2000" dirty="0">
                <a:solidFill>
                  <a:srgbClr val="3333FF"/>
                </a:solidFill>
              </a:rPr>
              <a:t>1</a:t>
            </a:r>
            <a:r>
              <a:rPr lang="en-US" altLang="ja-JP" sz="2000" dirty="0"/>
              <a:t>:</a:t>
            </a:r>
            <a:r>
              <a:rPr lang="en-US" altLang="ja-JP" sz="2000" dirty="0">
                <a:solidFill>
                  <a:srgbClr val="3333FF"/>
                </a:solidFill>
              </a:rPr>
              <a:t>5</a:t>
            </a:r>
            <a:r>
              <a:rPr lang="en-US" altLang="ja-JP" sz="2000" dirty="0"/>
              <a:t>)</a:t>
            </a:r>
            <a:r>
              <a:rPr lang="ja-JP" altLang="en-US" sz="2000" dirty="0"/>
              <a:t>  </a:t>
            </a:r>
            <a:r>
              <a:rPr lang="en-US" altLang="ja-JP" sz="2000" dirty="0">
                <a:solidFill>
                  <a:srgbClr val="00B050"/>
                </a:solidFill>
              </a:rPr>
              <a:t>#1</a:t>
            </a:r>
            <a:r>
              <a:rPr lang="ja-JP" altLang="en-US" sz="2000" dirty="0">
                <a:solidFill>
                  <a:srgbClr val="00B050"/>
                </a:solidFill>
              </a:rPr>
              <a:t>つ目の</a:t>
            </a:r>
            <a:r>
              <a:rPr lang="en-US" altLang="ja-JP" sz="2000" dirty="0">
                <a:solidFill>
                  <a:srgbClr val="00B050"/>
                </a:solidFill>
              </a:rPr>
              <a:t>=</a:t>
            </a:r>
            <a:r>
              <a:rPr lang="ja-JP" altLang="en-US" sz="2000" dirty="0">
                <a:solidFill>
                  <a:srgbClr val="00B050"/>
                </a:solidFill>
              </a:rPr>
              <a:t>と</a:t>
            </a:r>
            <a:r>
              <a:rPr lang="en-US" altLang="ja-JP" sz="2000" dirty="0">
                <a:solidFill>
                  <a:srgbClr val="00B050"/>
                </a:solidFill>
              </a:rPr>
              <a:t>2</a:t>
            </a:r>
            <a:r>
              <a:rPr lang="ja-JP" altLang="en-US" sz="2000" dirty="0">
                <a:solidFill>
                  <a:srgbClr val="00B050"/>
                </a:solidFill>
              </a:rPr>
              <a:t>つ目の</a:t>
            </a:r>
            <a:r>
              <a:rPr lang="en-US" altLang="ja-JP" sz="2000" dirty="0">
                <a:solidFill>
                  <a:srgbClr val="00B050"/>
                </a:solidFill>
              </a:rPr>
              <a:t>=</a:t>
            </a:r>
            <a:r>
              <a:rPr lang="ja-JP" altLang="en-US" sz="2000" dirty="0">
                <a:solidFill>
                  <a:srgbClr val="00B050"/>
                </a:solidFill>
              </a:rPr>
              <a:t>は意味が違う</a:t>
            </a:r>
            <a:endParaRPr lang="en-US" altLang="ja-JP" sz="2000" dirty="0">
              <a:solidFill>
                <a:srgbClr val="00B050"/>
              </a:solidFill>
            </a:endParaRPr>
          </a:p>
          <a:p>
            <a:r>
              <a:rPr lang="en-US" altLang="ja-JP" sz="2000" dirty="0"/>
              <a:t>y &lt;- mean (x=</a:t>
            </a:r>
            <a:r>
              <a:rPr lang="en-US" altLang="ja-JP" sz="2000" dirty="0">
                <a:solidFill>
                  <a:srgbClr val="3333FF"/>
                </a:solidFill>
              </a:rPr>
              <a:t>1</a:t>
            </a:r>
            <a:r>
              <a:rPr lang="en-US" altLang="ja-JP" sz="2000" dirty="0"/>
              <a:t>:</a:t>
            </a:r>
            <a:r>
              <a:rPr lang="en-US" altLang="ja-JP" sz="2000" dirty="0">
                <a:solidFill>
                  <a:srgbClr val="3333FF"/>
                </a:solidFill>
              </a:rPr>
              <a:t>5</a:t>
            </a:r>
            <a:r>
              <a:rPr lang="en-US" altLang="ja-JP" sz="2000" dirty="0"/>
              <a:t>)</a:t>
            </a:r>
            <a:r>
              <a:rPr lang="ja-JP" altLang="en-US" sz="2000" dirty="0"/>
              <a:t> </a:t>
            </a:r>
            <a:r>
              <a:rPr lang="en-US" altLang="ja-JP" sz="2000" dirty="0">
                <a:solidFill>
                  <a:srgbClr val="00B050"/>
                </a:solidFill>
              </a:rPr>
              <a:t>#</a:t>
            </a:r>
            <a:r>
              <a:rPr lang="ja-JP" altLang="en-US" sz="2000" dirty="0">
                <a:solidFill>
                  <a:srgbClr val="00B050"/>
                </a:solidFill>
              </a:rPr>
              <a:t>好みの問題もあるが、</a:t>
            </a:r>
            <a:r>
              <a:rPr lang="en-US" altLang="ja-JP" sz="2000" dirty="0">
                <a:solidFill>
                  <a:srgbClr val="00B050"/>
                </a:solidFill>
              </a:rPr>
              <a:t>mean</a:t>
            </a:r>
            <a:r>
              <a:rPr lang="ja-JP" altLang="en-US" sz="2000" dirty="0">
                <a:solidFill>
                  <a:srgbClr val="00B050"/>
                </a:solidFill>
              </a:rPr>
              <a:t>関数の結果をオブジェクト</a:t>
            </a:r>
            <a:r>
              <a:rPr lang="en-US" altLang="ja-JP" sz="2000" dirty="0">
                <a:solidFill>
                  <a:srgbClr val="00B050"/>
                </a:solidFill>
              </a:rPr>
              <a:t>y</a:t>
            </a:r>
            <a:r>
              <a:rPr lang="ja-JP" altLang="en-US" sz="2000" dirty="0">
                <a:solidFill>
                  <a:srgbClr val="00B050"/>
                </a:solidFill>
              </a:rPr>
              <a:t>に格納することが分かりやすい</a:t>
            </a:r>
            <a:endParaRPr lang="ja-JP" altLang="en-US" sz="2000" dirty="0">
              <a:solidFill>
                <a:srgbClr val="3333FF"/>
              </a:solidFill>
            </a:endParaRPr>
          </a:p>
        </p:txBody>
      </p:sp>
    </p:spTree>
    <p:extLst>
      <p:ext uri="{BB962C8B-B14F-4D97-AF65-F5344CB8AC3E}">
        <p14:creationId xmlns:p14="http://schemas.microsoft.com/office/powerpoint/2010/main" val="3096576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3A49-87A7-8B8C-A5C9-A0C2F3C4E7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2914CF-5E62-726D-1553-46349699693B}"/>
              </a:ext>
            </a:extLst>
          </p:cNvPr>
          <p:cNvSpPr>
            <a:spLocks noGrp="1"/>
          </p:cNvSpPr>
          <p:nvPr>
            <p:ph type="title"/>
          </p:nvPr>
        </p:nvSpPr>
        <p:spPr/>
        <p:txBody>
          <a:bodyPr/>
          <a:lstStyle/>
          <a:p>
            <a:r>
              <a:rPr kumimoji="1" lang="ja-JP" altLang="en-US" dirty="0"/>
              <a:t>小数点以下の表示桁数の設定</a:t>
            </a:r>
          </a:p>
        </p:txBody>
      </p:sp>
      <p:sp>
        <p:nvSpPr>
          <p:cNvPr id="3" name="スライド番号プレースホルダー 2">
            <a:extLst>
              <a:ext uri="{FF2B5EF4-FFF2-40B4-BE49-F238E27FC236}">
                <a16:creationId xmlns:a16="http://schemas.microsoft.com/office/drawing/2014/main" id="{422E8C5A-4749-6BAB-0DC0-425370D1FAD2}"/>
              </a:ext>
            </a:extLst>
          </p:cNvPr>
          <p:cNvSpPr>
            <a:spLocks noGrp="1"/>
          </p:cNvSpPr>
          <p:nvPr>
            <p:ph type="sldNum" sz="quarter" idx="4"/>
          </p:nvPr>
        </p:nvSpPr>
        <p:spPr/>
        <p:txBody>
          <a:bodyPr/>
          <a:lstStyle/>
          <a:p>
            <a:fld id="{24AEDCA4-7D12-E34A-9125-9C962139F6EA}" type="slidenum">
              <a:rPr kumimoji="1" lang="en-US" altLang="ja-JP" smtClean="0"/>
              <a:pPr/>
              <a:t>13</a:t>
            </a:fld>
            <a:endParaRPr kumimoji="1" lang="en-US" altLang="ja-JP" dirty="0"/>
          </a:p>
        </p:txBody>
      </p:sp>
      <p:sp>
        <p:nvSpPr>
          <p:cNvPr id="4" name="コンテンツ プレースホルダー 3">
            <a:extLst>
              <a:ext uri="{FF2B5EF4-FFF2-40B4-BE49-F238E27FC236}">
                <a16:creationId xmlns:a16="http://schemas.microsoft.com/office/drawing/2014/main" id="{87193B77-F339-168E-E86C-4EBF6239857B}"/>
              </a:ext>
            </a:extLst>
          </p:cNvPr>
          <p:cNvSpPr>
            <a:spLocks noGrp="1"/>
          </p:cNvSpPr>
          <p:nvPr>
            <p:ph sz="half" idx="10"/>
          </p:nvPr>
        </p:nvSpPr>
        <p:spPr>
          <a:xfrm>
            <a:off x="496885" y="1426912"/>
            <a:ext cx="13745207" cy="6524863"/>
          </a:xfrm>
        </p:spPr>
        <p:txBody>
          <a:bodyPr/>
          <a:lstStyle/>
          <a:p>
            <a:pPr marL="0" indent="0">
              <a:buNone/>
            </a:pPr>
            <a:r>
              <a:rPr kumimoji="1" lang="en-US" altLang="ja-JP" sz="2800" b="0" dirty="0"/>
              <a:t>SAS</a:t>
            </a:r>
            <a:r>
              <a:rPr kumimoji="1" lang="ja-JP" altLang="en-US" sz="2800" b="0" dirty="0"/>
              <a:t>と同様、算出結果の小数点以下の最後の数字が </a:t>
            </a:r>
            <a:r>
              <a:rPr kumimoji="1" lang="en-US" altLang="ja-JP" sz="2800" b="0" dirty="0"/>
              <a:t>0 </a:t>
            </a:r>
            <a:r>
              <a:rPr kumimoji="1" lang="ja-JP" altLang="en-US" sz="2800" b="0" dirty="0"/>
              <a:t>の場合には、</a:t>
            </a:r>
            <a:endParaRPr kumimoji="1" lang="en-US" altLang="ja-JP" sz="2800" b="0" dirty="0"/>
          </a:p>
          <a:p>
            <a:pPr marL="0" indent="0">
              <a:buNone/>
            </a:pPr>
            <a:r>
              <a:rPr kumimoji="1" lang="en-US" altLang="ja-JP" sz="2800" b="0" dirty="0"/>
              <a:t>0 </a:t>
            </a:r>
            <a:r>
              <a:rPr kumimoji="1" lang="ja-JP" altLang="en-US" sz="2800" b="0" dirty="0"/>
              <a:t>より手前までの値しか表示されない</a:t>
            </a:r>
          </a:p>
          <a:p>
            <a:pPr marL="0" indent="0">
              <a:buNone/>
            </a:pPr>
            <a:endParaRPr kumimoji="1" lang="en-US" altLang="ja-JP" sz="2800" b="0" dirty="0"/>
          </a:p>
          <a:p>
            <a:pPr marL="0" indent="0">
              <a:buNone/>
            </a:pPr>
            <a:r>
              <a:rPr kumimoji="1" lang="ja-JP" altLang="en-US" sz="2800" b="0" dirty="0"/>
              <a:t>帳票に載せる値を算出する際は</a:t>
            </a:r>
            <a:r>
              <a:rPr kumimoji="1" lang="en-US" altLang="ja-JP" sz="2800" b="0" dirty="0"/>
              <a:t>format</a:t>
            </a:r>
            <a:r>
              <a:rPr kumimoji="1" lang="ja-JP" altLang="en-US" sz="2800" b="0" dirty="0"/>
              <a:t>関数や</a:t>
            </a:r>
            <a:r>
              <a:rPr kumimoji="1" lang="en-US" altLang="ja-JP" sz="2800" b="0" dirty="0" err="1"/>
              <a:t>sprintf</a:t>
            </a:r>
            <a:r>
              <a:rPr kumimoji="1" lang="ja-JP" altLang="en-US" sz="2800" b="0" dirty="0"/>
              <a:t>関数などを用いて</a:t>
            </a:r>
            <a:endParaRPr kumimoji="1" lang="en-US" altLang="ja-JP" sz="2800" b="0" dirty="0"/>
          </a:p>
          <a:p>
            <a:pPr marL="0" indent="0">
              <a:buNone/>
            </a:pPr>
            <a:r>
              <a:rPr kumimoji="1" lang="ja-JP" altLang="en-US" sz="2800" b="0" dirty="0"/>
              <a:t>事前に小数点以下表示桁数を指定しておくと良い</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800" b="0" dirty="0"/>
              <a:t>  </a:t>
            </a:r>
          </a:p>
          <a:p>
            <a:pPr marL="0" indent="0">
              <a:buNone/>
            </a:pPr>
            <a:r>
              <a:rPr kumimoji="1" lang="ja-JP" altLang="en-US" sz="2800" b="0" dirty="0"/>
              <a:t>なお、例示で用いている</a:t>
            </a:r>
            <a:r>
              <a:rPr kumimoji="1" lang="en-US" altLang="ja-JP" sz="2800" b="0" dirty="0"/>
              <a:t>round</a:t>
            </a:r>
            <a:r>
              <a:rPr kumimoji="1" lang="ja-JP" altLang="en-US" sz="2800" b="0" dirty="0"/>
              <a:t>関数は</a:t>
            </a:r>
            <a:r>
              <a:rPr kumimoji="1" lang="en-US" altLang="ja-JP" sz="2800" b="0" dirty="0"/>
              <a:t>IEEE</a:t>
            </a:r>
            <a:r>
              <a:rPr kumimoji="1" lang="ja-JP" altLang="en-US" sz="2800" b="0" dirty="0"/>
              <a:t>式であり、</a:t>
            </a:r>
            <a:endParaRPr kumimoji="1" lang="en-US" altLang="ja-JP" sz="2800" b="0" dirty="0"/>
          </a:p>
          <a:p>
            <a:pPr marL="0" indent="0">
              <a:buNone/>
            </a:pPr>
            <a:r>
              <a:rPr kumimoji="1" lang="ja-JP" altLang="en-US" sz="2800" b="0" dirty="0"/>
              <a:t>そのままだと</a:t>
            </a:r>
            <a:r>
              <a:rPr kumimoji="1" lang="en-US" altLang="ja-JP" sz="2800" b="0" dirty="0"/>
              <a:t>SAS</a:t>
            </a:r>
            <a:r>
              <a:rPr kumimoji="1" lang="ja-JP" altLang="en-US" sz="2800" b="0" dirty="0"/>
              <a:t>と異なる結果を戻す場合があることに留意</a:t>
            </a:r>
            <a:endParaRPr kumimoji="1" lang="en-US" altLang="ja-JP" sz="2800" b="0" dirty="0"/>
          </a:p>
          <a:p>
            <a:pPr marL="0" indent="0">
              <a:buNone/>
            </a:pPr>
            <a:r>
              <a:rPr kumimoji="1" lang="en-US" altLang="ja-JP" sz="2400" b="0" dirty="0"/>
              <a:t>(SAS</a:t>
            </a:r>
            <a:r>
              <a:rPr kumimoji="1" lang="ja-JP" altLang="en-US" sz="2400" b="0" dirty="0"/>
              <a:t>と同様の処理をしたい場合は右記のような自作関数を用意する</a:t>
            </a:r>
            <a:r>
              <a:rPr kumimoji="1" lang="en-US" altLang="ja-JP" sz="2400" b="0" dirty="0"/>
              <a:t>)</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AB746EA0-D8BC-DEA9-A760-728463894C9B}"/>
              </a:ext>
            </a:extLst>
          </p:cNvPr>
          <p:cNvSpPr/>
          <p:nvPr/>
        </p:nvSpPr>
        <p:spPr>
          <a:xfrm>
            <a:off x="496885" y="4154590"/>
            <a:ext cx="7834315" cy="1227895"/>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5C89455-6684-5713-A7EF-8A0DB3815D69}"/>
              </a:ext>
            </a:extLst>
          </p:cNvPr>
          <p:cNvSpPr txBox="1"/>
          <p:nvPr/>
        </p:nvSpPr>
        <p:spPr>
          <a:xfrm>
            <a:off x="509584" y="4223839"/>
            <a:ext cx="7821616" cy="1015663"/>
          </a:xfrm>
          <a:prstGeom prst="rect">
            <a:avLst/>
          </a:prstGeom>
          <a:noFill/>
        </p:spPr>
        <p:txBody>
          <a:bodyPr wrap="square">
            <a:spAutoFit/>
          </a:bodyPr>
          <a:lstStyle/>
          <a:p>
            <a:r>
              <a:rPr lang="es-ES" altLang="ja-JP" sz="2000" dirty="0"/>
              <a:t>y &lt;- round(</a:t>
            </a:r>
            <a:r>
              <a:rPr lang="es-ES" altLang="ja-JP" sz="2000" dirty="0">
                <a:solidFill>
                  <a:srgbClr val="3333FF"/>
                </a:solidFill>
              </a:rPr>
              <a:t>0.12300</a:t>
            </a:r>
            <a:r>
              <a:rPr lang="es-ES" altLang="ja-JP" sz="2000" dirty="0"/>
              <a:t>, digits = </a:t>
            </a:r>
            <a:r>
              <a:rPr lang="es-ES" altLang="ja-JP" sz="2000" dirty="0">
                <a:solidFill>
                  <a:srgbClr val="3333FF"/>
                </a:solidFill>
              </a:rPr>
              <a:t>4</a:t>
            </a:r>
            <a:r>
              <a:rPr lang="es-ES" altLang="ja-JP" sz="2000" dirty="0"/>
              <a:t>) </a:t>
            </a:r>
          </a:p>
          <a:p>
            <a:r>
              <a:rPr lang="es-ES" altLang="ja-JP" sz="2000" dirty="0"/>
              <a:t>y1 &lt;- format(y, nsmall = </a:t>
            </a:r>
            <a:r>
              <a:rPr lang="es-ES" altLang="ja-JP" sz="2000" dirty="0">
                <a:solidFill>
                  <a:srgbClr val="3333FF"/>
                </a:solidFill>
              </a:rPr>
              <a:t>4</a:t>
            </a:r>
            <a:r>
              <a:rPr lang="es-ES" altLang="ja-JP" sz="2000" dirty="0"/>
              <a:t>)  </a:t>
            </a:r>
            <a:r>
              <a:rPr lang="es-ES" altLang="ja-JP" sz="2000" dirty="0">
                <a:solidFill>
                  <a:srgbClr val="00B050"/>
                </a:solidFill>
              </a:rPr>
              <a:t>#nsmall</a:t>
            </a:r>
            <a:r>
              <a:rPr lang="ja-JP" altLang="en-US" sz="2000" dirty="0">
                <a:solidFill>
                  <a:srgbClr val="00B050"/>
                </a:solidFill>
              </a:rPr>
              <a:t>に小数点以下の桁数を指定する</a:t>
            </a:r>
          </a:p>
          <a:p>
            <a:r>
              <a:rPr lang="es-ES" altLang="ja-JP" sz="2000" dirty="0"/>
              <a:t>y2 &lt;- sprintf(</a:t>
            </a:r>
            <a:r>
              <a:rPr lang="en-US" altLang="ja-JP" sz="2000" dirty="0">
                <a:solidFill>
                  <a:srgbClr val="00B050"/>
                </a:solidFill>
              </a:rPr>
              <a:t>"</a:t>
            </a:r>
            <a:r>
              <a:rPr lang="es-ES" altLang="ja-JP" sz="2000" dirty="0">
                <a:solidFill>
                  <a:srgbClr val="00B050"/>
                </a:solidFill>
              </a:rPr>
              <a:t>%.4f</a:t>
            </a:r>
            <a:r>
              <a:rPr lang="en-US" altLang="ja-JP" sz="2000" dirty="0">
                <a:solidFill>
                  <a:srgbClr val="00B050"/>
                </a:solidFill>
              </a:rPr>
              <a:t>"</a:t>
            </a:r>
            <a:r>
              <a:rPr lang="es-ES" altLang="ja-JP" sz="2000" dirty="0"/>
              <a:t>,</a:t>
            </a:r>
            <a:r>
              <a:rPr lang="ja-JP" altLang="en-US" sz="2000" dirty="0"/>
              <a:t> </a:t>
            </a:r>
            <a:r>
              <a:rPr lang="es-ES" altLang="ja-JP" sz="2000" dirty="0"/>
              <a:t>y)  </a:t>
            </a:r>
            <a:r>
              <a:rPr lang="es-ES" altLang="ja-JP" sz="2000" dirty="0">
                <a:solidFill>
                  <a:srgbClr val="00B050"/>
                </a:solidFill>
              </a:rPr>
              <a:t>#%.</a:t>
            </a:r>
            <a:r>
              <a:rPr lang="ja-JP" altLang="en-US" sz="2000" dirty="0">
                <a:solidFill>
                  <a:srgbClr val="00B050"/>
                </a:solidFill>
              </a:rPr>
              <a:t>と</a:t>
            </a:r>
            <a:r>
              <a:rPr lang="es-ES" altLang="ja-JP" sz="2000" dirty="0">
                <a:solidFill>
                  <a:srgbClr val="00B050"/>
                </a:solidFill>
              </a:rPr>
              <a:t>f</a:t>
            </a:r>
            <a:r>
              <a:rPr lang="ja-JP" altLang="en-US" sz="2000" dirty="0">
                <a:solidFill>
                  <a:srgbClr val="00B050"/>
                </a:solidFill>
              </a:rPr>
              <a:t>の間に小数点以下の桁数を指定する</a:t>
            </a:r>
          </a:p>
        </p:txBody>
      </p:sp>
      <p:pic>
        <p:nvPicPr>
          <p:cNvPr id="8" name="図 7">
            <a:extLst>
              <a:ext uri="{FF2B5EF4-FFF2-40B4-BE49-F238E27FC236}">
                <a16:creationId xmlns:a16="http://schemas.microsoft.com/office/drawing/2014/main" id="{BE9D6E56-6498-0416-2A26-8C9CDD82C414}"/>
              </a:ext>
            </a:extLst>
          </p:cNvPr>
          <p:cNvPicPr>
            <a:picLocks noChangeAspect="1"/>
          </p:cNvPicPr>
          <p:nvPr/>
        </p:nvPicPr>
        <p:blipFill>
          <a:blip r:embed="rId3"/>
          <a:stretch>
            <a:fillRect/>
          </a:stretch>
        </p:blipFill>
        <p:spPr>
          <a:xfrm>
            <a:off x="8604308" y="4025385"/>
            <a:ext cx="4805876" cy="1357100"/>
          </a:xfrm>
          <a:prstGeom prst="rect">
            <a:avLst/>
          </a:prstGeom>
        </p:spPr>
      </p:pic>
      <p:sp>
        <p:nvSpPr>
          <p:cNvPr id="7" name="正方形/長方形 6">
            <a:extLst>
              <a:ext uri="{FF2B5EF4-FFF2-40B4-BE49-F238E27FC236}">
                <a16:creationId xmlns:a16="http://schemas.microsoft.com/office/drawing/2014/main" id="{765944FE-2AFF-B8E6-030C-A3462F968383}"/>
              </a:ext>
            </a:extLst>
          </p:cNvPr>
          <p:cNvSpPr/>
          <p:nvPr/>
        </p:nvSpPr>
        <p:spPr>
          <a:xfrm>
            <a:off x="9076068" y="6071855"/>
            <a:ext cx="4430715" cy="1392688"/>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4137937E-C6C0-BEE0-E3CF-35043DF2559D}"/>
              </a:ext>
            </a:extLst>
          </p:cNvPr>
          <p:cNvSpPr txBox="1"/>
          <p:nvPr/>
        </p:nvSpPr>
        <p:spPr>
          <a:xfrm>
            <a:off x="9088767" y="6141104"/>
            <a:ext cx="4418016" cy="1323439"/>
          </a:xfrm>
          <a:prstGeom prst="rect">
            <a:avLst/>
          </a:prstGeom>
          <a:noFill/>
        </p:spPr>
        <p:txBody>
          <a:bodyPr wrap="square">
            <a:spAutoFit/>
          </a:bodyPr>
          <a:lstStyle/>
          <a:p>
            <a:r>
              <a:rPr lang="en-US" altLang="ja-JP" sz="2000" dirty="0" err="1"/>
              <a:t>sas_round</a:t>
            </a:r>
            <a:r>
              <a:rPr lang="en-US" altLang="ja-JP" sz="2000" dirty="0"/>
              <a:t> &lt;- </a:t>
            </a:r>
            <a:r>
              <a:rPr lang="en-US" altLang="ja-JP" sz="2000" dirty="0">
                <a:solidFill>
                  <a:srgbClr val="3333FF"/>
                </a:solidFill>
              </a:rPr>
              <a:t>function</a:t>
            </a:r>
            <a:r>
              <a:rPr lang="en-US" altLang="ja-JP" sz="2000" dirty="0"/>
              <a:t>(x, digits = </a:t>
            </a:r>
            <a:r>
              <a:rPr lang="en-US" altLang="ja-JP" sz="2000" dirty="0">
                <a:solidFill>
                  <a:srgbClr val="3333FF"/>
                </a:solidFill>
              </a:rPr>
              <a:t>0</a:t>
            </a:r>
            <a:r>
              <a:rPr lang="en-US" altLang="ja-JP" sz="2000" dirty="0"/>
              <a:t>) {</a:t>
            </a:r>
          </a:p>
          <a:p>
            <a:r>
              <a:rPr lang="en-US" altLang="ja-JP" sz="2000" dirty="0"/>
              <a:t>  p &lt;- </a:t>
            </a:r>
            <a:r>
              <a:rPr lang="en-US" altLang="ja-JP" sz="2000" dirty="0">
                <a:solidFill>
                  <a:srgbClr val="3333FF"/>
                </a:solidFill>
              </a:rPr>
              <a:t>10</a:t>
            </a:r>
            <a:r>
              <a:rPr lang="en-US" altLang="ja-JP" sz="2000" dirty="0"/>
              <a:t>^digits</a:t>
            </a:r>
          </a:p>
          <a:p>
            <a:r>
              <a:rPr lang="en-US" altLang="ja-JP" sz="2000" dirty="0"/>
              <a:t>  (x * p *</a:t>
            </a:r>
            <a:r>
              <a:rPr lang="ja-JP" altLang="en-US" sz="2000" dirty="0"/>
              <a:t> </a:t>
            </a:r>
            <a:r>
              <a:rPr lang="en-US" altLang="ja-JP" sz="2000" dirty="0">
                <a:solidFill>
                  <a:srgbClr val="3333FF"/>
                </a:solidFill>
              </a:rPr>
              <a:t>2</a:t>
            </a:r>
            <a:r>
              <a:rPr lang="en-US" altLang="ja-JP" sz="2000" dirty="0"/>
              <a:t> + </a:t>
            </a:r>
            <a:r>
              <a:rPr lang="en-US" altLang="ja-JP" sz="2000" dirty="0">
                <a:solidFill>
                  <a:srgbClr val="3333FF"/>
                </a:solidFill>
              </a:rPr>
              <a:t>1</a:t>
            </a:r>
            <a:r>
              <a:rPr lang="en-US" altLang="ja-JP" sz="2000" dirty="0"/>
              <a:t>) %/% </a:t>
            </a:r>
            <a:r>
              <a:rPr lang="en-US" altLang="ja-JP" sz="2000" dirty="0">
                <a:solidFill>
                  <a:srgbClr val="3333FF"/>
                </a:solidFill>
              </a:rPr>
              <a:t>2</a:t>
            </a:r>
            <a:r>
              <a:rPr lang="en-US" altLang="ja-JP" sz="2000" dirty="0"/>
              <a:t> / p</a:t>
            </a:r>
          </a:p>
          <a:p>
            <a:r>
              <a:rPr lang="en-US" altLang="ja-JP" sz="2000" dirty="0"/>
              <a:t>}</a:t>
            </a:r>
            <a:endParaRPr lang="ja-JP" altLang="en-US" sz="2000" dirty="0">
              <a:solidFill>
                <a:srgbClr val="00B050"/>
              </a:solidFill>
            </a:endParaRPr>
          </a:p>
        </p:txBody>
      </p:sp>
    </p:spTree>
    <p:extLst>
      <p:ext uri="{BB962C8B-B14F-4D97-AF65-F5344CB8AC3E}">
        <p14:creationId xmlns:p14="http://schemas.microsoft.com/office/powerpoint/2010/main" val="1926242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A5DB0-9FFB-879A-8005-C4AEEF65A7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EB4DF8-F6D4-86AF-B5F8-09E6A6009EDF}"/>
              </a:ext>
            </a:extLst>
          </p:cNvPr>
          <p:cNvSpPr>
            <a:spLocks noGrp="1"/>
          </p:cNvSpPr>
          <p:nvPr>
            <p:ph type="title"/>
          </p:nvPr>
        </p:nvSpPr>
        <p:spPr/>
        <p:txBody>
          <a:bodyPr/>
          <a:lstStyle/>
          <a:p>
            <a:r>
              <a:rPr kumimoji="1" lang="en-US" altLang="ja-JP" dirty="0"/>
              <a:t>factor</a:t>
            </a:r>
            <a:r>
              <a:rPr kumimoji="1" lang="ja-JP" altLang="en-US" dirty="0"/>
              <a:t>型→数値型の変換はひとまず文字型に変換してから</a:t>
            </a:r>
          </a:p>
        </p:txBody>
      </p:sp>
      <p:sp>
        <p:nvSpPr>
          <p:cNvPr id="3" name="スライド番号プレースホルダー 2">
            <a:extLst>
              <a:ext uri="{FF2B5EF4-FFF2-40B4-BE49-F238E27FC236}">
                <a16:creationId xmlns:a16="http://schemas.microsoft.com/office/drawing/2014/main" id="{DF5AADDA-EC76-5640-4BD2-753297DFB709}"/>
              </a:ext>
            </a:extLst>
          </p:cNvPr>
          <p:cNvSpPr>
            <a:spLocks noGrp="1"/>
          </p:cNvSpPr>
          <p:nvPr>
            <p:ph type="sldNum" sz="quarter" idx="4"/>
          </p:nvPr>
        </p:nvSpPr>
        <p:spPr/>
        <p:txBody>
          <a:bodyPr/>
          <a:lstStyle/>
          <a:p>
            <a:fld id="{24AEDCA4-7D12-E34A-9125-9C962139F6EA}" type="slidenum">
              <a:rPr kumimoji="1" lang="en-US" altLang="ja-JP" smtClean="0"/>
              <a:pPr/>
              <a:t>14</a:t>
            </a:fld>
            <a:endParaRPr kumimoji="1" lang="en-US" altLang="ja-JP" dirty="0"/>
          </a:p>
        </p:txBody>
      </p:sp>
      <p:sp>
        <p:nvSpPr>
          <p:cNvPr id="4" name="コンテンツ プレースホルダー 3">
            <a:extLst>
              <a:ext uri="{FF2B5EF4-FFF2-40B4-BE49-F238E27FC236}">
                <a16:creationId xmlns:a16="http://schemas.microsoft.com/office/drawing/2014/main" id="{38805C28-D97E-08B7-6C82-8FBAA8870B9E}"/>
              </a:ext>
            </a:extLst>
          </p:cNvPr>
          <p:cNvSpPr>
            <a:spLocks noGrp="1"/>
          </p:cNvSpPr>
          <p:nvPr>
            <p:ph sz="half" idx="10"/>
          </p:nvPr>
        </p:nvSpPr>
        <p:spPr>
          <a:xfrm>
            <a:off x="496885" y="1426912"/>
            <a:ext cx="13745207" cy="3985706"/>
          </a:xfrm>
        </p:spPr>
        <p:txBody>
          <a:bodyPr/>
          <a:lstStyle/>
          <a:p>
            <a:pPr marL="0" indent="0">
              <a:buNone/>
            </a:pPr>
            <a:r>
              <a:rPr kumimoji="1" lang="en-US" altLang="ja-JP" sz="2800" b="0" dirty="0"/>
              <a:t>factor</a:t>
            </a:r>
            <a:r>
              <a:rPr kumimoji="1" lang="ja-JP" altLang="en-US" sz="2800" b="0" dirty="0"/>
              <a:t>型のデータを数値型に変えると、</a:t>
            </a:r>
            <a:endParaRPr kumimoji="1" lang="en-US" altLang="ja-JP" sz="2800" b="0" dirty="0"/>
          </a:p>
          <a:p>
            <a:pPr marL="0" indent="0">
              <a:buNone/>
            </a:pPr>
            <a:r>
              <a:rPr kumimoji="1" lang="en-US" altLang="ja-JP" sz="2800" b="0" dirty="0"/>
              <a:t>factor</a:t>
            </a:r>
            <a:r>
              <a:rPr kumimoji="1" lang="ja-JP" altLang="en-US" sz="2800" b="0" dirty="0"/>
              <a:t>の中身ではなく水準番号が格納される</a:t>
            </a:r>
          </a:p>
          <a:p>
            <a:pPr marL="0" indent="0">
              <a:buNone/>
            </a:pPr>
            <a:endParaRPr kumimoji="1" lang="en-US" altLang="ja-JP" sz="2800" b="0" dirty="0"/>
          </a:p>
          <a:p>
            <a:pPr marL="0" indent="0">
              <a:buNone/>
            </a:pPr>
            <a:r>
              <a:rPr kumimoji="1" lang="ja-JP" altLang="en-US" sz="2800" b="0" dirty="0"/>
              <a:t>そもそも数字として処理し得るものは</a:t>
            </a:r>
            <a:r>
              <a:rPr kumimoji="1" lang="en-US" altLang="ja-JP" sz="2800" b="0" dirty="0"/>
              <a:t>factor</a:t>
            </a:r>
            <a:r>
              <a:rPr kumimoji="1" lang="ja-JP" altLang="en-US" sz="2800" b="0" dirty="0"/>
              <a:t>型に設定しないほうが良いが、</a:t>
            </a:r>
          </a:p>
          <a:p>
            <a:pPr marL="0" indent="0">
              <a:buNone/>
            </a:pPr>
            <a:r>
              <a:rPr kumimoji="1" lang="en-US" altLang="ja-JP" sz="2800" b="0" dirty="0"/>
              <a:t>factor</a:t>
            </a:r>
            <a:r>
              <a:rPr kumimoji="1" lang="ja-JP" altLang="en-US" sz="2800" b="0" dirty="0"/>
              <a:t>型に設定されてしまっているデータを数値として扱うには、一度文字型に変換する</a:t>
            </a:r>
            <a:endParaRPr kumimoji="1" lang="en-US" altLang="ja-JP" sz="2800" b="0" dirty="0"/>
          </a:p>
          <a:p>
            <a:pPr marL="0" indent="0">
              <a:buNone/>
            </a:pP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7224451F-A208-E6FB-2B42-124B10BC1F54}"/>
              </a:ext>
            </a:extLst>
          </p:cNvPr>
          <p:cNvSpPr/>
          <p:nvPr/>
        </p:nvSpPr>
        <p:spPr>
          <a:xfrm>
            <a:off x="611187" y="4179990"/>
            <a:ext cx="4722813" cy="200824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25178F74-8BFE-1A81-5C58-E2CF83A5C9DC}"/>
              </a:ext>
            </a:extLst>
          </p:cNvPr>
          <p:cNvSpPr txBox="1"/>
          <p:nvPr/>
        </p:nvSpPr>
        <p:spPr>
          <a:xfrm>
            <a:off x="623886" y="4249239"/>
            <a:ext cx="4976814" cy="1938992"/>
          </a:xfrm>
          <a:prstGeom prst="rect">
            <a:avLst/>
          </a:prstGeom>
          <a:noFill/>
        </p:spPr>
        <p:txBody>
          <a:bodyPr wrap="square">
            <a:spAutoFit/>
          </a:bodyPr>
          <a:lstStyle/>
          <a:p>
            <a:r>
              <a:rPr lang="en-US" altLang="ja-JP" sz="2000" dirty="0"/>
              <a:t>score &lt;- factor(c( </a:t>
            </a:r>
            <a:r>
              <a:rPr lang="en-US" altLang="ja-JP" sz="2000" dirty="0">
                <a:solidFill>
                  <a:srgbClr val="00B050"/>
                </a:solidFill>
              </a:rPr>
              <a:t>"10"</a:t>
            </a:r>
            <a:r>
              <a:rPr lang="en-US" altLang="ja-JP" sz="2000" dirty="0"/>
              <a:t>, </a:t>
            </a:r>
            <a:r>
              <a:rPr lang="en-US" altLang="ja-JP" sz="2000" dirty="0">
                <a:solidFill>
                  <a:srgbClr val="00B050"/>
                </a:solidFill>
              </a:rPr>
              <a:t>"20"</a:t>
            </a:r>
            <a:r>
              <a:rPr lang="en-US" altLang="ja-JP" sz="2000" dirty="0"/>
              <a:t>, </a:t>
            </a:r>
            <a:r>
              <a:rPr lang="en-US" altLang="ja-JP" sz="2000" dirty="0">
                <a:solidFill>
                  <a:srgbClr val="00B050"/>
                </a:solidFill>
              </a:rPr>
              <a:t>"30"</a:t>
            </a:r>
            <a:r>
              <a:rPr lang="en-US" altLang="ja-JP" sz="2000" dirty="0"/>
              <a:t>, </a:t>
            </a:r>
            <a:r>
              <a:rPr lang="en-US" altLang="ja-JP" sz="2000" dirty="0">
                <a:solidFill>
                  <a:srgbClr val="00B050"/>
                </a:solidFill>
              </a:rPr>
              <a:t>"20"</a:t>
            </a:r>
            <a:r>
              <a:rPr lang="en-US" altLang="ja-JP" sz="2000" dirty="0"/>
              <a:t>))</a:t>
            </a:r>
          </a:p>
          <a:p>
            <a:r>
              <a:rPr lang="en-US" altLang="ja-JP" sz="2000" dirty="0" err="1"/>
              <a:t>as.numeric</a:t>
            </a:r>
            <a:r>
              <a:rPr lang="en-US" altLang="ja-JP" sz="2000" dirty="0"/>
              <a:t>(score)</a:t>
            </a:r>
          </a:p>
          <a:p>
            <a:r>
              <a:rPr lang="en-US" altLang="ja-JP" sz="2000" dirty="0" err="1"/>
              <a:t>as.numeric</a:t>
            </a:r>
            <a:r>
              <a:rPr lang="en-US" altLang="ja-JP" sz="2000" dirty="0"/>
              <a:t>(</a:t>
            </a:r>
            <a:r>
              <a:rPr lang="en-US" altLang="ja-JP" sz="2000" dirty="0" err="1"/>
              <a:t>as.character</a:t>
            </a:r>
            <a:r>
              <a:rPr lang="en-US" altLang="ja-JP" sz="2000" dirty="0"/>
              <a:t>(score))</a:t>
            </a:r>
          </a:p>
          <a:p>
            <a:endParaRPr lang="en-US" altLang="ja-JP" sz="2000" dirty="0"/>
          </a:p>
          <a:p>
            <a:r>
              <a:rPr lang="en-US" altLang="ja-JP" sz="2000" dirty="0"/>
              <a:t>mean(</a:t>
            </a:r>
            <a:r>
              <a:rPr lang="en-US" altLang="ja-JP" sz="2000" dirty="0" err="1"/>
              <a:t>as.numeric</a:t>
            </a:r>
            <a:r>
              <a:rPr lang="en-US" altLang="ja-JP" sz="2000" dirty="0"/>
              <a:t>(score))</a:t>
            </a:r>
          </a:p>
          <a:p>
            <a:r>
              <a:rPr lang="en-US" altLang="ja-JP" sz="2000" dirty="0"/>
              <a:t>mean(</a:t>
            </a:r>
            <a:r>
              <a:rPr lang="en-US" altLang="ja-JP" sz="2000" dirty="0" err="1"/>
              <a:t>as.numeric</a:t>
            </a:r>
            <a:r>
              <a:rPr lang="en-US" altLang="ja-JP" sz="2000" dirty="0"/>
              <a:t>(</a:t>
            </a:r>
            <a:r>
              <a:rPr lang="en-US" altLang="ja-JP" sz="2000" dirty="0" err="1"/>
              <a:t>as.character</a:t>
            </a:r>
            <a:r>
              <a:rPr lang="en-US" altLang="ja-JP" sz="2000" dirty="0"/>
              <a:t>(score)))</a:t>
            </a:r>
            <a:endParaRPr lang="ja-JP" altLang="en-US" sz="2000" dirty="0">
              <a:solidFill>
                <a:srgbClr val="3333FF"/>
              </a:solidFill>
            </a:endParaRPr>
          </a:p>
        </p:txBody>
      </p:sp>
      <p:pic>
        <p:nvPicPr>
          <p:cNvPr id="9" name="図 8">
            <a:extLst>
              <a:ext uri="{FF2B5EF4-FFF2-40B4-BE49-F238E27FC236}">
                <a16:creationId xmlns:a16="http://schemas.microsoft.com/office/drawing/2014/main" id="{F13601FC-DE4E-E360-44B5-F649E1B8A84A}"/>
              </a:ext>
            </a:extLst>
          </p:cNvPr>
          <p:cNvPicPr>
            <a:picLocks noChangeAspect="1"/>
          </p:cNvPicPr>
          <p:nvPr/>
        </p:nvPicPr>
        <p:blipFill>
          <a:blip r:embed="rId3"/>
          <a:stretch>
            <a:fillRect/>
          </a:stretch>
        </p:blipFill>
        <p:spPr>
          <a:xfrm>
            <a:off x="5478373" y="4249239"/>
            <a:ext cx="4267196" cy="1846761"/>
          </a:xfrm>
          <a:prstGeom prst="rect">
            <a:avLst/>
          </a:prstGeom>
        </p:spPr>
      </p:pic>
    </p:spTree>
    <p:extLst>
      <p:ext uri="{BB962C8B-B14F-4D97-AF65-F5344CB8AC3E}">
        <p14:creationId xmlns:p14="http://schemas.microsoft.com/office/powerpoint/2010/main" val="193054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3AB1C-762D-FC38-E0EB-F32AD2D9CC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446920-3437-D73E-8494-F8987C42AF60}"/>
              </a:ext>
            </a:extLst>
          </p:cNvPr>
          <p:cNvSpPr>
            <a:spLocks noGrp="1"/>
          </p:cNvSpPr>
          <p:nvPr>
            <p:ph type="title"/>
          </p:nvPr>
        </p:nvSpPr>
        <p:spPr/>
        <p:txBody>
          <a:bodyPr/>
          <a:lstStyle/>
          <a:p>
            <a:r>
              <a:rPr kumimoji="1" lang="en-US" altLang="ja-JP" dirty="0"/>
              <a:t>t</a:t>
            </a:r>
            <a:r>
              <a:rPr kumimoji="1" lang="ja-JP" altLang="en-US" dirty="0"/>
              <a:t>関数で転置するなら転置後データフレームに戻す</a:t>
            </a:r>
          </a:p>
        </p:txBody>
      </p:sp>
      <p:sp>
        <p:nvSpPr>
          <p:cNvPr id="3" name="スライド番号プレースホルダー 2">
            <a:extLst>
              <a:ext uri="{FF2B5EF4-FFF2-40B4-BE49-F238E27FC236}">
                <a16:creationId xmlns:a16="http://schemas.microsoft.com/office/drawing/2014/main" id="{390C3F62-96F1-8E2B-4C46-CDEEFDD76E62}"/>
              </a:ext>
            </a:extLst>
          </p:cNvPr>
          <p:cNvSpPr>
            <a:spLocks noGrp="1"/>
          </p:cNvSpPr>
          <p:nvPr>
            <p:ph type="sldNum" sz="quarter" idx="4"/>
          </p:nvPr>
        </p:nvSpPr>
        <p:spPr/>
        <p:txBody>
          <a:bodyPr/>
          <a:lstStyle/>
          <a:p>
            <a:fld id="{24AEDCA4-7D12-E34A-9125-9C962139F6EA}" type="slidenum">
              <a:rPr kumimoji="1" lang="en-US" altLang="ja-JP" smtClean="0"/>
              <a:pPr/>
              <a:t>15</a:t>
            </a:fld>
            <a:endParaRPr kumimoji="1" lang="en-US" altLang="ja-JP" dirty="0"/>
          </a:p>
        </p:txBody>
      </p:sp>
      <p:sp>
        <p:nvSpPr>
          <p:cNvPr id="4" name="コンテンツ プレースホルダー 3">
            <a:extLst>
              <a:ext uri="{FF2B5EF4-FFF2-40B4-BE49-F238E27FC236}">
                <a16:creationId xmlns:a16="http://schemas.microsoft.com/office/drawing/2014/main" id="{1E3FAA3C-C297-D0B2-CA77-EE3DB3563A99}"/>
              </a:ext>
            </a:extLst>
          </p:cNvPr>
          <p:cNvSpPr>
            <a:spLocks noGrp="1"/>
          </p:cNvSpPr>
          <p:nvPr>
            <p:ph sz="half" idx="10"/>
          </p:nvPr>
        </p:nvSpPr>
        <p:spPr>
          <a:xfrm>
            <a:off x="496885" y="1426912"/>
            <a:ext cx="13745207" cy="2400657"/>
          </a:xfrm>
        </p:spPr>
        <p:txBody>
          <a:bodyPr/>
          <a:lstStyle/>
          <a:p>
            <a:pPr marL="0" indent="0">
              <a:buNone/>
            </a:pPr>
            <a:r>
              <a:rPr kumimoji="1" lang="ja-JP" altLang="en-US" sz="2800" b="0" dirty="0"/>
              <a:t>データフレームを</a:t>
            </a:r>
            <a:r>
              <a:rPr kumimoji="1" lang="en-US" altLang="ja-JP" sz="2800" b="0" dirty="0"/>
              <a:t>t</a:t>
            </a:r>
            <a:r>
              <a:rPr kumimoji="1" lang="ja-JP" altLang="en-US" sz="2800" b="0" dirty="0"/>
              <a:t>関数で転置するとデータフレームは</a:t>
            </a:r>
            <a:r>
              <a:rPr kumimoji="1" lang="en-US" altLang="ja-JP" sz="2800" b="0" dirty="0"/>
              <a:t>matrix(</a:t>
            </a:r>
            <a:r>
              <a:rPr kumimoji="1" lang="ja-JP" altLang="en-US" sz="2800" b="0" dirty="0"/>
              <a:t>行列</a:t>
            </a:r>
            <a:r>
              <a:rPr kumimoji="1" lang="en-US" altLang="ja-JP" sz="2800" b="0" dirty="0"/>
              <a:t>)</a:t>
            </a:r>
            <a:r>
              <a:rPr kumimoji="1" lang="ja-JP" altLang="en-US" sz="2800" b="0" dirty="0"/>
              <a:t>になる</a:t>
            </a:r>
            <a:endParaRPr kumimoji="1" lang="en-US" altLang="ja-JP" sz="2800" b="0" dirty="0"/>
          </a:p>
          <a:p>
            <a:pPr marL="0" indent="0">
              <a:buNone/>
            </a:pPr>
            <a:r>
              <a:rPr kumimoji="1" lang="ja-JP" altLang="en-US" sz="2800" b="0" dirty="0"/>
              <a:t>そのため、転置後はデータフレーム型に戻すために</a:t>
            </a:r>
            <a:r>
              <a:rPr kumimoji="1" lang="en-US" altLang="ja-JP" sz="2800" b="0" dirty="0" err="1"/>
              <a:t>as.data.frame</a:t>
            </a:r>
            <a:r>
              <a:rPr kumimoji="1" lang="ja-JP" altLang="en-US" sz="2800" b="0" dirty="0"/>
              <a:t>関数を使う</a:t>
            </a:r>
            <a:endParaRPr kumimoji="1" lang="en-US" altLang="ja-JP" sz="2800" b="0" dirty="0"/>
          </a:p>
          <a:p>
            <a:pPr marL="0" indent="0">
              <a:buNone/>
            </a:pPr>
            <a:endParaRPr kumimoji="1" lang="en-US" altLang="ja-JP" sz="2800" b="0" dirty="0"/>
          </a:p>
          <a:p>
            <a:pPr marL="0" indent="0">
              <a:buNone/>
            </a:pPr>
            <a:r>
              <a:rPr kumimoji="1" lang="ja-JP" altLang="en-US" sz="2800" b="0" dirty="0"/>
              <a:t>なお、</a:t>
            </a:r>
            <a:r>
              <a:rPr kumimoji="1" lang="en-US" altLang="ja-JP" sz="2800" b="0" dirty="0"/>
              <a:t> matrix</a:t>
            </a:r>
            <a:r>
              <a:rPr kumimoji="1" lang="ja-JP" altLang="en-US" sz="2800" b="0" dirty="0"/>
              <a:t>は単一の型しか保持できないため、以下の優先順で</a:t>
            </a:r>
            <a:r>
              <a:rPr kumimoji="1" lang="en-US" altLang="ja-JP" sz="2800" b="0" dirty="0"/>
              <a:t>1</a:t>
            </a:r>
            <a:r>
              <a:rPr kumimoji="1" lang="ja-JP" altLang="en-US" sz="2800" b="0" dirty="0"/>
              <a:t>つの型に統一されることに注意</a:t>
            </a:r>
            <a:endParaRPr kumimoji="1" lang="en-US" altLang="ja-JP" sz="2800" b="0" dirty="0"/>
          </a:p>
          <a:p>
            <a:pPr marL="0" indent="0">
              <a:buNone/>
            </a:pPr>
            <a:r>
              <a:rPr kumimoji="1" lang="en-US" altLang="ja-JP" sz="2400" b="0" dirty="0"/>
              <a:t>character(</a:t>
            </a:r>
            <a:r>
              <a:rPr kumimoji="1" lang="ja-JP" altLang="en-US" sz="2400" b="0" dirty="0"/>
              <a:t>文字型</a:t>
            </a:r>
            <a:r>
              <a:rPr kumimoji="1" lang="en-US" altLang="ja-JP" sz="2400" b="0" dirty="0"/>
              <a:t>)</a:t>
            </a:r>
            <a:r>
              <a:rPr kumimoji="1" lang="ja-JP" altLang="en-US" sz="2400" b="0" dirty="0"/>
              <a:t> </a:t>
            </a:r>
            <a:r>
              <a:rPr kumimoji="1" lang="en-US" altLang="ja-JP" sz="2400" b="0" dirty="0"/>
              <a:t>&gt; complex(</a:t>
            </a:r>
            <a:r>
              <a:rPr kumimoji="1" lang="ja-JP" altLang="en-US" sz="2400" b="0" dirty="0"/>
              <a:t>複素数型</a:t>
            </a:r>
            <a:r>
              <a:rPr kumimoji="1" lang="en-US" altLang="ja-JP" sz="2400" b="0" dirty="0"/>
              <a:t>)</a:t>
            </a:r>
            <a:r>
              <a:rPr kumimoji="1" lang="ja-JP" altLang="en-US" sz="2400" b="0" dirty="0"/>
              <a:t> </a:t>
            </a:r>
            <a:r>
              <a:rPr kumimoji="1" lang="en-US" altLang="ja-JP" sz="2400" b="0" dirty="0"/>
              <a:t>&gt; double(</a:t>
            </a:r>
            <a:r>
              <a:rPr kumimoji="1" lang="ja-JP" altLang="en-US" sz="2400" b="0" dirty="0"/>
              <a:t>小数型</a:t>
            </a:r>
            <a:r>
              <a:rPr kumimoji="1" lang="en-US" altLang="ja-JP" sz="2400" b="0" dirty="0"/>
              <a:t>) &gt; integer(</a:t>
            </a:r>
            <a:r>
              <a:rPr kumimoji="1" lang="ja-JP" altLang="en-US" sz="2400" b="0" dirty="0"/>
              <a:t>整数型</a:t>
            </a:r>
            <a:r>
              <a:rPr kumimoji="1" lang="en-US" altLang="ja-JP" sz="2400" b="0" dirty="0"/>
              <a:t>) &gt; logical(</a:t>
            </a:r>
            <a:r>
              <a:rPr kumimoji="1" lang="ja-JP" altLang="en-US" sz="2400" b="0" dirty="0"/>
              <a:t>論理型</a:t>
            </a:r>
            <a:r>
              <a:rPr kumimoji="1" lang="en-US" altLang="ja-JP" sz="2400" b="0" dirty="0"/>
              <a:t>)</a:t>
            </a:r>
          </a:p>
        </p:txBody>
      </p:sp>
      <p:sp>
        <p:nvSpPr>
          <p:cNvPr id="5" name="正方形/長方形 4">
            <a:extLst>
              <a:ext uri="{FF2B5EF4-FFF2-40B4-BE49-F238E27FC236}">
                <a16:creationId xmlns:a16="http://schemas.microsoft.com/office/drawing/2014/main" id="{DE7E3C42-8633-DE58-2678-E5F2DB3275EB}"/>
              </a:ext>
            </a:extLst>
          </p:cNvPr>
          <p:cNvSpPr/>
          <p:nvPr/>
        </p:nvSpPr>
        <p:spPr>
          <a:xfrm>
            <a:off x="496885" y="4051299"/>
            <a:ext cx="6705602" cy="3713265"/>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A22DD55-CBCA-8248-18DB-D9CAEF6BA93D}"/>
              </a:ext>
            </a:extLst>
          </p:cNvPr>
          <p:cNvSpPr txBox="1"/>
          <p:nvPr/>
        </p:nvSpPr>
        <p:spPr>
          <a:xfrm>
            <a:off x="509583" y="4120549"/>
            <a:ext cx="6692904" cy="3477875"/>
          </a:xfrm>
          <a:prstGeom prst="rect">
            <a:avLst/>
          </a:prstGeom>
          <a:noFill/>
        </p:spPr>
        <p:txBody>
          <a:bodyPr wrap="square">
            <a:spAutoFit/>
          </a:bodyPr>
          <a:lstStyle/>
          <a:p>
            <a:r>
              <a:rPr lang="en-US" altLang="ja-JP" sz="2000" dirty="0" err="1"/>
              <a:t>df</a:t>
            </a:r>
            <a:r>
              <a:rPr lang="en-US" altLang="ja-JP" sz="2000" dirty="0"/>
              <a:t> &lt;- </a:t>
            </a:r>
            <a:r>
              <a:rPr lang="en-US" altLang="ja-JP" sz="2000" dirty="0" err="1"/>
              <a:t>data.frame</a:t>
            </a:r>
            <a:r>
              <a:rPr lang="en-US" altLang="ja-JP" sz="2000" dirty="0"/>
              <a:t>(</a:t>
            </a:r>
          </a:p>
          <a:p>
            <a:r>
              <a:rPr lang="en-US" altLang="ja-JP" sz="2000" dirty="0"/>
              <a:t>  USUBJID = c(</a:t>
            </a:r>
            <a:r>
              <a:rPr lang="en-US" altLang="ja-JP" sz="2000" dirty="0">
                <a:solidFill>
                  <a:srgbClr val="00B050"/>
                </a:solidFill>
              </a:rPr>
              <a:t>"01"</a:t>
            </a:r>
            <a:r>
              <a:rPr lang="en-US" altLang="ja-JP" sz="2000" dirty="0"/>
              <a:t>, </a:t>
            </a:r>
            <a:r>
              <a:rPr lang="en-US" altLang="ja-JP" sz="2000" dirty="0">
                <a:solidFill>
                  <a:srgbClr val="00B050"/>
                </a:solidFill>
              </a:rPr>
              <a:t>"02"</a:t>
            </a:r>
            <a:r>
              <a:rPr lang="en-US" altLang="ja-JP" sz="2000" dirty="0"/>
              <a:t>),</a:t>
            </a:r>
          </a:p>
          <a:p>
            <a:r>
              <a:rPr lang="en-US" altLang="ja-JP" sz="2000" dirty="0"/>
              <a:t>  AVAL    = c(</a:t>
            </a:r>
            <a:r>
              <a:rPr lang="en-US" altLang="ja-JP" sz="2000" dirty="0">
                <a:solidFill>
                  <a:srgbClr val="3333FF"/>
                </a:solidFill>
              </a:rPr>
              <a:t>10</a:t>
            </a:r>
            <a:r>
              <a:rPr lang="en-US" altLang="ja-JP" sz="2000" dirty="0"/>
              <a:t>, </a:t>
            </a:r>
            <a:r>
              <a:rPr lang="en-US" altLang="ja-JP" sz="2000" dirty="0">
                <a:solidFill>
                  <a:srgbClr val="3333FF"/>
                </a:solidFill>
              </a:rPr>
              <a:t>20</a:t>
            </a:r>
            <a:r>
              <a:rPr lang="en-US" altLang="ja-JP" sz="2000" dirty="0"/>
              <a:t>),</a:t>
            </a:r>
          </a:p>
          <a:p>
            <a:r>
              <a:rPr lang="en-US" altLang="ja-JP" sz="2000" dirty="0"/>
              <a:t>  ADT     = </a:t>
            </a:r>
            <a:r>
              <a:rPr lang="en-US" altLang="ja-JP" sz="2000" dirty="0" err="1"/>
              <a:t>as.Date</a:t>
            </a:r>
            <a:r>
              <a:rPr lang="en-US" altLang="ja-JP" sz="2000" dirty="0"/>
              <a:t>(c(</a:t>
            </a:r>
            <a:r>
              <a:rPr lang="en-US" altLang="ja-JP" sz="2000" dirty="0">
                <a:solidFill>
                  <a:srgbClr val="00B050"/>
                </a:solidFill>
              </a:rPr>
              <a:t>"2024-01-01" </a:t>
            </a:r>
            <a:r>
              <a:rPr lang="en-US" altLang="ja-JP" sz="2000" dirty="0"/>
              <a:t>, </a:t>
            </a:r>
            <a:r>
              <a:rPr lang="en-US" altLang="ja-JP" sz="2000" dirty="0">
                <a:solidFill>
                  <a:srgbClr val="00B050"/>
                </a:solidFill>
              </a:rPr>
              <a:t>"2024-01-02"</a:t>
            </a:r>
            <a:r>
              <a:rPr lang="en-US" altLang="ja-JP" sz="2000" dirty="0"/>
              <a:t>)),</a:t>
            </a:r>
          </a:p>
          <a:p>
            <a:r>
              <a:rPr lang="en-US" altLang="ja-JP" sz="2000" dirty="0"/>
              <a:t>  FLAG    = c(</a:t>
            </a:r>
            <a:r>
              <a:rPr lang="en-US" altLang="ja-JP" sz="2000" dirty="0">
                <a:solidFill>
                  <a:srgbClr val="3333FF"/>
                </a:solidFill>
              </a:rPr>
              <a:t>TRUE</a:t>
            </a:r>
            <a:r>
              <a:rPr lang="en-US" altLang="ja-JP" sz="2000" dirty="0"/>
              <a:t>, </a:t>
            </a:r>
            <a:r>
              <a:rPr lang="en-US" altLang="ja-JP" sz="2000" dirty="0">
                <a:solidFill>
                  <a:srgbClr val="3333FF"/>
                </a:solidFill>
              </a:rPr>
              <a:t>FALSE</a:t>
            </a:r>
            <a:r>
              <a:rPr lang="en-US" altLang="ja-JP" sz="2000" dirty="0"/>
              <a:t>)</a:t>
            </a:r>
          </a:p>
          <a:p>
            <a:r>
              <a:rPr lang="en-US" altLang="ja-JP" sz="2000" dirty="0"/>
              <a:t>)</a:t>
            </a:r>
          </a:p>
          <a:p>
            <a:endParaRPr lang="en-US" altLang="ja-JP" sz="2000" dirty="0"/>
          </a:p>
          <a:p>
            <a:r>
              <a:rPr lang="en-US" altLang="ja-JP" sz="2000" dirty="0" err="1"/>
              <a:t>df_t</a:t>
            </a:r>
            <a:r>
              <a:rPr lang="en-US" altLang="ja-JP" sz="2000" dirty="0"/>
              <a:t> &lt;- t(</a:t>
            </a:r>
            <a:r>
              <a:rPr lang="en-US" altLang="ja-JP" sz="2000" dirty="0" err="1"/>
              <a:t>df</a:t>
            </a:r>
            <a:r>
              <a:rPr lang="en-US" altLang="ja-JP" sz="2000" dirty="0"/>
              <a:t>)</a:t>
            </a:r>
            <a:r>
              <a:rPr lang="ja-JP" altLang="en-US" sz="2000" dirty="0"/>
              <a:t>  </a:t>
            </a:r>
            <a:r>
              <a:rPr lang="en-US" altLang="ja-JP" sz="2000" dirty="0">
                <a:solidFill>
                  <a:srgbClr val="00B050"/>
                </a:solidFill>
              </a:rPr>
              <a:t>#</a:t>
            </a:r>
            <a:r>
              <a:rPr lang="ja-JP" altLang="en-US" sz="2000" dirty="0">
                <a:solidFill>
                  <a:srgbClr val="00B050"/>
                </a:solidFill>
              </a:rPr>
              <a:t>そのまま転置すると</a:t>
            </a:r>
            <a:r>
              <a:rPr lang="en-US" altLang="ja-JP" sz="2000" dirty="0">
                <a:solidFill>
                  <a:srgbClr val="00B050"/>
                </a:solidFill>
              </a:rPr>
              <a:t>matrix</a:t>
            </a:r>
            <a:r>
              <a:rPr lang="ja-JP" altLang="en-US" sz="2000" dirty="0">
                <a:solidFill>
                  <a:srgbClr val="00B050"/>
                </a:solidFill>
              </a:rPr>
              <a:t>になる</a:t>
            </a:r>
            <a:endParaRPr lang="en-US" altLang="ja-JP" sz="2000" dirty="0">
              <a:solidFill>
                <a:srgbClr val="00B050"/>
              </a:solidFill>
            </a:endParaRPr>
          </a:p>
          <a:p>
            <a:r>
              <a:rPr lang="ja-JP" altLang="en-US" sz="2000" dirty="0">
                <a:solidFill>
                  <a:srgbClr val="00B050"/>
                </a:solidFill>
              </a:rPr>
              <a:t>　　　　</a:t>
            </a:r>
            <a:r>
              <a:rPr lang="en-US" altLang="ja-JP" sz="2000" dirty="0">
                <a:solidFill>
                  <a:srgbClr val="00B050"/>
                </a:solidFill>
              </a:rPr>
              <a:t>#matrix</a:t>
            </a:r>
            <a:r>
              <a:rPr lang="ja-JP" altLang="en-US" sz="2000" dirty="0">
                <a:solidFill>
                  <a:srgbClr val="00B050"/>
                </a:solidFill>
              </a:rPr>
              <a:t>変換時に全ての値が文字型になっている</a:t>
            </a:r>
            <a:endParaRPr lang="en-US" altLang="ja-JP" sz="2000" dirty="0">
              <a:solidFill>
                <a:srgbClr val="00B050"/>
              </a:solidFill>
            </a:endParaRPr>
          </a:p>
          <a:p>
            <a:endParaRPr lang="en-US" altLang="ja-JP" sz="2000" dirty="0"/>
          </a:p>
          <a:p>
            <a:r>
              <a:rPr lang="en-US" altLang="ja-JP" sz="2000" dirty="0"/>
              <a:t>df2 &lt;- </a:t>
            </a:r>
            <a:r>
              <a:rPr lang="en-US" altLang="ja-JP" sz="2000" dirty="0" err="1"/>
              <a:t>as.data.frame</a:t>
            </a:r>
            <a:r>
              <a:rPr lang="en-US" altLang="ja-JP" sz="2000" dirty="0"/>
              <a:t>(t(</a:t>
            </a:r>
            <a:r>
              <a:rPr lang="en-US" altLang="ja-JP" sz="2000" dirty="0" err="1"/>
              <a:t>df</a:t>
            </a:r>
            <a:r>
              <a:rPr lang="en-US" altLang="ja-JP" sz="2000" dirty="0"/>
              <a:t>)) </a:t>
            </a:r>
            <a:r>
              <a:rPr lang="en-US" altLang="ja-JP" sz="2000" dirty="0">
                <a:solidFill>
                  <a:srgbClr val="00B050"/>
                </a:solidFill>
              </a:rPr>
              <a:t>#</a:t>
            </a:r>
            <a:r>
              <a:rPr lang="ja-JP" altLang="en-US" sz="2000" dirty="0">
                <a:solidFill>
                  <a:srgbClr val="00B050"/>
                </a:solidFill>
              </a:rPr>
              <a:t>データフレームに変換する</a:t>
            </a:r>
            <a:endParaRPr lang="en-US" altLang="ja-JP" sz="2000" dirty="0">
              <a:solidFill>
                <a:srgbClr val="00B050"/>
              </a:solidFill>
            </a:endParaRPr>
          </a:p>
        </p:txBody>
      </p:sp>
      <p:pic>
        <p:nvPicPr>
          <p:cNvPr id="8" name="図 7">
            <a:extLst>
              <a:ext uri="{FF2B5EF4-FFF2-40B4-BE49-F238E27FC236}">
                <a16:creationId xmlns:a16="http://schemas.microsoft.com/office/drawing/2014/main" id="{B60D8962-4DA5-8EA1-B4F0-9BC12C85D179}"/>
              </a:ext>
            </a:extLst>
          </p:cNvPr>
          <p:cNvPicPr>
            <a:picLocks noChangeAspect="1"/>
          </p:cNvPicPr>
          <p:nvPr/>
        </p:nvPicPr>
        <p:blipFill>
          <a:blip r:embed="rId3"/>
          <a:stretch>
            <a:fillRect/>
          </a:stretch>
        </p:blipFill>
        <p:spPr>
          <a:xfrm>
            <a:off x="7342077" y="4316751"/>
            <a:ext cx="4292821" cy="999198"/>
          </a:xfrm>
          <a:prstGeom prst="rect">
            <a:avLst/>
          </a:prstGeom>
        </p:spPr>
      </p:pic>
      <p:pic>
        <p:nvPicPr>
          <p:cNvPr id="11" name="図 10">
            <a:extLst>
              <a:ext uri="{FF2B5EF4-FFF2-40B4-BE49-F238E27FC236}">
                <a16:creationId xmlns:a16="http://schemas.microsoft.com/office/drawing/2014/main" id="{2A18EC9A-F147-81D8-67CD-3F51717EA8D7}"/>
              </a:ext>
            </a:extLst>
          </p:cNvPr>
          <p:cNvPicPr>
            <a:picLocks noChangeAspect="1"/>
          </p:cNvPicPr>
          <p:nvPr/>
        </p:nvPicPr>
        <p:blipFill>
          <a:blip r:embed="rId4"/>
          <a:stretch>
            <a:fillRect/>
          </a:stretch>
        </p:blipFill>
        <p:spPr>
          <a:xfrm>
            <a:off x="7291277" y="6769921"/>
            <a:ext cx="3943553" cy="577002"/>
          </a:xfrm>
          <a:prstGeom prst="rect">
            <a:avLst/>
          </a:prstGeom>
        </p:spPr>
      </p:pic>
      <p:pic>
        <p:nvPicPr>
          <p:cNvPr id="9" name="図 8">
            <a:extLst>
              <a:ext uri="{FF2B5EF4-FFF2-40B4-BE49-F238E27FC236}">
                <a16:creationId xmlns:a16="http://schemas.microsoft.com/office/drawing/2014/main" id="{280AC7EB-24FF-04A6-3529-C63D1724877C}"/>
              </a:ext>
            </a:extLst>
          </p:cNvPr>
          <p:cNvPicPr>
            <a:picLocks noChangeAspect="1"/>
          </p:cNvPicPr>
          <p:nvPr/>
        </p:nvPicPr>
        <p:blipFill>
          <a:blip r:embed="rId5"/>
          <a:stretch>
            <a:fillRect/>
          </a:stretch>
        </p:blipFill>
        <p:spPr>
          <a:xfrm>
            <a:off x="7315981" y="6349328"/>
            <a:ext cx="6330744" cy="164228"/>
          </a:xfrm>
          <a:prstGeom prst="rect">
            <a:avLst/>
          </a:prstGeom>
        </p:spPr>
      </p:pic>
    </p:spTree>
    <p:extLst>
      <p:ext uri="{BB962C8B-B14F-4D97-AF65-F5344CB8AC3E}">
        <p14:creationId xmlns:p14="http://schemas.microsoft.com/office/powerpoint/2010/main" val="8251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50AFF-A3F9-0DD5-4985-B2C70739C2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6197D9-E0B2-9761-60DD-1889519BBD02}"/>
              </a:ext>
            </a:extLst>
          </p:cNvPr>
          <p:cNvSpPr>
            <a:spLocks noGrp="1"/>
          </p:cNvSpPr>
          <p:nvPr>
            <p:ph type="title"/>
          </p:nvPr>
        </p:nvSpPr>
        <p:spPr/>
        <p:txBody>
          <a:bodyPr/>
          <a:lstStyle/>
          <a:p>
            <a:r>
              <a:rPr kumimoji="1" lang="ja-JP" altLang="en-US" dirty="0"/>
              <a:t>文字値から日付値への変換はフォーマットに注意</a:t>
            </a:r>
          </a:p>
        </p:txBody>
      </p:sp>
      <p:sp>
        <p:nvSpPr>
          <p:cNvPr id="3" name="スライド番号プレースホルダー 2">
            <a:extLst>
              <a:ext uri="{FF2B5EF4-FFF2-40B4-BE49-F238E27FC236}">
                <a16:creationId xmlns:a16="http://schemas.microsoft.com/office/drawing/2014/main" id="{419891B1-0327-3328-1BC4-DBFBF374ED2A}"/>
              </a:ext>
            </a:extLst>
          </p:cNvPr>
          <p:cNvSpPr>
            <a:spLocks noGrp="1"/>
          </p:cNvSpPr>
          <p:nvPr>
            <p:ph type="sldNum" sz="quarter" idx="4"/>
          </p:nvPr>
        </p:nvSpPr>
        <p:spPr/>
        <p:txBody>
          <a:bodyPr/>
          <a:lstStyle/>
          <a:p>
            <a:fld id="{24AEDCA4-7D12-E34A-9125-9C962139F6EA}" type="slidenum">
              <a:rPr kumimoji="1" lang="en-US" altLang="ja-JP" smtClean="0"/>
              <a:pPr/>
              <a:t>16</a:t>
            </a:fld>
            <a:endParaRPr kumimoji="1" lang="en-US" altLang="ja-JP" dirty="0"/>
          </a:p>
        </p:txBody>
      </p:sp>
      <p:sp>
        <p:nvSpPr>
          <p:cNvPr id="4" name="コンテンツ プレースホルダー 3">
            <a:extLst>
              <a:ext uri="{FF2B5EF4-FFF2-40B4-BE49-F238E27FC236}">
                <a16:creationId xmlns:a16="http://schemas.microsoft.com/office/drawing/2014/main" id="{22A556BB-706E-0DC7-A554-D58DB4D3DFCC}"/>
              </a:ext>
            </a:extLst>
          </p:cNvPr>
          <p:cNvSpPr>
            <a:spLocks noGrp="1"/>
          </p:cNvSpPr>
          <p:nvPr>
            <p:ph sz="half" idx="10"/>
          </p:nvPr>
        </p:nvSpPr>
        <p:spPr>
          <a:xfrm>
            <a:off x="496885" y="3634867"/>
            <a:ext cx="13745207" cy="1446550"/>
          </a:xfrm>
        </p:spPr>
        <p:txBody>
          <a:bodyPr/>
          <a:lstStyle/>
          <a:p>
            <a:pPr marL="0" indent="0">
              <a:buNone/>
            </a:pPr>
            <a:r>
              <a:rPr kumimoji="1" lang="ja-JP" altLang="en-US" sz="2800" b="0" dirty="0"/>
              <a:t>しかし、</a:t>
            </a:r>
            <a:r>
              <a:rPr kumimoji="1" lang="en-US" altLang="ja-JP" sz="2800" b="0" dirty="0"/>
              <a:t>R</a:t>
            </a:r>
            <a:r>
              <a:rPr kumimoji="1" lang="ja-JP" altLang="en-US" sz="2800" b="0" dirty="0"/>
              <a:t>ではデータに複数形式が存在する場合、</a:t>
            </a:r>
            <a:endParaRPr kumimoji="1" lang="en-US" altLang="ja-JP" sz="2800" b="0" dirty="0"/>
          </a:p>
          <a:p>
            <a:pPr marL="0" indent="0">
              <a:buNone/>
            </a:pPr>
            <a:r>
              <a:rPr kumimoji="1" lang="ja-JP" altLang="en-US" sz="2800" b="0" dirty="0"/>
              <a:t>指定フォーマットと対応していない値が警告なしに</a:t>
            </a:r>
            <a:r>
              <a:rPr kumimoji="1" lang="en-US" altLang="ja-JP" sz="2800" b="0" dirty="0"/>
              <a:t>NA</a:t>
            </a:r>
            <a:r>
              <a:rPr kumimoji="1" lang="ja-JP" altLang="en-US" sz="2800" b="0" dirty="0"/>
              <a:t>を戻すので注意</a:t>
            </a:r>
            <a:endParaRPr kumimoji="1" lang="en-US" altLang="ja-JP" sz="2800" b="0" dirty="0"/>
          </a:p>
          <a:p>
            <a:pPr marL="0" indent="0">
              <a:buNone/>
            </a:pPr>
            <a:r>
              <a:rPr kumimoji="1" lang="ja-JP" altLang="en-US" sz="2800" b="0" dirty="0"/>
              <a:t>→変換後に</a:t>
            </a:r>
            <a:r>
              <a:rPr kumimoji="1" lang="en-US" altLang="ja-JP" sz="2800" b="0" dirty="0"/>
              <a:t>NA</a:t>
            </a:r>
            <a:r>
              <a:rPr kumimoji="1" lang="ja-JP" altLang="en-US" sz="2800" b="0" dirty="0"/>
              <a:t>が発生していないか確認すると安全</a:t>
            </a:r>
            <a:endParaRPr kumimoji="1" lang="en-US" altLang="ja-JP" sz="2800" b="0" dirty="0"/>
          </a:p>
        </p:txBody>
      </p:sp>
      <p:sp>
        <p:nvSpPr>
          <p:cNvPr id="5" name="正方形/長方形 4">
            <a:extLst>
              <a:ext uri="{FF2B5EF4-FFF2-40B4-BE49-F238E27FC236}">
                <a16:creationId xmlns:a16="http://schemas.microsoft.com/office/drawing/2014/main" id="{DB0EF40A-78EA-EB36-DD54-889F480A75E4}"/>
              </a:ext>
            </a:extLst>
          </p:cNvPr>
          <p:cNvSpPr/>
          <p:nvPr/>
        </p:nvSpPr>
        <p:spPr>
          <a:xfrm>
            <a:off x="496886" y="5377532"/>
            <a:ext cx="7692538" cy="200824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187425C-02C7-6B39-0FDC-64FD9F802F97}"/>
              </a:ext>
            </a:extLst>
          </p:cNvPr>
          <p:cNvSpPr txBox="1"/>
          <p:nvPr/>
        </p:nvSpPr>
        <p:spPr>
          <a:xfrm>
            <a:off x="509584" y="5446780"/>
            <a:ext cx="7679840" cy="1938992"/>
          </a:xfrm>
          <a:prstGeom prst="rect">
            <a:avLst/>
          </a:prstGeom>
          <a:noFill/>
        </p:spPr>
        <p:txBody>
          <a:bodyPr wrap="square">
            <a:spAutoFit/>
          </a:bodyPr>
          <a:lstStyle/>
          <a:p>
            <a:r>
              <a:rPr lang="es-ES" altLang="ja-JP" sz="2000" dirty="0"/>
              <a:t>x3 &lt;- as.Date(c(</a:t>
            </a:r>
            <a:r>
              <a:rPr lang="es-ES" altLang="ja-JP" sz="2000" dirty="0">
                <a:solidFill>
                  <a:srgbClr val="00B050"/>
                </a:solidFill>
              </a:rPr>
              <a:t>"2026-01-01"</a:t>
            </a:r>
            <a:r>
              <a:rPr lang="es-ES" altLang="ja-JP" sz="2000" dirty="0"/>
              <a:t>, </a:t>
            </a:r>
            <a:r>
              <a:rPr lang="es-ES" altLang="ja-JP" sz="2000" dirty="0">
                <a:solidFill>
                  <a:srgbClr val="00B050"/>
                </a:solidFill>
              </a:rPr>
              <a:t>"2026/01/01"</a:t>
            </a:r>
            <a:r>
              <a:rPr lang="es-ES" altLang="ja-JP" sz="2000" dirty="0"/>
              <a:t>))</a:t>
            </a:r>
          </a:p>
          <a:p>
            <a:r>
              <a:rPr lang="ja-JP" altLang="en-US" sz="2000" dirty="0">
                <a:solidFill>
                  <a:srgbClr val="00B050"/>
                </a:solidFill>
              </a:rPr>
              <a:t> </a:t>
            </a:r>
            <a:r>
              <a:rPr lang="en-US" altLang="ja-JP" sz="2000" dirty="0">
                <a:solidFill>
                  <a:srgbClr val="00B050"/>
                </a:solidFill>
              </a:rPr>
              <a:t>#</a:t>
            </a:r>
            <a:r>
              <a:rPr lang="ja-JP" altLang="en-US" sz="2000" dirty="0">
                <a:solidFill>
                  <a:srgbClr val="00B050"/>
                </a:solidFill>
              </a:rPr>
              <a:t>フォーマットを指定しなければ</a:t>
            </a:r>
            <a:r>
              <a:rPr lang="en-US" altLang="ja-JP" sz="2000" dirty="0" err="1">
                <a:solidFill>
                  <a:srgbClr val="00B050"/>
                </a:solidFill>
              </a:rPr>
              <a:t>yyyy</a:t>
            </a:r>
            <a:r>
              <a:rPr lang="en-US" altLang="ja-JP" sz="2000" dirty="0">
                <a:solidFill>
                  <a:srgbClr val="00B050"/>
                </a:solidFill>
              </a:rPr>
              <a:t>-mm-dd</a:t>
            </a:r>
            <a:r>
              <a:rPr lang="ja-JP" altLang="en-US" sz="2000" dirty="0">
                <a:solidFill>
                  <a:srgbClr val="00B050"/>
                </a:solidFill>
              </a:rPr>
              <a:t>形式が変換される</a:t>
            </a:r>
            <a:endParaRPr lang="es-ES" altLang="ja-JP" sz="2000" dirty="0">
              <a:solidFill>
                <a:srgbClr val="00B050"/>
              </a:solidFill>
            </a:endParaRPr>
          </a:p>
          <a:p>
            <a:r>
              <a:rPr lang="es-ES" altLang="ja-JP" sz="2000" dirty="0"/>
              <a:t>x4 &lt;- as.Date(c(</a:t>
            </a:r>
            <a:r>
              <a:rPr lang="es-ES" altLang="ja-JP" sz="2000" dirty="0">
                <a:solidFill>
                  <a:srgbClr val="00B050"/>
                </a:solidFill>
              </a:rPr>
              <a:t>"2026-01-01"</a:t>
            </a:r>
            <a:r>
              <a:rPr lang="es-ES" altLang="ja-JP" sz="2000" dirty="0"/>
              <a:t>, </a:t>
            </a:r>
            <a:r>
              <a:rPr lang="es-ES" altLang="ja-JP" sz="2000" dirty="0">
                <a:solidFill>
                  <a:srgbClr val="00B050"/>
                </a:solidFill>
              </a:rPr>
              <a:t>"2026/01/01"</a:t>
            </a:r>
            <a:r>
              <a:rPr lang="es-ES" altLang="ja-JP" sz="2000" dirty="0"/>
              <a:t>), </a:t>
            </a:r>
            <a:r>
              <a:rPr lang="es-ES" altLang="ja-JP" sz="2000" dirty="0">
                <a:solidFill>
                  <a:srgbClr val="00B050"/>
                </a:solidFill>
              </a:rPr>
              <a:t>"%Y-%m-%d"</a:t>
            </a:r>
            <a:r>
              <a:rPr lang="es-ES" altLang="ja-JP" sz="2000" dirty="0"/>
              <a:t>)</a:t>
            </a:r>
          </a:p>
          <a:p>
            <a:r>
              <a:rPr lang="es-ES" altLang="ja-JP" sz="2000" dirty="0"/>
              <a:t>x5 &lt;- as.Date(c(</a:t>
            </a:r>
            <a:r>
              <a:rPr lang="es-ES" altLang="ja-JP" sz="2000" dirty="0">
                <a:solidFill>
                  <a:srgbClr val="00B050"/>
                </a:solidFill>
              </a:rPr>
              <a:t>"2026-01-01"</a:t>
            </a:r>
            <a:r>
              <a:rPr lang="es-ES" altLang="ja-JP" sz="2000" dirty="0"/>
              <a:t>, </a:t>
            </a:r>
            <a:r>
              <a:rPr lang="es-ES" altLang="ja-JP" sz="2000" dirty="0">
                <a:solidFill>
                  <a:srgbClr val="00B050"/>
                </a:solidFill>
              </a:rPr>
              <a:t>"2026/01/01"</a:t>
            </a:r>
            <a:r>
              <a:rPr lang="es-ES" altLang="ja-JP" sz="2000" dirty="0"/>
              <a:t>), </a:t>
            </a:r>
            <a:r>
              <a:rPr lang="es-ES" altLang="ja-JP" sz="2000" dirty="0">
                <a:solidFill>
                  <a:srgbClr val="00B050"/>
                </a:solidFill>
              </a:rPr>
              <a:t>"%Y/%m/%d"</a:t>
            </a:r>
            <a:r>
              <a:rPr lang="es-ES" altLang="ja-JP" sz="2000" dirty="0"/>
              <a:t>)</a:t>
            </a:r>
          </a:p>
          <a:p>
            <a:endParaRPr lang="es-ES" altLang="ja-JP" sz="2000" dirty="0">
              <a:solidFill>
                <a:srgbClr val="3333FF"/>
              </a:solidFill>
            </a:endParaRPr>
          </a:p>
          <a:p>
            <a:r>
              <a:rPr lang="en-US" altLang="ja-JP" sz="2000" dirty="0">
                <a:solidFill>
                  <a:srgbClr val="3333FF"/>
                </a:solidFill>
              </a:rPr>
              <a:t>if </a:t>
            </a:r>
            <a:r>
              <a:rPr lang="en-US" altLang="ja-JP" sz="2000" dirty="0">
                <a:solidFill>
                  <a:srgbClr val="002060"/>
                </a:solidFill>
              </a:rPr>
              <a:t>(any(is.na(x3))) </a:t>
            </a:r>
            <a:r>
              <a:rPr lang="en-US" altLang="ja-JP" sz="2000" dirty="0">
                <a:solidFill>
                  <a:srgbClr val="3333FF"/>
                </a:solidFill>
              </a:rPr>
              <a:t>stop</a:t>
            </a:r>
            <a:r>
              <a:rPr lang="en-US" altLang="ja-JP" sz="2000" dirty="0">
                <a:solidFill>
                  <a:srgbClr val="002060"/>
                </a:solidFill>
              </a:rPr>
              <a:t>(</a:t>
            </a:r>
            <a:r>
              <a:rPr lang="en-US" altLang="ja-JP" sz="2000" dirty="0">
                <a:solidFill>
                  <a:srgbClr val="00B050"/>
                </a:solidFill>
              </a:rPr>
              <a:t>"</a:t>
            </a:r>
            <a:r>
              <a:rPr lang="ja-JP" altLang="en-US" sz="2000" dirty="0">
                <a:solidFill>
                  <a:srgbClr val="00B050"/>
                </a:solidFill>
              </a:rPr>
              <a:t>変換が適切であるか要確認</a:t>
            </a:r>
            <a:r>
              <a:rPr lang="en-US" altLang="ja-JP" sz="2000" dirty="0">
                <a:solidFill>
                  <a:srgbClr val="00B050"/>
                </a:solidFill>
              </a:rPr>
              <a:t>"</a:t>
            </a:r>
            <a:r>
              <a:rPr lang="en-US" altLang="ja-JP" sz="2000" dirty="0">
                <a:solidFill>
                  <a:srgbClr val="002060"/>
                </a:solidFill>
              </a:rPr>
              <a:t>)</a:t>
            </a:r>
            <a:endParaRPr lang="ja-JP" altLang="en-US" sz="2000" dirty="0">
              <a:solidFill>
                <a:srgbClr val="002060"/>
              </a:solidFill>
            </a:endParaRPr>
          </a:p>
        </p:txBody>
      </p:sp>
      <p:sp>
        <p:nvSpPr>
          <p:cNvPr id="7" name="コンテンツ プレースホルダー 3">
            <a:extLst>
              <a:ext uri="{FF2B5EF4-FFF2-40B4-BE49-F238E27FC236}">
                <a16:creationId xmlns:a16="http://schemas.microsoft.com/office/drawing/2014/main" id="{7B39840A-C815-9E59-BB44-625843AA9936}"/>
              </a:ext>
            </a:extLst>
          </p:cNvPr>
          <p:cNvSpPr txBox="1">
            <a:spLocks/>
          </p:cNvSpPr>
          <p:nvPr/>
        </p:nvSpPr>
        <p:spPr>
          <a:xfrm>
            <a:off x="496885" y="1220776"/>
            <a:ext cx="13745207"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文字値を</a:t>
            </a:r>
            <a:r>
              <a:rPr kumimoji="1" lang="en-US" altLang="ja-JP" sz="2800" b="0" dirty="0" err="1"/>
              <a:t>as.Date</a:t>
            </a:r>
            <a:r>
              <a:rPr kumimoji="1" lang="ja-JP" altLang="en-US" sz="2800" b="0" dirty="0"/>
              <a:t>関数を用いて日付値に変換する際、</a:t>
            </a:r>
            <a:endParaRPr kumimoji="1" lang="en-US" altLang="ja-JP" sz="2800" b="0" dirty="0"/>
          </a:p>
          <a:p>
            <a:pPr marL="0" indent="0">
              <a:buFont typeface="Arial" panose="020B0604020202020204" pitchFamily="34" charset="0"/>
              <a:buNone/>
            </a:pPr>
            <a:r>
              <a:rPr kumimoji="1" lang="ja-JP" altLang="en-US" sz="2800" b="0" dirty="0"/>
              <a:t>文字値が</a:t>
            </a:r>
            <a:r>
              <a:rPr kumimoji="1" lang="en-US" altLang="ja-JP" sz="2800" b="0" dirty="0" err="1"/>
              <a:t>yyyy</a:t>
            </a:r>
            <a:r>
              <a:rPr kumimoji="1" lang="en-US" altLang="ja-JP" sz="2800" b="0" dirty="0"/>
              <a:t>-mm-dd</a:t>
            </a:r>
            <a:r>
              <a:rPr kumimoji="1" lang="ja-JP" altLang="en-US" sz="2800" b="0" dirty="0"/>
              <a:t>形式か</a:t>
            </a:r>
            <a:r>
              <a:rPr kumimoji="1" lang="en-US" altLang="ja-JP" sz="2800" b="0" dirty="0" err="1"/>
              <a:t>yyyy</a:t>
            </a:r>
            <a:r>
              <a:rPr kumimoji="1" lang="en-US" altLang="ja-JP" sz="2800" b="0" dirty="0"/>
              <a:t>/mm/dd</a:t>
            </a:r>
            <a:r>
              <a:rPr kumimoji="1" lang="ja-JP" altLang="en-US" sz="2800" b="0" dirty="0"/>
              <a:t>形式であればフォーマット指定なしで変換可能</a:t>
            </a:r>
            <a:endParaRPr kumimoji="1" lang="en-US" altLang="ja-JP" sz="2800" b="0" dirty="0"/>
          </a:p>
          <a:p>
            <a:pPr marL="0" indent="0">
              <a:buFont typeface="Arial" panose="020B0604020202020204" pitchFamily="34" charset="0"/>
              <a:buNone/>
            </a:pPr>
            <a:endParaRPr kumimoji="1" lang="en-US" altLang="ja-JP" sz="2800" b="0" dirty="0"/>
          </a:p>
        </p:txBody>
      </p:sp>
      <p:sp>
        <p:nvSpPr>
          <p:cNvPr id="9" name="正方形/長方形 8">
            <a:extLst>
              <a:ext uri="{FF2B5EF4-FFF2-40B4-BE49-F238E27FC236}">
                <a16:creationId xmlns:a16="http://schemas.microsoft.com/office/drawing/2014/main" id="{9FA7F660-4BAB-D1AE-2431-69505B2D3184}"/>
              </a:ext>
            </a:extLst>
          </p:cNvPr>
          <p:cNvSpPr/>
          <p:nvPr/>
        </p:nvSpPr>
        <p:spPr>
          <a:xfrm>
            <a:off x="509585" y="2295064"/>
            <a:ext cx="3744916" cy="934762"/>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D04A2595-2448-851B-2783-88063AB2A76A}"/>
              </a:ext>
            </a:extLst>
          </p:cNvPr>
          <p:cNvSpPr txBox="1"/>
          <p:nvPr/>
        </p:nvSpPr>
        <p:spPr>
          <a:xfrm>
            <a:off x="509584" y="2404515"/>
            <a:ext cx="3744916" cy="707886"/>
          </a:xfrm>
          <a:prstGeom prst="rect">
            <a:avLst/>
          </a:prstGeom>
          <a:noFill/>
        </p:spPr>
        <p:txBody>
          <a:bodyPr wrap="square">
            <a:spAutoFit/>
          </a:bodyPr>
          <a:lstStyle/>
          <a:p>
            <a:r>
              <a:rPr lang="es-ES" altLang="ja-JP" sz="2000" dirty="0"/>
              <a:t>x1 &lt;- as.Date(c(</a:t>
            </a:r>
            <a:r>
              <a:rPr lang="es-ES" altLang="ja-JP" sz="2000" dirty="0">
                <a:solidFill>
                  <a:srgbClr val="00B050"/>
                </a:solidFill>
              </a:rPr>
              <a:t>"2026-01-01"</a:t>
            </a:r>
            <a:r>
              <a:rPr lang="es-ES" altLang="ja-JP" sz="2000" dirty="0"/>
              <a:t>))</a:t>
            </a:r>
          </a:p>
          <a:p>
            <a:r>
              <a:rPr lang="es-ES" altLang="ja-JP" sz="2000" dirty="0"/>
              <a:t>x2 &lt;- as.Date(c(</a:t>
            </a:r>
            <a:r>
              <a:rPr lang="es-ES" altLang="ja-JP" sz="2000" dirty="0">
                <a:solidFill>
                  <a:srgbClr val="00B050"/>
                </a:solidFill>
              </a:rPr>
              <a:t>"2026/01/01"</a:t>
            </a:r>
            <a:r>
              <a:rPr lang="es-ES" altLang="ja-JP" sz="2000" dirty="0"/>
              <a:t>))</a:t>
            </a:r>
          </a:p>
        </p:txBody>
      </p:sp>
      <p:pic>
        <p:nvPicPr>
          <p:cNvPr id="15" name="図 14">
            <a:extLst>
              <a:ext uri="{FF2B5EF4-FFF2-40B4-BE49-F238E27FC236}">
                <a16:creationId xmlns:a16="http://schemas.microsoft.com/office/drawing/2014/main" id="{9A86461D-1E57-5954-EE60-BB76B8D5D1AE}"/>
              </a:ext>
            </a:extLst>
          </p:cNvPr>
          <p:cNvPicPr>
            <a:picLocks noChangeAspect="1"/>
          </p:cNvPicPr>
          <p:nvPr/>
        </p:nvPicPr>
        <p:blipFill>
          <a:blip r:embed="rId3"/>
          <a:stretch>
            <a:fillRect/>
          </a:stretch>
        </p:blipFill>
        <p:spPr>
          <a:xfrm>
            <a:off x="4427468" y="2509724"/>
            <a:ext cx="3761955" cy="521994"/>
          </a:xfrm>
          <a:prstGeom prst="rect">
            <a:avLst/>
          </a:prstGeom>
        </p:spPr>
      </p:pic>
      <p:pic>
        <p:nvPicPr>
          <p:cNvPr id="17" name="図 16">
            <a:extLst>
              <a:ext uri="{FF2B5EF4-FFF2-40B4-BE49-F238E27FC236}">
                <a16:creationId xmlns:a16="http://schemas.microsoft.com/office/drawing/2014/main" id="{8D9BAEEE-0B40-1715-827F-E31DA98AA800}"/>
              </a:ext>
            </a:extLst>
          </p:cNvPr>
          <p:cNvPicPr>
            <a:picLocks noChangeAspect="1"/>
          </p:cNvPicPr>
          <p:nvPr/>
        </p:nvPicPr>
        <p:blipFill>
          <a:blip r:embed="rId4"/>
          <a:stretch>
            <a:fillRect/>
          </a:stretch>
        </p:blipFill>
        <p:spPr>
          <a:xfrm>
            <a:off x="8317626" y="5783965"/>
            <a:ext cx="4968161" cy="632311"/>
          </a:xfrm>
          <a:prstGeom prst="rect">
            <a:avLst/>
          </a:prstGeom>
        </p:spPr>
      </p:pic>
      <p:pic>
        <p:nvPicPr>
          <p:cNvPr id="12" name="図 11">
            <a:extLst>
              <a:ext uri="{FF2B5EF4-FFF2-40B4-BE49-F238E27FC236}">
                <a16:creationId xmlns:a16="http://schemas.microsoft.com/office/drawing/2014/main" id="{BDF2D81F-DBF0-0D1D-0481-59A8879C4A00}"/>
              </a:ext>
            </a:extLst>
          </p:cNvPr>
          <p:cNvPicPr>
            <a:picLocks noChangeAspect="1"/>
          </p:cNvPicPr>
          <p:nvPr/>
        </p:nvPicPr>
        <p:blipFill>
          <a:blip r:embed="rId5"/>
          <a:stretch>
            <a:fillRect/>
          </a:stretch>
        </p:blipFill>
        <p:spPr>
          <a:xfrm>
            <a:off x="8317626" y="7037015"/>
            <a:ext cx="4131434" cy="348757"/>
          </a:xfrm>
          <a:prstGeom prst="rect">
            <a:avLst/>
          </a:prstGeom>
        </p:spPr>
      </p:pic>
    </p:spTree>
    <p:extLst>
      <p:ext uri="{BB962C8B-B14F-4D97-AF65-F5344CB8AC3E}">
        <p14:creationId xmlns:p14="http://schemas.microsoft.com/office/powerpoint/2010/main" val="220456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D250-BE6D-0740-47C1-51F0D1069C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E1BDD8-1129-321A-56A9-4C610E7A7A57}"/>
              </a:ext>
            </a:extLst>
          </p:cNvPr>
          <p:cNvSpPr>
            <a:spLocks noGrp="1"/>
          </p:cNvSpPr>
          <p:nvPr>
            <p:ph type="title"/>
          </p:nvPr>
        </p:nvSpPr>
        <p:spPr/>
        <p:txBody>
          <a:bodyPr/>
          <a:lstStyle/>
          <a:p>
            <a:r>
              <a:rPr kumimoji="1" lang="ja-JP" altLang="en-US" dirty="0"/>
              <a:t>文字値から日付値への変換はフォーマットに注意</a:t>
            </a:r>
          </a:p>
        </p:txBody>
      </p:sp>
      <p:sp>
        <p:nvSpPr>
          <p:cNvPr id="3" name="スライド番号プレースホルダー 2">
            <a:extLst>
              <a:ext uri="{FF2B5EF4-FFF2-40B4-BE49-F238E27FC236}">
                <a16:creationId xmlns:a16="http://schemas.microsoft.com/office/drawing/2014/main" id="{688FE229-B35F-0CC1-A326-94F33502563A}"/>
              </a:ext>
            </a:extLst>
          </p:cNvPr>
          <p:cNvSpPr>
            <a:spLocks noGrp="1"/>
          </p:cNvSpPr>
          <p:nvPr>
            <p:ph type="sldNum" sz="quarter" idx="4"/>
          </p:nvPr>
        </p:nvSpPr>
        <p:spPr/>
        <p:txBody>
          <a:bodyPr/>
          <a:lstStyle/>
          <a:p>
            <a:fld id="{24AEDCA4-7D12-E34A-9125-9C962139F6EA}" type="slidenum">
              <a:rPr kumimoji="1" lang="en-US" altLang="ja-JP" smtClean="0"/>
              <a:pPr/>
              <a:t>17</a:t>
            </a:fld>
            <a:endParaRPr kumimoji="1" lang="en-US" altLang="ja-JP" dirty="0"/>
          </a:p>
        </p:txBody>
      </p:sp>
      <p:sp>
        <p:nvSpPr>
          <p:cNvPr id="7" name="コンテンツ プレースホルダー 3">
            <a:extLst>
              <a:ext uri="{FF2B5EF4-FFF2-40B4-BE49-F238E27FC236}">
                <a16:creationId xmlns:a16="http://schemas.microsoft.com/office/drawing/2014/main" id="{17D6F7A1-98F1-2F46-22A6-B200543C253B}"/>
              </a:ext>
            </a:extLst>
          </p:cNvPr>
          <p:cNvSpPr txBox="1">
            <a:spLocks/>
          </p:cNvSpPr>
          <p:nvPr/>
        </p:nvSpPr>
        <p:spPr>
          <a:xfrm>
            <a:off x="496885" y="1220776"/>
            <a:ext cx="13745207" cy="1954381"/>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ja-JP" altLang="en-US" sz="2800" b="0" dirty="0"/>
              <a:t>日本語環境で</a:t>
            </a:r>
            <a:r>
              <a:rPr kumimoji="1" lang="en-US" altLang="ja-JP" sz="2800" b="0" dirty="0"/>
              <a:t>%Y(4</a:t>
            </a:r>
            <a:r>
              <a:rPr kumimoji="1" lang="ja-JP" altLang="en-US" sz="2800" b="0" dirty="0"/>
              <a:t>桁の西暦</a:t>
            </a:r>
            <a:r>
              <a:rPr kumimoji="1" lang="en-US" altLang="ja-JP" sz="2800" b="0" dirty="0"/>
              <a:t>) ,%m(2</a:t>
            </a:r>
            <a:r>
              <a:rPr kumimoji="1" lang="ja-JP" altLang="en-US" sz="2800" b="0" dirty="0"/>
              <a:t>桁の月</a:t>
            </a:r>
            <a:r>
              <a:rPr kumimoji="1" lang="en-US" altLang="ja-JP" sz="2800" b="0" dirty="0"/>
              <a:t>), %d(2</a:t>
            </a:r>
            <a:r>
              <a:rPr kumimoji="1" lang="ja-JP" altLang="en-US" sz="2800" b="0" dirty="0"/>
              <a:t>桁の日</a:t>
            </a:r>
            <a:r>
              <a:rPr kumimoji="1" lang="en-US" altLang="ja-JP" sz="2800" b="0" dirty="0"/>
              <a:t>)</a:t>
            </a:r>
            <a:r>
              <a:rPr kumimoji="1" lang="ja-JP" altLang="en-US" sz="2800" b="0" dirty="0"/>
              <a:t>以外のフォーマットを使う場合、</a:t>
            </a:r>
            <a:endParaRPr kumimoji="1" lang="en-US" altLang="ja-JP" sz="2800" b="0" dirty="0"/>
          </a:p>
          <a:p>
            <a:pPr marL="0" indent="0">
              <a:buNone/>
            </a:pPr>
            <a:r>
              <a:rPr kumimoji="1" lang="ja-JP" altLang="en-US" sz="2800" b="0" dirty="0"/>
              <a:t>日本語文字に変換されてしまい、戻り値が</a:t>
            </a:r>
            <a:r>
              <a:rPr kumimoji="1" lang="en-US" altLang="ja-JP" sz="2800" b="0" dirty="0"/>
              <a:t>NA</a:t>
            </a:r>
            <a:r>
              <a:rPr kumimoji="1" lang="ja-JP" altLang="en-US" sz="2800" b="0" dirty="0"/>
              <a:t>となってしまう</a:t>
            </a:r>
            <a:endParaRPr kumimoji="1" lang="en-US" altLang="ja-JP" sz="2800" b="0" dirty="0"/>
          </a:p>
          <a:p>
            <a:pPr marL="0" indent="0">
              <a:buNone/>
            </a:pPr>
            <a:endParaRPr kumimoji="1" lang="en-US" altLang="ja-JP" sz="2800" b="0" dirty="0"/>
          </a:p>
          <a:p>
            <a:pPr marL="0" indent="0">
              <a:buNone/>
            </a:pPr>
            <a:r>
              <a:rPr kumimoji="1" lang="ja-JP" altLang="en-US" sz="2800" b="0" dirty="0"/>
              <a:t>→</a:t>
            </a:r>
            <a:r>
              <a:rPr kumimoji="1" lang="en-US" altLang="ja-JP" sz="2800" b="0" dirty="0" err="1"/>
              <a:t>Sys.setlocale</a:t>
            </a:r>
            <a:r>
              <a:rPr kumimoji="1" lang="ja-JP" altLang="en-US" sz="2800" b="0" dirty="0"/>
              <a:t>関数でロケール</a:t>
            </a:r>
            <a:r>
              <a:rPr kumimoji="1" lang="en-US" altLang="ja-JP" sz="2800" b="0" dirty="0"/>
              <a:t>(</a:t>
            </a:r>
            <a:r>
              <a:rPr kumimoji="1" lang="ja-JP" altLang="en-US" sz="2800" b="0" dirty="0"/>
              <a:t>国・地域の内部設定</a:t>
            </a:r>
            <a:r>
              <a:rPr kumimoji="1" lang="en-US" altLang="ja-JP" sz="2800" b="0" dirty="0"/>
              <a:t>)</a:t>
            </a:r>
            <a:r>
              <a:rPr kumimoji="1" lang="ja-JP" altLang="en-US" sz="2800" b="0" dirty="0"/>
              <a:t>を</a:t>
            </a:r>
            <a:r>
              <a:rPr kumimoji="1" lang="en-US" altLang="ja-JP" sz="2800" b="0" dirty="0"/>
              <a:t>C</a:t>
            </a:r>
            <a:r>
              <a:rPr kumimoji="1" lang="ja-JP" altLang="en-US" sz="2800" b="0" dirty="0"/>
              <a:t>言語の標準</a:t>
            </a:r>
            <a:r>
              <a:rPr kumimoji="1" lang="en-US" altLang="ja-JP" sz="2800" b="0" dirty="0"/>
              <a:t>(</a:t>
            </a:r>
            <a:r>
              <a:rPr kumimoji="1" lang="ja-JP" altLang="en-US" sz="2800" b="0" dirty="0"/>
              <a:t>北米</a:t>
            </a:r>
            <a:r>
              <a:rPr kumimoji="1" lang="en-US" altLang="ja-JP" sz="2800" b="0" dirty="0"/>
              <a:t>)</a:t>
            </a:r>
            <a:r>
              <a:rPr kumimoji="1" lang="ja-JP" altLang="en-US" sz="2800" b="0" dirty="0"/>
              <a:t>に設定する</a:t>
            </a:r>
            <a:endParaRPr kumimoji="1" lang="en-US" altLang="ja-JP" sz="2800" b="0" dirty="0"/>
          </a:p>
        </p:txBody>
      </p:sp>
      <p:sp>
        <p:nvSpPr>
          <p:cNvPr id="9" name="正方形/長方形 8">
            <a:extLst>
              <a:ext uri="{FF2B5EF4-FFF2-40B4-BE49-F238E27FC236}">
                <a16:creationId xmlns:a16="http://schemas.microsoft.com/office/drawing/2014/main" id="{67FF7F05-4146-0B3D-A574-CAD5D6A6DD15}"/>
              </a:ext>
            </a:extLst>
          </p:cNvPr>
          <p:cNvSpPr/>
          <p:nvPr/>
        </p:nvSpPr>
        <p:spPr>
          <a:xfrm>
            <a:off x="496885" y="3679364"/>
            <a:ext cx="4367215" cy="1578436"/>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26E9868B-0312-74E8-1BE1-05A1792C9A5D}"/>
              </a:ext>
            </a:extLst>
          </p:cNvPr>
          <p:cNvSpPr txBox="1"/>
          <p:nvPr/>
        </p:nvSpPr>
        <p:spPr>
          <a:xfrm>
            <a:off x="496885" y="3788815"/>
            <a:ext cx="4367216" cy="1323439"/>
          </a:xfrm>
          <a:prstGeom prst="rect">
            <a:avLst/>
          </a:prstGeom>
          <a:noFill/>
        </p:spPr>
        <p:txBody>
          <a:bodyPr wrap="square">
            <a:spAutoFit/>
          </a:bodyPr>
          <a:lstStyle/>
          <a:p>
            <a:r>
              <a:rPr lang="en-US" altLang="ja-JP" sz="2000" dirty="0" err="1"/>
              <a:t>as.Date</a:t>
            </a:r>
            <a:r>
              <a:rPr lang="en-US" altLang="ja-JP" sz="2000" dirty="0"/>
              <a:t>(</a:t>
            </a:r>
            <a:r>
              <a:rPr lang="en-US" altLang="ja-JP" sz="2000" dirty="0">
                <a:solidFill>
                  <a:srgbClr val="00B050"/>
                </a:solidFill>
              </a:rPr>
              <a:t>"02JAN2026"</a:t>
            </a:r>
            <a:r>
              <a:rPr lang="en-US" altLang="ja-JP" sz="2000" dirty="0"/>
              <a:t>, </a:t>
            </a:r>
            <a:r>
              <a:rPr lang="en-US" altLang="ja-JP" sz="2000" dirty="0">
                <a:solidFill>
                  <a:srgbClr val="00B050"/>
                </a:solidFill>
              </a:rPr>
              <a:t>"%</a:t>
            </a:r>
            <a:r>
              <a:rPr lang="en-US" altLang="ja-JP" sz="2000" dirty="0" err="1">
                <a:solidFill>
                  <a:srgbClr val="00B050"/>
                </a:solidFill>
              </a:rPr>
              <a:t>d%b%Y</a:t>
            </a:r>
            <a:r>
              <a:rPr lang="en-US" altLang="ja-JP" sz="2000" dirty="0">
                <a:solidFill>
                  <a:srgbClr val="00B050"/>
                </a:solidFill>
              </a:rPr>
              <a:t>"</a:t>
            </a:r>
            <a:r>
              <a:rPr lang="en-US" altLang="ja-JP" sz="2000" dirty="0"/>
              <a:t>)</a:t>
            </a:r>
          </a:p>
          <a:p>
            <a:endParaRPr lang="en-US" altLang="ja-JP" sz="2000" dirty="0"/>
          </a:p>
          <a:p>
            <a:r>
              <a:rPr lang="en-US" altLang="ja-JP" sz="2000" dirty="0" err="1"/>
              <a:t>Sys.setlocale</a:t>
            </a:r>
            <a:r>
              <a:rPr lang="en-US" altLang="ja-JP" sz="2000" dirty="0"/>
              <a:t>(</a:t>
            </a:r>
            <a:r>
              <a:rPr lang="en-US" altLang="ja-JP" sz="2000" dirty="0">
                <a:solidFill>
                  <a:srgbClr val="00B050"/>
                </a:solidFill>
              </a:rPr>
              <a:t>"LC_TIME" </a:t>
            </a:r>
            <a:r>
              <a:rPr lang="en-US" altLang="ja-JP" sz="2000" dirty="0"/>
              <a:t>, </a:t>
            </a:r>
            <a:r>
              <a:rPr lang="en-US" altLang="ja-JP" sz="2000" dirty="0">
                <a:solidFill>
                  <a:srgbClr val="00B050"/>
                </a:solidFill>
              </a:rPr>
              <a:t>"C"</a:t>
            </a:r>
            <a:r>
              <a:rPr lang="en-US" altLang="ja-JP" sz="2000" dirty="0"/>
              <a:t>)</a:t>
            </a:r>
          </a:p>
          <a:p>
            <a:r>
              <a:rPr lang="en-US" altLang="ja-JP" sz="2000" dirty="0" err="1"/>
              <a:t>as.Date</a:t>
            </a:r>
            <a:r>
              <a:rPr lang="en-US" altLang="ja-JP" sz="2000" dirty="0"/>
              <a:t>(</a:t>
            </a:r>
            <a:r>
              <a:rPr lang="en-US" altLang="ja-JP" sz="2000" dirty="0">
                <a:solidFill>
                  <a:srgbClr val="00B050"/>
                </a:solidFill>
              </a:rPr>
              <a:t>"02JAN2026" </a:t>
            </a:r>
            <a:r>
              <a:rPr lang="en-US" altLang="ja-JP" sz="2000" dirty="0"/>
              <a:t>, </a:t>
            </a:r>
            <a:r>
              <a:rPr lang="en-US" altLang="ja-JP" sz="2000" dirty="0">
                <a:solidFill>
                  <a:srgbClr val="00B050"/>
                </a:solidFill>
              </a:rPr>
              <a:t>"%</a:t>
            </a:r>
            <a:r>
              <a:rPr lang="en-US" altLang="ja-JP" sz="2000" dirty="0" err="1">
                <a:solidFill>
                  <a:srgbClr val="00B050"/>
                </a:solidFill>
              </a:rPr>
              <a:t>d%b%Y</a:t>
            </a:r>
            <a:r>
              <a:rPr lang="en-US" altLang="ja-JP" sz="2000" dirty="0">
                <a:solidFill>
                  <a:srgbClr val="00B050"/>
                </a:solidFill>
              </a:rPr>
              <a:t>"</a:t>
            </a:r>
            <a:r>
              <a:rPr lang="en-US" altLang="ja-JP" sz="2000" dirty="0"/>
              <a:t>)</a:t>
            </a:r>
            <a:endParaRPr lang="es-ES" altLang="ja-JP" sz="2000" dirty="0"/>
          </a:p>
        </p:txBody>
      </p:sp>
      <p:pic>
        <p:nvPicPr>
          <p:cNvPr id="14" name="図 13">
            <a:extLst>
              <a:ext uri="{FF2B5EF4-FFF2-40B4-BE49-F238E27FC236}">
                <a16:creationId xmlns:a16="http://schemas.microsoft.com/office/drawing/2014/main" id="{73BC17CC-48AE-7145-F1FE-24E073245BE1}"/>
              </a:ext>
            </a:extLst>
          </p:cNvPr>
          <p:cNvPicPr>
            <a:picLocks noChangeAspect="1"/>
          </p:cNvPicPr>
          <p:nvPr/>
        </p:nvPicPr>
        <p:blipFill>
          <a:blip r:embed="rId3"/>
          <a:stretch>
            <a:fillRect/>
          </a:stretch>
        </p:blipFill>
        <p:spPr>
          <a:xfrm>
            <a:off x="5259116" y="3788815"/>
            <a:ext cx="3886742" cy="1419423"/>
          </a:xfrm>
          <a:prstGeom prst="rect">
            <a:avLst/>
          </a:prstGeom>
        </p:spPr>
      </p:pic>
    </p:spTree>
    <p:extLst>
      <p:ext uri="{BB962C8B-B14F-4D97-AF65-F5344CB8AC3E}">
        <p14:creationId xmlns:p14="http://schemas.microsoft.com/office/powerpoint/2010/main" val="27178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98D90-4EEF-BE3F-7C57-43DE8EAB9E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7482D54-F35B-D663-2321-904F63FA1E39}"/>
              </a:ext>
            </a:extLst>
          </p:cNvPr>
          <p:cNvSpPr>
            <a:spLocks noGrp="1"/>
          </p:cNvSpPr>
          <p:nvPr>
            <p:ph type="title"/>
          </p:nvPr>
        </p:nvSpPr>
        <p:spPr/>
        <p:txBody>
          <a:bodyPr/>
          <a:lstStyle/>
          <a:p>
            <a:r>
              <a:rPr kumimoji="1" lang="ja-JP" altLang="en-US" dirty="0"/>
              <a:t>予約語に注意​</a:t>
            </a:r>
          </a:p>
        </p:txBody>
      </p:sp>
      <p:sp>
        <p:nvSpPr>
          <p:cNvPr id="3" name="スライド番号プレースホルダー 2">
            <a:extLst>
              <a:ext uri="{FF2B5EF4-FFF2-40B4-BE49-F238E27FC236}">
                <a16:creationId xmlns:a16="http://schemas.microsoft.com/office/drawing/2014/main" id="{6DA6EA0F-59E3-4CAC-DBB5-AE55AE88A90E}"/>
              </a:ext>
            </a:extLst>
          </p:cNvPr>
          <p:cNvSpPr>
            <a:spLocks noGrp="1"/>
          </p:cNvSpPr>
          <p:nvPr>
            <p:ph type="sldNum" sz="quarter" idx="4"/>
          </p:nvPr>
        </p:nvSpPr>
        <p:spPr/>
        <p:txBody>
          <a:bodyPr/>
          <a:lstStyle/>
          <a:p>
            <a:fld id="{24AEDCA4-7D12-E34A-9125-9C962139F6EA}" type="slidenum">
              <a:rPr kumimoji="1" lang="en-US" altLang="ja-JP" smtClean="0"/>
              <a:pPr/>
              <a:t>18</a:t>
            </a:fld>
            <a:endParaRPr kumimoji="1" lang="en-US" altLang="ja-JP" dirty="0"/>
          </a:p>
        </p:txBody>
      </p:sp>
      <p:sp>
        <p:nvSpPr>
          <p:cNvPr id="4" name="コンテンツ プレースホルダー 3">
            <a:extLst>
              <a:ext uri="{FF2B5EF4-FFF2-40B4-BE49-F238E27FC236}">
                <a16:creationId xmlns:a16="http://schemas.microsoft.com/office/drawing/2014/main" id="{DC5FBB35-0E3C-5F6A-00A5-091DA80B0499}"/>
              </a:ext>
            </a:extLst>
          </p:cNvPr>
          <p:cNvSpPr>
            <a:spLocks noGrp="1"/>
          </p:cNvSpPr>
          <p:nvPr>
            <p:ph sz="half" idx="10"/>
          </p:nvPr>
        </p:nvSpPr>
        <p:spPr>
          <a:xfrm>
            <a:off x="496885" y="1426912"/>
            <a:ext cx="7986715" cy="2462213"/>
          </a:xfrm>
        </p:spPr>
        <p:txBody>
          <a:bodyPr/>
          <a:lstStyle/>
          <a:p>
            <a:pPr marL="0" indent="0">
              <a:buNone/>
            </a:pPr>
            <a:r>
              <a:rPr kumimoji="1" lang="ja-JP" altLang="en-US" sz="2800" b="0" dirty="0"/>
              <a:t>以下などは</a:t>
            </a:r>
            <a:r>
              <a:rPr kumimoji="1" lang="en-US" altLang="ja-JP" sz="2800" b="0" dirty="0"/>
              <a:t>R</a:t>
            </a:r>
            <a:r>
              <a:rPr kumimoji="1" lang="ja-JP" altLang="en-US" sz="2800" b="0" dirty="0"/>
              <a:t>の処理系によって先に予約されているため、</a:t>
            </a:r>
            <a:endParaRPr kumimoji="1" lang="en-US" altLang="ja-JP" sz="2800" b="0" dirty="0"/>
          </a:p>
          <a:p>
            <a:pPr marL="0" indent="0">
              <a:buNone/>
            </a:pPr>
            <a:r>
              <a:rPr kumimoji="1" lang="ja-JP" altLang="en-US" sz="2800" b="0" dirty="0"/>
              <a:t>オブジェクト名として使用することができない</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800" b="0" dirty="0"/>
              <a:t>  </a:t>
            </a:r>
          </a:p>
        </p:txBody>
      </p:sp>
      <p:sp>
        <p:nvSpPr>
          <p:cNvPr id="6" name="コンテンツ プレースホルダー 3">
            <a:extLst>
              <a:ext uri="{FF2B5EF4-FFF2-40B4-BE49-F238E27FC236}">
                <a16:creationId xmlns:a16="http://schemas.microsoft.com/office/drawing/2014/main" id="{09E67E8B-8B45-3ADA-5D3D-023658604447}"/>
              </a:ext>
            </a:extLst>
          </p:cNvPr>
          <p:cNvSpPr txBox="1">
            <a:spLocks/>
          </p:cNvSpPr>
          <p:nvPr/>
        </p:nvSpPr>
        <p:spPr>
          <a:xfrm>
            <a:off x="496885" y="2727066"/>
            <a:ext cx="10768015"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en-US" altLang="ja-JP" sz="2800" b="0" dirty="0">
                <a:solidFill>
                  <a:srgbClr val="3333FF"/>
                </a:solidFill>
              </a:rPr>
              <a:t>break</a:t>
            </a:r>
            <a:r>
              <a:rPr kumimoji="1" lang="ja-JP" altLang="en-US" sz="2800" b="0" dirty="0">
                <a:solidFill>
                  <a:srgbClr val="3333FF"/>
                </a:solidFill>
              </a:rPr>
              <a:t> </a:t>
            </a:r>
            <a:r>
              <a:rPr kumimoji="1" lang="en-US" altLang="ja-JP" sz="2800" b="0" dirty="0">
                <a:solidFill>
                  <a:srgbClr val="3333FF"/>
                </a:solidFill>
              </a:rPr>
              <a:t>else FALSE for function if in Inf </a:t>
            </a:r>
          </a:p>
          <a:p>
            <a:pPr marL="0" indent="0">
              <a:buFont typeface="Arial" panose="020B0604020202020204" pitchFamily="34" charset="0"/>
              <a:buNone/>
            </a:pPr>
            <a:r>
              <a:rPr kumimoji="1" lang="en-US" altLang="ja-JP" sz="2800" b="0" dirty="0">
                <a:solidFill>
                  <a:srgbClr val="3333FF"/>
                </a:solidFill>
              </a:rPr>
              <a:t>NA </a:t>
            </a:r>
            <a:r>
              <a:rPr kumimoji="1" lang="en-US" altLang="ja-JP" sz="2800" b="0" dirty="0" err="1">
                <a:solidFill>
                  <a:srgbClr val="3333FF"/>
                </a:solidFill>
              </a:rPr>
              <a:t>NA_integer</a:t>
            </a:r>
            <a:r>
              <a:rPr kumimoji="1" lang="en-US" altLang="ja-JP" sz="2800" b="0" dirty="0">
                <a:solidFill>
                  <a:srgbClr val="3333FF"/>
                </a:solidFill>
              </a:rPr>
              <a:t>_  </a:t>
            </a:r>
            <a:r>
              <a:rPr kumimoji="1" lang="en-US" altLang="ja-JP" sz="2800" b="0" dirty="0" err="1">
                <a:solidFill>
                  <a:srgbClr val="3333FF"/>
                </a:solidFill>
              </a:rPr>
              <a:t>NA_real</a:t>
            </a:r>
            <a:r>
              <a:rPr kumimoji="1" lang="en-US" altLang="ja-JP" sz="2800" b="0" dirty="0">
                <a:solidFill>
                  <a:srgbClr val="3333FF"/>
                </a:solidFill>
              </a:rPr>
              <a:t>_ </a:t>
            </a:r>
            <a:r>
              <a:rPr kumimoji="1" lang="en-US" altLang="ja-JP" sz="2800" b="0" dirty="0" err="1">
                <a:solidFill>
                  <a:srgbClr val="3333FF"/>
                </a:solidFill>
              </a:rPr>
              <a:t>NA_complex</a:t>
            </a:r>
            <a:r>
              <a:rPr kumimoji="1" lang="en-US" altLang="ja-JP" sz="2800" b="0" dirty="0">
                <a:solidFill>
                  <a:srgbClr val="3333FF"/>
                </a:solidFill>
              </a:rPr>
              <a:t>_ </a:t>
            </a:r>
            <a:r>
              <a:rPr kumimoji="1" lang="en-US" altLang="ja-JP" sz="2800" b="0" dirty="0" err="1">
                <a:solidFill>
                  <a:srgbClr val="3333FF"/>
                </a:solidFill>
              </a:rPr>
              <a:t>NA_character</a:t>
            </a:r>
            <a:r>
              <a:rPr kumimoji="1" lang="en-US" altLang="ja-JP" sz="2800" b="0" dirty="0">
                <a:solidFill>
                  <a:srgbClr val="3333FF"/>
                </a:solidFill>
              </a:rPr>
              <a:t>_</a:t>
            </a:r>
          </a:p>
          <a:p>
            <a:pPr marL="0" indent="0">
              <a:buFont typeface="Arial" panose="020B0604020202020204" pitchFamily="34" charset="0"/>
              <a:buNone/>
            </a:pPr>
            <a:r>
              <a:rPr kumimoji="1" lang="en-US" altLang="ja-JP" sz="2800" b="0" dirty="0" err="1">
                <a:solidFill>
                  <a:srgbClr val="3333FF"/>
                </a:solidFill>
              </a:rPr>
              <a:t>NaN</a:t>
            </a:r>
            <a:r>
              <a:rPr kumimoji="1" lang="en-US" altLang="ja-JP" sz="2800" b="0" dirty="0">
                <a:solidFill>
                  <a:srgbClr val="3333FF"/>
                </a:solidFill>
              </a:rPr>
              <a:t> next NULL repeat TRUE while</a:t>
            </a:r>
          </a:p>
        </p:txBody>
      </p:sp>
      <p:pic>
        <p:nvPicPr>
          <p:cNvPr id="10" name="図 9">
            <a:extLst>
              <a:ext uri="{FF2B5EF4-FFF2-40B4-BE49-F238E27FC236}">
                <a16:creationId xmlns:a16="http://schemas.microsoft.com/office/drawing/2014/main" id="{7228AFA1-4EC3-9857-3489-826A6A803FBD}"/>
              </a:ext>
            </a:extLst>
          </p:cNvPr>
          <p:cNvPicPr>
            <a:picLocks noChangeAspect="1"/>
          </p:cNvPicPr>
          <p:nvPr/>
        </p:nvPicPr>
        <p:blipFill>
          <a:blip r:embed="rId3"/>
          <a:stretch>
            <a:fillRect/>
          </a:stretch>
        </p:blipFill>
        <p:spPr>
          <a:xfrm>
            <a:off x="407985" y="4969887"/>
            <a:ext cx="7504115" cy="438784"/>
          </a:xfrm>
          <a:prstGeom prst="rect">
            <a:avLst/>
          </a:prstGeom>
        </p:spPr>
      </p:pic>
    </p:spTree>
    <p:extLst>
      <p:ext uri="{BB962C8B-B14F-4D97-AF65-F5344CB8AC3E}">
        <p14:creationId xmlns:p14="http://schemas.microsoft.com/office/powerpoint/2010/main" val="2143328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0358B-BB80-AE9A-6DB6-B62EA9C36A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96B283-DC1E-C652-A406-B9588345D09F}"/>
              </a:ext>
            </a:extLst>
          </p:cNvPr>
          <p:cNvSpPr>
            <a:spLocks noGrp="1"/>
          </p:cNvSpPr>
          <p:nvPr>
            <p:ph type="title"/>
          </p:nvPr>
        </p:nvSpPr>
        <p:spPr/>
        <p:txBody>
          <a:bodyPr/>
          <a:lstStyle/>
          <a:p>
            <a:r>
              <a:rPr kumimoji="1" lang="ja-JP" altLang="en-US" dirty="0"/>
              <a:t>予約語に注意​ ​</a:t>
            </a:r>
          </a:p>
        </p:txBody>
      </p:sp>
      <p:sp>
        <p:nvSpPr>
          <p:cNvPr id="3" name="スライド番号プレースホルダー 2">
            <a:extLst>
              <a:ext uri="{FF2B5EF4-FFF2-40B4-BE49-F238E27FC236}">
                <a16:creationId xmlns:a16="http://schemas.microsoft.com/office/drawing/2014/main" id="{52171AAF-B918-8B99-9A56-5F5455EE4E36}"/>
              </a:ext>
            </a:extLst>
          </p:cNvPr>
          <p:cNvSpPr>
            <a:spLocks noGrp="1"/>
          </p:cNvSpPr>
          <p:nvPr>
            <p:ph type="sldNum" sz="quarter" idx="4"/>
          </p:nvPr>
        </p:nvSpPr>
        <p:spPr/>
        <p:txBody>
          <a:bodyPr/>
          <a:lstStyle/>
          <a:p>
            <a:fld id="{24AEDCA4-7D12-E34A-9125-9C962139F6EA}" type="slidenum">
              <a:rPr kumimoji="1" lang="en-US" altLang="ja-JP" smtClean="0"/>
              <a:pPr/>
              <a:t>19</a:t>
            </a:fld>
            <a:endParaRPr kumimoji="1" lang="en-US" altLang="ja-JP" dirty="0"/>
          </a:p>
        </p:txBody>
      </p:sp>
      <p:sp>
        <p:nvSpPr>
          <p:cNvPr id="4" name="コンテンツ プレースホルダー 3">
            <a:extLst>
              <a:ext uri="{FF2B5EF4-FFF2-40B4-BE49-F238E27FC236}">
                <a16:creationId xmlns:a16="http://schemas.microsoft.com/office/drawing/2014/main" id="{C624D532-1CC4-9BAE-CF9E-63BA4E4A05E7}"/>
              </a:ext>
            </a:extLst>
          </p:cNvPr>
          <p:cNvSpPr>
            <a:spLocks noGrp="1"/>
          </p:cNvSpPr>
          <p:nvPr>
            <p:ph sz="half" idx="10"/>
          </p:nvPr>
        </p:nvSpPr>
        <p:spPr>
          <a:xfrm>
            <a:off x="496885" y="1426912"/>
            <a:ext cx="11187115" cy="2970044"/>
          </a:xfrm>
        </p:spPr>
        <p:txBody>
          <a:bodyPr/>
          <a:lstStyle/>
          <a:p>
            <a:pPr marL="0" indent="0">
              <a:buNone/>
            </a:pPr>
            <a:r>
              <a:rPr kumimoji="1" lang="en-US" altLang="ja-JP" sz="2800" b="0" dirty="0"/>
              <a:t>pi</a:t>
            </a:r>
            <a:r>
              <a:rPr kumimoji="1" lang="ja-JP" altLang="en-US" sz="2800" b="0" dirty="0"/>
              <a:t>，</a:t>
            </a:r>
            <a:r>
              <a:rPr kumimoji="1" lang="en-US" altLang="ja-JP" sz="2800" b="0" dirty="0"/>
              <a:t>T</a:t>
            </a:r>
            <a:r>
              <a:rPr kumimoji="1" lang="ja-JP" altLang="en-US" sz="2800" b="0" dirty="0"/>
              <a:t>，</a:t>
            </a:r>
            <a:r>
              <a:rPr kumimoji="1" lang="en-US" altLang="ja-JP" sz="2800" b="0" dirty="0"/>
              <a:t>F </a:t>
            </a:r>
            <a:r>
              <a:rPr kumimoji="1" lang="ja-JP" altLang="en-US" sz="2800" b="0" dirty="0"/>
              <a:t>はそれぞれ円周率、</a:t>
            </a:r>
            <a:r>
              <a:rPr kumimoji="1" lang="en-US" altLang="ja-JP" sz="2800" b="0" dirty="0"/>
              <a:t>TRUE</a:t>
            </a:r>
            <a:r>
              <a:rPr kumimoji="1" lang="ja-JP" altLang="en-US" sz="2800" b="0" dirty="0"/>
              <a:t>、</a:t>
            </a:r>
            <a:r>
              <a:rPr kumimoji="1" lang="en-US" altLang="ja-JP" sz="2800" b="0" dirty="0"/>
              <a:t>FALSE </a:t>
            </a:r>
            <a:r>
              <a:rPr kumimoji="1" lang="ja-JP" altLang="en-US" sz="2800" b="0" dirty="0"/>
              <a:t>を</a:t>
            </a:r>
            <a:endParaRPr kumimoji="1" lang="en-US" altLang="ja-JP" sz="2800" b="0" dirty="0"/>
          </a:p>
          <a:p>
            <a:pPr marL="0" indent="0">
              <a:buNone/>
            </a:pPr>
            <a:r>
              <a:rPr kumimoji="1" lang="ja-JP" altLang="en-US" sz="2800" b="0" dirty="0"/>
              <a:t>意味する記号として初期設定されているため、</a:t>
            </a:r>
          </a:p>
          <a:p>
            <a:pPr marL="0" indent="0">
              <a:buNone/>
            </a:pPr>
            <a:r>
              <a:rPr kumimoji="1" lang="ja-JP" altLang="en-US" sz="2800" b="0" dirty="0">
                <a:solidFill>
                  <a:srgbClr val="FF0000"/>
                </a:solidFill>
              </a:rPr>
              <a:t>オブジェクト名として使わない</a:t>
            </a:r>
            <a:r>
              <a:rPr kumimoji="1" lang="ja-JP" altLang="en-US" sz="2800" b="0" dirty="0"/>
              <a:t>ように</a:t>
            </a:r>
            <a:r>
              <a:rPr kumimoji="1" lang="en-US" altLang="ja-JP" sz="2800" b="0" dirty="0"/>
              <a:t>(</a:t>
            </a:r>
            <a:r>
              <a:rPr kumimoji="1" lang="ja-JP" altLang="en-US" sz="2800" b="0" dirty="0"/>
              <a:t>上書きしないように</a:t>
            </a:r>
            <a:r>
              <a:rPr kumimoji="1" lang="en-US" altLang="ja-JP" sz="2800" b="0" dirty="0"/>
              <a:t>)</a:t>
            </a:r>
            <a:r>
              <a:rPr kumimoji="1" lang="ja-JP" altLang="en-US" sz="2800" b="0" dirty="0"/>
              <a:t>留意</a:t>
            </a:r>
            <a:endParaRPr kumimoji="1" lang="en-US" altLang="ja-JP" sz="2800" b="0" dirty="0"/>
          </a:p>
          <a:p>
            <a:pPr marL="0" indent="0">
              <a:buNone/>
            </a:pPr>
            <a:r>
              <a:rPr kumimoji="1" lang="en-US" altLang="ja-JP" sz="2800" b="0" dirty="0"/>
              <a:t> </a:t>
            </a:r>
          </a:p>
          <a:p>
            <a:pPr marL="0" indent="0">
              <a:buNone/>
            </a:pPr>
            <a:r>
              <a:rPr kumimoji="1" lang="en-US" altLang="ja-JP" sz="2800" b="0" dirty="0"/>
              <a:t>T</a:t>
            </a:r>
            <a:r>
              <a:rPr kumimoji="1" lang="ja-JP" altLang="en-US" sz="2800" b="0" dirty="0"/>
              <a:t>や</a:t>
            </a:r>
            <a:r>
              <a:rPr kumimoji="1" lang="en-US" altLang="ja-JP" sz="2800" b="0" dirty="0"/>
              <a:t>F</a:t>
            </a:r>
            <a:r>
              <a:rPr kumimoji="1" lang="ja-JP" altLang="en-US" sz="2800" b="0" dirty="0"/>
              <a:t>はオプションの引数に使われることもあるため、</a:t>
            </a:r>
            <a:endParaRPr kumimoji="1" lang="en-US" altLang="ja-JP" sz="2800" b="0" dirty="0"/>
          </a:p>
          <a:p>
            <a:pPr marL="0" indent="0">
              <a:buNone/>
            </a:pPr>
            <a:r>
              <a:rPr kumimoji="1" lang="ja-JP" altLang="en-US" sz="2800" b="0" dirty="0"/>
              <a:t>上書きされてしまうと以下のように意図通りの処理にならない</a:t>
            </a:r>
            <a:endParaRPr kumimoji="1" lang="en-US" altLang="ja-JP" sz="2800" b="0" dirty="0"/>
          </a:p>
        </p:txBody>
      </p:sp>
      <p:pic>
        <p:nvPicPr>
          <p:cNvPr id="8" name="図 7">
            <a:extLst>
              <a:ext uri="{FF2B5EF4-FFF2-40B4-BE49-F238E27FC236}">
                <a16:creationId xmlns:a16="http://schemas.microsoft.com/office/drawing/2014/main" id="{634B7525-11D3-0041-436F-4E0D021E003A}"/>
              </a:ext>
            </a:extLst>
          </p:cNvPr>
          <p:cNvPicPr>
            <a:picLocks noChangeAspect="1"/>
          </p:cNvPicPr>
          <p:nvPr/>
        </p:nvPicPr>
        <p:blipFill>
          <a:blip r:embed="rId3"/>
          <a:stretch>
            <a:fillRect/>
          </a:stretch>
        </p:blipFill>
        <p:spPr>
          <a:xfrm>
            <a:off x="10301285" y="1426912"/>
            <a:ext cx="2401134" cy="1838368"/>
          </a:xfrm>
          <a:prstGeom prst="rect">
            <a:avLst/>
          </a:prstGeom>
        </p:spPr>
      </p:pic>
      <p:sp>
        <p:nvSpPr>
          <p:cNvPr id="7" name="正方形/長方形 6">
            <a:extLst>
              <a:ext uri="{FF2B5EF4-FFF2-40B4-BE49-F238E27FC236}">
                <a16:creationId xmlns:a16="http://schemas.microsoft.com/office/drawing/2014/main" id="{8D80AF4E-578C-3B61-00D1-980A99355F6F}"/>
              </a:ext>
            </a:extLst>
          </p:cNvPr>
          <p:cNvSpPr/>
          <p:nvPr/>
        </p:nvSpPr>
        <p:spPr>
          <a:xfrm>
            <a:off x="496885" y="4765916"/>
            <a:ext cx="7402515" cy="1700465"/>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DCA7046-26B2-0EC6-5F91-88B6413F4BEA}"/>
              </a:ext>
            </a:extLst>
          </p:cNvPr>
          <p:cNvSpPr txBox="1"/>
          <p:nvPr/>
        </p:nvSpPr>
        <p:spPr>
          <a:xfrm>
            <a:off x="496885" y="4835165"/>
            <a:ext cx="7783515" cy="1631216"/>
          </a:xfrm>
          <a:prstGeom prst="rect">
            <a:avLst/>
          </a:prstGeom>
          <a:noFill/>
        </p:spPr>
        <p:txBody>
          <a:bodyPr wrap="square">
            <a:spAutoFit/>
          </a:bodyPr>
          <a:lstStyle/>
          <a:p>
            <a:r>
              <a:rPr lang="en-US" altLang="ja-JP" sz="2000" dirty="0">
                <a:solidFill>
                  <a:schemeClr val="tx1"/>
                </a:solidFill>
              </a:rPr>
              <a:t>x &lt;- c(</a:t>
            </a:r>
            <a:r>
              <a:rPr lang="en-US" altLang="ja-JP" sz="2000" dirty="0">
                <a:solidFill>
                  <a:srgbClr val="3333FF"/>
                </a:solidFill>
              </a:rPr>
              <a:t>1</a:t>
            </a:r>
            <a:r>
              <a:rPr lang="en-US" altLang="ja-JP" sz="2000" dirty="0">
                <a:solidFill>
                  <a:schemeClr val="tx1"/>
                </a:solidFill>
              </a:rPr>
              <a:t>, </a:t>
            </a:r>
            <a:r>
              <a:rPr lang="en-US" altLang="ja-JP" sz="2000" dirty="0">
                <a:solidFill>
                  <a:srgbClr val="3333FF"/>
                </a:solidFill>
              </a:rPr>
              <a:t>2</a:t>
            </a:r>
            <a:r>
              <a:rPr lang="en-US" altLang="ja-JP" sz="2000" dirty="0">
                <a:solidFill>
                  <a:schemeClr val="tx1"/>
                </a:solidFill>
              </a:rPr>
              <a:t>, </a:t>
            </a:r>
            <a:r>
              <a:rPr lang="en-US" altLang="ja-JP" sz="2000" dirty="0">
                <a:solidFill>
                  <a:srgbClr val="3333FF"/>
                </a:solidFill>
              </a:rPr>
              <a:t>3</a:t>
            </a:r>
            <a:r>
              <a:rPr lang="en-US" altLang="ja-JP" sz="2000" dirty="0">
                <a:solidFill>
                  <a:schemeClr val="tx1"/>
                </a:solidFill>
              </a:rPr>
              <a:t>, </a:t>
            </a:r>
            <a:r>
              <a:rPr lang="en-US" altLang="ja-JP" sz="2000" dirty="0">
                <a:solidFill>
                  <a:srgbClr val="3333FF"/>
                </a:solidFill>
              </a:rPr>
              <a:t>NA</a:t>
            </a:r>
            <a:r>
              <a:rPr lang="en-US" altLang="ja-JP" sz="2000" dirty="0">
                <a:solidFill>
                  <a:schemeClr val="tx1"/>
                </a:solidFill>
              </a:rPr>
              <a:t>) </a:t>
            </a:r>
          </a:p>
          <a:p>
            <a:r>
              <a:rPr lang="en-US" altLang="ja-JP" sz="2000" dirty="0">
                <a:solidFill>
                  <a:schemeClr val="tx1"/>
                </a:solidFill>
              </a:rPr>
              <a:t>mean(x, na.rm = </a:t>
            </a:r>
            <a:r>
              <a:rPr lang="en-US" altLang="ja-JP" sz="2000" dirty="0">
                <a:solidFill>
                  <a:srgbClr val="3333FF"/>
                </a:solidFill>
              </a:rPr>
              <a:t>T</a:t>
            </a:r>
            <a:r>
              <a:rPr lang="en-US" altLang="ja-JP" sz="2000" dirty="0">
                <a:solidFill>
                  <a:schemeClr val="tx1"/>
                </a:solidFill>
              </a:rPr>
              <a:t>) </a:t>
            </a:r>
            <a:r>
              <a:rPr lang="en-US" altLang="ja-JP" sz="2000" dirty="0">
                <a:solidFill>
                  <a:srgbClr val="00B050"/>
                </a:solidFill>
              </a:rPr>
              <a:t>#na.rm</a:t>
            </a:r>
            <a:r>
              <a:rPr lang="ja-JP" altLang="en-US" sz="2000" dirty="0">
                <a:solidFill>
                  <a:srgbClr val="00B050"/>
                </a:solidFill>
              </a:rPr>
              <a:t>が</a:t>
            </a:r>
            <a:r>
              <a:rPr lang="en-US" altLang="ja-JP" sz="2000" dirty="0">
                <a:solidFill>
                  <a:srgbClr val="00B050"/>
                </a:solidFill>
              </a:rPr>
              <a:t>TRUE</a:t>
            </a:r>
            <a:r>
              <a:rPr lang="ja-JP" altLang="en-US" sz="2000" dirty="0">
                <a:solidFill>
                  <a:srgbClr val="00B050"/>
                </a:solidFill>
              </a:rPr>
              <a:t>なら</a:t>
            </a:r>
            <a:r>
              <a:rPr lang="en-US" altLang="ja-JP" sz="2000" dirty="0">
                <a:solidFill>
                  <a:srgbClr val="00B050"/>
                </a:solidFill>
              </a:rPr>
              <a:t>NA</a:t>
            </a:r>
            <a:r>
              <a:rPr lang="ja-JP" altLang="en-US" sz="2000" dirty="0">
                <a:solidFill>
                  <a:srgbClr val="00B050"/>
                </a:solidFill>
              </a:rPr>
              <a:t>を除外して処理する</a:t>
            </a:r>
            <a:endParaRPr lang="en-US" altLang="ja-JP" sz="2000" dirty="0">
              <a:solidFill>
                <a:srgbClr val="00B050"/>
              </a:solidFill>
            </a:endParaRPr>
          </a:p>
          <a:p>
            <a:endParaRPr lang="ja-JP" altLang="en-US" sz="2000" dirty="0">
              <a:solidFill>
                <a:schemeClr val="tx1"/>
              </a:solidFill>
            </a:endParaRPr>
          </a:p>
          <a:p>
            <a:r>
              <a:rPr lang="en-US" altLang="ja-JP" sz="2000" dirty="0">
                <a:solidFill>
                  <a:srgbClr val="3333FF"/>
                </a:solidFill>
              </a:rPr>
              <a:t>T</a:t>
            </a:r>
            <a:r>
              <a:rPr lang="en-US" altLang="ja-JP" sz="2000" dirty="0">
                <a:solidFill>
                  <a:schemeClr val="tx1"/>
                </a:solidFill>
              </a:rPr>
              <a:t> &lt;- </a:t>
            </a:r>
            <a:r>
              <a:rPr lang="en-US" altLang="ja-JP" sz="2000" dirty="0">
                <a:solidFill>
                  <a:srgbClr val="3333FF"/>
                </a:solidFill>
              </a:rPr>
              <a:t>FALSE</a:t>
            </a:r>
          </a:p>
          <a:p>
            <a:r>
              <a:rPr lang="en-US" altLang="ja-JP" sz="2000" dirty="0">
                <a:solidFill>
                  <a:schemeClr val="tx1"/>
                </a:solidFill>
              </a:rPr>
              <a:t>mean(x, na.rm = </a:t>
            </a:r>
            <a:r>
              <a:rPr lang="en-US" altLang="ja-JP" sz="2000" dirty="0">
                <a:solidFill>
                  <a:srgbClr val="3333FF"/>
                </a:solidFill>
              </a:rPr>
              <a:t>T</a:t>
            </a:r>
            <a:r>
              <a:rPr lang="en-US" altLang="ja-JP" sz="2000" dirty="0">
                <a:solidFill>
                  <a:schemeClr val="tx1"/>
                </a:solidFill>
              </a:rPr>
              <a:t>)</a:t>
            </a:r>
            <a:endParaRPr lang="ja-JP" altLang="en-US" sz="2000" dirty="0">
              <a:solidFill>
                <a:schemeClr val="tx1"/>
              </a:solidFill>
            </a:endParaRPr>
          </a:p>
        </p:txBody>
      </p:sp>
      <p:pic>
        <p:nvPicPr>
          <p:cNvPr id="14" name="図 13">
            <a:extLst>
              <a:ext uri="{FF2B5EF4-FFF2-40B4-BE49-F238E27FC236}">
                <a16:creationId xmlns:a16="http://schemas.microsoft.com/office/drawing/2014/main" id="{F1DC5E98-BDEA-F1DF-ECE5-D185152EEBE9}"/>
              </a:ext>
            </a:extLst>
          </p:cNvPr>
          <p:cNvPicPr>
            <a:picLocks noChangeAspect="1"/>
          </p:cNvPicPr>
          <p:nvPr/>
        </p:nvPicPr>
        <p:blipFill>
          <a:blip r:embed="rId4"/>
          <a:stretch>
            <a:fillRect/>
          </a:stretch>
        </p:blipFill>
        <p:spPr>
          <a:xfrm>
            <a:off x="8346577" y="4904788"/>
            <a:ext cx="5561510" cy="1355669"/>
          </a:xfrm>
          <a:prstGeom prst="rect">
            <a:avLst/>
          </a:prstGeom>
        </p:spPr>
      </p:pic>
      <p:sp>
        <p:nvSpPr>
          <p:cNvPr id="15" name="コンテンツ プレースホルダー 3">
            <a:extLst>
              <a:ext uri="{FF2B5EF4-FFF2-40B4-BE49-F238E27FC236}">
                <a16:creationId xmlns:a16="http://schemas.microsoft.com/office/drawing/2014/main" id="{7453B8A5-99C3-9018-ABCD-9FDB26824D52}"/>
              </a:ext>
            </a:extLst>
          </p:cNvPr>
          <p:cNvSpPr txBox="1">
            <a:spLocks/>
          </p:cNvSpPr>
          <p:nvPr/>
        </p:nvSpPr>
        <p:spPr>
          <a:xfrm>
            <a:off x="496884" y="6825846"/>
            <a:ext cx="13140125" cy="43088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a:t>
            </a:r>
            <a:r>
              <a:rPr kumimoji="1" lang="en-US" altLang="ja-JP" sz="2800" b="0" dirty="0"/>
              <a:t>TRUE</a:t>
            </a:r>
            <a:r>
              <a:rPr kumimoji="1" lang="ja-JP" altLang="en-US" sz="2800" b="0" dirty="0"/>
              <a:t>や</a:t>
            </a:r>
            <a:r>
              <a:rPr kumimoji="1" lang="en-US" altLang="ja-JP" sz="2800" b="0" dirty="0"/>
              <a:t>FALSE</a:t>
            </a:r>
            <a:r>
              <a:rPr kumimoji="1" lang="ja-JP" altLang="en-US" sz="2800" b="0" dirty="0"/>
              <a:t>については</a:t>
            </a:r>
            <a:r>
              <a:rPr kumimoji="1" lang="en-US" altLang="ja-JP" sz="2800" b="0" dirty="0"/>
              <a:t>T</a:t>
            </a:r>
            <a:r>
              <a:rPr kumimoji="1" lang="ja-JP" altLang="en-US" sz="2800" b="0" dirty="0"/>
              <a:t>や</a:t>
            </a:r>
            <a:r>
              <a:rPr kumimoji="1" lang="en-US" altLang="ja-JP" sz="2800" b="0" dirty="0"/>
              <a:t>F</a:t>
            </a:r>
            <a:r>
              <a:rPr kumimoji="1" lang="ja-JP" altLang="en-US" sz="2800" b="0" dirty="0"/>
              <a:t>のように</a:t>
            </a:r>
            <a:r>
              <a:rPr kumimoji="1" lang="ja-JP" altLang="en-US" sz="2800" b="0" dirty="0">
                <a:solidFill>
                  <a:srgbClr val="FF0000"/>
                </a:solidFill>
              </a:rPr>
              <a:t>省略せずに記載</a:t>
            </a:r>
            <a:r>
              <a:rPr kumimoji="1" lang="ja-JP" altLang="en-US" sz="2800" b="0" dirty="0"/>
              <a:t>したほうが安全</a:t>
            </a:r>
            <a:endParaRPr kumimoji="1" lang="en-US" altLang="ja-JP" sz="2800" b="0" dirty="0"/>
          </a:p>
        </p:txBody>
      </p:sp>
    </p:spTree>
    <p:extLst>
      <p:ext uri="{BB962C8B-B14F-4D97-AF65-F5344CB8AC3E}">
        <p14:creationId xmlns:p14="http://schemas.microsoft.com/office/powerpoint/2010/main" val="3354475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7CA13-1E57-C374-1D9C-570DD92C8C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0817CC-289A-D0F3-EEF6-1CB5E2DC09C1}"/>
              </a:ext>
            </a:extLst>
          </p:cNvPr>
          <p:cNvSpPr>
            <a:spLocks noGrp="1"/>
          </p:cNvSpPr>
          <p:nvPr>
            <p:ph type="title"/>
          </p:nvPr>
        </p:nvSpPr>
        <p:spPr/>
        <p:txBody>
          <a:bodyPr/>
          <a:lstStyle/>
          <a:p>
            <a:r>
              <a:rPr kumimoji="1" lang="ja-JP" altLang="en-US" dirty="0"/>
              <a:t>シード値設定漏れに注意</a:t>
            </a:r>
          </a:p>
        </p:txBody>
      </p:sp>
      <p:sp>
        <p:nvSpPr>
          <p:cNvPr id="3" name="スライド番号プレースホルダー 2">
            <a:extLst>
              <a:ext uri="{FF2B5EF4-FFF2-40B4-BE49-F238E27FC236}">
                <a16:creationId xmlns:a16="http://schemas.microsoft.com/office/drawing/2014/main" id="{6104BEC4-9124-FD14-DCE5-E51140DB6638}"/>
              </a:ext>
            </a:extLst>
          </p:cNvPr>
          <p:cNvSpPr>
            <a:spLocks noGrp="1"/>
          </p:cNvSpPr>
          <p:nvPr>
            <p:ph type="sldNum" sz="quarter" idx="4"/>
          </p:nvPr>
        </p:nvSpPr>
        <p:spPr/>
        <p:txBody>
          <a:bodyPr/>
          <a:lstStyle/>
          <a:p>
            <a:fld id="{24AEDCA4-7D12-E34A-9125-9C962139F6EA}" type="slidenum">
              <a:rPr kumimoji="1" lang="en-US" altLang="ja-JP" smtClean="0"/>
              <a:pPr/>
              <a:t>20</a:t>
            </a:fld>
            <a:endParaRPr kumimoji="1" lang="en-US" altLang="ja-JP" dirty="0"/>
          </a:p>
        </p:txBody>
      </p:sp>
      <p:sp>
        <p:nvSpPr>
          <p:cNvPr id="7" name="コンテンツ プレースホルダー 3">
            <a:extLst>
              <a:ext uri="{FF2B5EF4-FFF2-40B4-BE49-F238E27FC236}">
                <a16:creationId xmlns:a16="http://schemas.microsoft.com/office/drawing/2014/main" id="{60A9F54E-F9BB-B97A-0DD5-C69091FDE63B}"/>
              </a:ext>
            </a:extLst>
          </p:cNvPr>
          <p:cNvSpPr txBox="1">
            <a:spLocks/>
          </p:cNvSpPr>
          <p:nvPr/>
        </p:nvSpPr>
        <p:spPr>
          <a:xfrm>
            <a:off x="496885" y="1220776"/>
            <a:ext cx="13745207" cy="1954381"/>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en-US" altLang="ja-JP" sz="2800" b="0" dirty="0" err="1"/>
              <a:t>set.seed</a:t>
            </a:r>
            <a:r>
              <a:rPr kumimoji="1" lang="ja-JP" altLang="en-US" sz="2800" b="0" dirty="0"/>
              <a:t>関数で乱数のシード値を設定できる</a:t>
            </a:r>
            <a:endParaRPr kumimoji="1" lang="en-US" altLang="ja-JP" sz="2800" b="0" dirty="0"/>
          </a:p>
          <a:p>
            <a:pPr marL="0" indent="0">
              <a:buNone/>
            </a:pPr>
            <a:r>
              <a:rPr kumimoji="1" lang="ja-JP" altLang="en-US" sz="2800" b="0" dirty="0"/>
              <a:t>コード内で同じ結果を再現したい場合には毎回シード値を設定する必要がある</a:t>
            </a:r>
            <a:endParaRPr kumimoji="1" lang="en-US" altLang="ja-JP" sz="2800" b="0" dirty="0"/>
          </a:p>
          <a:p>
            <a:pPr marL="0" indent="0">
              <a:buNone/>
            </a:pPr>
            <a:endParaRPr kumimoji="1" lang="en-US" altLang="ja-JP" sz="2800" b="0" dirty="0"/>
          </a:p>
          <a:p>
            <a:pPr marL="0" indent="0">
              <a:buNone/>
            </a:pPr>
            <a:endParaRPr kumimoji="1" lang="en-US" altLang="ja-JP" sz="2800" b="0" dirty="0"/>
          </a:p>
        </p:txBody>
      </p:sp>
      <p:sp>
        <p:nvSpPr>
          <p:cNvPr id="9" name="正方形/長方形 8">
            <a:extLst>
              <a:ext uri="{FF2B5EF4-FFF2-40B4-BE49-F238E27FC236}">
                <a16:creationId xmlns:a16="http://schemas.microsoft.com/office/drawing/2014/main" id="{C67FF7AE-74CE-5DE0-29BA-B7CD3F2BB5AC}"/>
              </a:ext>
            </a:extLst>
          </p:cNvPr>
          <p:cNvSpPr/>
          <p:nvPr/>
        </p:nvSpPr>
        <p:spPr>
          <a:xfrm>
            <a:off x="496886" y="2399633"/>
            <a:ext cx="4722814" cy="1125114"/>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7538ACF-9B63-F004-937F-DA8ECFDC156E}"/>
              </a:ext>
            </a:extLst>
          </p:cNvPr>
          <p:cNvSpPr txBox="1"/>
          <p:nvPr/>
        </p:nvSpPr>
        <p:spPr>
          <a:xfrm>
            <a:off x="496885" y="2441948"/>
            <a:ext cx="4722815" cy="1015663"/>
          </a:xfrm>
          <a:prstGeom prst="rect">
            <a:avLst/>
          </a:prstGeom>
          <a:noFill/>
        </p:spPr>
        <p:txBody>
          <a:bodyPr wrap="square">
            <a:spAutoFit/>
          </a:bodyPr>
          <a:lstStyle/>
          <a:p>
            <a:r>
              <a:rPr lang="en-US" altLang="ja-JP" sz="2000" dirty="0" err="1"/>
              <a:t>set.seed</a:t>
            </a:r>
            <a:r>
              <a:rPr lang="en-US" altLang="ja-JP" sz="2000" dirty="0"/>
              <a:t>(</a:t>
            </a:r>
            <a:r>
              <a:rPr lang="en-US" altLang="ja-JP" sz="2000" dirty="0">
                <a:solidFill>
                  <a:srgbClr val="3333FF"/>
                </a:solidFill>
              </a:rPr>
              <a:t>123</a:t>
            </a:r>
            <a:r>
              <a:rPr lang="en-US" altLang="ja-JP" sz="2000" dirty="0"/>
              <a:t>)</a:t>
            </a:r>
          </a:p>
          <a:p>
            <a:r>
              <a:rPr lang="en-US" altLang="ja-JP" sz="2000" dirty="0" err="1"/>
              <a:t>rnorm</a:t>
            </a:r>
            <a:r>
              <a:rPr lang="en-US" altLang="ja-JP" sz="2000" dirty="0"/>
              <a:t>(</a:t>
            </a:r>
            <a:r>
              <a:rPr lang="en-US" altLang="ja-JP" sz="2000" dirty="0">
                <a:solidFill>
                  <a:srgbClr val="3333FF"/>
                </a:solidFill>
              </a:rPr>
              <a:t>5</a:t>
            </a:r>
            <a:r>
              <a:rPr lang="en-US" altLang="ja-JP" sz="2000" dirty="0"/>
              <a:t>)</a:t>
            </a:r>
          </a:p>
          <a:p>
            <a:r>
              <a:rPr lang="en-US" altLang="ja-JP" sz="2000" dirty="0" err="1"/>
              <a:t>rnorm</a:t>
            </a:r>
            <a:r>
              <a:rPr lang="en-US" altLang="ja-JP" sz="2000" dirty="0"/>
              <a:t>(</a:t>
            </a:r>
            <a:r>
              <a:rPr lang="en-US" altLang="ja-JP" sz="2000" dirty="0">
                <a:solidFill>
                  <a:srgbClr val="3333FF"/>
                </a:solidFill>
              </a:rPr>
              <a:t>5</a:t>
            </a:r>
            <a:r>
              <a:rPr lang="en-US" altLang="ja-JP" sz="2000" dirty="0"/>
              <a:t>) </a:t>
            </a:r>
            <a:r>
              <a:rPr lang="en-US" altLang="ja-JP" sz="2000" dirty="0">
                <a:solidFill>
                  <a:srgbClr val="00B050"/>
                </a:solidFill>
              </a:rPr>
              <a:t>#2</a:t>
            </a:r>
            <a:r>
              <a:rPr lang="ja-JP" altLang="en-US" sz="2000" dirty="0">
                <a:solidFill>
                  <a:srgbClr val="00B050"/>
                </a:solidFill>
              </a:rPr>
              <a:t>行目の結果が再現されない</a:t>
            </a:r>
            <a:endParaRPr lang="es-ES" altLang="ja-JP" sz="2000" dirty="0">
              <a:solidFill>
                <a:srgbClr val="00B050"/>
              </a:solidFill>
            </a:endParaRPr>
          </a:p>
        </p:txBody>
      </p:sp>
      <p:sp>
        <p:nvSpPr>
          <p:cNvPr id="4" name="正方形/長方形 3">
            <a:extLst>
              <a:ext uri="{FF2B5EF4-FFF2-40B4-BE49-F238E27FC236}">
                <a16:creationId xmlns:a16="http://schemas.microsoft.com/office/drawing/2014/main" id="{C3C526C6-AACA-84A3-E639-6A8A57A08D3F}"/>
              </a:ext>
            </a:extLst>
          </p:cNvPr>
          <p:cNvSpPr/>
          <p:nvPr/>
        </p:nvSpPr>
        <p:spPr>
          <a:xfrm>
            <a:off x="496885" y="3791456"/>
            <a:ext cx="4722814" cy="1495553"/>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D355C9D-DA6A-1990-98FA-567CD71C7B30}"/>
              </a:ext>
            </a:extLst>
          </p:cNvPr>
          <p:cNvSpPr txBox="1"/>
          <p:nvPr/>
        </p:nvSpPr>
        <p:spPr>
          <a:xfrm>
            <a:off x="496884" y="3833772"/>
            <a:ext cx="4722815" cy="1323439"/>
          </a:xfrm>
          <a:prstGeom prst="rect">
            <a:avLst/>
          </a:prstGeom>
          <a:noFill/>
        </p:spPr>
        <p:txBody>
          <a:bodyPr wrap="square">
            <a:spAutoFit/>
          </a:bodyPr>
          <a:lstStyle/>
          <a:p>
            <a:r>
              <a:rPr lang="en-US" altLang="ja-JP" sz="2000" dirty="0" err="1"/>
              <a:t>set.seed</a:t>
            </a:r>
            <a:r>
              <a:rPr lang="en-US" altLang="ja-JP" sz="2000" dirty="0"/>
              <a:t>(</a:t>
            </a:r>
            <a:r>
              <a:rPr lang="en-US" altLang="ja-JP" sz="2000" dirty="0">
                <a:solidFill>
                  <a:srgbClr val="3333FF"/>
                </a:solidFill>
              </a:rPr>
              <a:t>123</a:t>
            </a:r>
            <a:r>
              <a:rPr lang="en-US" altLang="ja-JP" sz="2000" dirty="0"/>
              <a:t>)</a:t>
            </a:r>
          </a:p>
          <a:p>
            <a:r>
              <a:rPr lang="en-US" altLang="ja-JP" sz="2000" dirty="0" err="1"/>
              <a:t>rnorm</a:t>
            </a:r>
            <a:r>
              <a:rPr lang="en-US" altLang="ja-JP" sz="2000" dirty="0"/>
              <a:t>(</a:t>
            </a:r>
            <a:r>
              <a:rPr lang="en-US" altLang="ja-JP" sz="2000" dirty="0">
                <a:solidFill>
                  <a:srgbClr val="3333FF"/>
                </a:solidFill>
              </a:rPr>
              <a:t>5</a:t>
            </a:r>
            <a:r>
              <a:rPr lang="en-US" altLang="ja-JP" sz="2000" dirty="0"/>
              <a:t>)</a:t>
            </a:r>
          </a:p>
          <a:p>
            <a:r>
              <a:rPr lang="en-US" altLang="ja-JP" sz="2000" dirty="0" err="1"/>
              <a:t>set.seed</a:t>
            </a:r>
            <a:r>
              <a:rPr lang="en-US" altLang="ja-JP" sz="2000" dirty="0"/>
              <a:t>(</a:t>
            </a:r>
            <a:r>
              <a:rPr lang="en-US" altLang="ja-JP" sz="2000" dirty="0">
                <a:solidFill>
                  <a:srgbClr val="3333FF"/>
                </a:solidFill>
              </a:rPr>
              <a:t>123</a:t>
            </a:r>
            <a:r>
              <a:rPr lang="en-US" altLang="ja-JP" sz="2000" dirty="0"/>
              <a:t>)</a:t>
            </a:r>
          </a:p>
          <a:p>
            <a:r>
              <a:rPr lang="en-US" altLang="ja-JP" sz="2000" dirty="0" err="1"/>
              <a:t>rnorm</a:t>
            </a:r>
            <a:r>
              <a:rPr lang="en-US" altLang="ja-JP" sz="2000" dirty="0"/>
              <a:t>(</a:t>
            </a:r>
            <a:r>
              <a:rPr lang="en-US" altLang="ja-JP" sz="2000" dirty="0">
                <a:solidFill>
                  <a:srgbClr val="3333FF"/>
                </a:solidFill>
              </a:rPr>
              <a:t>5</a:t>
            </a:r>
            <a:r>
              <a:rPr lang="en-US" altLang="ja-JP" sz="2000" dirty="0"/>
              <a:t>) </a:t>
            </a:r>
            <a:r>
              <a:rPr lang="en-US" altLang="ja-JP" sz="2000" dirty="0">
                <a:solidFill>
                  <a:srgbClr val="00B050"/>
                </a:solidFill>
              </a:rPr>
              <a:t>#2</a:t>
            </a:r>
            <a:r>
              <a:rPr lang="ja-JP" altLang="en-US" sz="2000" dirty="0">
                <a:solidFill>
                  <a:srgbClr val="00B050"/>
                </a:solidFill>
              </a:rPr>
              <a:t>行目の結果が再現される</a:t>
            </a:r>
            <a:endParaRPr lang="es-ES" altLang="ja-JP" sz="2000" dirty="0">
              <a:solidFill>
                <a:srgbClr val="00B050"/>
              </a:solidFill>
            </a:endParaRPr>
          </a:p>
        </p:txBody>
      </p:sp>
      <p:pic>
        <p:nvPicPr>
          <p:cNvPr id="8" name="図 7">
            <a:extLst>
              <a:ext uri="{FF2B5EF4-FFF2-40B4-BE49-F238E27FC236}">
                <a16:creationId xmlns:a16="http://schemas.microsoft.com/office/drawing/2014/main" id="{E5CF62D4-05FA-797C-8A36-726EB98E6401}"/>
              </a:ext>
            </a:extLst>
          </p:cNvPr>
          <p:cNvPicPr>
            <a:picLocks noChangeAspect="1"/>
          </p:cNvPicPr>
          <p:nvPr/>
        </p:nvPicPr>
        <p:blipFill>
          <a:blip r:embed="rId3"/>
          <a:stretch>
            <a:fillRect/>
          </a:stretch>
        </p:blipFill>
        <p:spPr>
          <a:xfrm>
            <a:off x="5566819" y="2344152"/>
            <a:ext cx="7792537" cy="1200318"/>
          </a:xfrm>
          <a:prstGeom prst="rect">
            <a:avLst/>
          </a:prstGeom>
        </p:spPr>
      </p:pic>
      <p:pic>
        <p:nvPicPr>
          <p:cNvPr id="12" name="図 11">
            <a:extLst>
              <a:ext uri="{FF2B5EF4-FFF2-40B4-BE49-F238E27FC236}">
                <a16:creationId xmlns:a16="http://schemas.microsoft.com/office/drawing/2014/main" id="{53823D02-37A8-D40E-D53F-ACCFB3A88D96}"/>
              </a:ext>
            </a:extLst>
          </p:cNvPr>
          <p:cNvPicPr>
            <a:picLocks noChangeAspect="1"/>
          </p:cNvPicPr>
          <p:nvPr/>
        </p:nvPicPr>
        <p:blipFill>
          <a:blip r:embed="rId4"/>
          <a:stretch>
            <a:fillRect/>
          </a:stretch>
        </p:blipFill>
        <p:spPr>
          <a:xfrm>
            <a:off x="5566819" y="3833772"/>
            <a:ext cx="7478169" cy="1476581"/>
          </a:xfrm>
          <a:prstGeom prst="rect">
            <a:avLst/>
          </a:prstGeom>
        </p:spPr>
      </p:pic>
    </p:spTree>
    <p:extLst>
      <p:ext uri="{BB962C8B-B14F-4D97-AF65-F5344CB8AC3E}">
        <p14:creationId xmlns:p14="http://schemas.microsoft.com/office/powerpoint/2010/main" val="695847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8718-4BDC-5C80-62D4-D88ED3F756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01B491-926E-3309-8028-8614534A50B7}"/>
              </a:ext>
            </a:extLst>
          </p:cNvPr>
          <p:cNvSpPr>
            <a:spLocks noGrp="1"/>
          </p:cNvSpPr>
          <p:nvPr>
            <p:ph type="title"/>
          </p:nvPr>
        </p:nvSpPr>
        <p:spPr/>
        <p:txBody>
          <a:bodyPr/>
          <a:lstStyle/>
          <a:p>
            <a:r>
              <a:rPr kumimoji="1" lang="en-US" altLang="ja-JP" dirty="0"/>
              <a:t>source</a:t>
            </a:r>
            <a:r>
              <a:rPr kumimoji="1" lang="ja-JP" altLang="en-US" dirty="0"/>
              <a:t>関数によるプログラム呼び出し​</a:t>
            </a:r>
          </a:p>
        </p:txBody>
      </p:sp>
      <p:sp>
        <p:nvSpPr>
          <p:cNvPr id="3" name="スライド番号プレースホルダー 2">
            <a:extLst>
              <a:ext uri="{FF2B5EF4-FFF2-40B4-BE49-F238E27FC236}">
                <a16:creationId xmlns:a16="http://schemas.microsoft.com/office/drawing/2014/main" id="{6339060B-055A-CAC3-C8B5-E1A01EFCE08E}"/>
              </a:ext>
            </a:extLst>
          </p:cNvPr>
          <p:cNvSpPr>
            <a:spLocks noGrp="1"/>
          </p:cNvSpPr>
          <p:nvPr>
            <p:ph type="sldNum" sz="quarter" idx="4"/>
          </p:nvPr>
        </p:nvSpPr>
        <p:spPr/>
        <p:txBody>
          <a:bodyPr/>
          <a:lstStyle/>
          <a:p>
            <a:fld id="{24AEDCA4-7D12-E34A-9125-9C962139F6EA}" type="slidenum">
              <a:rPr kumimoji="1" lang="en-US" altLang="ja-JP" smtClean="0"/>
              <a:pPr/>
              <a:t>21</a:t>
            </a:fld>
            <a:endParaRPr kumimoji="1" lang="en-US" altLang="ja-JP" dirty="0"/>
          </a:p>
        </p:txBody>
      </p:sp>
      <p:sp>
        <p:nvSpPr>
          <p:cNvPr id="4" name="コンテンツ プレースホルダー 3">
            <a:extLst>
              <a:ext uri="{FF2B5EF4-FFF2-40B4-BE49-F238E27FC236}">
                <a16:creationId xmlns:a16="http://schemas.microsoft.com/office/drawing/2014/main" id="{6A21F2B3-7D46-291F-6CF5-38BEDFA01A41}"/>
              </a:ext>
            </a:extLst>
          </p:cNvPr>
          <p:cNvSpPr>
            <a:spLocks noGrp="1"/>
          </p:cNvSpPr>
          <p:nvPr>
            <p:ph sz="half" idx="10"/>
          </p:nvPr>
        </p:nvSpPr>
        <p:spPr>
          <a:xfrm>
            <a:off x="496885" y="1426912"/>
            <a:ext cx="13745207" cy="6401753"/>
          </a:xfrm>
        </p:spPr>
        <p:txBody>
          <a:bodyPr/>
          <a:lstStyle/>
          <a:p>
            <a:pPr marL="0" indent="0">
              <a:buNone/>
            </a:pPr>
            <a:r>
              <a:rPr kumimoji="1" lang="ja-JP" altLang="en-US" sz="2800" b="0" dirty="0"/>
              <a:t>各データ・帳票作成プログラム中で共通して用いる自作関数等は、</a:t>
            </a:r>
            <a:endParaRPr kumimoji="1" lang="en-US" altLang="ja-JP" sz="2800" b="0" dirty="0"/>
          </a:p>
          <a:p>
            <a:pPr marL="0" indent="0">
              <a:buNone/>
            </a:pPr>
            <a:r>
              <a:rPr kumimoji="1" lang="ja-JP" altLang="en-US" sz="2800" b="0" dirty="0"/>
              <a:t>別途プログラムを用意しておき、</a:t>
            </a:r>
            <a:r>
              <a:rPr kumimoji="1" lang="en-US" altLang="ja-JP" sz="2800" b="0" dirty="0"/>
              <a:t>source</a:t>
            </a:r>
            <a:r>
              <a:rPr kumimoji="1" lang="ja-JP" altLang="en-US" sz="2800" b="0" dirty="0"/>
              <a:t>関数で呼び出すと良い</a:t>
            </a:r>
            <a:r>
              <a:rPr kumimoji="1" lang="ja-JP" altLang="en-US" sz="1800" b="0" dirty="0"/>
              <a:t>（個々で関数を作ると効率悪い＆ミスにつながるため）</a:t>
            </a:r>
            <a:endParaRPr kumimoji="1" lang="en-US" altLang="ja-JP" sz="1800" b="0" dirty="0"/>
          </a:p>
          <a:p>
            <a:pPr marL="0" indent="0">
              <a:buNone/>
            </a:pPr>
            <a:endParaRPr kumimoji="1" lang="en-US" altLang="ja-JP" sz="2800" b="0" dirty="0"/>
          </a:p>
          <a:p>
            <a:pPr marL="0" indent="0">
              <a:buNone/>
            </a:pPr>
            <a:r>
              <a:rPr kumimoji="1" lang="en-US" altLang="ja-JP" sz="2800" b="0" dirty="0"/>
              <a:t>working directory</a:t>
            </a:r>
            <a:r>
              <a:rPr kumimoji="1" lang="ja-JP" altLang="en-US" sz="2800" b="0" dirty="0"/>
              <a:t>にあるプログラムであれば、パスは記載不要</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800" b="0" dirty="0"/>
              <a:t>echo</a:t>
            </a:r>
            <a:r>
              <a:rPr kumimoji="1" lang="ja-JP" altLang="en-US" sz="2800" b="0" dirty="0"/>
              <a:t>オプションを</a:t>
            </a:r>
            <a:r>
              <a:rPr kumimoji="1" lang="en-US" altLang="ja-JP" sz="2800" b="0" dirty="0"/>
              <a:t>TRUE</a:t>
            </a:r>
            <a:r>
              <a:rPr kumimoji="1" lang="ja-JP" altLang="en-US" sz="2800" b="0" dirty="0"/>
              <a:t>にすると、呼び出したファイルのコードがコンソールに表示される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b="0" dirty="0"/>
              <a:t>　　　　　　　　　　　　　　　　　　　　　　　　　　　　　　　　　　　　　　　　　</a:t>
            </a:r>
            <a:r>
              <a:rPr kumimoji="1" lang="en-US" altLang="ja-JP" b="0" dirty="0"/>
              <a:t>working directory</a:t>
            </a:r>
            <a:r>
              <a:rPr kumimoji="1" lang="ja-JP" altLang="en-US" b="0" dirty="0"/>
              <a:t>：</a:t>
            </a:r>
            <a:r>
              <a:rPr kumimoji="1" lang="en-US" altLang="ja-JP" b="0" dirty="0" err="1"/>
              <a:t>getwd</a:t>
            </a:r>
            <a:r>
              <a:rPr kumimoji="1" lang="en-US" altLang="ja-JP" b="0" dirty="0"/>
              <a:t>()</a:t>
            </a:r>
            <a:r>
              <a:rPr kumimoji="1" lang="ja-JP" altLang="en-US" b="0" dirty="0"/>
              <a:t>を実行すると出力される作業パス</a:t>
            </a:r>
            <a:endParaRPr kumimoji="1" lang="en-US" altLang="ja-JP" b="0" dirty="0"/>
          </a:p>
        </p:txBody>
      </p:sp>
      <p:sp>
        <p:nvSpPr>
          <p:cNvPr id="5" name="正方形/長方形 4">
            <a:extLst>
              <a:ext uri="{FF2B5EF4-FFF2-40B4-BE49-F238E27FC236}">
                <a16:creationId xmlns:a16="http://schemas.microsoft.com/office/drawing/2014/main" id="{78005CD5-3289-463C-F4D1-BAABC0DDD2CF}"/>
              </a:ext>
            </a:extLst>
          </p:cNvPr>
          <p:cNvSpPr/>
          <p:nvPr/>
        </p:nvSpPr>
        <p:spPr>
          <a:xfrm>
            <a:off x="496885" y="3471450"/>
            <a:ext cx="3529015" cy="46935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72A7421-CCBA-8C99-6FEB-D480B04A208C}"/>
              </a:ext>
            </a:extLst>
          </p:cNvPr>
          <p:cNvSpPr txBox="1"/>
          <p:nvPr/>
        </p:nvSpPr>
        <p:spPr>
          <a:xfrm>
            <a:off x="496885" y="3502599"/>
            <a:ext cx="3529015" cy="400110"/>
          </a:xfrm>
          <a:prstGeom prst="rect">
            <a:avLst/>
          </a:prstGeom>
          <a:noFill/>
        </p:spPr>
        <p:txBody>
          <a:bodyPr wrap="square">
            <a:spAutoFit/>
          </a:bodyPr>
          <a:lstStyle/>
          <a:p>
            <a:r>
              <a:rPr lang="en-US" altLang="ja-JP" sz="2000" dirty="0">
                <a:solidFill>
                  <a:srgbClr val="3333FF"/>
                </a:solidFill>
              </a:rPr>
              <a:t>source</a:t>
            </a:r>
            <a:r>
              <a:rPr lang="en-US" altLang="ja-JP" sz="2000" dirty="0"/>
              <a:t>(</a:t>
            </a:r>
            <a:r>
              <a:rPr lang="en-US" altLang="ja-JP" sz="2000" dirty="0">
                <a:solidFill>
                  <a:srgbClr val="00B050"/>
                </a:solidFill>
              </a:rPr>
              <a:t>"</a:t>
            </a:r>
            <a:r>
              <a:rPr lang="ja-JP" altLang="en-US" sz="2000" dirty="0">
                <a:solidFill>
                  <a:srgbClr val="00B050"/>
                </a:solidFill>
              </a:rPr>
              <a:t>パス</a:t>
            </a:r>
            <a:r>
              <a:rPr lang="en-US" altLang="ja-JP" sz="2000" dirty="0">
                <a:solidFill>
                  <a:srgbClr val="00B050"/>
                </a:solidFill>
              </a:rPr>
              <a:t>/</a:t>
            </a:r>
            <a:r>
              <a:rPr lang="en-US" altLang="ja-JP" sz="2000" dirty="0" err="1">
                <a:solidFill>
                  <a:srgbClr val="00B050"/>
                </a:solidFill>
              </a:rPr>
              <a:t>Myfunction.R</a:t>
            </a:r>
            <a:r>
              <a:rPr lang="en-US" altLang="ja-JP" sz="2000" dirty="0">
                <a:solidFill>
                  <a:srgbClr val="00B050"/>
                </a:solidFill>
              </a:rPr>
              <a:t>"</a:t>
            </a:r>
            <a:r>
              <a:rPr lang="en-US" altLang="ja-JP" sz="2000" dirty="0"/>
              <a:t>)</a:t>
            </a:r>
            <a:endParaRPr lang="ja-JP" altLang="en-US" sz="2000" dirty="0">
              <a:solidFill>
                <a:srgbClr val="3333FF"/>
              </a:solidFill>
            </a:endParaRPr>
          </a:p>
        </p:txBody>
      </p:sp>
      <p:sp>
        <p:nvSpPr>
          <p:cNvPr id="11" name="正方形/長方形 10">
            <a:extLst>
              <a:ext uri="{FF2B5EF4-FFF2-40B4-BE49-F238E27FC236}">
                <a16:creationId xmlns:a16="http://schemas.microsoft.com/office/drawing/2014/main" id="{DCFD0C20-A481-E801-6B5D-6DFB989F1B25}"/>
              </a:ext>
            </a:extLst>
          </p:cNvPr>
          <p:cNvSpPr/>
          <p:nvPr/>
        </p:nvSpPr>
        <p:spPr>
          <a:xfrm>
            <a:off x="496885" y="5510544"/>
            <a:ext cx="5014915" cy="46935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D699838-F91C-E520-DC06-EE04EE328FC3}"/>
              </a:ext>
            </a:extLst>
          </p:cNvPr>
          <p:cNvSpPr txBox="1"/>
          <p:nvPr/>
        </p:nvSpPr>
        <p:spPr>
          <a:xfrm>
            <a:off x="460370" y="5523244"/>
            <a:ext cx="5357815" cy="400110"/>
          </a:xfrm>
          <a:prstGeom prst="rect">
            <a:avLst/>
          </a:prstGeom>
          <a:noFill/>
        </p:spPr>
        <p:txBody>
          <a:bodyPr wrap="square">
            <a:spAutoFit/>
          </a:bodyPr>
          <a:lstStyle/>
          <a:p>
            <a:r>
              <a:rPr lang="en-US" altLang="ja-JP" sz="2000" dirty="0">
                <a:solidFill>
                  <a:srgbClr val="3333FF"/>
                </a:solidFill>
              </a:rPr>
              <a:t>source</a:t>
            </a:r>
            <a:r>
              <a:rPr lang="en-US" altLang="ja-JP" sz="2000" dirty="0"/>
              <a:t>(</a:t>
            </a:r>
            <a:r>
              <a:rPr lang="en-US" altLang="ja-JP" sz="2000" dirty="0">
                <a:solidFill>
                  <a:srgbClr val="00B050"/>
                </a:solidFill>
              </a:rPr>
              <a:t>"</a:t>
            </a:r>
            <a:r>
              <a:rPr lang="ja-JP" altLang="en-US" sz="2000" dirty="0">
                <a:solidFill>
                  <a:srgbClr val="00B050"/>
                </a:solidFill>
              </a:rPr>
              <a:t>パス</a:t>
            </a:r>
            <a:r>
              <a:rPr lang="en-US" altLang="ja-JP" sz="2000" dirty="0">
                <a:solidFill>
                  <a:srgbClr val="00B050"/>
                </a:solidFill>
              </a:rPr>
              <a:t>/</a:t>
            </a:r>
            <a:r>
              <a:rPr lang="en-US" altLang="ja-JP" sz="2000" dirty="0" err="1">
                <a:solidFill>
                  <a:srgbClr val="00B050"/>
                </a:solidFill>
              </a:rPr>
              <a:t>Myfunction.R</a:t>
            </a:r>
            <a:r>
              <a:rPr lang="en-US" altLang="ja-JP" sz="2000" dirty="0">
                <a:solidFill>
                  <a:srgbClr val="00B050"/>
                </a:solidFill>
              </a:rPr>
              <a:t>"</a:t>
            </a:r>
            <a:r>
              <a:rPr lang="en-US" altLang="ja-JP" sz="2000" dirty="0">
                <a:solidFill>
                  <a:schemeClr val="tx1"/>
                </a:solidFill>
              </a:rPr>
              <a:t>,</a:t>
            </a:r>
            <a:r>
              <a:rPr lang="en-US" altLang="ja-JP" sz="2000" dirty="0">
                <a:solidFill>
                  <a:srgbClr val="00B050"/>
                </a:solidFill>
              </a:rPr>
              <a:t> </a:t>
            </a:r>
            <a:r>
              <a:rPr lang="en-US" altLang="ja-JP" sz="2000" dirty="0">
                <a:solidFill>
                  <a:schemeClr val="tx1"/>
                </a:solidFill>
              </a:rPr>
              <a:t>echo = </a:t>
            </a:r>
            <a:r>
              <a:rPr lang="en-US" altLang="ja-JP" sz="2000" dirty="0">
                <a:solidFill>
                  <a:srgbClr val="3333FF"/>
                </a:solidFill>
              </a:rPr>
              <a:t>TRUE</a:t>
            </a:r>
            <a:r>
              <a:rPr lang="en-US" altLang="ja-JP" sz="2000" dirty="0"/>
              <a:t>)</a:t>
            </a:r>
            <a:endParaRPr lang="ja-JP" altLang="en-US" sz="2000" dirty="0">
              <a:solidFill>
                <a:srgbClr val="3333FF"/>
              </a:solidFill>
            </a:endParaRPr>
          </a:p>
        </p:txBody>
      </p:sp>
    </p:spTree>
    <p:extLst>
      <p:ext uri="{BB962C8B-B14F-4D97-AF65-F5344CB8AC3E}">
        <p14:creationId xmlns:p14="http://schemas.microsoft.com/office/powerpoint/2010/main" val="292207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0D477-EBE7-C4C5-96A5-36FFD9E5C9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D12ACA-7DAF-2E9B-3A4A-37716DBDB53F}"/>
              </a:ext>
            </a:extLst>
          </p:cNvPr>
          <p:cNvSpPr>
            <a:spLocks noGrp="1"/>
          </p:cNvSpPr>
          <p:nvPr>
            <p:ph type="title"/>
          </p:nvPr>
        </p:nvSpPr>
        <p:spPr/>
        <p:txBody>
          <a:bodyPr/>
          <a:lstStyle/>
          <a:p>
            <a:r>
              <a:rPr kumimoji="1" lang="en-US" altLang="ja-JP" dirty="0"/>
              <a:t>source</a:t>
            </a:r>
            <a:r>
              <a:rPr kumimoji="1" lang="ja-JP" altLang="en-US" dirty="0"/>
              <a:t>関数によるプログラム呼び出し​ ​</a:t>
            </a:r>
          </a:p>
        </p:txBody>
      </p:sp>
      <p:sp>
        <p:nvSpPr>
          <p:cNvPr id="3" name="スライド番号プレースホルダー 2">
            <a:extLst>
              <a:ext uri="{FF2B5EF4-FFF2-40B4-BE49-F238E27FC236}">
                <a16:creationId xmlns:a16="http://schemas.microsoft.com/office/drawing/2014/main" id="{0ED5BE83-6952-969B-FE4C-320FDE80BE33}"/>
              </a:ext>
            </a:extLst>
          </p:cNvPr>
          <p:cNvSpPr>
            <a:spLocks noGrp="1"/>
          </p:cNvSpPr>
          <p:nvPr>
            <p:ph type="sldNum" sz="quarter" idx="4"/>
          </p:nvPr>
        </p:nvSpPr>
        <p:spPr/>
        <p:txBody>
          <a:bodyPr/>
          <a:lstStyle/>
          <a:p>
            <a:fld id="{24AEDCA4-7D12-E34A-9125-9C962139F6EA}" type="slidenum">
              <a:rPr kumimoji="1" lang="en-US" altLang="ja-JP" smtClean="0"/>
              <a:pPr/>
              <a:t>22</a:t>
            </a:fld>
            <a:endParaRPr kumimoji="1" lang="en-US" altLang="ja-JP" dirty="0"/>
          </a:p>
        </p:txBody>
      </p:sp>
      <p:sp>
        <p:nvSpPr>
          <p:cNvPr id="4" name="コンテンツ プレースホルダー 3">
            <a:extLst>
              <a:ext uri="{FF2B5EF4-FFF2-40B4-BE49-F238E27FC236}">
                <a16:creationId xmlns:a16="http://schemas.microsoft.com/office/drawing/2014/main" id="{4B67D7C9-94D2-D8D6-920E-3A84F4F70F9E}"/>
              </a:ext>
            </a:extLst>
          </p:cNvPr>
          <p:cNvSpPr>
            <a:spLocks noGrp="1"/>
          </p:cNvSpPr>
          <p:nvPr>
            <p:ph sz="half" idx="10"/>
          </p:nvPr>
        </p:nvSpPr>
        <p:spPr>
          <a:xfrm>
            <a:off x="496885" y="1426912"/>
            <a:ext cx="13745207" cy="1954381"/>
          </a:xfrm>
        </p:spPr>
        <p:txBody>
          <a:bodyPr/>
          <a:lstStyle/>
          <a:p>
            <a:pPr marL="0" indent="0">
              <a:buNone/>
            </a:pPr>
            <a:r>
              <a:rPr kumimoji="1" lang="ja-JP" altLang="en-US" sz="2800" b="0" dirty="0"/>
              <a:t>呼び出すプログラム内のオブジェクトとグローバルのオブジェクトが競合する場合には、</a:t>
            </a:r>
            <a:endParaRPr kumimoji="1" lang="en-US" altLang="ja-JP" sz="2800" b="0" dirty="0"/>
          </a:p>
          <a:p>
            <a:pPr marL="0" indent="0">
              <a:buNone/>
            </a:pPr>
            <a:r>
              <a:rPr kumimoji="1" lang="ja-JP" altLang="en-US" sz="2800" b="0" dirty="0"/>
              <a:t>以下のように上書きされてしまう</a:t>
            </a:r>
            <a:endParaRPr kumimoji="1" lang="en-US" altLang="ja-JP" sz="2800" b="0" dirty="0"/>
          </a:p>
          <a:p>
            <a:pPr marL="0" indent="0">
              <a:buNone/>
            </a:pPr>
            <a:endParaRPr kumimoji="1" lang="en-US" altLang="ja-JP" sz="2800" b="0" dirty="0"/>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BD0FE664-B315-8298-0989-AB884915EAAE}"/>
              </a:ext>
            </a:extLst>
          </p:cNvPr>
          <p:cNvSpPr/>
          <p:nvPr/>
        </p:nvSpPr>
        <p:spPr>
          <a:xfrm>
            <a:off x="496885" y="2658306"/>
            <a:ext cx="8393115" cy="1073076"/>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E0BBD14-68D9-80EF-E9EA-3214E765C2B8}"/>
              </a:ext>
            </a:extLst>
          </p:cNvPr>
          <p:cNvSpPr txBox="1"/>
          <p:nvPr/>
        </p:nvSpPr>
        <p:spPr>
          <a:xfrm>
            <a:off x="496885" y="2715719"/>
            <a:ext cx="8647116" cy="1015663"/>
          </a:xfrm>
          <a:prstGeom prst="rect">
            <a:avLst/>
          </a:prstGeom>
          <a:noFill/>
        </p:spPr>
        <p:txBody>
          <a:bodyPr wrap="square">
            <a:spAutoFit/>
          </a:bodyPr>
          <a:lstStyle/>
          <a:p>
            <a:r>
              <a:rPr lang="en-US" altLang="ja-JP" sz="2000" dirty="0">
                <a:solidFill>
                  <a:schemeClr val="tx1"/>
                </a:solidFill>
              </a:rPr>
              <a:t>x &lt;- </a:t>
            </a:r>
            <a:r>
              <a:rPr lang="en-US" altLang="ja-JP" sz="2000" dirty="0">
                <a:solidFill>
                  <a:srgbClr val="3333FF"/>
                </a:solidFill>
              </a:rPr>
              <a:t>5</a:t>
            </a:r>
          </a:p>
          <a:p>
            <a:r>
              <a:rPr lang="en-US" altLang="ja-JP" sz="2000" dirty="0">
                <a:solidFill>
                  <a:srgbClr val="3333FF"/>
                </a:solidFill>
              </a:rPr>
              <a:t>source</a:t>
            </a:r>
            <a:r>
              <a:rPr lang="en-US" altLang="ja-JP" sz="2000" dirty="0"/>
              <a:t>(</a:t>
            </a:r>
            <a:r>
              <a:rPr lang="en-US" altLang="ja-JP" sz="2000" dirty="0">
                <a:solidFill>
                  <a:srgbClr val="00B050"/>
                </a:solidFill>
              </a:rPr>
              <a:t>"</a:t>
            </a:r>
            <a:r>
              <a:rPr lang="en-US" altLang="ja-JP" sz="2000" dirty="0" err="1">
                <a:solidFill>
                  <a:srgbClr val="00B050"/>
                </a:solidFill>
              </a:rPr>
              <a:t>test.R</a:t>
            </a:r>
            <a:r>
              <a:rPr lang="en-US" altLang="ja-JP" sz="2000" dirty="0">
                <a:solidFill>
                  <a:srgbClr val="00B050"/>
                </a:solidFill>
              </a:rPr>
              <a:t>"</a:t>
            </a:r>
            <a:r>
              <a:rPr lang="en-US" altLang="ja-JP" sz="2000" dirty="0">
                <a:solidFill>
                  <a:schemeClr val="tx1"/>
                </a:solidFill>
              </a:rPr>
              <a:t>,</a:t>
            </a:r>
            <a:r>
              <a:rPr lang="en-US" altLang="ja-JP" sz="2000" dirty="0">
                <a:solidFill>
                  <a:srgbClr val="00B050"/>
                </a:solidFill>
              </a:rPr>
              <a:t> </a:t>
            </a:r>
            <a:r>
              <a:rPr lang="en-US" altLang="ja-JP" sz="2000" dirty="0">
                <a:solidFill>
                  <a:schemeClr val="tx1"/>
                </a:solidFill>
              </a:rPr>
              <a:t>echo = </a:t>
            </a:r>
            <a:r>
              <a:rPr lang="en-US" altLang="ja-JP" sz="2000" dirty="0">
                <a:solidFill>
                  <a:srgbClr val="3333FF"/>
                </a:solidFill>
              </a:rPr>
              <a:t>TRUE</a:t>
            </a:r>
            <a:r>
              <a:rPr lang="en-US" altLang="ja-JP" sz="2000" dirty="0"/>
              <a:t>) </a:t>
            </a:r>
            <a:r>
              <a:rPr lang="en-US" altLang="ja-JP" sz="2000" dirty="0">
                <a:solidFill>
                  <a:srgbClr val="00B050"/>
                </a:solidFill>
              </a:rPr>
              <a:t>#</a:t>
            </a:r>
            <a:r>
              <a:rPr lang="ja-JP" altLang="en-US" sz="2000" dirty="0">
                <a:solidFill>
                  <a:srgbClr val="00B050"/>
                </a:solidFill>
              </a:rPr>
              <a:t> </a:t>
            </a:r>
            <a:r>
              <a:rPr lang="en-US" altLang="ja-JP" sz="2000" dirty="0" err="1">
                <a:solidFill>
                  <a:srgbClr val="00B050"/>
                </a:solidFill>
              </a:rPr>
              <a:t>test.R</a:t>
            </a:r>
            <a:r>
              <a:rPr lang="ja-JP" altLang="en-US" sz="2000" dirty="0">
                <a:solidFill>
                  <a:srgbClr val="00B050"/>
                </a:solidFill>
              </a:rPr>
              <a:t>の処理</a:t>
            </a:r>
            <a:r>
              <a:rPr lang="en-US" altLang="ja-JP" sz="2000" dirty="0">
                <a:solidFill>
                  <a:srgbClr val="00B050"/>
                </a:solidFill>
              </a:rPr>
              <a:t>(x &lt;- 3) </a:t>
            </a:r>
            <a:r>
              <a:rPr lang="ja-JP" altLang="en-US" sz="2000" dirty="0">
                <a:solidFill>
                  <a:srgbClr val="00B050"/>
                </a:solidFill>
              </a:rPr>
              <a:t>で</a:t>
            </a:r>
            <a:r>
              <a:rPr lang="en-US" altLang="ja-JP" sz="2000" dirty="0">
                <a:solidFill>
                  <a:srgbClr val="00B050"/>
                </a:solidFill>
              </a:rPr>
              <a:t>x</a:t>
            </a:r>
            <a:r>
              <a:rPr lang="ja-JP" altLang="en-US" sz="2000" dirty="0">
                <a:solidFill>
                  <a:srgbClr val="00B050"/>
                </a:solidFill>
              </a:rPr>
              <a:t>が上書きされる</a:t>
            </a:r>
            <a:endParaRPr lang="en-US" altLang="ja-JP" sz="2000" dirty="0">
              <a:solidFill>
                <a:srgbClr val="00B050"/>
              </a:solidFill>
            </a:endParaRPr>
          </a:p>
          <a:p>
            <a:r>
              <a:rPr lang="en-US" altLang="ja-JP" sz="2000" dirty="0">
                <a:solidFill>
                  <a:schemeClr val="tx1"/>
                </a:solidFill>
              </a:rPr>
              <a:t>x</a:t>
            </a:r>
            <a:endParaRPr lang="ja-JP" altLang="en-US" sz="2000" dirty="0">
              <a:solidFill>
                <a:schemeClr val="tx1"/>
              </a:solidFill>
            </a:endParaRPr>
          </a:p>
        </p:txBody>
      </p:sp>
      <p:pic>
        <p:nvPicPr>
          <p:cNvPr id="10" name="図 9">
            <a:extLst>
              <a:ext uri="{FF2B5EF4-FFF2-40B4-BE49-F238E27FC236}">
                <a16:creationId xmlns:a16="http://schemas.microsoft.com/office/drawing/2014/main" id="{6FC1D2D8-1772-8459-2729-552F8C683545}"/>
              </a:ext>
            </a:extLst>
          </p:cNvPr>
          <p:cNvPicPr>
            <a:picLocks noChangeAspect="1"/>
          </p:cNvPicPr>
          <p:nvPr/>
        </p:nvPicPr>
        <p:blipFill>
          <a:blip r:embed="rId3"/>
          <a:stretch>
            <a:fillRect/>
          </a:stretch>
        </p:blipFill>
        <p:spPr>
          <a:xfrm>
            <a:off x="9079608" y="2717883"/>
            <a:ext cx="4972876" cy="825904"/>
          </a:xfrm>
          <a:prstGeom prst="rect">
            <a:avLst/>
          </a:prstGeom>
        </p:spPr>
      </p:pic>
      <p:sp>
        <p:nvSpPr>
          <p:cNvPr id="13" name="コンテンツ プレースホルダー 3">
            <a:extLst>
              <a:ext uri="{FF2B5EF4-FFF2-40B4-BE49-F238E27FC236}">
                <a16:creationId xmlns:a16="http://schemas.microsoft.com/office/drawing/2014/main" id="{AFA05E98-BF6E-30AA-866F-67FFFB96ADCC}"/>
              </a:ext>
            </a:extLst>
          </p:cNvPr>
          <p:cNvSpPr txBox="1">
            <a:spLocks/>
          </p:cNvSpPr>
          <p:nvPr/>
        </p:nvSpPr>
        <p:spPr>
          <a:xfrm>
            <a:off x="496884" y="4042998"/>
            <a:ext cx="13745207" cy="938719"/>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新たな環境を作成し、その環境下に呼び出すと、</a:t>
            </a:r>
            <a:endParaRPr kumimoji="1" lang="en-US" altLang="ja-JP" sz="2800" b="0" dirty="0"/>
          </a:p>
          <a:p>
            <a:pPr marL="0" indent="0">
              <a:buFont typeface="Arial" panose="020B0604020202020204" pitchFamily="34" charset="0"/>
              <a:buNone/>
            </a:pPr>
            <a:r>
              <a:rPr kumimoji="1" lang="ja-JP" altLang="en-US" sz="2800" b="0" dirty="0"/>
              <a:t>環境名</a:t>
            </a:r>
            <a:r>
              <a:rPr kumimoji="1" lang="en-US" altLang="ja-JP" sz="2800" b="0" dirty="0"/>
              <a:t>$</a:t>
            </a:r>
            <a:r>
              <a:rPr kumimoji="1" lang="ja-JP" altLang="en-US" sz="2800" b="0" dirty="0"/>
              <a:t>オブジェクト名に値が格納されるため、グローバルのオブジェクトは上書きされない</a:t>
            </a:r>
            <a:endParaRPr kumimoji="1" lang="en-US" altLang="ja-JP" sz="2800" b="0" dirty="0"/>
          </a:p>
        </p:txBody>
      </p:sp>
      <p:sp>
        <p:nvSpPr>
          <p:cNvPr id="14" name="正方形/長方形 13">
            <a:extLst>
              <a:ext uri="{FF2B5EF4-FFF2-40B4-BE49-F238E27FC236}">
                <a16:creationId xmlns:a16="http://schemas.microsoft.com/office/drawing/2014/main" id="{C004BCC3-26FC-C0BA-F63C-9C1D5F031AC1}"/>
              </a:ext>
            </a:extLst>
          </p:cNvPr>
          <p:cNvSpPr/>
          <p:nvPr/>
        </p:nvSpPr>
        <p:spPr>
          <a:xfrm>
            <a:off x="496884" y="5107675"/>
            <a:ext cx="8393115" cy="202309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3D6A3D6-E355-C069-EF21-20C125E4024C}"/>
              </a:ext>
            </a:extLst>
          </p:cNvPr>
          <p:cNvSpPr txBox="1"/>
          <p:nvPr/>
        </p:nvSpPr>
        <p:spPr>
          <a:xfrm>
            <a:off x="496884" y="5165089"/>
            <a:ext cx="7110416" cy="1938992"/>
          </a:xfrm>
          <a:prstGeom prst="rect">
            <a:avLst/>
          </a:prstGeom>
          <a:noFill/>
        </p:spPr>
        <p:txBody>
          <a:bodyPr wrap="square">
            <a:spAutoFit/>
          </a:bodyPr>
          <a:lstStyle/>
          <a:p>
            <a:r>
              <a:rPr lang="en-US" altLang="ja-JP" sz="2000" dirty="0">
                <a:solidFill>
                  <a:schemeClr val="tx1"/>
                </a:solidFill>
              </a:rPr>
              <a:t>x &lt;- </a:t>
            </a:r>
            <a:r>
              <a:rPr lang="en-US" altLang="ja-JP" sz="2000" dirty="0">
                <a:solidFill>
                  <a:srgbClr val="3333FF"/>
                </a:solidFill>
              </a:rPr>
              <a:t>5</a:t>
            </a:r>
          </a:p>
          <a:p>
            <a:r>
              <a:rPr lang="en-US" altLang="ja-JP" sz="2000" dirty="0" err="1">
                <a:solidFill>
                  <a:schemeClr val="tx1"/>
                </a:solidFill>
              </a:rPr>
              <a:t>temp_env</a:t>
            </a:r>
            <a:r>
              <a:rPr lang="en-US" altLang="ja-JP" sz="2000" dirty="0">
                <a:solidFill>
                  <a:schemeClr val="tx1"/>
                </a:solidFill>
              </a:rPr>
              <a:t> &lt;- </a:t>
            </a:r>
            <a:r>
              <a:rPr lang="en-US" altLang="ja-JP" sz="2000" dirty="0" err="1">
                <a:solidFill>
                  <a:schemeClr val="tx1"/>
                </a:solidFill>
              </a:rPr>
              <a:t>new.env</a:t>
            </a:r>
            <a:r>
              <a:rPr lang="en-US" altLang="ja-JP" sz="2000" dirty="0">
                <a:solidFill>
                  <a:schemeClr val="tx1"/>
                </a:solidFill>
              </a:rPr>
              <a:t>(parent = </a:t>
            </a:r>
            <a:r>
              <a:rPr lang="en-US" altLang="ja-JP" sz="2000" dirty="0" err="1">
                <a:solidFill>
                  <a:schemeClr val="tx1"/>
                </a:solidFill>
              </a:rPr>
              <a:t>baseenv</a:t>
            </a:r>
            <a:r>
              <a:rPr lang="en-US" altLang="ja-JP" sz="2000" dirty="0">
                <a:solidFill>
                  <a:schemeClr val="tx1"/>
                </a:solidFill>
              </a:rPr>
              <a:t>()) </a:t>
            </a:r>
            <a:r>
              <a:rPr lang="en-US" altLang="ja-JP" sz="2000" dirty="0">
                <a:solidFill>
                  <a:srgbClr val="00B050"/>
                </a:solidFill>
              </a:rPr>
              <a:t>#base</a:t>
            </a:r>
            <a:r>
              <a:rPr lang="ja-JP" altLang="en-US" sz="2000" dirty="0">
                <a:solidFill>
                  <a:srgbClr val="00B050"/>
                </a:solidFill>
              </a:rPr>
              <a:t>環境の生成</a:t>
            </a:r>
            <a:endParaRPr lang="en-US" altLang="ja-JP" sz="2000" dirty="0">
              <a:solidFill>
                <a:srgbClr val="00B050"/>
              </a:solidFill>
            </a:endParaRPr>
          </a:p>
          <a:p>
            <a:r>
              <a:rPr lang="en-US" altLang="ja-JP" sz="2000" dirty="0">
                <a:solidFill>
                  <a:srgbClr val="3333FF"/>
                </a:solidFill>
              </a:rPr>
              <a:t>source</a:t>
            </a:r>
            <a:r>
              <a:rPr lang="en-US" altLang="ja-JP" sz="2000" dirty="0"/>
              <a:t>(</a:t>
            </a:r>
            <a:r>
              <a:rPr lang="en-US" altLang="ja-JP" sz="2000" dirty="0">
                <a:solidFill>
                  <a:srgbClr val="00B050"/>
                </a:solidFill>
              </a:rPr>
              <a:t>"</a:t>
            </a:r>
            <a:r>
              <a:rPr lang="en-US" altLang="ja-JP" sz="2000" dirty="0" err="1">
                <a:solidFill>
                  <a:srgbClr val="00B050"/>
                </a:solidFill>
              </a:rPr>
              <a:t>test.R</a:t>
            </a:r>
            <a:r>
              <a:rPr lang="en-US" altLang="ja-JP" sz="2000" dirty="0">
                <a:solidFill>
                  <a:srgbClr val="00B050"/>
                </a:solidFill>
              </a:rPr>
              <a:t>"</a:t>
            </a:r>
            <a:r>
              <a:rPr lang="en-US" altLang="ja-JP" sz="2000" dirty="0">
                <a:solidFill>
                  <a:schemeClr val="tx1"/>
                </a:solidFill>
              </a:rPr>
              <a:t>,</a:t>
            </a:r>
            <a:r>
              <a:rPr lang="en-US" altLang="ja-JP" sz="2000" dirty="0">
                <a:solidFill>
                  <a:srgbClr val="00B050"/>
                </a:solidFill>
              </a:rPr>
              <a:t> </a:t>
            </a:r>
            <a:r>
              <a:rPr lang="en-US" altLang="ja-JP" sz="2000" dirty="0">
                <a:solidFill>
                  <a:schemeClr val="tx1"/>
                </a:solidFill>
              </a:rPr>
              <a:t>local = </a:t>
            </a:r>
            <a:r>
              <a:rPr lang="en-US" altLang="ja-JP" sz="2000" dirty="0" err="1">
                <a:solidFill>
                  <a:schemeClr val="tx1"/>
                </a:solidFill>
              </a:rPr>
              <a:t>temp_env</a:t>
            </a:r>
            <a:r>
              <a:rPr lang="en-US" altLang="ja-JP" sz="2000" dirty="0">
                <a:solidFill>
                  <a:schemeClr val="tx1"/>
                </a:solidFill>
              </a:rPr>
              <a:t>, echo = </a:t>
            </a:r>
            <a:r>
              <a:rPr lang="en-US" altLang="ja-JP" sz="2000" dirty="0">
                <a:solidFill>
                  <a:srgbClr val="3333FF"/>
                </a:solidFill>
              </a:rPr>
              <a:t>TRUE</a:t>
            </a:r>
            <a:r>
              <a:rPr lang="en-US" altLang="ja-JP" sz="2000" dirty="0"/>
              <a:t>)</a:t>
            </a:r>
          </a:p>
          <a:p>
            <a:endParaRPr lang="en-US" altLang="ja-JP" sz="2000" dirty="0">
              <a:solidFill>
                <a:srgbClr val="00B050"/>
              </a:solidFill>
            </a:endParaRPr>
          </a:p>
          <a:p>
            <a:r>
              <a:rPr lang="en-US" altLang="ja-JP" sz="2000" dirty="0">
                <a:solidFill>
                  <a:schemeClr val="tx1"/>
                </a:solidFill>
              </a:rPr>
              <a:t>x</a:t>
            </a:r>
          </a:p>
          <a:p>
            <a:r>
              <a:rPr lang="en-US" altLang="ja-JP" sz="2000" dirty="0" err="1">
                <a:solidFill>
                  <a:schemeClr val="tx1"/>
                </a:solidFill>
              </a:rPr>
              <a:t>temp_env$x</a:t>
            </a:r>
            <a:r>
              <a:rPr lang="en-US" altLang="ja-JP" sz="2000" dirty="0">
                <a:solidFill>
                  <a:schemeClr val="tx1"/>
                </a:solidFill>
              </a:rPr>
              <a:t> </a:t>
            </a:r>
            <a:endParaRPr lang="ja-JP" altLang="en-US" sz="2000" dirty="0">
              <a:solidFill>
                <a:schemeClr val="tx1"/>
              </a:solidFill>
            </a:endParaRPr>
          </a:p>
        </p:txBody>
      </p:sp>
      <p:pic>
        <p:nvPicPr>
          <p:cNvPr id="17" name="図 16">
            <a:extLst>
              <a:ext uri="{FF2B5EF4-FFF2-40B4-BE49-F238E27FC236}">
                <a16:creationId xmlns:a16="http://schemas.microsoft.com/office/drawing/2014/main" id="{03B98356-EF00-3E7A-5039-0853EC8E2BAE}"/>
              </a:ext>
            </a:extLst>
          </p:cNvPr>
          <p:cNvPicPr>
            <a:picLocks noChangeAspect="1"/>
          </p:cNvPicPr>
          <p:nvPr/>
        </p:nvPicPr>
        <p:blipFill>
          <a:blip r:embed="rId4"/>
          <a:stretch>
            <a:fillRect/>
          </a:stretch>
        </p:blipFill>
        <p:spPr>
          <a:xfrm>
            <a:off x="9079608" y="5293333"/>
            <a:ext cx="4540483" cy="1562180"/>
          </a:xfrm>
          <a:prstGeom prst="rect">
            <a:avLst/>
          </a:prstGeom>
        </p:spPr>
      </p:pic>
    </p:spTree>
    <p:extLst>
      <p:ext uri="{BB962C8B-B14F-4D97-AF65-F5344CB8AC3E}">
        <p14:creationId xmlns:p14="http://schemas.microsoft.com/office/powerpoint/2010/main" val="1887154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2D9E-0A54-5A99-FCF3-0D641AC6C4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7B0265-4332-B0B4-2315-4468AB019AB4}"/>
              </a:ext>
            </a:extLst>
          </p:cNvPr>
          <p:cNvSpPr>
            <a:spLocks noGrp="1"/>
          </p:cNvSpPr>
          <p:nvPr>
            <p:ph type="title"/>
          </p:nvPr>
        </p:nvSpPr>
        <p:spPr/>
        <p:txBody>
          <a:bodyPr/>
          <a:lstStyle/>
          <a:p>
            <a:r>
              <a:rPr kumimoji="1" lang="ja-JP" altLang="en-US" dirty="0"/>
              <a:t>相対パスを活用​</a:t>
            </a:r>
          </a:p>
        </p:txBody>
      </p:sp>
      <p:sp>
        <p:nvSpPr>
          <p:cNvPr id="3" name="スライド番号プレースホルダー 2">
            <a:extLst>
              <a:ext uri="{FF2B5EF4-FFF2-40B4-BE49-F238E27FC236}">
                <a16:creationId xmlns:a16="http://schemas.microsoft.com/office/drawing/2014/main" id="{E867349A-D319-630B-3320-42C0925F2FF0}"/>
              </a:ext>
            </a:extLst>
          </p:cNvPr>
          <p:cNvSpPr>
            <a:spLocks noGrp="1"/>
          </p:cNvSpPr>
          <p:nvPr>
            <p:ph type="sldNum" sz="quarter" idx="4"/>
          </p:nvPr>
        </p:nvSpPr>
        <p:spPr/>
        <p:txBody>
          <a:bodyPr/>
          <a:lstStyle/>
          <a:p>
            <a:fld id="{24AEDCA4-7D12-E34A-9125-9C962139F6EA}" type="slidenum">
              <a:rPr kumimoji="1" lang="en-US" altLang="ja-JP" smtClean="0"/>
              <a:pPr/>
              <a:t>23</a:t>
            </a:fld>
            <a:endParaRPr kumimoji="1" lang="en-US" altLang="ja-JP" dirty="0"/>
          </a:p>
        </p:txBody>
      </p:sp>
      <p:sp>
        <p:nvSpPr>
          <p:cNvPr id="4" name="コンテンツ プレースホルダー 3">
            <a:extLst>
              <a:ext uri="{FF2B5EF4-FFF2-40B4-BE49-F238E27FC236}">
                <a16:creationId xmlns:a16="http://schemas.microsoft.com/office/drawing/2014/main" id="{3BAB2532-D824-DDDF-22D1-1E5F3780E5E7}"/>
              </a:ext>
            </a:extLst>
          </p:cNvPr>
          <p:cNvSpPr>
            <a:spLocks noGrp="1"/>
          </p:cNvSpPr>
          <p:nvPr>
            <p:ph sz="half" idx="10"/>
          </p:nvPr>
        </p:nvSpPr>
        <p:spPr>
          <a:xfrm>
            <a:off x="496885" y="1426912"/>
            <a:ext cx="13745207" cy="3477875"/>
          </a:xfrm>
        </p:spPr>
        <p:txBody>
          <a:bodyPr/>
          <a:lstStyle/>
          <a:p>
            <a:pPr marL="0" indent="0">
              <a:buNone/>
            </a:pPr>
            <a:r>
              <a:rPr kumimoji="1" lang="ja-JP" altLang="en-US" sz="2800" b="0" dirty="0"/>
              <a:t>他試験にプログラムを流用したり、</a:t>
            </a:r>
            <a:r>
              <a:rPr kumimoji="1" lang="en-US" altLang="ja-JP" sz="2800" b="0" dirty="0"/>
              <a:t>CRO</a:t>
            </a:r>
            <a:r>
              <a:rPr kumimoji="1" lang="ja-JP" altLang="en-US" sz="2800" b="0" dirty="0"/>
              <a:t>で作成したプログラムをメーカー環境で実行するなど、</a:t>
            </a:r>
            <a:endParaRPr kumimoji="1" lang="en-US" altLang="ja-JP" sz="2800" b="0" dirty="0"/>
          </a:p>
          <a:p>
            <a:pPr marL="0" indent="0">
              <a:buNone/>
            </a:pPr>
            <a:r>
              <a:rPr kumimoji="1" lang="ja-JP" altLang="en-US" sz="2800" b="0" dirty="0"/>
              <a:t>別環境で実行することが良くあるが、絶対パスを記載しているとそのまま実行することができない</a:t>
            </a:r>
            <a:endParaRPr kumimoji="1" lang="en-US" altLang="ja-JP" sz="2800" b="0" dirty="0"/>
          </a:p>
          <a:p>
            <a:pPr marL="0" indent="0">
              <a:buNone/>
            </a:pPr>
            <a:endParaRPr kumimoji="1" lang="en-US" altLang="ja-JP" sz="2800" b="0" dirty="0"/>
          </a:p>
          <a:p>
            <a:pPr marL="0" indent="0">
              <a:buNone/>
            </a:pPr>
            <a:r>
              <a:rPr kumimoji="1" lang="ja-JP" altLang="en-US" sz="2800" b="0" dirty="0"/>
              <a:t>別環境での実行を前提とするのであれば、</a:t>
            </a:r>
            <a:endParaRPr kumimoji="1" lang="en-US" altLang="ja-JP" sz="2800" b="0" dirty="0"/>
          </a:p>
          <a:p>
            <a:pPr marL="0" indent="0">
              <a:buNone/>
            </a:pPr>
            <a:r>
              <a:rPr kumimoji="1" lang="ja-JP" altLang="en-US" sz="2800" b="0" dirty="0"/>
              <a:t>相対パス </a:t>
            </a:r>
            <a:r>
              <a:rPr kumimoji="1" lang="en-US" altLang="ja-JP" sz="2800" b="0" dirty="0"/>
              <a:t>(working directory</a:t>
            </a:r>
            <a:r>
              <a:rPr kumimoji="1" lang="ja-JP" altLang="en-US" sz="2800" b="0" dirty="0"/>
              <a:t>を</a:t>
            </a:r>
            <a:r>
              <a:rPr kumimoji="1" lang="en-US" altLang="ja-JP" sz="2800" b="0" dirty="0"/>
              <a:t>./</a:t>
            </a:r>
            <a:r>
              <a:rPr kumimoji="1" lang="ja-JP" altLang="en-US" sz="2800" b="0" dirty="0"/>
              <a:t>で、その</a:t>
            </a:r>
            <a:r>
              <a:rPr kumimoji="1" lang="en-US" altLang="ja-JP" sz="2800" b="0" dirty="0"/>
              <a:t>1</a:t>
            </a:r>
            <a:r>
              <a:rPr kumimoji="1" lang="ja-JP" altLang="en-US" sz="2800" b="0" dirty="0"/>
              <a:t>つ上の階層を</a:t>
            </a:r>
            <a:r>
              <a:rPr kumimoji="1" lang="en-US" altLang="ja-JP" sz="2800" b="0" dirty="0"/>
              <a:t>../</a:t>
            </a:r>
            <a:r>
              <a:rPr kumimoji="1" lang="ja-JP" altLang="en-US" sz="2800" b="0" dirty="0"/>
              <a:t>で表す</a:t>
            </a:r>
            <a:r>
              <a:rPr kumimoji="1" lang="en-US" altLang="ja-JP" sz="2800" b="0" dirty="0"/>
              <a:t>)</a:t>
            </a:r>
            <a:r>
              <a:rPr kumimoji="1" lang="ja-JP" altLang="en-US" sz="2800" b="0" dirty="0"/>
              <a:t>を用いて記載する方が良い</a:t>
            </a:r>
            <a:endParaRPr kumimoji="1" lang="en-US" altLang="ja-JP" sz="2800" b="0" dirty="0"/>
          </a:p>
          <a:p>
            <a:pPr marL="0" indent="0">
              <a:buNone/>
            </a:pPr>
            <a:endParaRPr kumimoji="1" lang="en-US" altLang="ja-JP" sz="2800" b="0" dirty="0"/>
          </a:p>
          <a:p>
            <a:pPr marL="0" indent="0">
              <a:buNone/>
            </a:pPr>
            <a:endParaRPr kumimoji="1" lang="en-US" altLang="ja-JP" sz="2800" b="0" dirty="0"/>
          </a:p>
        </p:txBody>
      </p:sp>
      <p:sp>
        <p:nvSpPr>
          <p:cNvPr id="7" name="正方形/長方形 6">
            <a:extLst>
              <a:ext uri="{FF2B5EF4-FFF2-40B4-BE49-F238E27FC236}">
                <a16:creationId xmlns:a16="http://schemas.microsoft.com/office/drawing/2014/main" id="{982AA416-CE1E-0689-0062-6E865E379EAE}"/>
              </a:ext>
            </a:extLst>
          </p:cNvPr>
          <p:cNvSpPr/>
          <p:nvPr/>
        </p:nvSpPr>
        <p:spPr>
          <a:xfrm>
            <a:off x="496885" y="4027418"/>
            <a:ext cx="3897315" cy="469359"/>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6665C59-2D58-FA42-DAA2-C4731D7E9B3A}"/>
              </a:ext>
            </a:extLst>
          </p:cNvPr>
          <p:cNvSpPr txBox="1"/>
          <p:nvPr/>
        </p:nvSpPr>
        <p:spPr>
          <a:xfrm>
            <a:off x="496885" y="4058567"/>
            <a:ext cx="4557715" cy="400110"/>
          </a:xfrm>
          <a:prstGeom prst="rect">
            <a:avLst/>
          </a:prstGeom>
          <a:noFill/>
        </p:spPr>
        <p:txBody>
          <a:bodyPr wrap="square">
            <a:spAutoFit/>
          </a:bodyPr>
          <a:lstStyle/>
          <a:p>
            <a:r>
              <a:rPr lang="en-US" altLang="ja-JP" sz="2000" dirty="0">
                <a:solidFill>
                  <a:srgbClr val="3333FF"/>
                </a:solidFill>
              </a:rPr>
              <a:t>source</a:t>
            </a:r>
            <a:r>
              <a:rPr lang="en-US" altLang="ja-JP" sz="2000" dirty="0"/>
              <a:t>(</a:t>
            </a:r>
            <a:r>
              <a:rPr lang="en-US" altLang="ja-JP" sz="2000" dirty="0">
                <a:solidFill>
                  <a:srgbClr val="00B050"/>
                </a:solidFill>
              </a:rPr>
              <a:t>"../source/</a:t>
            </a:r>
            <a:r>
              <a:rPr lang="en-US" altLang="ja-JP" sz="2000" dirty="0" err="1">
                <a:solidFill>
                  <a:srgbClr val="00B050"/>
                </a:solidFill>
              </a:rPr>
              <a:t>Myfunction.R</a:t>
            </a:r>
            <a:r>
              <a:rPr lang="en-US" altLang="ja-JP" sz="2000" dirty="0">
                <a:solidFill>
                  <a:srgbClr val="00B050"/>
                </a:solidFill>
              </a:rPr>
              <a:t>"</a:t>
            </a:r>
            <a:r>
              <a:rPr lang="en-US" altLang="ja-JP" sz="2000" dirty="0"/>
              <a:t>)</a:t>
            </a:r>
            <a:endParaRPr lang="ja-JP" altLang="en-US" sz="2000" dirty="0">
              <a:solidFill>
                <a:srgbClr val="3333FF"/>
              </a:solidFill>
            </a:endParaRPr>
          </a:p>
        </p:txBody>
      </p:sp>
    </p:spTree>
    <p:extLst>
      <p:ext uri="{BB962C8B-B14F-4D97-AF65-F5344CB8AC3E}">
        <p14:creationId xmlns:p14="http://schemas.microsoft.com/office/powerpoint/2010/main" val="1536564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AAF83-7610-D255-A1D2-8EBB9904CF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F5840E-B3FC-9DD6-5A17-418915A227B1}"/>
              </a:ext>
            </a:extLst>
          </p:cNvPr>
          <p:cNvSpPr>
            <a:spLocks noGrp="1"/>
          </p:cNvSpPr>
          <p:nvPr>
            <p:ph type="title"/>
          </p:nvPr>
        </p:nvSpPr>
        <p:spPr/>
        <p:txBody>
          <a:bodyPr/>
          <a:lstStyle/>
          <a:p>
            <a:r>
              <a:rPr kumimoji="1" lang="ja-JP" altLang="en-US" dirty="0"/>
              <a:t>警告レベルを制御</a:t>
            </a:r>
          </a:p>
        </p:txBody>
      </p:sp>
      <p:sp>
        <p:nvSpPr>
          <p:cNvPr id="3" name="スライド番号プレースホルダー 2">
            <a:extLst>
              <a:ext uri="{FF2B5EF4-FFF2-40B4-BE49-F238E27FC236}">
                <a16:creationId xmlns:a16="http://schemas.microsoft.com/office/drawing/2014/main" id="{D0C24F81-A013-83BE-16D1-D10D5B3ED732}"/>
              </a:ext>
            </a:extLst>
          </p:cNvPr>
          <p:cNvSpPr>
            <a:spLocks noGrp="1"/>
          </p:cNvSpPr>
          <p:nvPr>
            <p:ph type="sldNum" sz="quarter" idx="4"/>
          </p:nvPr>
        </p:nvSpPr>
        <p:spPr/>
        <p:txBody>
          <a:bodyPr/>
          <a:lstStyle/>
          <a:p>
            <a:fld id="{24AEDCA4-7D12-E34A-9125-9C962139F6EA}" type="slidenum">
              <a:rPr kumimoji="1" lang="en-US" altLang="ja-JP" smtClean="0"/>
              <a:pPr/>
              <a:t>24</a:t>
            </a:fld>
            <a:endParaRPr kumimoji="1" lang="en-US" altLang="ja-JP" dirty="0"/>
          </a:p>
        </p:txBody>
      </p:sp>
      <p:sp>
        <p:nvSpPr>
          <p:cNvPr id="4" name="コンテンツ プレースホルダー 3">
            <a:extLst>
              <a:ext uri="{FF2B5EF4-FFF2-40B4-BE49-F238E27FC236}">
                <a16:creationId xmlns:a16="http://schemas.microsoft.com/office/drawing/2014/main" id="{E422FE83-D1FF-249B-E461-27E90083622E}"/>
              </a:ext>
            </a:extLst>
          </p:cNvPr>
          <p:cNvSpPr>
            <a:spLocks noGrp="1"/>
          </p:cNvSpPr>
          <p:nvPr>
            <p:ph sz="half" idx="10"/>
          </p:nvPr>
        </p:nvSpPr>
        <p:spPr>
          <a:xfrm>
            <a:off x="496885" y="1426912"/>
            <a:ext cx="13745207" cy="4493538"/>
          </a:xfrm>
        </p:spPr>
        <p:txBody>
          <a:bodyPr/>
          <a:lstStyle/>
          <a:p>
            <a:pPr marL="0" indent="0">
              <a:buNone/>
            </a:pPr>
            <a:r>
              <a:rPr kumimoji="1" lang="en-US" altLang="ja-JP" sz="2800" b="0" dirty="0"/>
              <a:t>options(warn=)</a:t>
            </a:r>
            <a:r>
              <a:rPr kumimoji="1" lang="ja-JP" altLang="en-US" sz="2800" b="0" dirty="0"/>
              <a:t>で警告レベルを指定できる</a:t>
            </a: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en-US" altLang="ja-JP" sz="2800" b="0" dirty="0"/>
              <a:t>warn=2</a:t>
            </a:r>
            <a:r>
              <a:rPr kumimoji="1" lang="ja-JP" altLang="en-US" sz="2800" b="0" dirty="0"/>
              <a:t>を設定することにより、</a:t>
            </a:r>
            <a:r>
              <a:rPr kumimoji="1" lang="en-US" altLang="ja-JP" sz="2800" b="0" dirty="0"/>
              <a:t>warning</a:t>
            </a:r>
            <a:r>
              <a:rPr kumimoji="1" lang="ja-JP" altLang="en-US" sz="2800" b="0" dirty="0"/>
              <a:t>も</a:t>
            </a:r>
            <a:r>
              <a:rPr kumimoji="1" lang="en-US" altLang="ja-JP" sz="2800" b="0" dirty="0"/>
              <a:t>error</a:t>
            </a:r>
            <a:r>
              <a:rPr kumimoji="1" lang="ja-JP" altLang="en-US" sz="2800" b="0" dirty="0"/>
              <a:t>として扱われる</a:t>
            </a:r>
            <a:endParaRPr kumimoji="1" lang="en-US" altLang="ja-JP" sz="2800" b="0" dirty="0"/>
          </a:p>
          <a:p>
            <a:pPr marL="0" indent="0">
              <a:buNone/>
            </a:pPr>
            <a:r>
              <a:rPr kumimoji="1" lang="ja-JP" altLang="en-US" sz="2800" b="0" dirty="0"/>
              <a:t>処理を止めることができ、不備に気づきやすくなる</a:t>
            </a:r>
            <a:r>
              <a:rPr kumimoji="1" lang="en-US" altLang="ja-JP" sz="2800" b="0" dirty="0"/>
              <a:t>(</a:t>
            </a:r>
            <a:r>
              <a:rPr kumimoji="1" lang="ja-JP" altLang="en-US" sz="2800" b="0" dirty="0"/>
              <a:t>エラートラップ</a:t>
            </a:r>
            <a:r>
              <a:rPr kumimoji="1" lang="en-US" altLang="ja-JP" sz="2800" b="0" dirty="0"/>
              <a:t>)</a:t>
            </a:r>
          </a:p>
        </p:txBody>
      </p:sp>
      <p:graphicFrame>
        <p:nvGraphicFramePr>
          <p:cNvPr id="5" name="表 4">
            <a:extLst>
              <a:ext uri="{FF2B5EF4-FFF2-40B4-BE49-F238E27FC236}">
                <a16:creationId xmlns:a16="http://schemas.microsoft.com/office/drawing/2014/main" id="{FD1EC0D1-328E-ABA4-EF4C-B784B14973F5}"/>
              </a:ext>
            </a:extLst>
          </p:cNvPr>
          <p:cNvGraphicFramePr>
            <a:graphicFrameLocks noGrp="1"/>
          </p:cNvGraphicFramePr>
          <p:nvPr>
            <p:extLst>
              <p:ext uri="{D42A27DB-BD31-4B8C-83A1-F6EECF244321}">
                <p14:modId xmlns:p14="http://schemas.microsoft.com/office/powerpoint/2010/main" val="1340301154"/>
              </p:ext>
            </p:extLst>
          </p:nvPr>
        </p:nvGraphicFramePr>
        <p:xfrm>
          <a:off x="496885" y="2242820"/>
          <a:ext cx="5281615" cy="2392680"/>
        </p:xfrm>
        <a:graphic>
          <a:graphicData uri="http://schemas.openxmlformats.org/drawingml/2006/table">
            <a:tbl>
              <a:tblPr firstRow="1" bandRow="1">
                <a:tableStyleId>{5C22544A-7EE6-4342-B048-85BDC9FD1C3A}</a:tableStyleId>
              </a:tblPr>
              <a:tblGrid>
                <a:gridCol w="2055815">
                  <a:extLst>
                    <a:ext uri="{9D8B030D-6E8A-4147-A177-3AD203B41FA5}">
                      <a16:colId xmlns:a16="http://schemas.microsoft.com/office/drawing/2014/main" val="919882068"/>
                    </a:ext>
                  </a:extLst>
                </a:gridCol>
                <a:gridCol w="3225800">
                  <a:extLst>
                    <a:ext uri="{9D8B030D-6E8A-4147-A177-3AD203B41FA5}">
                      <a16:colId xmlns:a16="http://schemas.microsoft.com/office/drawing/2014/main" val="16397209"/>
                    </a:ext>
                  </a:extLst>
                </a:gridCol>
              </a:tblGrid>
              <a:tr h="370840">
                <a:tc>
                  <a:txBody>
                    <a:bodyPr/>
                    <a:lstStyle/>
                    <a:p>
                      <a:r>
                        <a:rPr kumimoji="1" lang="ja-JP" altLang="en-US" dirty="0"/>
                        <a:t>設定値</a:t>
                      </a:r>
                    </a:p>
                  </a:txBody>
                  <a:tcPr/>
                </a:tc>
                <a:tc>
                  <a:txBody>
                    <a:bodyPr/>
                    <a:lstStyle/>
                    <a:p>
                      <a:r>
                        <a:rPr kumimoji="1" lang="ja-JP" altLang="en-US" dirty="0"/>
                        <a:t>動作</a:t>
                      </a:r>
                    </a:p>
                  </a:txBody>
                  <a:tcPr/>
                </a:tc>
                <a:extLst>
                  <a:ext uri="{0D108BD9-81ED-4DB2-BD59-A6C34878D82A}">
                    <a16:rowId xmlns:a16="http://schemas.microsoft.com/office/drawing/2014/main" val="265725326"/>
                  </a:ext>
                </a:extLst>
              </a:tr>
              <a:tr h="370840">
                <a:tc>
                  <a:txBody>
                    <a:bodyPr/>
                    <a:lstStyle/>
                    <a:p>
                      <a:r>
                        <a:rPr kumimoji="1" lang="ja-JP" altLang="en-US" dirty="0"/>
                        <a:t>負の値</a:t>
                      </a:r>
                    </a:p>
                  </a:txBody>
                  <a:tcPr/>
                </a:tc>
                <a:tc>
                  <a:txBody>
                    <a:bodyPr/>
                    <a:lstStyle/>
                    <a:p>
                      <a:r>
                        <a:rPr kumimoji="1" lang="ja-JP" altLang="en-US" dirty="0"/>
                        <a:t>警告を表示しない</a:t>
                      </a:r>
                    </a:p>
                  </a:txBody>
                  <a:tcPr/>
                </a:tc>
                <a:extLst>
                  <a:ext uri="{0D108BD9-81ED-4DB2-BD59-A6C34878D82A}">
                    <a16:rowId xmlns:a16="http://schemas.microsoft.com/office/drawing/2014/main" val="36787675"/>
                  </a:ext>
                </a:extLst>
              </a:tr>
              <a:tr h="370840">
                <a:tc>
                  <a:txBody>
                    <a:bodyPr/>
                    <a:lstStyle/>
                    <a:p>
                      <a:r>
                        <a:rPr kumimoji="1" lang="en-US" altLang="ja-JP" dirty="0"/>
                        <a:t>0 </a:t>
                      </a:r>
                      <a:r>
                        <a:rPr kumimoji="1" lang="ja-JP" altLang="en-US" dirty="0"/>
                        <a:t>（デフォルト）</a:t>
                      </a:r>
                    </a:p>
                  </a:txBody>
                  <a:tcPr/>
                </a:tc>
                <a:tc>
                  <a:txBody>
                    <a:bodyPr/>
                    <a:lstStyle/>
                    <a:p>
                      <a:r>
                        <a:rPr kumimoji="1" lang="ja-JP" altLang="en-US" dirty="0"/>
                        <a:t>警告を出力するが、</a:t>
                      </a:r>
                      <a:endParaRPr kumimoji="1" lang="en-US" altLang="ja-JP" dirty="0"/>
                    </a:p>
                    <a:p>
                      <a:r>
                        <a:rPr kumimoji="1" lang="ja-JP" altLang="en-US" dirty="0"/>
                        <a:t>コードは続行</a:t>
                      </a:r>
                    </a:p>
                  </a:txBody>
                  <a:tcPr/>
                </a:tc>
                <a:extLst>
                  <a:ext uri="{0D108BD9-81ED-4DB2-BD59-A6C34878D82A}">
                    <a16:rowId xmlns:a16="http://schemas.microsoft.com/office/drawing/2014/main" val="304144066"/>
                  </a:ext>
                </a:extLst>
              </a:tr>
              <a:tr h="370840">
                <a:tc>
                  <a:txBody>
                    <a:bodyPr/>
                    <a:lstStyle/>
                    <a:p>
                      <a:r>
                        <a:rPr kumimoji="1" lang="en-US" altLang="ja-JP" dirty="0"/>
                        <a:t>1</a:t>
                      </a:r>
                      <a:endParaRPr kumimoji="1" lang="ja-JP" altLang="en-US" dirty="0"/>
                    </a:p>
                  </a:txBody>
                  <a:tcPr/>
                </a:tc>
                <a:tc>
                  <a:txBody>
                    <a:bodyPr/>
                    <a:lstStyle/>
                    <a:p>
                      <a:r>
                        <a:rPr kumimoji="1" lang="ja-JP" altLang="en-US" dirty="0"/>
                        <a:t>警告を即時表示</a:t>
                      </a:r>
                      <a:endParaRPr kumimoji="1" lang="en-US" altLang="ja-JP" dirty="0"/>
                    </a:p>
                    <a:p>
                      <a:r>
                        <a:rPr kumimoji="1" lang="ja-JP" altLang="en-US" dirty="0"/>
                        <a:t>（遅延表示しない）</a:t>
                      </a:r>
                    </a:p>
                  </a:txBody>
                  <a:tcPr/>
                </a:tc>
                <a:extLst>
                  <a:ext uri="{0D108BD9-81ED-4DB2-BD59-A6C34878D82A}">
                    <a16:rowId xmlns:a16="http://schemas.microsoft.com/office/drawing/2014/main" val="4093481856"/>
                  </a:ext>
                </a:extLst>
              </a:tr>
              <a:tr h="370840">
                <a:tc>
                  <a:txBody>
                    <a:bodyPr/>
                    <a:lstStyle/>
                    <a:p>
                      <a:r>
                        <a:rPr kumimoji="1" lang="en-US" altLang="ja-JP" dirty="0"/>
                        <a:t>2</a:t>
                      </a:r>
                      <a:endParaRPr kumimoji="1" lang="ja-JP" altLang="en-US" dirty="0"/>
                    </a:p>
                  </a:txBody>
                  <a:tcPr/>
                </a:tc>
                <a:tc>
                  <a:txBody>
                    <a:bodyPr/>
                    <a:lstStyle/>
                    <a:p>
                      <a:r>
                        <a:rPr kumimoji="1" lang="ja-JP" altLang="en-US" dirty="0">
                          <a:solidFill>
                            <a:srgbClr val="FF0000"/>
                          </a:solidFill>
                        </a:rPr>
                        <a:t>警告をエラー扱い</a:t>
                      </a:r>
                      <a:r>
                        <a:rPr kumimoji="1" lang="ja-JP" altLang="en-US" dirty="0"/>
                        <a:t>にする</a:t>
                      </a:r>
                    </a:p>
                  </a:txBody>
                  <a:tcPr/>
                </a:tc>
                <a:extLst>
                  <a:ext uri="{0D108BD9-81ED-4DB2-BD59-A6C34878D82A}">
                    <a16:rowId xmlns:a16="http://schemas.microsoft.com/office/drawing/2014/main" val="2895239620"/>
                  </a:ext>
                </a:extLst>
              </a:tr>
            </a:tbl>
          </a:graphicData>
        </a:graphic>
      </p:graphicFrame>
    </p:spTree>
    <p:extLst>
      <p:ext uri="{BB962C8B-B14F-4D97-AF65-F5344CB8AC3E}">
        <p14:creationId xmlns:p14="http://schemas.microsoft.com/office/powerpoint/2010/main" val="4108494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61E6-28DB-0389-CC8F-6E90B84DB9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DD6355-492E-8B0A-3864-E04DDEC9AF92}"/>
              </a:ext>
            </a:extLst>
          </p:cNvPr>
          <p:cNvSpPr>
            <a:spLocks noGrp="1"/>
          </p:cNvSpPr>
          <p:nvPr>
            <p:ph type="title"/>
          </p:nvPr>
        </p:nvSpPr>
        <p:spPr/>
        <p:txBody>
          <a:bodyPr/>
          <a:lstStyle/>
          <a:p>
            <a:r>
              <a:rPr kumimoji="1" lang="ja-JP" altLang="en-US" dirty="0"/>
              <a:t>警告レベルを制御​</a:t>
            </a:r>
          </a:p>
        </p:txBody>
      </p:sp>
      <p:sp>
        <p:nvSpPr>
          <p:cNvPr id="3" name="スライド番号プレースホルダー 2">
            <a:extLst>
              <a:ext uri="{FF2B5EF4-FFF2-40B4-BE49-F238E27FC236}">
                <a16:creationId xmlns:a16="http://schemas.microsoft.com/office/drawing/2014/main" id="{382C7FC3-FBE6-0E6C-2EC3-A017E533B388}"/>
              </a:ext>
            </a:extLst>
          </p:cNvPr>
          <p:cNvSpPr>
            <a:spLocks noGrp="1"/>
          </p:cNvSpPr>
          <p:nvPr>
            <p:ph type="sldNum" sz="quarter" idx="4"/>
          </p:nvPr>
        </p:nvSpPr>
        <p:spPr/>
        <p:txBody>
          <a:bodyPr/>
          <a:lstStyle/>
          <a:p>
            <a:fld id="{24AEDCA4-7D12-E34A-9125-9C962139F6EA}" type="slidenum">
              <a:rPr kumimoji="1" lang="en-US" altLang="ja-JP" smtClean="0"/>
              <a:pPr/>
              <a:t>25</a:t>
            </a:fld>
            <a:endParaRPr kumimoji="1" lang="en-US" altLang="ja-JP" dirty="0"/>
          </a:p>
        </p:txBody>
      </p:sp>
      <p:sp>
        <p:nvSpPr>
          <p:cNvPr id="6" name="正方形/長方形 5">
            <a:extLst>
              <a:ext uri="{FF2B5EF4-FFF2-40B4-BE49-F238E27FC236}">
                <a16:creationId xmlns:a16="http://schemas.microsoft.com/office/drawing/2014/main" id="{E8AFC819-2EFF-AACE-EEA6-FE204EEC1E98}"/>
              </a:ext>
            </a:extLst>
          </p:cNvPr>
          <p:cNvSpPr/>
          <p:nvPr/>
        </p:nvSpPr>
        <p:spPr>
          <a:xfrm>
            <a:off x="496887" y="1244045"/>
            <a:ext cx="6756738" cy="325206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45EB419-8FB2-2793-538E-CC437336CE52}"/>
              </a:ext>
            </a:extLst>
          </p:cNvPr>
          <p:cNvSpPr txBox="1"/>
          <p:nvPr/>
        </p:nvSpPr>
        <p:spPr>
          <a:xfrm>
            <a:off x="496887" y="1313294"/>
            <a:ext cx="6526213" cy="3170099"/>
          </a:xfrm>
          <a:prstGeom prst="rect">
            <a:avLst/>
          </a:prstGeom>
          <a:noFill/>
        </p:spPr>
        <p:txBody>
          <a:bodyPr wrap="square">
            <a:spAutoFit/>
          </a:bodyPr>
          <a:lstStyle/>
          <a:p>
            <a:r>
              <a:rPr lang="en-US" altLang="ja-JP" sz="2000" dirty="0" err="1">
                <a:solidFill>
                  <a:schemeClr val="tx1"/>
                </a:solidFill>
              </a:rPr>
              <a:t>x_list</a:t>
            </a:r>
            <a:r>
              <a:rPr lang="en-US" altLang="ja-JP" sz="2000" dirty="0">
                <a:solidFill>
                  <a:schemeClr val="tx1"/>
                </a:solidFill>
              </a:rPr>
              <a:t> &lt;- list(</a:t>
            </a:r>
          </a:p>
          <a:p>
            <a:r>
              <a:rPr lang="en-US" altLang="ja-JP" sz="2000" dirty="0">
                <a:solidFill>
                  <a:schemeClr val="tx1"/>
                </a:solidFill>
              </a:rPr>
              <a:t>  c(</a:t>
            </a:r>
            <a:r>
              <a:rPr lang="en-US" altLang="ja-JP" sz="2000" dirty="0">
                <a:solidFill>
                  <a:srgbClr val="00B050"/>
                </a:solidFill>
              </a:rPr>
              <a:t>"1", "2", "3"</a:t>
            </a:r>
            <a:r>
              <a:rPr lang="en-US" altLang="ja-JP" sz="2000" dirty="0">
                <a:solidFill>
                  <a:schemeClr val="tx1"/>
                </a:solidFill>
              </a:rPr>
              <a:t>),</a:t>
            </a:r>
          </a:p>
          <a:p>
            <a:r>
              <a:rPr lang="en-US" altLang="ja-JP" sz="2000" dirty="0">
                <a:solidFill>
                  <a:srgbClr val="00B050"/>
                </a:solidFill>
              </a:rPr>
              <a:t> </a:t>
            </a:r>
            <a:r>
              <a:rPr lang="en-US" altLang="ja-JP" sz="2000" dirty="0">
                <a:solidFill>
                  <a:schemeClr val="tx1"/>
                </a:solidFill>
              </a:rPr>
              <a:t> c(</a:t>
            </a:r>
            <a:r>
              <a:rPr lang="en-US" altLang="ja-JP" sz="2000" dirty="0">
                <a:solidFill>
                  <a:srgbClr val="00B050"/>
                </a:solidFill>
              </a:rPr>
              <a:t>"4", "a", "6"</a:t>
            </a:r>
            <a:r>
              <a:rPr lang="en-US" altLang="ja-JP" sz="2000" dirty="0">
                <a:solidFill>
                  <a:schemeClr val="tx1"/>
                </a:solidFill>
              </a:rPr>
              <a:t>),</a:t>
            </a:r>
            <a:r>
              <a:rPr lang="en-US" altLang="ja-JP" sz="2000" dirty="0">
                <a:solidFill>
                  <a:srgbClr val="00B050"/>
                </a:solidFill>
              </a:rPr>
              <a:t>   # ← "a" </a:t>
            </a:r>
            <a:r>
              <a:rPr lang="ja-JP" altLang="en-US" sz="2000" dirty="0">
                <a:solidFill>
                  <a:srgbClr val="00B050"/>
                </a:solidFill>
              </a:rPr>
              <a:t>が混入（数値変換できない）</a:t>
            </a:r>
          </a:p>
          <a:p>
            <a:r>
              <a:rPr lang="ja-JP" altLang="en-US" sz="2000" dirty="0">
                <a:solidFill>
                  <a:schemeClr val="tx1"/>
                </a:solidFill>
              </a:rPr>
              <a:t>  </a:t>
            </a:r>
            <a:r>
              <a:rPr lang="en-US" altLang="ja-JP" sz="2000" dirty="0">
                <a:solidFill>
                  <a:schemeClr val="tx1"/>
                </a:solidFill>
              </a:rPr>
              <a:t>c(</a:t>
            </a:r>
            <a:r>
              <a:rPr lang="en-US" altLang="ja-JP" sz="2000" dirty="0">
                <a:solidFill>
                  <a:srgbClr val="00B050"/>
                </a:solidFill>
              </a:rPr>
              <a:t>"7", "8", "9"</a:t>
            </a:r>
            <a:r>
              <a:rPr lang="en-US" altLang="ja-JP" sz="2000" dirty="0">
                <a:solidFill>
                  <a:schemeClr val="tx1"/>
                </a:solidFill>
              </a:rPr>
              <a:t>)</a:t>
            </a:r>
          </a:p>
          <a:p>
            <a:r>
              <a:rPr lang="en-US" altLang="ja-JP" sz="2000" dirty="0">
                <a:solidFill>
                  <a:schemeClr val="tx1"/>
                </a:solidFill>
              </a:rPr>
              <a:t>)</a:t>
            </a:r>
          </a:p>
          <a:p>
            <a:r>
              <a:rPr lang="en-US" altLang="ja-JP" sz="2000" dirty="0">
                <a:solidFill>
                  <a:schemeClr val="tx1"/>
                </a:solidFill>
              </a:rPr>
              <a:t>options(warn = </a:t>
            </a:r>
            <a:r>
              <a:rPr lang="en-US" altLang="ja-JP" sz="2000" dirty="0">
                <a:solidFill>
                  <a:srgbClr val="3333FF"/>
                </a:solidFill>
              </a:rPr>
              <a:t>0</a:t>
            </a:r>
            <a:r>
              <a:rPr lang="en-US" altLang="ja-JP" sz="2000" dirty="0">
                <a:solidFill>
                  <a:schemeClr val="tx1"/>
                </a:solidFill>
              </a:rPr>
              <a:t>)</a:t>
            </a:r>
          </a:p>
          <a:p>
            <a:r>
              <a:rPr lang="en-US" altLang="ja-JP" sz="2000" dirty="0">
                <a:solidFill>
                  <a:srgbClr val="3333FF"/>
                </a:solidFill>
              </a:rPr>
              <a:t>for</a:t>
            </a:r>
            <a:r>
              <a:rPr lang="en-US" altLang="ja-JP" sz="2000" dirty="0">
                <a:solidFill>
                  <a:schemeClr val="tx1"/>
                </a:solidFill>
              </a:rPr>
              <a:t> (</a:t>
            </a:r>
            <a:r>
              <a:rPr lang="en-US" altLang="ja-JP" sz="2000" dirty="0" err="1">
                <a:solidFill>
                  <a:schemeClr val="tx1"/>
                </a:solidFill>
              </a:rPr>
              <a:t>i</a:t>
            </a:r>
            <a:r>
              <a:rPr lang="en-US" altLang="ja-JP" sz="2000" dirty="0">
                <a:solidFill>
                  <a:schemeClr val="tx1"/>
                </a:solidFill>
              </a:rPr>
              <a:t> </a:t>
            </a:r>
            <a:r>
              <a:rPr lang="en-US" altLang="ja-JP" sz="2000" dirty="0">
                <a:solidFill>
                  <a:srgbClr val="3333FF"/>
                </a:solidFill>
              </a:rPr>
              <a:t>in 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 {</a:t>
            </a:r>
          </a:p>
          <a:p>
            <a:r>
              <a:rPr lang="en-US" altLang="ja-JP" sz="2000" dirty="0">
                <a:solidFill>
                  <a:schemeClr val="tx1"/>
                </a:solidFill>
              </a:rPr>
              <a:t>  </a:t>
            </a:r>
            <a:r>
              <a:rPr lang="en-US" altLang="ja-JP" sz="2000" dirty="0" err="1">
                <a:solidFill>
                  <a:schemeClr val="tx1"/>
                </a:solidFill>
              </a:rPr>
              <a:t>as.numeric</a:t>
            </a:r>
            <a:r>
              <a:rPr lang="en-US" altLang="ja-JP" sz="2000" dirty="0">
                <a:solidFill>
                  <a:schemeClr val="tx1"/>
                </a:solidFill>
              </a:rPr>
              <a:t>(</a:t>
            </a:r>
            <a:r>
              <a:rPr lang="en-US" altLang="ja-JP" sz="2000" dirty="0" err="1">
                <a:solidFill>
                  <a:schemeClr val="tx1"/>
                </a:solidFill>
              </a:rPr>
              <a:t>x_list</a:t>
            </a:r>
            <a:r>
              <a:rPr lang="en-US" altLang="ja-JP" sz="2000" dirty="0">
                <a:solidFill>
                  <a:schemeClr val="tx1"/>
                </a:solidFill>
              </a:rPr>
              <a:t>[[</a:t>
            </a:r>
            <a:r>
              <a:rPr lang="en-US" altLang="ja-JP" sz="2000" dirty="0" err="1">
                <a:solidFill>
                  <a:schemeClr val="tx1"/>
                </a:solidFill>
              </a:rPr>
              <a:t>i</a:t>
            </a:r>
            <a:r>
              <a:rPr lang="en-US" altLang="ja-JP" sz="2000" dirty="0">
                <a:solidFill>
                  <a:schemeClr val="tx1"/>
                </a:solidFill>
              </a:rPr>
              <a:t>]])  </a:t>
            </a:r>
            <a:r>
              <a:rPr lang="en-US" altLang="ja-JP" sz="2000" dirty="0">
                <a:solidFill>
                  <a:srgbClr val="00B050"/>
                </a:solidFill>
              </a:rPr>
              <a:t># </a:t>
            </a:r>
            <a:r>
              <a:rPr lang="ja-JP" altLang="en-US" sz="2000" dirty="0">
                <a:solidFill>
                  <a:srgbClr val="00B050"/>
                </a:solidFill>
              </a:rPr>
              <a:t>警告は最後に表示される</a:t>
            </a:r>
          </a:p>
          <a:p>
            <a:r>
              <a:rPr lang="ja-JP" altLang="en-US" sz="2000" dirty="0">
                <a:solidFill>
                  <a:schemeClr val="tx1"/>
                </a:solidFill>
              </a:rPr>
              <a:t>  </a:t>
            </a:r>
            <a:r>
              <a:rPr lang="en-US" altLang="ja-JP" sz="2000" dirty="0">
                <a:solidFill>
                  <a:schemeClr val="tx1"/>
                </a:solidFill>
              </a:rPr>
              <a:t>message("done </a:t>
            </a:r>
            <a:r>
              <a:rPr lang="en-US" altLang="ja-JP" sz="2000" dirty="0" err="1">
                <a:solidFill>
                  <a:schemeClr val="tx1"/>
                </a:solidFill>
              </a:rPr>
              <a:t>i</a:t>
            </a:r>
            <a:r>
              <a:rPr lang="en-US" altLang="ja-JP" sz="2000" dirty="0">
                <a:solidFill>
                  <a:schemeClr val="tx1"/>
                </a:solidFill>
              </a:rPr>
              <a:t> = ", </a:t>
            </a:r>
            <a:r>
              <a:rPr lang="en-US" altLang="ja-JP" sz="2000" dirty="0" err="1">
                <a:solidFill>
                  <a:schemeClr val="tx1"/>
                </a:solidFill>
              </a:rPr>
              <a:t>i</a:t>
            </a:r>
            <a:r>
              <a:rPr lang="en-US" altLang="ja-JP" sz="2000" dirty="0">
                <a:solidFill>
                  <a:schemeClr val="tx1"/>
                </a:solidFill>
              </a:rPr>
              <a:t>)</a:t>
            </a:r>
          </a:p>
          <a:p>
            <a:r>
              <a:rPr lang="en-US" altLang="ja-JP" sz="2000" dirty="0">
                <a:solidFill>
                  <a:schemeClr val="tx1"/>
                </a:solidFill>
              </a:rPr>
              <a:t>}</a:t>
            </a:r>
          </a:p>
        </p:txBody>
      </p:sp>
      <p:pic>
        <p:nvPicPr>
          <p:cNvPr id="11" name="図 10">
            <a:extLst>
              <a:ext uri="{FF2B5EF4-FFF2-40B4-BE49-F238E27FC236}">
                <a16:creationId xmlns:a16="http://schemas.microsoft.com/office/drawing/2014/main" id="{1C27158A-BB07-81A0-1EC1-947C7976F908}"/>
              </a:ext>
            </a:extLst>
          </p:cNvPr>
          <p:cNvPicPr>
            <a:picLocks noChangeAspect="1"/>
          </p:cNvPicPr>
          <p:nvPr/>
        </p:nvPicPr>
        <p:blipFill>
          <a:blip r:embed="rId3"/>
          <a:stretch>
            <a:fillRect/>
          </a:stretch>
        </p:blipFill>
        <p:spPr>
          <a:xfrm>
            <a:off x="7366759" y="2780500"/>
            <a:ext cx="4596642" cy="1566623"/>
          </a:xfrm>
          <a:prstGeom prst="rect">
            <a:avLst/>
          </a:prstGeom>
        </p:spPr>
      </p:pic>
      <p:pic>
        <p:nvPicPr>
          <p:cNvPr id="13" name="図 12">
            <a:extLst>
              <a:ext uri="{FF2B5EF4-FFF2-40B4-BE49-F238E27FC236}">
                <a16:creationId xmlns:a16="http://schemas.microsoft.com/office/drawing/2014/main" id="{E54E3784-726F-8613-5B20-E2BF45C2B651}"/>
              </a:ext>
            </a:extLst>
          </p:cNvPr>
          <p:cNvPicPr>
            <a:picLocks noChangeAspect="1"/>
          </p:cNvPicPr>
          <p:nvPr/>
        </p:nvPicPr>
        <p:blipFill>
          <a:blip r:embed="rId4"/>
          <a:stretch>
            <a:fillRect/>
          </a:stretch>
        </p:blipFill>
        <p:spPr>
          <a:xfrm>
            <a:off x="7366759" y="4638587"/>
            <a:ext cx="5092962" cy="1416123"/>
          </a:xfrm>
          <a:prstGeom prst="rect">
            <a:avLst/>
          </a:prstGeom>
        </p:spPr>
      </p:pic>
      <p:pic>
        <p:nvPicPr>
          <p:cNvPr id="15" name="図 14">
            <a:extLst>
              <a:ext uri="{FF2B5EF4-FFF2-40B4-BE49-F238E27FC236}">
                <a16:creationId xmlns:a16="http://schemas.microsoft.com/office/drawing/2014/main" id="{2772CAEF-5715-46E7-2D9A-2E2E9CEA73BC}"/>
              </a:ext>
            </a:extLst>
          </p:cNvPr>
          <p:cNvPicPr>
            <a:picLocks noChangeAspect="1"/>
          </p:cNvPicPr>
          <p:nvPr/>
        </p:nvPicPr>
        <p:blipFill>
          <a:blip r:embed="rId5"/>
          <a:stretch>
            <a:fillRect/>
          </a:stretch>
        </p:blipFill>
        <p:spPr>
          <a:xfrm>
            <a:off x="7366759" y="6231506"/>
            <a:ext cx="4578585" cy="1454225"/>
          </a:xfrm>
          <a:prstGeom prst="rect">
            <a:avLst/>
          </a:prstGeom>
        </p:spPr>
      </p:pic>
      <p:sp>
        <p:nvSpPr>
          <p:cNvPr id="17" name="正方形/長方形 16">
            <a:extLst>
              <a:ext uri="{FF2B5EF4-FFF2-40B4-BE49-F238E27FC236}">
                <a16:creationId xmlns:a16="http://schemas.microsoft.com/office/drawing/2014/main" id="{A4FD152A-7965-6792-FE3B-8D1B9AE688C2}"/>
              </a:ext>
            </a:extLst>
          </p:cNvPr>
          <p:cNvSpPr/>
          <p:nvPr/>
        </p:nvSpPr>
        <p:spPr>
          <a:xfrm>
            <a:off x="496887" y="4565354"/>
            <a:ext cx="6756738" cy="1596903"/>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2CF0DEF2-4403-BFBC-63E3-19C211A4C13C}"/>
              </a:ext>
            </a:extLst>
          </p:cNvPr>
          <p:cNvSpPr txBox="1"/>
          <p:nvPr/>
        </p:nvSpPr>
        <p:spPr>
          <a:xfrm>
            <a:off x="496887" y="4531041"/>
            <a:ext cx="6439729" cy="1631216"/>
          </a:xfrm>
          <a:prstGeom prst="rect">
            <a:avLst/>
          </a:prstGeom>
          <a:noFill/>
        </p:spPr>
        <p:txBody>
          <a:bodyPr wrap="square">
            <a:spAutoFit/>
          </a:bodyPr>
          <a:lstStyle/>
          <a:p>
            <a:r>
              <a:rPr lang="en-US" altLang="ja-JP" sz="2000" dirty="0">
                <a:solidFill>
                  <a:schemeClr val="tx1"/>
                </a:solidFill>
              </a:rPr>
              <a:t>options(warn = </a:t>
            </a:r>
            <a:r>
              <a:rPr lang="en-US" altLang="ja-JP" sz="2000" dirty="0">
                <a:solidFill>
                  <a:srgbClr val="3333FF"/>
                </a:solidFill>
              </a:rPr>
              <a:t>1</a:t>
            </a:r>
            <a:r>
              <a:rPr lang="en-US" altLang="ja-JP" sz="2000" dirty="0">
                <a:solidFill>
                  <a:schemeClr val="tx1"/>
                </a:solidFill>
              </a:rPr>
              <a:t>)</a:t>
            </a:r>
          </a:p>
          <a:p>
            <a:r>
              <a:rPr lang="en-US" altLang="ja-JP" sz="2000" dirty="0">
                <a:solidFill>
                  <a:srgbClr val="3333FF"/>
                </a:solidFill>
              </a:rPr>
              <a:t>for</a:t>
            </a:r>
            <a:r>
              <a:rPr lang="en-US" altLang="ja-JP" sz="2000" dirty="0">
                <a:solidFill>
                  <a:schemeClr val="tx1"/>
                </a:solidFill>
              </a:rPr>
              <a:t> (</a:t>
            </a:r>
            <a:r>
              <a:rPr lang="en-US" altLang="ja-JP" sz="2000" dirty="0" err="1">
                <a:solidFill>
                  <a:schemeClr val="tx1"/>
                </a:solidFill>
              </a:rPr>
              <a:t>i</a:t>
            </a:r>
            <a:r>
              <a:rPr lang="en-US" altLang="ja-JP" sz="2000" dirty="0">
                <a:solidFill>
                  <a:schemeClr val="tx1"/>
                </a:solidFill>
              </a:rPr>
              <a:t> </a:t>
            </a:r>
            <a:r>
              <a:rPr lang="en-US" altLang="ja-JP" sz="2000" dirty="0">
                <a:solidFill>
                  <a:srgbClr val="3333FF"/>
                </a:solidFill>
              </a:rPr>
              <a:t>in 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 {</a:t>
            </a:r>
          </a:p>
          <a:p>
            <a:r>
              <a:rPr lang="en-US" altLang="ja-JP" sz="2000" dirty="0">
                <a:solidFill>
                  <a:schemeClr val="tx1"/>
                </a:solidFill>
              </a:rPr>
              <a:t>  </a:t>
            </a:r>
            <a:r>
              <a:rPr lang="en-US" altLang="ja-JP" sz="2000" dirty="0" err="1">
                <a:solidFill>
                  <a:schemeClr val="tx1"/>
                </a:solidFill>
              </a:rPr>
              <a:t>as.numeric</a:t>
            </a:r>
            <a:r>
              <a:rPr lang="en-US" altLang="ja-JP" sz="2000" dirty="0">
                <a:solidFill>
                  <a:schemeClr val="tx1"/>
                </a:solidFill>
              </a:rPr>
              <a:t>(</a:t>
            </a:r>
            <a:r>
              <a:rPr lang="en-US" altLang="ja-JP" sz="2000" dirty="0" err="1">
                <a:solidFill>
                  <a:schemeClr val="tx1"/>
                </a:solidFill>
              </a:rPr>
              <a:t>x_list</a:t>
            </a:r>
            <a:r>
              <a:rPr lang="en-US" altLang="ja-JP" sz="2000" dirty="0">
                <a:solidFill>
                  <a:schemeClr val="tx1"/>
                </a:solidFill>
              </a:rPr>
              <a:t>[[</a:t>
            </a:r>
            <a:r>
              <a:rPr lang="en-US" altLang="ja-JP" sz="2000" dirty="0" err="1">
                <a:solidFill>
                  <a:schemeClr val="tx1"/>
                </a:solidFill>
              </a:rPr>
              <a:t>i</a:t>
            </a:r>
            <a:r>
              <a:rPr lang="en-US" altLang="ja-JP" sz="2000" dirty="0">
                <a:solidFill>
                  <a:schemeClr val="tx1"/>
                </a:solidFill>
              </a:rPr>
              <a:t>]])  </a:t>
            </a:r>
            <a:r>
              <a:rPr lang="en-US" altLang="ja-JP" sz="2000" dirty="0">
                <a:solidFill>
                  <a:srgbClr val="00B050"/>
                </a:solidFill>
              </a:rPr>
              <a:t># </a:t>
            </a:r>
            <a:r>
              <a:rPr lang="ja-JP" altLang="en-US" sz="2000" dirty="0">
                <a:solidFill>
                  <a:srgbClr val="00B050"/>
                </a:solidFill>
              </a:rPr>
              <a:t>警告がその場で表示される</a:t>
            </a:r>
          </a:p>
          <a:p>
            <a:r>
              <a:rPr lang="ja-JP" altLang="en-US" sz="2000" dirty="0">
                <a:solidFill>
                  <a:schemeClr val="tx1"/>
                </a:solidFill>
              </a:rPr>
              <a:t>  </a:t>
            </a:r>
            <a:r>
              <a:rPr lang="en-US" altLang="ja-JP" sz="2000" dirty="0">
                <a:solidFill>
                  <a:schemeClr val="tx1"/>
                </a:solidFill>
              </a:rPr>
              <a:t>message("done </a:t>
            </a:r>
            <a:r>
              <a:rPr lang="en-US" altLang="ja-JP" sz="2000" dirty="0" err="1">
                <a:solidFill>
                  <a:schemeClr val="tx1"/>
                </a:solidFill>
              </a:rPr>
              <a:t>i</a:t>
            </a:r>
            <a:r>
              <a:rPr lang="en-US" altLang="ja-JP" sz="2000" dirty="0">
                <a:solidFill>
                  <a:schemeClr val="tx1"/>
                </a:solidFill>
              </a:rPr>
              <a:t> = ", </a:t>
            </a:r>
            <a:r>
              <a:rPr lang="en-US" altLang="ja-JP" sz="2000" dirty="0" err="1">
                <a:solidFill>
                  <a:schemeClr val="tx1"/>
                </a:solidFill>
              </a:rPr>
              <a:t>i</a:t>
            </a:r>
            <a:r>
              <a:rPr lang="en-US" altLang="ja-JP" sz="2000" dirty="0">
                <a:solidFill>
                  <a:schemeClr val="tx1"/>
                </a:solidFill>
              </a:rPr>
              <a:t>)</a:t>
            </a:r>
          </a:p>
          <a:p>
            <a:r>
              <a:rPr lang="en-US" altLang="ja-JP" sz="2000" dirty="0">
                <a:solidFill>
                  <a:schemeClr val="tx1"/>
                </a:solidFill>
              </a:rPr>
              <a:t>}</a:t>
            </a:r>
          </a:p>
        </p:txBody>
      </p:sp>
      <p:sp>
        <p:nvSpPr>
          <p:cNvPr id="19" name="正方形/長方形 18">
            <a:extLst>
              <a:ext uri="{FF2B5EF4-FFF2-40B4-BE49-F238E27FC236}">
                <a16:creationId xmlns:a16="http://schemas.microsoft.com/office/drawing/2014/main" id="{146ADC61-B3EE-B92C-3B28-5FB8B8076B35}"/>
              </a:ext>
            </a:extLst>
          </p:cNvPr>
          <p:cNvSpPr/>
          <p:nvPr/>
        </p:nvSpPr>
        <p:spPr>
          <a:xfrm>
            <a:off x="496887" y="6231506"/>
            <a:ext cx="6756738" cy="1596903"/>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3A720DE-25F6-CBDE-C272-8CC4028D5A98}"/>
              </a:ext>
            </a:extLst>
          </p:cNvPr>
          <p:cNvSpPr txBox="1"/>
          <p:nvPr/>
        </p:nvSpPr>
        <p:spPr>
          <a:xfrm>
            <a:off x="496887" y="6231506"/>
            <a:ext cx="5154613" cy="1631216"/>
          </a:xfrm>
          <a:prstGeom prst="rect">
            <a:avLst/>
          </a:prstGeom>
          <a:noFill/>
        </p:spPr>
        <p:txBody>
          <a:bodyPr wrap="square">
            <a:spAutoFit/>
          </a:bodyPr>
          <a:lstStyle/>
          <a:p>
            <a:r>
              <a:rPr lang="en-US" altLang="ja-JP" sz="2000" dirty="0">
                <a:solidFill>
                  <a:schemeClr val="tx1"/>
                </a:solidFill>
              </a:rPr>
              <a:t>options(warn = </a:t>
            </a:r>
            <a:r>
              <a:rPr lang="en-US" altLang="ja-JP" sz="2000" dirty="0">
                <a:solidFill>
                  <a:srgbClr val="3333FF"/>
                </a:solidFill>
              </a:rPr>
              <a:t>2</a:t>
            </a:r>
            <a:r>
              <a:rPr lang="en-US" altLang="ja-JP" sz="2000" dirty="0">
                <a:solidFill>
                  <a:schemeClr val="tx1"/>
                </a:solidFill>
              </a:rPr>
              <a:t>)</a:t>
            </a:r>
          </a:p>
          <a:p>
            <a:r>
              <a:rPr lang="en-US" altLang="ja-JP" sz="2000" dirty="0">
                <a:solidFill>
                  <a:srgbClr val="3333FF"/>
                </a:solidFill>
              </a:rPr>
              <a:t>for</a:t>
            </a:r>
            <a:r>
              <a:rPr lang="en-US" altLang="ja-JP" sz="2000" dirty="0">
                <a:solidFill>
                  <a:schemeClr val="tx1"/>
                </a:solidFill>
              </a:rPr>
              <a:t> (</a:t>
            </a:r>
            <a:r>
              <a:rPr lang="en-US" altLang="ja-JP" sz="2000" dirty="0" err="1">
                <a:solidFill>
                  <a:schemeClr val="tx1"/>
                </a:solidFill>
              </a:rPr>
              <a:t>i</a:t>
            </a:r>
            <a:r>
              <a:rPr lang="en-US" altLang="ja-JP" sz="2000" dirty="0">
                <a:solidFill>
                  <a:schemeClr val="tx1"/>
                </a:solidFill>
              </a:rPr>
              <a:t> </a:t>
            </a:r>
            <a:r>
              <a:rPr lang="en-US" altLang="ja-JP" sz="2000" dirty="0">
                <a:solidFill>
                  <a:srgbClr val="3333FF"/>
                </a:solidFill>
              </a:rPr>
              <a:t>in 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 {</a:t>
            </a:r>
          </a:p>
          <a:p>
            <a:r>
              <a:rPr lang="en-US" altLang="ja-JP" sz="2000" dirty="0">
                <a:solidFill>
                  <a:schemeClr val="tx1"/>
                </a:solidFill>
              </a:rPr>
              <a:t>  </a:t>
            </a:r>
            <a:r>
              <a:rPr lang="en-US" altLang="ja-JP" sz="2000" dirty="0" err="1">
                <a:solidFill>
                  <a:schemeClr val="tx1"/>
                </a:solidFill>
              </a:rPr>
              <a:t>as.numeric</a:t>
            </a:r>
            <a:r>
              <a:rPr lang="en-US" altLang="ja-JP" sz="2000" dirty="0">
                <a:solidFill>
                  <a:schemeClr val="tx1"/>
                </a:solidFill>
              </a:rPr>
              <a:t>(</a:t>
            </a:r>
            <a:r>
              <a:rPr lang="en-US" altLang="ja-JP" sz="2000" dirty="0" err="1">
                <a:solidFill>
                  <a:schemeClr val="tx1"/>
                </a:solidFill>
              </a:rPr>
              <a:t>x_list</a:t>
            </a:r>
            <a:r>
              <a:rPr lang="en-US" altLang="ja-JP" sz="2000" dirty="0">
                <a:solidFill>
                  <a:schemeClr val="tx1"/>
                </a:solidFill>
              </a:rPr>
              <a:t>[[</a:t>
            </a:r>
            <a:r>
              <a:rPr lang="en-US" altLang="ja-JP" sz="2000" dirty="0" err="1">
                <a:solidFill>
                  <a:schemeClr val="tx1"/>
                </a:solidFill>
              </a:rPr>
              <a:t>i</a:t>
            </a:r>
            <a:r>
              <a:rPr lang="en-US" altLang="ja-JP" sz="2000" dirty="0">
                <a:solidFill>
                  <a:schemeClr val="tx1"/>
                </a:solidFill>
              </a:rPr>
              <a:t>]])  </a:t>
            </a:r>
            <a:r>
              <a:rPr lang="en-US" altLang="ja-JP" sz="2000" dirty="0">
                <a:solidFill>
                  <a:srgbClr val="00B050"/>
                </a:solidFill>
              </a:rPr>
              <a:t># </a:t>
            </a:r>
            <a:r>
              <a:rPr lang="ja-JP" altLang="en-US" sz="2000" dirty="0">
                <a:solidFill>
                  <a:srgbClr val="00B050"/>
                </a:solidFill>
              </a:rPr>
              <a:t>エラーになる</a:t>
            </a:r>
          </a:p>
          <a:p>
            <a:r>
              <a:rPr lang="ja-JP" altLang="en-US" sz="2000" dirty="0">
                <a:solidFill>
                  <a:schemeClr val="tx1"/>
                </a:solidFill>
              </a:rPr>
              <a:t>  </a:t>
            </a:r>
            <a:r>
              <a:rPr lang="en-US" altLang="ja-JP" sz="2000" dirty="0">
                <a:solidFill>
                  <a:schemeClr val="tx1"/>
                </a:solidFill>
              </a:rPr>
              <a:t>message("done </a:t>
            </a:r>
            <a:r>
              <a:rPr lang="en-US" altLang="ja-JP" sz="2000" dirty="0" err="1">
                <a:solidFill>
                  <a:schemeClr val="tx1"/>
                </a:solidFill>
              </a:rPr>
              <a:t>i</a:t>
            </a:r>
            <a:r>
              <a:rPr lang="en-US" altLang="ja-JP" sz="2000" dirty="0">
                <a:solidFill>
                  <a:schemeClr val="tx1"/>
                </a:solidFill>
              </a:rPr>
              <a:t> = ", </a:t>
            </a:r>
            <a:r>
              <a:rPr lang="en-US" altLang="ja-JP" sz="2000" dirty="0" err="1">
                <a:solidFill>
                  <a:schemeClr val="tx1"/>
                </a:solidFill>
              </a:rPr>
              <a:t>i</a:t>
            </a:r>
            <a:r>
              <a:rPr lang="en-US" altLang="ja-JP" sz="2000" dirty="0">
                <a:solidFill>
                  <a:schemeClr val="tx1"/>
                </a:solidFill>
              </a:rPr>
              <a:t>)</a:t>
            </a:r>
          </a:p>
          <a:p>
            <a:r>
              <a:rPr lang="en-US" altLang="ja-JP" sz="2000" dirty="0">
                <a:solidFill>
                  <a:schemeClr val="tx1"/>
                </a:solidFill>
              </a:rPr>
              <a:t>}</a:t>
            </a:r>
            <a:endParaRPr lang="ja-JP" altLang="en-US" sz="2000" dirty="0">
              <a:solidFill>
                <a:schemeClr val="tx1"/>
              </a:solidFill>
            </a:endParaRPr>
          </a:p>
        </p:txBody>
      </p:sp>
    </p:spTree>
    <p:extLst>
      <p:ext uri="{BB962C8B-B14F-4D97-AF65-F5344CB8AC3E}">
        <p14:creationId xmlns:p14="http://schemas.microsoft.com/office/powerpoint/2010/main" val="564432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88DB-9FAA-878C-2502-ED6FC31B4C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9D78A9-FF16-777A-FC73-9228845703C3}"/>
              </a:ext>
            </a:extLst>
          </p:cNvPr>
          <p:cNvSpPr>
            <a:spLocks noGrp="1"/>
          </p:cNvSpPr>
          <p:nvPr>
            <p:ph type="title"/>
          </p:nvPr>
        </p:nvSpPr>
        <p:spPr/>
        <p:txBody>
          <a:bodyPr/>
          <a:lstStyle/>
          <a:p>
            <a:r>
              <a:rPr kumimoji="1" lang="ja-JP" altLang="en-US" dirty="0"/>
              <a:t>オプション設定をデフォルトに戻す​</a:t>
            </a:r>
          </a:p>
        </p:txBody>
      </p:sp>
      <p:sp>
        <p:nvSpPr>
          <p:cNvPr id="3" name="スライド番号プレースホルダー 2">
            <a:extLst>
              <a:ext uri="{FF2B5EF4-FFF2-40B4-BE49-F238E27FC236}">
                <a16:creationId xmlns:a16="http://schemas.microsoft.com/office/drawing/2014/main" id="{17974CE2-6B34-7173-AC33-65130A59B70E}"/>
              </a:ext>
            </a:extLst>
          </p:cNvPr>
          <p:cNvSpPr>
            <a:spLocks noGrp="1"/>
          </p:cNvSpPr>
          <p:nvPr>
            <p:ph type="sldNum" sz="quarter" idx="4"/>
          </p:nvPr>
        </p:nvSpPr>
        <p:spPr/>
        <p:txBody>
          <a:bodyPr/>
          <a:lstStyle/>
          <a:p>
            <a:fld id="{24AEDCA4-7D12-E34A-9125-9C962139F6EA}" type="slidenum">
              <a:rPr kumimoji="1" lang="en-US" altLang="ja-JP" smtClean="0"/>
              <a:pPr/>
              <a:t>26</a:t>
            </a:fld>
            <a:endParaRPr kumimoji="1" lang="en-US" altLang="ja-JP" dirty="0"/>
          </a:p>
        </p:txBody>
      </p:sp>
      <p:sp>
        <p:nvSpPr>
          <p:cNvPr id="6" name="正方形/長方形 5">
            <a:extLst>
              <a:ext uri="{FF2B5EF4-FFF2-40B4-BE49-F238E27FC236}">
                <a16:creationId xmlns:a16="http://schemas.microsoft.com/office/drawing/2014/main" id="{5048EA5B-F13C-7558-6BE5-7FC234827E75}"/>
              </a:ext>
            </a:extLst>
          </p:cNvPr>
          <p:cNvSpPr/>
          <p:nvPr/>
        </p:nvSpPr>
        <p:spPr>
          <a:xfrm>
            <a:off x="496885" y="2959093"/>
            <a:ext cx="9764713" cy="2718355"/>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BFDD801-E287-1946-F784-0F9DE8D5AA5F}"/>
              </a:ext>
            </a:extLst>
          </p:cNvPr>
          <p:cNvSpPr txBox="1"/>
          <p:nvPr/>
        </p:nvSpPr>
        <p:spPr>
          <a:xfrm>
            <a:off x="496886" y="3028342"/>
            <a:ext cx="9866313" cy="2554545"/>
          </a:xfrm>
          <a:prstGeom prst="rect">
            <a:avLst/>
          </a:prstGeom>
          <a:noFill/>
        </p:spPr>
        <p:txBody>
          <a:bodyPr wrap="square">
            <a:spAutoFit/>
          </a:bodyPr>
          <a:lstStyle/>
          <a:p>
            <a:r>
              <a:rPr lang="en-US" altLang="ja-JP" sz="2000" dirty="0" err="1">
                <a:solidFill>
                  <a:schemeClr val="tx1"/>
                </a:solidFill>
              </a:rPr>
              <a:t>initial_option</a:t>
            </a:r>
            <a:r>
              <a:rPr lang="en-US" altLang="ja-JP" sz="2000" dirty="0">
                <a:solidFill>
                  <a:schemeClr val="tx1"/>
                </a:solidFill>
              </a:rPr>
              <a:t> &lt;- options() </a:t>
            </a:r>
            <a:r>
              <a:rPr lang="en-US" altLang="ja-JP" sz="2000" dirty="0">
                <a:solidFill>
                  <a:srgbClr val="00B050"/>
                </a:solidFill>
              </a:rPr>
              <a:t>#</a:t>
            </a:r>
            <a:r>
              <a:rPr lang="ja-JP" altLang="en-US" sz="2000" dirty="0">
                <a:solidFill>
                  <a:srgbClr val="00B050"/>
                </a:solidFill>
              </a:rPr>
              <a:t>デフォルトのオプションを任意のオブジェクトに格納</a:t>
            </a:r>
          </a:p>
          <a:p>
            <a:r>
              <a:rPr lang="en-US" altLang="ja-JP" sz="2000" dirty="0" err="1">
                <a:solidFill>
                  <a:schemeClr val="tx1"/>
                </a:solidFill>
              </a:rPr>
              <a:t>getOption</a:t>
            </a:r>
            <a:r>
              <a:rPr lang="en-US" altLang="ja-JP" sz="2000" dirty="0">
                <a:solidFill>
                  <a:schemeClr val="tx1"/>
                </a:solidFill>
              </a:rPr>
              <a:t>(</a:t>
            </a:r>
            <a:r>
              <a:rPr lang="en-US" altLang="ja-JP" sz="2000" dirty="0">
                <a:solidFill>
                  <a:srgbClr val="00B050"/>
                </a:solidFill>
              </a:rPr>
              <a:t>"warn"</a:t>
            </a:r>
            <a:r>
              <a:rPr lang="en-US" altLang="ja-JP" sz="2000" dirty="0">
                <a:solidFill>
                  <a:schemeClr val="tx1"/>
                </a:solidFill>
              </a:rPr>
              <a:t>)</a:t>
            </a:r>
          </a:p>
          <a:p>
            <a:endParaRPr lang="en-US" altLang="ja-JP" sz="2000" dirty="0">
              <a:solidFill>
                <a:schemeClr val="tx1"/>
              </a:solidFill>
            </a:endParaRPr>
          </a:p>
          <a:p>
            <a:r>
              <a:rPr lang="en-US" altLang="ja-JP" sz="2000" dirty="0">
                <a:solidFill>
                  <a:schemeClr val="tx1"/>
                </a:solidFill>
              </a:rPr>
              <a:t>options(warn=2) </a:t>
            </a:r>
            <a:r>
              <a:rPr lang="en-US" altLang="ja-JP" sz="2000" dirty="0">
                <a:solidFill>
                  <a:srgbClr val="00B050"/>
                </a:solidFill>
              </a:rPr>
              <a:t>#</a:t>
            </a:r>
            <a:r>
              <a:rPr lang="ja-JP" altLang="en-US" sz="2000" dirty="0">
                <a:solidFill>
                  <a:srgbClr val="00B050"/>
                </a:solidFill>
              </a:rPr>
              <a:t>オプションを変更する</a:t>
            </a:r>
          </a:p>
          <a:p>
            <a:r>
              <a:rPr lang="en-US" altLang="ja-JP" sz="2000" dirty="0" err="1">
                <a:solidFill>
                  <a:schemeClr val="tx1"/>
                </a:solidFill>
              </a:rPr>
              <a:t>getOption</a:t>
            </a:r>
            <a:r>
              <a:rPr lang="en-US" altLang="ja-JP" sz="2000" dirty="0">
                <a:solidFill>
                  <a:schemeClr val="tx1"/>
                </a:solidFill>
              </a:rPr>
              <a:t>(</a:t>
            </a:r>
            <a:r>
              <a:rPr lang="en-US" altLang="ja-JP" sz="2000" dirty="0">
                <a:solidFill>
                  <a:srgbClr val="00B050"/>
                </a:solidFill>
              </a:rPr>
              <a:t>"warn"</a:t>
            </a:r>
            <a:r>
              <a:rPr lang="en-US" altLang="ja-JP" sz="2000" dirty="0">
                <a:solidFill>
                  <a:schemeClr val="tx1"/>
                </a:solidFill>
              </a:rPr>
              <a:t>)</a:t>
            </a:r>
          </a:p>
          <a:p>
            <a:endParaRPr lang="en-US" altLang="ja-JP" sz="2000" dirty="0">
              <a:solidFill>
                <a:schemeClr val="tx1"/>
              </a:solidFill>
            </a:endParaRPr>
          </a:p>
          <a:p>
            <a:r>
              <a:rPr lang="en-US" altLang="ja-JP" sz="2000" dirty="0">
                <a:solidFill>
                  <a:schemeClr val="tx1"/>
                </a:solidFill>
              </a:rPr>
              <a:t>options(</a:t>
            </a:r>
            <a:r>
              <a:rPr lang="en-US" altLang="ja-JP" sz="2000" dirty="0" err="1">
                <a:solidFill>
                  <a:schemeClr val="tx1"/>
                </a:solidFill>
              </a:rPr>
              <a:t>initial_option</a:t>
            </a:r>
            <a:r>
              <a:rPr lang="en-US" altLang="ja-JP" sz="2000" dirty="0">
                <a:solidFill>
                  <a:schemeClr val="tx1"/>
                </a:solidFill>
              </a:rPr>
              <a:t>) </a:t>
            </a:r>
            <a:r>
              <a:rPr lang="en-US" altLang="ja-JP" sz="2000" dirty="0">
                <a:solidFill>
                  <a:srgbClr val="00B050"/>
                </a:solidFill>
              </a:rPr>
              <a:t>#</a:t>
            </a:r>
            <a:r>
              <a:rPr lang="ja-JP" altLang="en-US" sz="2000" dirty="0">
                <a:solidFill>
                  <a:srgbClr val="00B050"/>
                </a:solidFill>
              </a:rPr>
              <a:t>デフォルトのオプションに戻す</a:t>
            </a:r>
          </a:p>
          <a:p>
            <a:r>
              <a:rPr lang="en-US" altLang="ja-JP" sz="2000" dirty="0" err="1">
                <a:solidFill>
                  <a:schemeClr val="tx1"/>
                </a:solidFill>
              </a:rPr>
              <a:t>getOption</a:t>
            </a:r>
            <a:r>
              <a:rPr lang="en-US" altLang="ja-JP" sz="2000" dirty="0">
                <a:solidFill>
                  <a:schemeClr val="tx1"/>
                </a:solidFill>
              </a:rPr>
              <a:t>(</a:t>
            </a:r>
            <a:r>
              <a:rPr lang="en-US" altLang="ja-JP" sz="2000" dirty="0">
                <a:solidFill>
                  <a:srgbClr val="00B050"/>
                </a:solidFill>
              </a:rPr>
              <a:t>"warn"</a:t>
            </a:r>
            <a:r>
              <a:rPr lang="en-US" altLang="ja-JP" sz="2000" dirty="0">
                <a:solidFill>
                  <a:schemeClr val="tx1"/>
                </a:solidFill>
              </a:rPr>
              <a:t>)</a:t>
            </a:r>
          </a:p>
        </p:txBody>
      </p:sp>
      <p:pic>
        <p:nvPicPr>
          <p:cNvPr id="5" name="図 4">
            <a:extLst>
              <a:ext uri="{FF2B5EF4-FFF2-40B4-BE49-F238E27FC236}">
                <a16:creationId xmlns:a16="http://schemas.microsoft.com/office/drawing/2014/main" id="{4BBA465C-F2AC-4587-C867-71B1A1F0F141}"/>
              </a:ext>
            </a:extLst>
          </p:cNvPr>
          <p:cNvPicPr>
            <a:picLocks noChangeAspect="1"/>
          </p:cNvPicPr>
          <p:nvPr/>
        </p:nvPicPr>
        <p:blipFill>
          <a:blip r:embed="rId3"/>
          <a:stretch>
            <a:fillRect/>
          </a:stretch>
        </p:blipFill>
        <p:spPr>
          <a:xfrm>
            <a:off x="496885" y="5763080"/>
            <a:ext cx="6543602" cy="2001485"/>
          </a:xfrm>
          <a:prstGeom prst="rect">
            <a:avLst/>
          </a:prstGeom>
        </p:spPr>
      </p:pic>
      <p:sp>
        <p:nvSpPr>
          <p:cNvPr id="8" name="コンテンツ プレースホルダー 3">
            <a:extLst>
              <a:ext uri="{FF2B5EF4-FFF2-40B4-BE49-F238E27FC236}">
                <a16:creationId xmlns:a16="http://schemas.microsoft.com/office/drawing/2014/main" id="{72EB5C3A-2E24-502C-D179-A4F1E5101CDA}"/>
              </a:ext>
            </a:extLst>
          </p:cNvPr>
          <p:cNvSpPr>
            <a:spLocks noGrp="1"/>
          </p:cNvSpPr>
          <p:nvPr>
            <p:ph sz="half" idx="10"/>
          </p:nvPr>
        </p:nvSpPr>
        <p:spPr>
          <a:xfrm>
            <a:off x="496885" y="1426912"/>
            <a:ext cx="13745207" cy="1446550"/>
          </a:xfrm>
        </p:spPr>
        <p:txBody>
          <a:bodyPr/>
          <a:lstStyle/>
          <a:p>
            <a:pPr marL="0" indent="0">
              <a:buNone/>
            </a:pPr>
            <a:r>
              <a:rPr kumimoji="1" lang="en-US" altLang="ja-JP" sz="2800" b="0" dirty="0"/>
              <a:t>R</a:t>
            </a:r>
            <a:r>
              <a:rPr kumimoji="1" lang="ja-JP" altLang="en-US" sz="2800" b="0" dirty="0"/>
              <a:t>セッションを切るまではオプション設定が維持されてしまうので、</a:t>
            </a:r>
            <a:endParaRPr kumimoji="1" lang="en-US" altLang="ja-JP" sz="2800" b="0" dirty="0"/>
          </a:p>
          <a:p>
            <a:pPr marL="0" indent="0">
              <a:buNone/>
            </a:pPr>
            <a:r>
              <a:rPr kumimoji="1" lang="ja-JP" altLang="en-US" sz="2800" b="0" dirty="0"/>
              <a:t>オプション変更前には情報をオブジェクトに退避し、</a:t>
            </a:r>
            <a:endParaRPr kumimoji="1" lang="en-US" altLang="ja-JP" sz="2800" b="0" dirty="0"/>
          </a:p>
          <a:p>
            <a:pPr marL="0" indent="0">
              <a:buNone/>
            </a:pPr>
            <a:r>
              <a:rPr kumimoji="1" lang="ja-JP" altLang="en-US" sz="2800" b="0" dirty="0"/>
              <a:t>必要に応じてデフォルトに戻せるようにしておく</a:t>
            </a:r>
            <a:endParaRPr kumimoji="1" lang="en-US" altLang="ja-JP" sz="2800" b="0" dirty="0"/>
          </a:p>
        </p:txBody>
      </p:sp>
    </p:spTree>
    <p:extLst>
      <p:ext uri="{BB962C8B-B14F-4D97-AF65-F5344CB8AC3E}">
        <p14:creationId xmlns:p14="http://schemas.microsoft.com/office/powerpoint/2010/main" val="300489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637AE-4999-5B97-2CC0-206521DA6F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77797F-0F12-0F62-146F-2D71441CE015}"/>
              </a:ext>
            </a:extLst>
          </p:cNvPr>
          <p:cNvSpPr>
            <a:spLocks noGrp="1"/>
          </p:cNvSpPr>
          <p:nvPr>
            <p:ph type="title"/>
          </p:nvPr>
        </p:nvSpPr>
        <p:spPr/>
        <p:txBody>
          <a:bodyPr/>
          <a:lstStyle/>
          <a:p>
            <a:r>
              <a:rPr kumimoji="1" lang="ja-JP" altLang="en-US" dirty="0"/>
              <a:t>ユーザー定義の</a:t>
            </a:r>
            <a:r>
              <a:rPr kumimoji="1" lang="en-US" altLang="ja-JP" dirty="0"/>
              <a:t>Warning/Error</a:t>
            </a:r>
            <a:r>
              <a:rPr kumimoji="1" lang="ja-JP" altLang="en-US" dirty="0"/>
              <a:t>を活用する​</a:t>
            </a:r>
          </a:p>
        </p:txBody>
      </p:sp>
      <p:sp>
        <p:nvSpPr>
          <p:cNvPr id="3" name="スライド番号プレースホルダー 2">
            <a:extLst>
              <a:ext uri="{FF2B5EF4-FFF2-40B4-BE49-F238E27FC236}">
                <a16:creationId xmlns:a16="http://schemas.microsoft.com/office/drawing/2014/main" id="{C7C88BDE-040F-846B-FCAA-79DA05AB687F}"/>
              </a:ext>
            </a:extLst>
          </p:cNvPr>
          <p:cNvSpPr>
            <a:spLocks noGrp="1"/>
          </p:cNvSpPr>
          <p:nvPr>
            <p:ph type="sldNum" sz="quarter" idx="4"/>
          </p:nvPr>
        </p:nvSpPr>
        <p:spPr/>
        <p:txBody>
          <a:bodyPr/>
          <a:lstStyle/>
          <a:p>
            <a:fld id="{24AEDCA4-7D12-E34A-9125-9C962139F6EA}" type="slidenum">
              <a:rPr kumimoji="1" lang="en-US" altLang="ja-JP" smtClean="0"/>
              <a:pPr/>
              <a:t>27</a:t>
            </a:fld>
            <a:endParaRPr kumimoji="1" lang="en-US" altLang="ja-JP" dirty="0"/>
          </a:p>
        </p:txBody>
      </p:sp>
      <p:sp>
        <p:nvSpPr>
          <p:cNvPr id="4" name="コンテンツ プレースホルダー 3">
            <a:extLst>
              <a:ext uri="{FF2B5EF4-FFF2-40B4-BE49-F238E27FC236}">
                <a16:creationId xmlns:a16="http://schemas.microsoft.com/office/drawing/2014/main" id="{031D0842-6A5C-6477-8A7A-A39D443245BB}"/>
              </a:ext>
            </a:extLst>
          </p:cNvPr>
          <p:cNvSpPr>
            <a:spLocks noGrp="1"/>
          </p:cNvSpPr>
          <p:nvPr>
            <p:ph sz="half" idx="10"/>
          </p:nvPr>
        </p:nvSpPr>
        <p:spPr>
          <a:xfrm>
            <a:off x="496885" y="1426912"/>
            <a:ext cx="13745207" cy="1708160"/>
          </a:xfrm>
        </p:spPr>
        <p:txBody>
          <a:bodyPr/>
          <a:lstStyle/>
          <a:p>
            <a:pPr marL="0" indent="0">
              <a:buNone/>
            </a:pPr>
            <a:r>
              <a:rPr kumimoji="1" lang="en-US" altLang="ja-JP" sz="2800" b="0" dirty="0"/>
              <a:t>warning</a:t>
            </a:r>
            <a:r>
              <a:rPr kumimoji="1" lang="ja-JP" altLang="en-US" sz="2800" b="0" dirty="0"/>
              <a:t>関数を用いて</a:t>
            </a:r>
            <a:r>
              <a:rPr kumimoji="1" lang="en-US" altLang="ja-JP" sz="2800" b="0" dirty="0"/>
              <a:t>Warning</a:t>
            </a:r>
            <a:r>
              <a:rPr kumimoji="1" lang="ja-JP" altLang="en-US" sz="2800" b="0" dirty="0"/>
              <a:t>を、</a:t>
            </a:r>
            <a:r>
              <a:rPr kumimoji="1" lang="en-US" altLang="ja-JP" sz="2800" b="0" dirty="0"/>
              <a:t>stop</a:t>
            </a:r>
            <a:r>
              <a:rPr kumimoji="1" lang="ja-JP" altLang="en-US" sz="2800" b="0" dirty="0"/>
              <a:t>関数を用いてエラーを出すことができる</a:t>
            </a:r>
            <a:endParaRPr kumimoji="1" lang="en-US" altLang="ja-JP" sz="2800" b="0" dirty="0"/>
          </a:p>
          <a:p>
            <a:pPr marL="0" indent="0">
              <a:buNone/>
            </a:pPr>
            <a:r>
              <a:rPr kumimoji="1" lang="ja-JP" altLang="en-US" b="0" dirty="0"/>
              <a:t>（使用例：データに未来日付が入っている場合、</a:t>
            </a:r>
            <a:r>
              <a:rPr kumimoji="1" lang="en-US" altLang="ja-JP" b="0" dirty="0"/>
              <a:t>UAT</a:t>
            </a:r>
            <a:r>
              <a:rPr kumimoji="1" lang="ja-JP" altLang="en-US" b="0" dirty="0"/>
              <a:t>を用いた開発時には</a:t>
            </a:r>
            <a:r>
              <a:rPr kumimoji="1" lang="en-US" altLang="ja-JP" b="0" dirty="0"/>
              <a:t>Warning</a:t>
            </a:r>
            <a:r>
              <a:rPr kumimoji="1" lang="ja-JP" altLang="en-US" b="0" dirty="0"/>
              <a:t>を、本番実行時にはエラーが出るように組む）</a:t>
            </a:r>
            <a:endParaRPr kumimoji="1" lang="en-US" altLang="ja-JP" b="0" dirty="0"/>
          </a:p>
          <a:p>
            <a:pPr marL="0" indent="0">
              <a:buNone/>
            </a:pPr>
            <a:endParaRPr kumimoji="1" lang="en-US" altLang="ja-JP" b="0" dirty="0"/>
          </a:p>
          <a:p>
            <a:pPr marL="0" indent="0">
              <a:buNone/>
            </a:pPr>
            <a:r>
              <a:rPr kumimoji="1" lang="ja-JP" altLang="en-US" sz="2800" b="0" dirty="0"/>
              <a:t>以下のように該当データを出力することも可能</a:t>
            </a:r>
            <a:endParaRPr kumimoji="1" lang="en-US" altLang="ja-JP" sz="2800" b="0" dirty="0"/>
          </a:p>
        </p:txBody>
      </p:sp>
      <p:sp>
        <p:nvSpPr>
          <p:cNvPr id="5" name="正方形/長方形 4">
            <a:extLst>
              <a:ext uri="{FF2B5EF4-FFF2-40B4-BE49-F238E27FC236}">
                <a16:creationId xmlns:a16="http://schemas.microsoft.com/office/drawing/2014/main" id="{70BCC793-CE30-41FD-1B66-8E85264BFD4B}"/>
              </a:ext>
            </a:extLst>
          </p:cNvPr>
          <p:cNvSpPr/>
          <p:nvPr/>
        </p:nvSpPr>
        <p:spPr>
          <a:xfrm>
            <a:off x="496885" y="3245709"/>
            <a:ext cx="9929815" cy="424180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B7627A7-379E-D456-31DE-5373BB9B0BAE}"/>
              </a:ext>
            </a:extLst>
          </p:cNvPr>
          <p:cNvSpPr txBox="1"/>
          <p:nvPr/>
        </p:nvSpPr>
        <p:spPr>
          <a:xfrm>
            <a:off x="496885" y="3388219"/>
            <a:ext cx="10412415" cy="4093428"/>
          </a:xfrm>
          <a:prstGeom prst="rect">
            <a:avLst/>
          </a:prstGeom>
          <a:noFill/>
        </p:spPr>
        <p:txBody>
          <a:bodyPr wrap="square">
            <a:spAutoFit/>
          </a:bodyPr>
          <a:lstStyle/>
          <a:p>
            <a:r>
              <a:rPr lang="en-US" altLang="ja-JP" sz="2000" dirty="0">
                <a:solidFill>
                  <a:schemeClr val="tx1"/>
                </a:solidFill>
              </a:rPr>
              <a:t>dates &lt;- </a:t>
            </a:r>
            <a:r>
              <a:rPr lang="en-US" altLang="ja-JP" sz="2000" dirty="0" err="1">
                <a:solidFill>
                  <a:schemeClr val="tx1"/>
                </a:solidFill>
              </a:rPr>
              <a:t>as.Date</a:t>
            </a:r>
            <a:r>
              <a:rPr lang="en-US" altLang="ja-JP" sz="2000" dirty="0">
                <a:solidFill>
                  <a:schemeClr val="tx1"/>
                </a:solidFill>
              </a:rPr>
              <a:t>(c(</a:t>
            </a:r>
            <a:r>
              <a:rPr lang="en-US" altLang="ja-JP" sz="2000" dirty="0">
                <a:solidFill>
                  <a:srgbClr val="00B050"/>
                </a:solidFill>
              </a:rPr>
              <a:t>"2025-08-25"</a:t>
            </a:r>
            <a:r>
              <a:rPr lang="en-US" altLang="ja-JP" sz="2000" dirty="0">
                <a:solidFill>
                  <a:schemeClr val="tx1"/>
                </a:solidFill>
              </a:rPr>
              <a:t>,</a:t>
            </a:r>
            <a:r>
              <a:rPr lang="en-US" altLang="ja-JP" sz="2000" dirty="0">
                <a:solidFill>
                  <a:srgbClr val="00B050"/>
                </a:solidFill>
              </a:rPr>
              <a:t> "2025-12-10"</a:t>
            </a:r>
            <a:r>
              <a:rPr lang="en-US" altLang="ja-JP" sz="2000" dirty="0">
                <a:solidFill>
                  <a:schemeClr val="tx1"/>
                </a:solidFill>
              </a:rPr>
              <a:t>,</a:t>
            </a:r>
            <a:r>
              <a:rPr lang="en-US" altLang="ja-JP" sz="2000" dirty="0">
                <a:solidFill>
                  <a:srgbClr val="00B050"/>
                </a:solidFill>
              </a:rPr>
              <a:t> "2026-11-22"</a:t>
            </a:r>
            <a:r>
              <a:rPr lang="en-US" altLang="ja-JP" sz="2000" dirty="0">
                <a:solidFill>
                  <a:schemeClr val="tx1"/>
                </a:solidFill>
              </a:rPr>
              <a:t>, </a:t>
            </a:r>
            <a:r>
              <a:rPr lang="en-US" altLang="ja-JP" sz="2000" dirty="0">
                <a:solidFill>
                  <a:srgbClr val="00B050"/>
                </a:solidFill>
              </a:rPr>
              <a:t>"2027-03-05"</a:t>
            </a:r>
            <a:r>
              <a:rPr lang="en-US" altLang="ja-JP" sz="2000" dirty="0">
                <a:solidFill>
                  <a:schemeClr val="tx1"/>
                </a:solidFill>
              </a:rPr>
              <a:t>))</a:t>
            </a:r>
          </a:p>
          <a:p>
            <a:endParaRPr lang="en-US" altLang="ja-JP" sz="2000" dirty="0">
              <a:solidFill>
                <a:schemeClr val="tx1"/>
              </a:solidFill>
            </a:endParaRPr>
          </a:p>
          <a:p>
            <a:r>
              <a:rPr lang="en-US" altLang="ja-JP" sz="2000" dirty="0">
                <a:solidFill>
                  <a:srgbClr val="00B050"/>
                </a:solidFill>
              </a:rPr>
              <a:t># </a:t>
            </a:r>
            <a:r>
              <a:rPr lang="ja-JP" altLang="en-US" sz="2000" dirty="0">
                <a:solidFill>
                  <a:srgbClr val="00B050"/>
                </a:solidFill>
              </a:rPr>
              <a:t>今日の日付</a:t>
            </a:r>
            <a:endParaRPr lang="en-US" altLang="ja-JP" sz="2000" dirty="0">
              <a:solidFill>
                <a:schemeClr val="tx1"/>
              </a:solidFill>
            </a:endParaRPr>
          </a:p>
          <a:p>
            <a:r>
              <a:rPr lang="en-US" altLang="ja-JP" sz="2000" dirty="0">
                <a:solidFill>
                  <a:schemeClr val="tx1"/>
                </a:solidFill>
              </a:rPr>
              <a:t>today &lt;- </a:t>
            </a:r>
            <a:r>
              <a:rPr lang="en-US" altLang="ja-JP" sz="2000" dirty="0" err="1">
                <a:solidFill>
                  <a:schemeClr val="tx1"/>
                </a:solidFill>
              </a:rPr>
              <a:t>Sys.Date</a:t>
            </a:r>
            <a:r>
              <a:rPr lang="en-US" altLang="ja-JP" sz="2000" dirty="0">
                <a:solidFill>
                  <a:schemeClr val="tx1"/>
                </a:solidFill>
              </a:rPr>
              <a:t>()</a:t>
            </a:r>
          </a:p>
          <a:p>
            <a:endParaRPr lang="en-US" altLang="ja-JP" sz="2000" dirty="0">
              <a:solidFill>
                <a:schemeClr val="tx1"/>
              </a:solidFill>
            </a:endParaRPr>
          </a:p>
          <a:p>
            <a:r>
              <a:rPr lang="en-US" altLang="ja-JP" sz="2000" dirty="0">
                <a:solidFill>
                  <a:srgbClr val="00B050"/>
                </a:solidFill>
              </a:rPr>
              <a:t># </a:t>
            </a:r>
            <a:r>
              <a:rPr lang="ja-JP" altLang="en-US" sz="2000" dirty="0">
                <a:solidFill>
                  <a:srgbClr val="00B050"/>
                </a:solidFill>
              </a:rPr>
              <a:t>未来日付があれば警告</a:t>
            </a:r>
          </a:p>
          <a:p>
            <a:r>
              <a:rPr lang="en-US" altLang="ja-JP" sz="2000" dirty="0">
                <a:solidFill>
                  <a:srgbClr val="3333FF"/>
                </a:solidFill>
              </a:rPr>
              <a:t>if</a:t>
            </a:r>
            <a:r>
              <a:rPr lang="en-US" altLang="ja-JP" sz="2000" dirty="0">
                <a:solidFill>
                  <a:schemeClr val="tx1"/>
                </a:solidFill>
              </a:rPr>
              <a:t> (any(dates &gt; today)) {</a:t>
            </a:r>
          </a:p>
          <a:p>
            <a:r>
              <a:rPr lang="en-US" altLang="ja-JP" sz="2000" dirty="0">
                <a:solidFill>
                  <a:schemeClr val="tx1"/>
                </a:solidFill>
              </a:rPr>
              <a:t>  </a:t>
            </a:r>
            <a:r>
              <a:rPr lang="en-US" altLang="ja-JP" sz="2000" dirty="0">
                <a:solidFill>
                  <a:srgbClr val="3333FF"/>
                </a:solidFill>
              </a:rPr>
              <a:t>warning</a:t>
            </a:r>
            <a:r>
              <a:rPr lang="en-US" altLang="ja-JP" sz="2000" dirty="0">
                <a:solidFill>
                  <a:schemeClr val="tx1"/>
                </a:solidFill>
              </a:rPr>
              <a:t>(</a:t>
            </a:r>
            <a:r>
              <a:rPr lang="en-US" altLang="ja-JP" sz="2000" dirty="0">
                <a:solidFill>
                  <a:srgbClr val="00B050"/>
                </a:solidFill>
              </a:rPr>
              <a:t>"</a:t>
            </a:r>
            <a:r>
              <a:rPr lang="ja-JP" altLang="en-US" sz="2000" dirty="0">
                <a:solidFill>
                  <a:srgbClr val="00B050"/>
                </a:solidFill>
              </a:rPr>
              <a:t>未来日付が含まれています</a:t>
            </a:r>
            <a:r>
              <a:rPr lang="en-US" altLang="ja-JP" sz="2000" dirty="0">
                <a:solidFill>
                  <a:srgbClr val="00B050"/>
                </a:solidFill>
              </a:rPr>
              <a:t>: "</a:t>
            </a:r>
            <a:r>
              <a:rPr lang="en-US" altLang="ja-JP" sz="2000" dirty="0">
                <a:solidFill>
                  <a:schemeClr val="tx1"/>
                </a:solidFill>
              </a:rPr>
              <a:t>, paste(dates[dates &gt; today], collapse = ", "))</a:t>
            </a:r>
          </a:p>
          <a:p>
            <a:r>
              <a:rPr lang="en-US" altLang="ja-JP" sz="2000" dirty="0">
                <a:solidFill>
                  <a:schemeClr val="tx1"/>
                </a:solidFill>
              </a:rPr>
              <a:t>}</a:t>
            </a:r>
          </a:p>
          <a:p>
            <a:r>
              <a:rPr lang="en-US" altLang="ja-JP" sz="2000" dirty="0">
                <a:solidFill>
                  <a:srgbClr val="00B050"/>
                </a:solidFill>
              </a:rPr>
              <a:t># </a:t>
            </a:r>
            <a:r>
              <a:rPr lang="ja-JP" altLang="en-US" sz="2000" dirty="0">
                <a:solidFill>
                  <a:srgbClr val="00B050"/>
                </a:solidFill>
              </a:rPr>
              <a:t>未来日付があればエラー</a:t>
            </a:r>
          </a:p>
          <a:p>
            <a:r>
              <a:rPr lang="en-US" altLang="ja-JP" sz="2000" dirty="0">
                <a:solidFill>
                  <a:srgbClr val="3333FF"/>
                </a:solidFill>
              </a:rPr>
              <a:t>if</a:t>
            </a:r>
            <a:r>
              <a:rPr lang="en-US" altLang="ja-JP" sz="2000" dirty="0">
                <a:solidFill>
                  <a:schemeClr val="tx1"/>
                </a:solidFill>
              </a:rPr>
              <a:t> (any(dates &gt; today)) {</a:t>
            </a:r>
          </a:p>
          <a:p>
            <a:r>
              <a:rPr lang="en-US" altLang="ja-JP" sz="2000" dirty="0">
                <a:solidFill>
                  <a:schemeClr val="tx1"/>
                </a:solidFill>
              </a:rPr>
              <a:t>  </a:t>
            </a:r>
            <a:r>
              <a:rPr lang="en-US" altLang="ja-JP" sz="2000" dirty="0">
                <a:solidFill>
                  <a:srgbClr val="3333FF"/>
                </a:solidFill>
              </a:rPr>
              <a:t>stop</a:t>
            </a:r>
            <a:r>
              <a:rPr lang="en-US" altLang="ja-JP" sz="2000" dirty="0">
                <a:solidFill>
                  <a:schemeClr val="tx1"/>
                </a:solidFill>
              </a:rPr>
              <a:t>(</a:t>
            </a:r>
            <a:r>
              <a:rPr lang="en-US" altLang="ja-JP" sz="2000" dirty="0">
                <a:solidFill>
                  <a:srgbClr val="00B050"/>
                </a:solidFill>
              </a:rPr>
              <a:t>"</a:t>
            </a:r>
            <a:r>
              <a:rPr lang="ja-JP" altLang="en-US" sz="2000" dirty="0">
                <a:solidFill>
                  <a:srgbClr val="00B050"/>
                </a:solidFill>
              </a:rPr>
              <a:t>未来日付が含まれています</a:t>
            </a:r>
            <a:r>
              <a:rPr lang="en-US" altLang="ja-JP" sz="2000" dirty="0">
                <a:solidFill>
                  <a:srgbClr val="00B050"/>
                </a:solidFill>
              </a:rPr>
              <a:t>: "</a:t>
            </a:r>
            <a:r>
              <a:rPr lang="en-US" altLang="ja-JP" sz="2000" dirty="0">
                <a:solidFill>
                  <a:schemeClr val="tx1"/>
                </a:solidFill>
              </a:rPr>
              <a:t>, paste(dates[dates &gt; today], collapse = ", "))</a:t>
            </a:r>
          </a:p>
          <a:p>
            <a:r>
              <a:rPr lang="en-US" altLang="ja-JP" sz="2000" dirty="0">
                <a:solidFill>
                  <a:schemeClr val="tx1"/>
                </a:solidFill>
              </a:rPr>
              <a:t>}</a:t>
            </a:r>
          </a:p>
        </p:txBody>
      </p:sp>
      <p:pic>
        <p:nvPicPr>
          <p:cNvPr id="14" name="図 13">
            <a:extLst>
              <a:ext uri="{FF2B5EF4-FFF2-40B4-BE49-F238E27FC236}">
                <a16:creationId xmlns:a16="http://schemas.microsoft.com/office/drawing/2014/main" id="{8342F9FE-1F83-C4D8-6E44-B2C50E690F61}"/>
              </a:ext>
            </a:extLst>
          </p:cNvPr>
          <p:cNvPicPr>
            <a:picLocks noChangeAspect="1"/>
          </p:cNvPicPr>
          <p:nvPr/>
        </p:nvPicPr>
        <p:blipFill>
          <a:blip r:embed="rId3"/>
          <a:stretch>
            <a:fillRect/>
          </a:stretch>
        </p:blipFill>
        <p:spPr>
          <a:xfrm>
            <a:off x="10547994" y="5434933"/>
            <a:ext cx="3568883" cy="330217"/>
          </a:xfrm>
          <a:prstGeom prst="rect">
            <a:avLst/>
          </a:prstGeom>
        </p:spPr>
      </p:pic>
      <p:pic>
        <p:nvPicPr>
          <p:cNvPr id="16" name="図 15">
            <a:extLst>
              <a:ext uri="{FF2B5EF4-FFF2-40B4-BE49-F238E27FC236}">
                <a16:creationId xmlns:a16="http://schemas.microsoft.com/office/drawing/2014/main" id="{094FDDDB-A237-6043-805F-83C5165EAD2B}"/>
              </a:ext>
            </a:extLst>
          </p:cNvPr>
          <p:cNvPicPr>
            <a:picLocks noChangeAspect="1"/>
          </p:cNvPicPr>
          <p:nvPr/>
        </p:nvPicPr>
        <p:blipFill>
          <a:blip r:embed="rId4"/>
          <a:stretch>
            <a:fillRect/>
          </a:stretch>
        </p:blipFill>
        <p:spPr>
          <a:xfrm>
            <a:off x="10522261" y="6696931"/>
            <a:ext cx="3885899" cy="154940"/>
          </a:xfrm>
          <a:prstGeom prst="rect">
            <a:avLst/>
          </a:prstGeom>
        </p:spPr>
      </p:pic>
    </p:spTree>
    <p:extLst>
      <p:ext uri="{BB962C8B-B14F-4D97-AF65-F5344CB8AC3E}">
        <p14:creationId xmlns:p14="http://schemas.microsoft.com/office/powerpoint/2010/main" val="2418521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0897C-1691-9306-B092-7551F825B4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E06F13-EDD6-9CA2-051A-8161EB15359C}"/>
              </a:ext>
            </a:extLst>
          </p:cNvPr>
          <p:cNvSpPr>
            <a:spLocks noGrp="1"/>
          </p:cNvSpPr>
          <p:nvPr>
            <p:ph type="title"/>
          </p:nvPr>
        </p:nvSpPr>
        <p:spPr/>
        <p:txBody>
          <a:bodyPr/>
          <a:lstStyle/>
          <a:p>
            <a:r>
              <a:rPr kumimoji="1" lang="ja-JP" altLang="en-US" dirty="0"/>
              <a:t>ユーザー定義の</a:t>
            </a:r>
            <a:r>
              <a:rPr kumimoji="1" lang="en-US" altLang="ja-JP" dirty="0"/>
              <a:t>Warning/Error</a:t>
            </a:r>
            <a:r>
              <a:rPr kumimoji="1" lang="ja-JP" altLang="en-US" dirty="0"/>
              <a:t>を活用する​</a:t>
            </a:r>
          </a:p>
        </p:txBody>
      </p:sp>
      <p:sp>
        <p:nvSpPr>
          <p:cNvPr id="3" name="スライド番号プレースホルダー 2">
            <a:extLst>
              <a:ext uri="{FF2B5EF4-FFF2-40B4-BE49-F238E27FC236}">
                <a16:creationId xmlns:a16="http://schemas.microsoft.com/office/drawing/2014/main" id="{47B61344-BEC9-725D-2996-0BFC659FF2DB}"/>
              </a:ext>
            </a:extLst>
          </p:cNvPr>
          <p:cNvSpPr>
            <a:spLocks noGrp="1"/>
          </p:cNvSpPr>
          <p:nvPr>
            <p:ph type="sldNum" sz="quarter" idx="4"/>
          </p:nvPr>
        </p:nvSpPr>
        <p:spPr/>
        <p:txBody>
          <a:bodyPr/>
          <a:lstStyle/>
          <a:p>
            <a:fld id="{24AEDCA4-7D12-E34A-9125-9C962139F6EA}" type="slidenum">
              <a:rPr kumimoji="1" lang="en-US" altLang="ja-JP" smtClean="0"/>
              <a:pPr/>
              <a:t>28</a:t>
            </a:fld>
            <a:endParaRPr kumimoji="1" lang="en-US" altLang="ja-JP" dirty="0"/>
          </a:p>
        </p:txBody>
      </p:sp>
      <p:sp>
        <p:nvSpPr>
          <p:cNvPr id="4" name="コンテンツ プレースホルダー 3">
            <a:extLst>
              <a:ext uri="{FF2B5EF4-FFF2-40B4-BE49-F238E27FC236}">
                <a16:creationId xmlns:a16="http://schemas.microsoft.com/office/drawing/2014/main" id="{00BCBFDD-FC97-095B-FD34-10F49E1B42D3}"/>
              </a:ext>
            </a:extLst>
          </p:cNvPr>
          <p:cNvSpPr>
            <a:spLocks noGrp="1"/>
          </p:cNvSpPr>
          <p:nvPr>
            <p:ph sz="half" idx="10"/>
          </p:nvPr>
        </p:nvSpPr>
        <p:spPr>
          <a:xfrm>
            <a:off x="496885" y="1426912"/>
            <a:ext cx="13745207" cy="1446550"/>
          </a:xfrm>
        </p:spPr>
        <p:txBody>
          <a:bodyPr/>
          <a:lstStyle/>
          <a:p>
            <a:pPr marL="0" indent="0">
              <a:buNone/>
            </a:pPr>
            <a:r>
              <a:rPr kumimoji="1" lang="ja-JP" altLang="en-US" sz="2800" b="0" dirty="0"/>
              <a:t>例えば”</a:t>
            </a:r>
            <a:r>
              <a:rPr kumimoji="1" lang="en-US" altLang="ja-JP" sz="2800" b="0" dirty="0"/>
              <a:t>warning”</a:t>
            </a:r>
            <a:r>
              <a:rPr kumimoji="1" lang="ja-JP" altLang="en-US" sz="2800" b="0" dirty="0"/>
              <a:t>という単語でログを検索しているなどの都合上、</a:t>
            </a:r>
            <a:endParaRPr kumimoji="1" lang="en-US" altLang="ja-JP" sz="2800" b="0" dirty="0"/>
          </a:p>
          <a:p>
            <a:pPr marL="0" indent="0">
              <a:buNone/>
            </a:pPr>
            <a:r>
              <a:rPr kumimoji="1" lang="ja-JP" altLang="en-US" sz="2800" b="0" dirty="0"/>
              <a:t>該当データがない場合には</a:t>
            </a:r>
            <a:r>
              <a:rPr kumimoji="1" lang="en-US" altLang="ja-JP" sz="2800" b="0" dirty="0"/>
              <a:t>warning</a:t>
            </a:r>
            <a:r>
              <a:rPr kumimoji="1" lang="ja-JP" altLang="en-US" sz="2800" b="0" dirty="0"/>
              <a:t>という文言をコンソールに出力したくない場合は、</a:t>
            </a:r>
            <a:endParaRPr kumimoji="1" lang="en-US" altLang="ja-JP" sz="2800" b="0" dirty="0"/>
          </a:p>
          <a:p>
            <a:pPr marL="0" indent="0">
              <a:buNone/>
            </a:pPr>
            <a:r>
              <a:rPr kumimoji="1" lang="en-US" altLang="ja-JP" sz="2800" b="0" dirty="0"/>
              <a:t>message</a:t>
            </a:r>
            <a:r>
              <a:rPr kumimoji="1" lang="ja-JP" altLang="en-US" sz="2800" b="0" dirty="0"/>
              <a:t>関数を用いて以下のように記載すれば良い</a:t>
            </a:r>
            <a:endParaRPr kumimoji="1" lang="en-US" altLang="ja-JP" sz="2800" b="0" dirty="0"/>
          </a:p>
        </p:txBody>
      </p:sp>
      <p:sp>
        <p:nvSpPr>
          <p:cNvPr id="5" name="正方形/長方形 4">
            <a:extLst>
              <a:ext uri="{FF2B5EF4-FFF2-40B4-BE49-F238E27FC236}">
                <a16:creationId xmlns:a16="http://schemas.microsoft.com/office/drawing/2014/main" id="{054B6D1D-2C34-EB4E-2AFA-66E473DBA096}"/>
              </a:ext>
            </a:extLst>
          </p:cNvPr>
          <p:cNvSpPr/>
          <p:nvPr/>
        </p:nvSpPr>
        <p:spPr>
          <a:xfrm>
            <a:off x="496885" y="3175000"/>
            <a:ext cx="11364915" cy="15494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A8D6697-2562-577B-3463-B734415C7C69}"/>
              </a:ext>
            </a:extLst>
          </p:cNvPr>
          <p:cNvSpPr txBox="1"/>
          <p:nvPr/>
        </p:nvSpPr>
        <p:spPr>
          <a:xfrm>
            <a:off x="496885" y="3292109"/>
            <a:ext cx="11606215" cy="1323439"/>
          </a:xfrm>
          <a:prstGeom prst="rect">
            <a:avLst/>
          </a:prstGeom>
          <a:noFill/>
        </p:spPr>
        <p:txBody>
          <a:bodyPr wrap="square">
            <a:spAutoFit/>
          </a:bodyPr>
          <a:lstStyle/>
          <a:p>
            <a:r>
              <a:rPr lang="en-US" altLang="ja-JP" sz="2000" dirty="0">
                <a:solidFill>
                  <a:srgbClr val="00B050"/>
                </a:solidFill>
              </a:rPr>
              <a:t># </a:t>
            </a:r>
            <a:r>
              <a:rPr lang="ja-JP" altLang="en-US" sz="2000" dirty="0">
                <a:solidFill>
                  <a:srgbClr val="00B050"/>
                </a:solidFill>
              </a:rPr>
              <a:t>未来日付があれば警告（該当データがなければ</a:t>
            </a:r>
            <a:r>
              <a:rPr lang="en-US" altLang="ja-JP" sz="2000" dirty="0">
                <a:solidFill>
                  <a:srgbClr val="00B050"/>
                </a:solidFill>
              </a:rPr>
              <a:t>warning</a:t>
            </a:r>
            <a:r>
              <a:rPr lang="ja-JP" altLang="en-US" sz="2000" dirty="0">
                <a:solidFill>
                  <a:srgbClr val="00B050"/>
                </a:solidFill>
              </a:rPr>
              <a:t>という文言はコンソールに表示されない）</a:t>
            </a:r>
          </a:p>
          <a:p>
            <a:r>
              <a:rPr lang="en-US" altLang="ja-JP" sz="2000" dirty="0">
                <a:solidFill>
                  <a:srgbClr val="3333FF"/>
                </a:solidFill>
              </a:rPr>
              <a:t>if</a:t>
            </a:r>
            <a:r>
              <a:rPr lang="en-US" altLang="ja-JP" sz="2000" dirty="0">
                <a:solidFill>
                  <a:schemeClr val="tx1"/>
                </a:solidFill>
              </a:rPr>
              <a:t> (any(dates &gt; today)) {</a:t>
            </a:r>
          </a:p>
          <a:p>
            <a:r>
              <a:rPr lang="en-US" altLang="ja-JP" sz="2000" dirty="0">
                <a:solidFill>
                  <a:schemeClr val="tx1"/>
                </a:solidFill>
              </a:rPr>
              <a:t>  message(</a:t>
            </a:r>
            <a:r>
              <a:rPr lang="en-US" altLang="ja-JP" sz="2000" dirty="0">
                <a:solidFill>
                  <a:srgbClr val="00B050"/>
                </a:solidFill>
              </a:rPr>
              <a:t>"w"</a:t>
            </a:r>
            <a:r>
              <a:rPr lang="en-US" altLang="ja-JP" sz="2000" dirty="0">
                <a:solidFill>
                  <a:schemeClr val="tx1"/>
                </a:solidFill>
              </a:rPr>
              <a:t>, </a:t>
            </a:r>
            <a:r>
              <a:rPr lang="en-US" altLang="ja-JP" sz="2000" dirty="0">
                <a:solidFill>
                  <a:srgbClr val="00B050"/>
                </a:solidFill>
              </a:rPr>
              <a:t>"</a:t>
            </a:r>
            <a:r>
              <a:rPr lang="en-US" altLang="ja-JP" sz="2000" dirty="0" err="1">
                <a:solidFill>
                  <a:srgbClr val="00B050"/>
                </a:solidFill>
              </a:rPr>
              <a:t>arning</a:t>
            </a:r>
            <a:r>
              <a:rPr lang="en-US" altLang="ja-JP" sz="2000" dirty="0">
                <a:solidFill>
                  <a:srgbClr val="00B050"/>
                </a:solidFill>
              </a:rPr>
              <a:t> </a:t>
            </a:r>
            <a:r>
              <a:rPr lang="ja-JP" altLang="en-US" sz="2000" dirty="0">
                <a:solidFill>
                  <a:srgbClr val="00B050"/>
                </a:solidFill>
              </a:rPr>
              <a:t>未来日付が含まれています</a:t>
            </a:r>
            <a:r>
              <a:rPr lang="en-US" altLang="ja-JP" sz="2000" dirty="0">
                <a:solidFill>
                  <a:srgbClr val="00B050"/>
                </a:solidFill>
              </a:rPr>
              <a:t>:"</a:t>
            </a:r>
            <a:r>
              <a:rPr lang="en-US" altLang="ja-JP" sz="2000" dirty="0">
                <a:solidFill>
                  <a:schemeClr val="tx1"/>
                </a:solidFill>
              </a:rPr>
              <a:t>,</a:t>
            </a:r>
            <a:r>
              <a:rPr lang="en-US" altLang="ja-JP" sz="2000" dirty="0">
                <a:solidFill>
                  <a:srgbClr val="00B050"/>
                </a:solidFill>
              </a:rPr>
              <a:t> </a:t>
            </a:r>
            <a:r>
              <a:rPr lang="en-US" altLang="ja-JP" sz="2000" dirty="0">
                <a:solidFill>
                  <a:schemeClr val="tx1"/>
                </a:solidFill>
              </a:rPr>
              <a:t>paste(dates[dates &gt; today], collapse = ", "))</a:t>
            </a:r>
          </a:p>
          <a:p>
            <a:r>
              <a:rPr lang="en-US" altLang="ja-JP" sz="2000" dirty="0">
                <a:solidFill>
                  <a:schemeClr val="tx1"/>
                </a:solidFill>
              </a:rPr>
              <a:t>}</a:t>
            </a:r>
          </a:p>
        </p:txBody>
      </p:sp>
      <p:sp>
        <p:nvSpPr>
          <p:cNvPr id="7" name="コンテンツ プレースホルダー 3">
            <a:extLst>
              <a:ext uri="{FF2B5EF4-FFF2-40B4-BE49-F238E27FC236}">
                <a16:creationId xmlns:a16="http://schemas.microsoft.com/office/drawing/2014/main" id="{70BDFB8B-91A0-56F1-AA9A-8BAD611EB676}"/>
              </a:ext>
            </a:extLst>
          </p:cNvPr>
          <p:cNvSpPr txBox="1">
            <a:spLocks/>
          </p:cNvSpPr>
          <p:nvPr/>
        </p:nvSpPr>
        <p:spPr>
          <a:xfrm>
            <a:off x="496884" y="5284907"/>
            <a:ext cx="13745207" cy="430887"/>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Font typeface="Arial" panose="020B0604020202020204" pitchFamily="34" charset="0"/>
              <a:buNone/>
            </a:pPr>
            <a:r>
              <a:rPr kumimoji="1" lang="ja-JP" altLang="en-US" sz="2800" b="0" dirty="0"/>
              <a:t>また、該当データの出力は難しいが、意図しない処理の検知には</a:t>
            </a:r>
            <a:r>
              <a:rPr kumimoji="1" lang="en-US" altLang="ja-JP" sz="2800" b="0" dirty="0" err="1"/>
              <a:t>stopifnot</a:t>
            </a:r>
            <a:r>
              <a:rPr kumimoji="1" lang="ja-JP" altLang="en-US" sz="2800" b="0" dirty="0"/>
              <a:t>関数も有用</a:t>
            </a:r>
            <a:endParaRPr kumimoji="1" lang="en-US" altLang="ja-JP" sz="2800" b="0" dirty="0"/>
          </a:p>
        </p:txBody>
      </p:sp>
      <p:sp>
        <p:nvSpPr>
          <p:cNvPr id="8" name="正方形/長方形 7">
            <a:extLst>
              <a:ext uri="{FF2B5EF4-FFF2-40B4-BE49-F238E27FC236}">
                <a16:creationId xmlns:a16="http://schemas.microsoft.com/office/drawing/2014/main" id="{46346DEB-6F98-AB5C-00F9-29879FE57370}"/>
              </a:ext>
            </a:extLst>
          </p:cNvPr>
          <p:cNvSpPr/>
          <p:nvPr/>
        </p:nvSpPr>
        <p:spPr>
          <a:xfrm>
            <a:off x="496884" y="5937595"/>
            <a:ext cx="5230817" cy="15494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700105E-8EB1-F0A6-0A47-A80E9E261D82}"/>
              </a:ext>
            </a:extLst>
          </p:cNvPr>
          <p:cNvSpPr txBox="1"/>
          <p:nvPr/>
        </p:nvSpPr>
        <p:spPr>
          <a:xfrm>
            <a:off x="496885" y="6054704"/>
            <a:ext cx="5230816" cy="1323439"/>
          </a:xfrm>
          <a:prstGeom prst="rect">
            <a:avLst/>
          </a:prstGeom>
          <a:noFill/>
        </p:spPr>
        <p:txBody>
          <a:bodyPr wrap="square">
            <a:spAutoFit/>
          </a:bodyPr>
          <a:lstStyle/>
          <a:p>
            <a:r>
              <a:rPr lang="en-US" altLang="ja-JP" sz="2000" dirty="0">
                <a:solidFill>
                  <a:schemeClr val="tx1"/>
                </a:solidFill>
              </a:rPr>
              <a:t>x &lt;- </a:t>
            </a:r>
            <a:r>
              <a:rPr lang="en-US" altLang="ja-JP" sz="2000" dirty="0">
                <a:solidFill>
                  <a:srgbClr val="3333FF"/>
                </a:solidFill>
              </a:rPr>
              <a:t>0</a:t>
            </a:r>
          </a:p>
          <a:p>
            <a:r>
              <a:rPr lang="en-US" altLang="ja-JP" sz="2000" dirty="0" err="1">
                <a:solidFill>
                  <a:schemeClr val="tx1"/>
                </a:solidFill>
              </a:rPr>
              <a:t>stopifnot</a:t>
            </a:r>
            <a:r>
              <a:rPr lang="en-US" altLang="ja-JP" sz="2000" dirty="0">
                <a:solidFill>
                  <a:schemeClr val="tx1"/>
                </a:solidFill>
              </a:rPr>
              <a:t>(</a:t>
            </a:r>
            <a:r>
              <a:rPr lang="en-US" altLang="ja-JP" sz="2000" dirty="0">
                <a:solidFill>
                  <a:srgbClr val="00B050"/>
                </a:solidFill>
              </a:rPr>
              <a:t>"x &gt; 3</a:t>
            </a:r>
            <a:r>
              <a:rPr lang="ja-JP" altLang="en-US" sz="2000" dirty="0">
                <a:solidFill>
                  <a:srgbClr val="00B050"/>
                </a:solidFill>
              </a:rPr>
              <a:t>でない場合はエラー</a:t>
            </a:r>
            <a:r>
              <a:rPr lang="en-US" altLang="ja-JP" sz="2000" dirty="0">
                <a:solidFill>
                  <a:srgbClr val="00B050"/>
                </a:solidFill>
              </a:rPr>
              <a:t>" </a:t>
            </a:r>
            <a:r>
              <a:rPr lang="en-US" altLang="ja-JP" sz="2000" dirty="0">
                <a:solidFill>
                  <a:schemeClr val="tx1"/>
                </a:solidFill>
              </a:rPr>
              <a:t>= x &gt; </a:t>
            </a:r>
            <a:r>
              <a:rPr lang="en-US" altLang="ja-JP" sz="2000" dirty="0">
                <a:solidFill>
                  <a:srgbClr val="3333FF"/>
                </a:solidFill>
              </a:rPr>
              <a:t>3</a:t>
            </a:r>
            <a:r>
              <a:rPr lang="en-US" altLang="ja-JP" sz="2000" dirty="0">
                <a:solidFill>
                  <a:schemeClr val="tx1"/>
                </a:solidFill>
              </a:rPr>
              <a:t>)</a:t>
            </a:r>
          </a:p>
          <a:p>
            <a:r>
              <a:rPr lang="en-US" altLang="ja-JP" sz="2000" dirty="0">
                <a:solidFill>
                  <a:schemeClr val="tx1"/>
                </a:solidFill>
              </a:rPr>
              <a:t>x &lt;- </a:t>
            </a:r>
            <a:r>
              <a:rPr lang="en-US" altLang="ja-JP" sz="2000" dirty="0">
                <a:solidFill>
                  <a:srgbClr val="3333FF"/>
                </a:solidFill>
              </a:rPr>
              <a:t>5</a:t>
            </a:r>
          </a:p>
          <a:p>
            <a:r>
              <a:rPr lang="en-US" altLang="ja-JP" sz="2000" dirty="0" err="1">
                <a:solidFill>
                  <a:schemeClr val="tx1"/>
                </a:solidFill>
              </a:rPr>
              <a:t>stopifnot</a:t>
            </a:r>
            <a:r>
              <a:rPr lang="en-US" altLang="ja-JP" sz="2000" dirty="0">
                <a:solidFill>
                  <a:schemeClr val="tx1"/>
                </a:solidFill>
              </a:rPr>
              <a:t>(</a:t>
            </a:r>
            <a:r>
              <a:rPr lang="en-US" altLang="ja-JP" sz="2000" dirty="0">
                <a:solidFill>
                  <a:srgbClr val="00B050"/>
                </a:solidFill>
              </a:rPr>
              <a:t>"x &gt; 3</a:t>
            </a:r>
            <a:r>
              <a:rPr lang="ja-JP" altLang="en-US" sz="2000" dirty="0">
                <a:solidFill>
                  <a:srgbClr val="00B050"/>
                </a:solidFill>
              </a:rPr>
              <a:t>でない場合はエラー</a:t>
            </a:r>
            <a:r>
              <a:rPr lang="en-US" altLang="ja-JP" sz="2000" dirty="0">
                <a:solidFill>
                  <a:srgbClr val="00B050"/>
                </a:solidFill>
              </a:rPr>
              <a:t>" </a:t>
            </a:r>
            <a:r>
              <a:rPr lang="en-US" altLang="ja-JP" sz="2000" dirty="0">
                <a:solidFill>
                  <a:schemeClr val="tx1"/>
                </a:solidFill>
              </a:rPr>
              <a:t>= x &gt; </a:t>
            </a:r>
            <a:r>
              <a:rPr lang="en-US" altLang="ja-JP" sz="2000" dirty="0">
                <a:solidFill>
                  <a:srgbClr val="3333FF"/>
                </a:solidFill>
              </a:rPr>
              <a:t>3</a:t>
            </a:r>
            <a:r>
              <a:rPr lang="en-US" altLang="ja-JP" sz="2000" dirty="0">
                <a:solidFill>
                  <a:schemeClr val="tx1"/>
                </a:solidFill>
              </a:rPr>
              <a:t>)</a:t>
            </a:r>
          </a:p>
        </p:txBody>
      </p:sp>
      <p:pic>
        <p:nvPicPr>
          <p:cNvPr id="11" name="図 10">
            <a:extLst>
              <a:ext uri="{FF2B5EF4-FFF2-40B4-BE49-F238E27FC236}">
                <a16:creationId xmlns:a16="http://schemas.microsoft.com/office/drawing/2014/main" id="{98696E2F-0FBF-EF96-4294-060CD3B09431}"/>
              </a:ext>
            </a:extLst>
          </p:cNvPr>
          <p:cNvPicPr>
            <a:picLocks noChangeAspect="1"/>
          </p:cNvPicPr>
          <p:nvPr/>
        </p:nvPicPr>
        <p:blipFill>
          <a:blip r:embed="rId3"/>
          <a:stretch>
            <a:fillRect/>
          </a:stretch>
        </p:blipFill>
        <p:spPr>
          <a:xfrm>
            <a:off x="5898799" y="5989792"/>
            <a:ext cx="5020376" cy="685896"/>
          </a:xfrm>
          <a:prstGeom prst="rect">
            <a:avLst/>
          </a:prstGeom>
        </p:spPr>
      </p:pic>
      <p:pic>
        <p:nvPicPr>
          <p:cNvPr id="13" name="図 12">
            <a:extLst>
              <a:ext uri="{FF2B5EF4-FFF2-40B4-BE49-F238E27FC236}">
                <a16:creationId xmlns:a16="http://schemas.microsoft.com/office/drawing/2014/main" id="{943E5699-5F6A-0B09-A010-1FCEC3571143}"/>
              </a:ext>
            </a:extLst>
          </p:cNvPr>
          <p:cNvPicPr>
            <a:picLocks noChangeAspect="1"/>
          </p:cNvPicPr>
          <p:nvPr/>
        </p:nvPicPr>
        <p:blipFill>
          <a:blip r:embed="rId4"/>
          <a:stretch>
            <a:fillRect/>
          </a:stretch>
        </p:blipFill>
        <p:spPr>
          <a:xfrm>
            <a:off x="5898799" y="6806377"/>
            <a:ext cx="5077534" cy="800212"/>
          </a:xfrm>
          <a:prstGeom prst="rect">
            <a:avLst/>
          </a:prstGeom>
        </p:spPr>
      </p:pic>
    </p:spTree>
    <p:extLst>
      <p:ext uri="{BB962C8B-B14F-4D97-AF65-F5344CB8AC3E}">
        <p14:creationId xmlns:p14="http://schemas.microsoft.com/office/powerpoint/2010/main" val="547586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A378A-E1DA-07B5-0AF3-66809A19FA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C5DCFE-8D97-53BC-72B8-C79358E929CC}"/>
              </a:ext>
            </a:extLst>
          </p:cNvPr>
          <p:cNvSpPr>
            <a:spLocks noGrp="1"/>
          </p:cNvSpPr>
          <p:nvPr>
            <p:ph type="title"/>
          </p:nvPr>
        </p:nvSpPr>
        <p:spPr/>
        <p:txBody>
          <a:bodyPr/>
          <a:lstStyle/>
          <a:p>
            <a:r>
              <a:rPr kumimoji="1" lang="en-US" altLang="ja-JP" dirty="0" err="1"/>
              <a:t>tryCatch</a:t>
            </a:r>
            <a:r>
              <a:rPr kumimoji="1" lang="ja-JP" altLang="en-US" dirty="0"/>
              <a:t>関数によるエラーハンドリング</a:t>
            </a:r>
          </a:p>
        </p:txBody>
      </p:sp>
      <p:sp>
        <p:nvSpPr>
          <p:cNvPr id="3" name="スライド番号プレースホルダー 2">
            <a:extLst>
              <a:ext uri="{FF2B5EF4-FFF2-40B4-BE49-F238E27FC236}">
                <a16:creationId xmlns:a16="http://schemas.microsoft.com/office/drawing/2014/main" id="{B9E7C741-F507-0CEC-92B6-79F29C594C2E}"/>
              </a:ext>
            </a:extLst>
          </p:cNvPr>
          <p:cNvSpPr>
            <a:spLocks noGrp="1"/>
          </p:cNvSpPr>
          <p:nvPr>
            <p:ph type="sldNum" sz="quarter" idx="4"/>
          </p:nvPr>
        </p:nvSpPr>
        <p:spPr/>
        <p:txBody>
          <a:bodyPr/>
          <a:lstStyle/>
          <a:p>
            <a:fld id="{24AEDCA4-7D12-E34A-9125-9C962139F6EA}" type="slidenum">
              <a:rPr kumimoji="1" lang="en-US" altLang="ja-JP" smtClean="0"/>
              <a:pPr/>
              <a:t>29</a:t>
            </a:fld>
            <a:endParaRPr kumimoji="1" lang="en-US" altLang="ja-JP" dirty="0"/>
          </a:p>
        </p:txBody>
      </p:sp>
      <p:sp>
        <p:nvSpPr>
          <p:cNvPr id="4" name="コンテンツ プレースホルダー 3">
            <a:extLst>
              <a:ext uri="{FF2B5EF4-FFF2-40B4-BE49-F238E27FC236}">
                <a16:creationId xmlns:a16="http://schemas.microsoft.com/office/drawing/2014/main" id="{8773557C-471C-A969-C15A-333185AE119B}"/>
              </a:ext>
            </a:extLst>
          </p:cNvPr>
          <p:cNvSpPr>
            <a:spLocks noGrp="1"/>
          </p:cNvSpPr>
          <p:nvPr>
            <p:ph sz="half" idx="10"/>
          </p:nvPr>
        </p:nvSpPr>
        <p:spPr>
          <a:xfrm>
            <a:off x="496885" y="1426912"/>
            <a:ext cx="13745207" cy="938719"/>
          </a:xfrm>
        </p:spPr>
        <p:txBody>
          <a:bodyPr/>
          <a:lstStyle/>
          <a:p>
            <a:pPr marL="0" indent="0">
              <a:buNone/>
            </a:pPr>
            <a:r>
              <a:rPr kumimoji="1" lang="en-US" altLang="ja-JP" sz="2800" b="0" dirty="0"/>
              <a:t>Error</a:t>
            </a:r>
            <a:r>
              <a:rPr kumimoji="1" lang="ja-JP" altLang="en-US" sz="2800" b="0" dirty="0"/>
              <a:t>が生じた場合、特に手当を行わないと処理が止まってしまうが、</a:t>
            </a:r>
            <a:endParaRPr kumimoji="1" lang="en-US" altLang="ja-JP" sz="2800" b="0" dirty="0"/>
          </a:p>
          <a:p>
            <a:pPr marL="0" indent="0">
              <a:buNone/>
            </a:pPr>
            <a:r>
              <a:rPr kumimoji="1" lang="en-US" altLang="ja-JP" sz="2800" b="0" dirty="0" err="1"/>
              <a:t>tryCatch</a:t>
            </a:r>
            <a:r>
              <a:rPr kumimoji="1" lang="ja-JP" altLang="en-US" sz="2800" b="0" dirty="0"/>
              <a:t>関数を用いれば、エラーや警告が出ても処理を止めずに手当</a:t>
            </a:r>
            <a:r>
              <a:rPr kumimoji="1" lang="en-US" altLang="ja-JP" sz="2800" b="0" dirty="0"/>
              <a:t>(</a:t>
            </a:r>
            <a:r>
              <a:rPr kumimoji="1" lang="ja-JP" altLang="en-US" sz="2800" b="0" dirty="0"/>
              <a:t>例外処理</a:t>
            </a:r>
            <a:r>
              <a:rPr kumimoji="1" lang="en-US" altLang="ja-JP" sz="2800" b="0" dirty="0"/>
              <a:t>)</a:t>
            </a:r>
            <a:r>
              <a:rPr kumimoji="1" lang="ja-JP" altLang="en-US" sz="2800" b="0" dirty="0"/>
              <a:t>が可能</a:t>
            </a:r>
            <a:endParaRPr kumimoji="1" lang="en-US" altLang="ja-JP" sz="2800" b="0" dirty="0"/>
          </a:p>
        </p:txBody>
      </p:sp>
      <p:sp>
        <p:nvSpPr>
          <p:cNvPr id="5" name="正方形/長方形 4">
            <a:extLst>
              <a:ext uri="{FF2B5EF4-FFF2-40B4-BE49-F238E27FC236}">
                <a16:creationId xmlns:a16="http://schemas.microsoft.com/office/drawing/2014/main" id="{E1D59BF4-D306-2E1B-1FA2-82068746402B}"/>
              </a:ext>
            </a:extLst>
          </p:cNvPr>
          <p:cNvSpPr/>
          <p:nvPr/>
        </p:nvSpPr>
        <p:spPr>
          <a:xfrm>
            <a:off x="496885" y="2740660"/>
            <a:ext cx="9790115" cy="27305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98A3E95-2277-13F0-30DD-4F140BFA73E7}"/>
              </a:ext>
            </a:extLst>
          </p:cNvPr>
          <p:cNvSpPr txBox="1"/>
          <p:nvPr/>
        </p:nvSpPr>
        <p:spPr>
          <a:xfrm>
            <a:off x="496885" y="2740660"/>
            <a:ext cx="9790115" cy="2554545"/>
          </a:xfrm>
          <a:prstGeom prst="rect">
            <a:avLst/>
          </a:prstGeom>
          <a:noFill/>
        </p:spPr>
        <p:txBody>
          <a:bodyPr wrap="square">
            <a:spAutoFit/>
          </a:bodyPr>
          <a:lstStyle/>
          <a:p>
            <a:r>
              <a:rPr lang="en-US" altLang="ja-JP" sz="2000" dirty="0">
                <a:solidFill>
                  <a:srgbClr val="00B050"/>
                </a:solidFill>
              </a:rPr>
              <a:t># </a:t>
            </a:r>
            <a:r>
              <a:rPr lang="ja-JP" altLang="en-US" sz="2000" dirty="0">
                <a:solidFill>
                  <a:srgbClr val="00B050"/>
                </a:solidFill>
              </a:rPr>
              <a:t>例として、</a:t>
            </a:r>
            <a:r>
              <a:rPr lang="en-US" altLang="ja-JP" sz="2000" dirty="0">
                <a:solidFill>
                  <a:srgbClr val="00B050"/>
                </a:solidFill>
              </a:rPr>
              <a:t>x</a:t>
            </a:r>
            <a:r>
              <a:rPr lang="ja-JP" altLang="en-US" sz="2000" dirty="0">
                <a:solidFill>
                  <a:srgbClr val="00B050"/>
                </a:solidFill>
              </a:rPr>
              <a:t>が</a:t>
            </a:r>
            <a:r>
              <a:rPr lang="en-US" altLang="ja-JP" sz="2000" dirty="0">
                <a:solidFill>
                  <a:srgbClr val="00B050"/>
                </a:solidFill>
              </a:rPr>
              <a:t>0</a:t>
            </a:r>
            <a:r>
              <a:rPr lang="ja-JP" altLang="en-US" sz="2000" dirty="0">
                <a:solidFill>
                  <a:srgbClr val="00B050"/>
                </a:solidFill>
              </a:rPr>
              <a:t>未満ならばエラーとなり、 </a:t>
            </a:r>
            <a:r>
              <a:rPr lang="en-US" altLang="ja-JP" sz="2000" dirty="0">
                <a:solidFill>
                  <a:srgbClr val="00B050"/>
                </a:solidFill>
              </a:rPr>
              <a:t>x</a:t>
            </a:r>
            <a:r>
              <a:rPr lang="ja-JP" altLang="en-US" sz="2000" dirty="0">
                <a:solidFill>
                  <a:srgbClr val="00B050"/>
                </a:solidFill>
              </a:rPr>
              <a:t>が</a:t>
            </a:r>
            <a:r>
              <a:rPr lang="en-US" altLang="ja-JP" sz="2000" dirty="0">
                <a:solidFill>
                  <a:srgbClr val="00B050"/>
                </a:solidFill>
              </a:rPr>
              <a:t>0</a:t>
            </a:r>
            <a:r>
              <a:rPr lang="ja-JP" altLang="en-US" sz="2000" dirty="0">
                <a:solidFill>
                  <a:srgbClr val="00B050"/>
                </a:solidFill>
              </a:rPr>
              <a:t>ならば警告となる関数を用意する</a:t>
            </a:r>
          </a:p>
          <a:p>
            <a:r>
              <a:rPr lang="en-US" altLang="ja-JP" sz="2000" dirty="0">
                <a:solidFill>
                  <a:schemeClr val="tx1"/>
                </a:solidFill>
              </a:rPr>
              <a:t>f &lt;- </a:t>
            </a:r>
            <a:r>
              <a:rPr lang="en-US" altLang="ja-JP" sz="2000" dirty="0">
                <a:solidFill>
                  <a:srgbClr val="3333FF"/>
                </a:solidFill>
              </a:rPr>
              <a:t>function</a:t>
            </a:r>
            <a:r>
              <a:rPr lang="en-US" altLang="ja-JP" sz="2000" dirty="0">
                <a:solidFill>
                  <a:schemeClr val="tx1"/>
                </a:solidFill>
              </a:rPr>
              <a:t>(x) {</a:t>
            </a:r>
          </a:p>
          <a:p>
            <a:r>
              <a:rPr lang="en-US" altLang="ja-JP" sz="2000" dirty="0">
                <a:solidFill>
                  <a:schemeClr val="tx1"/>
                </a:solidFill>
              </a:rPr>
              <a:t>  </a:t>
            </a:r>
            <a:r>
              <a:rPr lang="en-US" altLang="ja-JP" sz="2000" dirty="0">
                <a:solidFill>
                  <a:srgbClr val="3333FF"/>
                </a:solidFill>
              </a:rPr>
              <a:t>if</a:t>
            </a:r>
            <a:r>
              <a:rPr lang="en-US" altLang="ja-JP" sz="2000" dirty="0">
                <a:solidFill>
                  <a:schemeClr val="tx1"/>
                </a:solidFill>
              </a:rPr>
              <a:t> (x &lt; </a:t>
            </a:r>
            <a:r>
              <a:rPr lang="en-US" altLang="ja-JP" sz="2000" dirty="0">
                <a:solidFill>
                  <a:srgbClr val="3333FF"/>
                </a:solidFill>
              </a:rPr>
              <a:t>0</a:t>
            </a:r>
            <a:r>
              <a:rPr lang="en-US" altLang="ja-JP" sz="2000" dirty="0">
                <a:solidFill>
                  <a:schemeClr val="tx1"/>
                </a:solidFill>
              </a:rPr>
              <a:t>) {</a:t>
            </a:r>
          </a:p>
          <a:p>
            <a:r>
              <a:rPr lang="en-US" altLang="ja-JP" sz="2000" dirty="0">
                <a:solidFill>
                  <a:schemeClr val="tx1"/>
                </a:solidFill>
              </a:rPr>
              <a:t>    </a:t>
            </a:r>
            <a:r>
              <a:rPr lang="en-US" altLang="ja-JP" sz="2000" dirty="0">
                <a:solidFill>
                  <a:srgbClr val="3333FF"/>
                </a:solidFill>
              </a:rPr>
              <a:t>stop</a:t>
            </a:r>
            <a:r>
              <a:rPr lang="en-US" altLang="ja-JP" sz="2000" dirty="0">
                <a:solidFill>
                  <a:schemeClr val="tx1"/>
                </a:solidFill>
              </a:rPr>
              <a:t>(</a:t>
            </a:r>
            <a:r>
              <a:rPr lang="en-US" altLang="ja-JP" sz="2000" dirty="0">
                <a:solidFill>
                  <a:srgbClr val="00B050"/>
                </a:solidFill>
              </a:rPr>
              <a:t>"Error!</a:t>
            </a:r>
            <a:r>
              <a:rPr lang="ja-JP" altLang="en-US" sz="2000" dirty="0">
                <a:solidFill>
                  <a:srgbClr val="00B050"/>
                </a:solidFill>
              </a:rPr>
              <a:t>　</a:t>
            </a:r>
            <a:r>
              <a:rPr lang="en-US" altLang="ja-JP" sz="2000" dirty="0">
                <a:solidFill>
                  <a:srgbClr val="00B050"/>
                </a:solidFill>
              </a:rPr>
              <a:t>x</a:t>
            </a:r>
            <a:r>
              <a:rPr lang="ja-JP" altLang="en-US" sz="2000" dirty="0">
                <a:solidFill>
                  <a:srgbClr val="00B050"/>
                </a:solidFill>
              </a:rPr>
              <a:t>が</a:t>
            </a:r>
            <a:r>
              <a:rPr lang="en-US" altLang="ja-JP" sz="2000" dirty="0">
                <a:solidFill>
                  <a:srgbClr val="00B050"/>
                </a:solidFill>
              </a:rPr>
              <a:t>0</a:t>
            </a:r>
            <a:r>
              <a:rPr lang="ja-JP" altLang="en-US" sz="2000" dirty="0">
                <a:solidFill>
                  <a:srgbClr val="00B050"/>
                </a:solidFill>
              </a:rPr>
              <a:t>未満</a:t>
            </a:r>
            <a:r>
              <a:rPr lang="en-US" altLang="ja-JP" sz="2000" dirty="0">
                <a:solidFill>
                  <a:srgbClr val="00B050"/>
                </a:solidFill>
              </a:rPr>
              <a:t>"</a:t>
            </a:r>
            <a:r>
              <a:rPr lang="en-US" altLang="ja-JP" sz="2000" dirty="0">
                <a:solidFill>
                  <a:schemeClr val="tx1"/>
                </a:solidFill>
              </a:rPr>
              <a:t>)</a:t>
            </a:r>
          </a:p>
          <a:p>
            <a:r>
              <a:rPr lang="en-US" altLang="ja-JP" sz="2000" dirty="0">
                <a:solidFill>
                  <a:schemeClr val="tx1"/>
                </a:solidFill>
              </a:rPr>
              <a:t>    } else if (x == </a:t>
            </a:r>
            <a:r>
              <a:rPr lang="en-US" altLang="ja-JP" sz="2000" dirty="0">
                <a:solidFill>
                  <a:srgbClr val="3333FF"/>
                </a:solidFill>
              </a:rPr>
              <a:t>0</a:t>
            </a:r>
            <a:r>
              <a:rPr lang="en-US" altLang="ja-JP" sz="2000" dirty="0">
                <a:solidFill>
                  <a:schemeClr val="tx1"/>
                </a:solidFill>
              </a:rPr>
              <a:t>) {</a:t>
            </a:r>
          </a:p>
          <a:p>
            <a:r>
              <a:rPr lang="en-US" altLang="ja-JP" sz="2000" dirty="0">
                <a:solidFill>
                  <a:schemeClr val="tx1"/>
                </a:solidFill>
              </a:rPr>
              <a:t>      </a:t>
            </a:r>
            <a:r>
              <a:rPr lang="en-US" altLang="ja-JP" sz="2000" dirty="0">
                <a:solidFill>
                  <a:srgbClr val="3333FF"/>
                </a:solidFill>
              </a:rPr>
              <a:t>warning</a:t>
            </a:r>
            <a:r>
              <a:rPr lang="en-US" altLang="ja-JP" sz="2000" dirty="0">
                <a:solidFill>
                  <a:schemeClr val="tx1"/>
                </a:solidFill>
              </a:rPr>
              <a:t>(</a:t>
            </a:r>
            <a:r>
              <a:rPr lang="en-US" altLang="ja-JP" sz="2000" dirty="0">
                <a:solidFill>
                  <a:srgbClr val="00B050"/>
                </a:solidFill>
              </a:rPr>
              <a:t>"Warning!</a:t>
            </a:r>
            <a:r>
              <a:rPr lang="ja-JP" altLang="en-US" sz="2000" dirty="0">
                <a:solidFill>
                  <a:srgbClr val="00B050"/>
                </a:solidFill>
              </a:rPr>
              <a:t>　</a:t>
            </a:r>
            <a:r>
              <a:rPr lang="en-US" altLang="ja-JP" sz="2000" dirty="0">
                <a:solidFill>
                  <a:srgbClr val="00B050"/>
                </a:solidFill>
              </a:rPr>
              <a:t>x</a:t>
            </a:r>
            <a:r>
              <a:rPr lang="ja-JP" altLang="en-US" sz="2000" dirty="0">
                <a:solidFill>
                  <a:srgbClr val="00B050"/>
                </a:solidFill>
              </a:rPr>
              <a:t>が</a:t>
            </a:r>
            <a:r>
              <a:rPr lang="en-US" altLang="ja-JP" sz="2000" dirty="0">
                <a:solidFill>
                  <a:srgbClr val="00B050"/>
                </a:solidFill>
              </a:rPr>
              <a:t>0"</a:t>
            </a:r>
            <a:r>
              <a:rPr lang="en-US" altLang="ja-JP" sz="2000" dirty="0">
                <a:solidFill>
                  <a:schemeClr val="tx1"/>
                </a:solidFill>
              </a:rPr>
              <a:t>)</a:t>
            </a:r>
          </a:p>
          <a:p>
            <a:r>
              <a:rPr lang="en-US" altLang="ja-JP" sz="2000" dirty="0">
                <a:solidFill>
                  <a:schemeClr val="tx1"/>
                </a:solidFill>
              </a:rPr>
              <a:t>  }</a:t>
            </a:r>
          </a:p>
          <a:p>
            <a:r>
              <a:rPr lang="en-US" altLang="ja-JP" sz="2000" dirty="0">
                <a:solidFill>
                  <a:schemeClr val="tx1"/>
                </a:solidFill>
              </a:rPr>
              <a:t>}</a:t>
            </a:r>
          </a:p>
        </p:txBody>
      </p:sp>
    </p:spTree>
    <p:extLst>
      <p:ext uri="{BB962C8B-B14F-4D97-AF65-F5344CB8AC3E}">
        <p14:creationId xmlns:p14="http://schemas.microsoft.com/office/powerpoint/2010/main" val="4125202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5ECB5-5A26-E78E-C0DB-BAA58F5834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A3A2B9-F81F-1697-C5F1-AB1AB83B9F6E}"/>
              </a:ext>
            </a:extLst>
          </p:cNvPr>
          <p:cNvSpPr>
            <a:spLocks noGrp="1"/>
          </p:cNvSpPr>
          <p:nvPr>
            <p:ph type="title"/>
          </p:nvPr>
        </p:nvSpPr>
        <p:spPr/>
        <p:txBody>
          <a:bodyPr/>
          <a:lstStyle/>
          <a:p>
            <a:r>
              <a:rPr kumimoji="1" lang="en-US" altLang="ja-JP" dirty="0" err="1"/>
              <a:t>tryCatch</a:t>
            </a:r>
            <a:r>
              <a:rPr kumimoji="1" lang="ja-JP" altLang="en-US" dirty="0"/>
              <a:t>関数によるエラーハンドリング</a:t>
            </a:r>
          </a:p>
        </p:txBody>
      </p:sp>
      <p:sp>
        <p:nvSpPr>
          <p:cNvPr id="3" name="スライド番号プレースホルダー 2">
            <a:extLst>
              <a:ext uri="{FF2B5EF4-FFF2-40B4-BE49-F238E27FC236}">
                <a16:creationId xmlns:a16="http://schemas.microsoft.com/office/drawing/2014/main" id="{DB477AFB-7093-B2E6-CC25-84FA1273D4D6}"/>
              </a:ext>
            </a:extLst>
          </p:cNvPr>
          <p:cNvSpPr>
            <a:spLocks noGrp="1"/>
          </p:cNvSpPr>
          <p:nvPr>
            <p:ph type="sldNum" sz="quarter" idx="4"/>
          </p:nvPr>
        </p:nvSpPr>
        <p:spPr/>
        <p:txBody>
          <a:bodyPr/>
          <a:lstStyle/>
          <a:p>
            <a:fld id="{24AEDCA4-7D12-E34A-9125-9C962139F6EA}" type="slidenum">
              <a:rPr kumimoji="1" lang="en-US" altLang="ja-JP" smtClean="0"/>
              <a:pPr/>
              <a:t>30</a:t>
            </a:fld>
            <a:endParaRPr kumimoji="1" lang="en-US" altLang="ja-JP" dirty="0"/>
          </a:p>
        </p:txBody>
      </p:sp>
      <p:sp>
        <p:nvSpPr>
          <p:cNvPr id="5" name="正方形/長方形 4">
            <a:extLst>
              <a:ext uri="{FF2B5EF4-FFF2-40B4-BE49-F238E27FC236}">
                <a16:creationId xmlns:a16="http://schemas.microsoft.com/office/drawing/2014/main" id="{10B5E826-C453-84BE-FE40-72048FFC4E30}"/>
              </a:ext>
            </a:extLst>
          </p:cNvPr>
          <p:cNvSpPr/>
          <p:nvPr/>
        </p:nvSpPr>
        <p:spPr>
          <a:xfrm>
            <a:off x="166381" y="1146317"/>
            <a:ext cx="13998964" cy="6618248"/>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A4B1B69-4AA6-0DBC-55B9-3100BF5A75C1}"/>
              </a:ext>
            </a:extLst>
          </p:cNvPr>
          <p:cNvSpPr txBox="1"/>
          <p:nvPr/>
        </p:nvSpPr>
        <p:spPr>
          <a:xfrm>
            <a:off x="256866" y="1223787"/>
            <a:ext cx="13998964" cy="6463308"/>
          </a:xfrm>
          <a:prstGeom prst="rect">
            <a:avLst/>
          </a:prstGeom>
          <a:noFill/>
        </p:spPr>
        <p:txBody>
          <a:bodyPr wrap="square">
            <a:spAutoFit/>
          </a:bodyPr>
          <a:lstStyle/>
          <a:p>
            <a:r>
              <a:rPr lang="en-US" altLang="ja-JP" dirty="0">
                <a:solidFill>
                  <a:srgbClr val="00B050"/>
                </a:solidFill>
              </a:rPr>
              <a:t># </a:t>
            </a:r>
            <a:r>
              <a:rPr lang="en-US" altLang="ja-JP" dirty="0" err="1">
                <a:solidFill>
                  <a:srgbClr val="00B050"/>
                </a:solidFill>
              </a:rPr>
              <a:t>tryCatch</a:t>
            </a:r>
            <a:r>
              <a:rPr lang="ja-JP" altLang="en-US" dirty="0">
                <a:solidFill>
                  <a:srgbClr val="00B050"/>
                </a:solidFill>
              </a:rPr>
              <a:t>を用いることで、エラーや警告が出ても処理を止めずに手当（例外処理）を行うことができる</a:t>
            </a:r>
          </a:p>
          <a:p>
            <a:r>
              <a:rPr lang="en-US" altLang="ja-JP" dirty="0">
                <a:solidFill>
                  <a:schemeClr val="tx1"/>
                </a:solidFill>
              </a:rPr>
              <a:t>g &lt;- </a:t>
            </a:r>
            <a:r>
              <a:rPr lang="en-US" altLang="ja-JP" dirty="0">
                <a:solidFill>
                  <a:srgbClr val="3333FF"/>
                </a:solidFill>
              </a:rPr>
              <a:t>function</a:t>
            </a:r>
            <a:r>
              <a:rPr lang="en-US" altLang="ja-JP" dirty="0">
                <a:solidFill>
                  <a:schemeClr val="tx1"/>
                </a:solidFill>
              </a:rPr>
              <a:t>(x) {</a:t>
            </a:r>
          </a:p>
          <a:p>
            <a:r>
              <a:rPr lang="en-US" altLang="ja-JP" dirty="0">
                <a:solidFill>
                  <a:schemeClr val="tx1"/>
                </a:solidFill>
              </a:rPr>
              <a:t>  </a:t>
            </a:r>
            <a:r>
              <a:rPr lang="en-US" altLang="ja-JP" dirty="0" err="1">
                <a:solidFill>
                  <a:srgbClr val="3333FF"/>
                </a:solidFill>
              </a:rPr>
              <a:t>tryCatch</a:t>
            </a:r>
            <a:r>
              <a:rPr lang="en-US" altLang="ja-JP" dirty="0">
                <a:solidFill>
                  <a:schemeClr val="tx1"/>
                </a:solidFill>
              </a:rPr>
              <a:t>({</a:t>
            </a:r>
          </a:p>
          <a:p>
            <a:r>
              <a:rPr lang="en-US" altLang="ja-JP" dirty="0">
                <a:solidFill>
                  <a:schemeClr val="tx1"/>
                </a:solidFill>
              </a:rPr>
              <a:t>    f(x)</a:t>
            </a:r>
          </a:p>
          <a:p>
            <a:r>
              <a:rPr lang="en-US" altLang="ja-JP" dirty="0">
                <a:solidFill>
                  <a:schemeClr val="tx1"/>
                </a:solidFill>
              </a:rPr>
              <a:t>    </a:t>
            </a:r>
            <a:r>
              <a:rPr lang="en-US" altLang="ja-JP" dirty="0">
                <a:solidFill>
                  <a:srgbClr val="3333FF"/>
                </a:solidFill>
              </a:rPr>
              <a:t>return</a:t>
            </a:r>
            <a:r>
              <a:rPr lang="en-US" altLang="ja-JP" dirty="0">
                <a:solidFill>
                  <a:schemeClr val="tx1"/>
                </a:solidFill>
              </a:rPr>
              <a:t>(x)</a:t>
            </a:r>
          </a:p>
          <a:p>
            <a:r>
              <a:rPr lang="en-US" altLang="ja-JP" dirty="0">
                <a:solidFill>
                  <a:schemeClr val="tx1"/>
                </a:solidFill>
              </a:rPr>
              <a:t>  },</a:t>
            </a:r>
          </a:p>
          <a:p>
            <a:r>
              <a:rPr lang="en-US" altLang="ja-JP" dirty="0">
                <a:solidFill>
                  <a:schemeClr val="tx1"/>
                </a:solidFill>
              </a:rPr>
              <a:t>  error = </a:t>
            </a:r>
            <a:r>
              <a:rPr lang="en-US" altLang="ja-JP" dirty="0">
                <a:solidFill>
                  <a:srgbClr val="3333FF"/>
                </a:solidFill>
              </a:rPr>
              <a:t>function</a:t>
            </a:r>
            <a:r>
              <a:rPr lang="en-US" altLang="ja-JP" dirty="0">
                <a:solidFill>
                  <a:schemeClr val="tx1"/>
                </a:solidFill>
              </a:rPr>
              <a:t>(e) {</a:t>
            </a:r>
          </a:p>
          <a:p>
            <a:r>
              <a:rPr lang="en-US" altLang="ja-JP" dirty="0">
                <a:solidFill>
                  <a:srgbClr val="00B050"/>
                </a:solidFill>
              </a:rPr>
              <a:t>    </a:t>
            </a:r>
            <a:r>
              <a:rPr lang="en-US" altLang="ja-JP" dirty="0">
                <a:solidFill>
                  <a:schemeClr val="tx1"/>
                </a:solidFill>
              </a:rPr>
              <a:t>cat( </a:t>
            </a:r>
            <a:r>
              <a:rPr lang="en-US" altLang="ja-JP" dirty="0" err="1">
                <a:solidFill>
                  <a:srgbClr val="00B050"/>
                </a:solidFill>
              </a:rPr>
              <a:t>e$message</a:t>
            </a:r>
            <a:r>
              <a:rPr lang="en-US" altLang="ja-JP" dirty="0">
                <a:solidFill>
                  <a:srgbClr val="00B050"/>
                </a:solidFill>
              </a:rPr>
              <a:t>,</a:t>
            </a:r>
            <a:r>
              <a:rPr lang="en-US" altLang="ja-JP" sz="1800" dirty="0">
                <a:solidFill>
                  <a:srgbClr val="00B050"/>
                </a:solidFill>
              </a:rPr>
              <a:t> "</a:t>
            </a:r>
            <a:r>
              <a:rPr lang="ja-JP" altLang="en-US" dirty="0">
                <a:solidFill>
                  <a:srgbClr val="00B050"/>
                </a:solidFill>
              </a:rPr>
              <a:t>であるため</a:t>
            </a:r>
            <a:r>
              <a:rPr lang="en-US" altLang="ja-JP" dirty="0">
                <a:solidFill>
                  <a:srgbClr val="00B050"/>
                </a:solidFill>
              </a:rPr>
              <a:t>NA</a:t>
            </a:r>
            <a:r>
              <a:rPr lang="ja-JP" altLang="en-US" dirty="0">
                <a:solidFill>
                  <a:srgbClr val="00B050"/>
                </a:solidFill>
              </a:rPr>
              <a:t>を返します</a:t>
            </a:r>
            <a:r>
              <a:rPr lang="en-US" altLang="ja-JP" sz="1800" dirty="0">
                <a:solidFill>
                  <a:srgbClr val="00B050"/>
                </a:solidFill>
              </a:rPr>
              <a:t>"</a:t>
            </a:r>
            <a:r>
              <a:rPr lang="en-US" altLang="ja-JP" dirty="0">
                <a:solidFill>
                  <a:schemeClr val="tx1"/>
                </a:solidFill>
              </a:rPr>
              <a:t>,</a:t>
            </a:r>
            <a:r>
              <a:rPr lang="en-US" altLang="ja-JP" dirty="0">
                <a:solidFill>
                  <a:srgbClr val="00B050"/>
                </a:solidFill>
              </a:rPr>
              <a:t> </a:t>
            </a:r>
            <a:r>
              <a:rPr lang="en-US" altLang="ja-JP" sz="1800" dirty="0">
                <a:solidFill>
                  <a:srgbClr val="00B050"/>
                </a:solidFill>
              </a:rPr>
              <a:t>"</a:t>
            </a:r>
            <a:r>
              <a:rPr lang="en-US" altLang="ja-JP" dirty="0">
                <a:solidFill>
                  <a:srgbClr val="00B050"/>
                </a:solidFill>
              </a:rPr>
              <a:t>\n</a:t>
            </a:r>
            <a:r>
              <a:rPr lang="en-US" altLang="ja-JP" sz="1800" dirty="0">
                <a:solidFill>
                  <a:srgbClr val="00B050"/>
                </a:solidFill>
              </a:rPr>
              <a:t>"</a:t>
            </a:r>
            <a:r>
              <a:rPr lang="en-US" altLang="ja-JP" dirty="0">
                <a:solidFill>
                  <a:schemeClr val="tx1"/>
                </a:solidFill>
              </a:rPr>
              <a:t>)</a:t>
            </a:r>
            <a:r>
              <a:rPr lang="ja-JP" altLang="en-US" dirty="0">
                <a:solidFill>
                  <a:srgbClr val="00B050"/>
                </a:solidFill>
              </a:rPr>
              <a:t>　</a:t>
            </a:r>
            <a:r>
              <a:rPr lang="en-US" altLang="ja-JP" sz="1600" dirty="0">
                <a:solidFill>
                  <a:srgbClr val="00B050"/>
                </a:solidFill>
              </a:rPr>
              <a:t># </a:t>
            </a:r>
            <a:r>
              <a:rPr lang="ja-JP" altLang="en-US" sz="1600" dirty="0">
                <a:solidFill>
                  <a:srgbClr val="00B050"/>
                </a:solidFill>
              </a:rPr>
              <a:t>エラー時にはこちらの処理が動く。</a:t>
            </a:r>
            <a:r>
              <a:rPr lang="en-US" altLang="ja-JP" sz="1600" dirty="0" err="1">
                <a:solidFill>
                  <a:srgbClr val="00B050"/>
                </a:solidFill>
              </a:rPr>
              <a:t>e$message</a:t>
            </a:r>
            <a:r>
              <a:rPr lang="ja-JP" altLang="en-US" sz="1600" dirty="0">
                <a:solidFill>
                  <a:srgbClr val="00B050"/>
                </a:solidFill>
              </a:rPr>
              <a:t>にはエラーメッセージが格納されている</a:t>
            </a:r>
          </a:p>
          <a:p>
            <a:r>
              <a:rPr lang="ja-JP" altLang="en-US" dirty="0">
                <a:solidFill>
                  <a:schemeClr val="tx1"/>
                </a:solidFill>
              </a:rPr>
              <a:t>    </a:t>
            </a:r>
            <a:r>
              <a:rPr lang="en-US" altLang="ja-JP" dirty="0">
                <a:solidFill>
                  <a:srgbClr val="3333FF"/>
                </a:solidFill>
              </a:rPr>
              <a:t>return</a:t>
            </a:r>
            <a:r>
              <a:rPr lang="en-US" altLang="ja-JP" dirty="0">
                <a:solidFill>
                  <a:schemeClr val="tx1"/>
                </a:solidFill>
              </a:rPr>
              <a:t>(</a:t>
            </a:r>
            <a:r>
              <a:rPr lang="en-US" altLang="ja-JP" dirty="0">
                <a:solidFill>
                  <a:srgbClr val="3333FF"/>
                </a:solidFill>
              </a:rPr>
              <a:t>NA</a:t>
            </a:r>
            <a:r>
              <a:rPr lang="en-US" altLang="ja-JP" dirty="0">
                <a:solidFill>
                  <a:schemeClr val="tx1"/>
                </a:solidFill>
              </a:rPr>
              <a:t>)</a:t>
            </a:r>
          </a:p>
          <a:p>
            <a:r>
              <a:rPr lang="en-US" altLang="ja-JP" dirty="0">
                <a:solidFill>
                  <a:schemeClr val="tx1"/>
                </a:solidFill>
              </a:rPr>
              <a:t>  },</a:t>
            </a:r>
          </a:p>
          <a:p>
            <a:r>
              <a:rPr lang="en-US" altLang="ja-JP" dirty="0">
                <a:solidFill>
                  <a:schemeClr val="tx1"/>
                </a:solidFill>
              </a:rPr>
              <a:t>  warning = </a:t>
            </a:r>
            <a:r>
              <a:rPr lang="en-US" altLang="ja-JP" dirty="0">
                <a:solidFill>
                  <a:srgbClr val="3333FF"/>
                </a:solidFill>
              </a:rPr>
              <a:t>function</a:t>
            </a:r>
            <a:r>
              <a:rPr lang="en-US" altLang="ja-JP" dirty="0">
                <a:solidFill>
                  <a:schemeClr val="tx1"/>
                </a:solidFill>
              </a:rPr>
              <a:t>(w) {</a:t>
            </a:r>
          </a:p>
          <a:p>
            <a:r>
              <a:rPr lang="en-US" altLang="ja-JP" dirty="0">
                <a:solidFill>
                  <a:srgbClr val="00B050"/>
                </a:solidFill>
              </a:rPr>
              <a:t>    </a:t>
            </a:r>
            <a:r>
              <a:rPr lang="en-US" altLang="ja-JP" dirty="0">
                <a:solidFill>
                  <a:schemeClr val="tx1"/>
                </a:solidFill>
              </a:rPr>
              <a:t>cat( </a:t>
            </a:r>
            <a:r>
              <a:rPr lang="en-US" altLang="ja-JP" dirty="0" err="1">
                <a:solidFill>
                  <a:schemeClr val="tx1"/>
                </a:solidFill>
              </a:rPr>
              <a:t>w$message</a:t>
            </a:r>
            <a:r>
              <a:rPr lang="en-US" altLang="ja-JP" dirty="0">
                <a:solidFill>
                  <a:schemeClr val="tx1"/>
                </a:solidFill>
              </a:rPr>
              <a:t>,</a:t>
            </a:r>
            <a:r>
              <a:rPr lang="en-US" altLang="ja-JP" sz="1800" dirty="0">
                <a:solidFill>
                  <a:srgbClr val="00B050"/>
                </a:solidFill>
              </a:rPr>
              <a:t> "</a:t>
            </a:r>
            <a:r>
              <a:rPr lang="ja-JP" altLang="en-US" dirty="0">
                <a:solidFill>
                  <a:srgbClr val="00B050"/>
                </a:solidFill>
              </a:rPr>
              <a:t>であるため</a:t>
            </a:r>
            <a:r>
              <a:rPr lang="en-US" altLang="ja-JP" dirty="0">
                <a:solidFill>
                  <a:srgbClr val="00B050"/>
                </a:solidFill>
              </a:rPr>
              <a:t>NA</a:t>
            </a:r>
            <a:r>
              <a:rPr lang="ja-JP" altLang="en-US" dirty="0">
                <a:solidFill>
                  <a:srgbClr val="00B050"/>
                </a:solidFill>
              </a:rPr>
              <a:t>を返します</a:t>
            </a:r>
            <a:r>
              <a:rPr lang="en-US" altLang="ja-JP" sz="1800" dirty="0">
                <a:solidFill>
                  <a:srgbClr val="00B050"/>
                </a:solidFill>
              </a:rPr>
              <a:t>"</a:t>
            </a:r>
            <a:r>
              <a:rPr lang="en-US" altLang="ja-JP" dirty="0">
                <a:solidFill>
                  <a:schemeClr val="tx1"/>
                </a:solidFill>
              </a:rPr>
              <a:t>, </a:t>
            </a:r>
            <a:r>
              <a:rPr lang="en-US" altLang="ja-JP" sz="1800" dirty="0">
                <a:solidFill>
                  <a:srgbClr val="00B050"/>
                </a:solidFill>
              </a:rPr>
              <a:t>"</a:t>
            </a:r>
            <a:r>
              <a:rPr lang="en-US" altLang="ja-JP" dirty="0">
                <a:solidFill>
                  <a:srgbClr val="00B050"/>
                </a:solidFill>
              </a:rPr>
              <a:t>\n</a:t>
            </a:r>
            <a:r>
              <a:rPr lang="en-US" altLang="ja-JP" sz="1800" dirty="0">
                <a:solidFill>
                  <a:srgbClr val="00B050"/>
                </a:solidFill>
              </a:rPr>
              <a:t>"</a:t>
            </a:r>
            <a:r>
              <a:rPr lang="en-US" altLang="ja-JP" dirty="0">
                <a:solidFill>
                  <a:schemeClr val="tx1"/>
                </a:solidFill>
              </a:rPr>
              <a:t>)</a:t>
            </a:r>
            <a:r>
              <a:rPr lang="en-US" altLang="ja-JP" dirty="0">
                <a:solidFill>
                  <a:srgbClr val="00B050"/>
                </a:solidFill>
              </a:rPr>
              <a:t>    </a:t>
            </a:r>
            <a:r>
              <a:rPr lang="en-US" altLang="ja-JP" sz="1600" dirty="0">
                <a:solidFill>
                  <a:srgbClr val="00B050"/>
                </a:solidFill>
              </a:rPr>
              <a:t>#</a:t>
            </a:r>
            <a:r>
              <a:rPr lang="ja-JP" altLang="en-US" sz="1600" dirty="0">
                <a:solidFill>
                  <a:srgbClr val="00B050"/>
                </a:solidFill>
              </a:rPr>
              <a:t>警告時にはこちらの処理が動く。</a:t>
            </a:r>
            <a:r>
              <a:rPr lang="en-US" altLang="ja-JP" sz="1600" dirty="0" err="1">
                <a:solidFill>
                  <a:srgbClr val="00B050"/>
                </a:solidFill>
              </a:rPr>
              <a:t>w$message</a:t>
            </a:r>
            <a:r>
              <a:rPr lang="ja-JP" altLang="en-US" sz="1600" dirty="0">
                <a:solidFill>
                  <a:srgbClr val="00B050"/>
                </a:solidFill>
              </a:rPr>
              <a:t>には警告メッセージが格納されている</a:t>
            </a:r>
          </a:p>
          <a:p>
            <a:r>
              <a:rPr lang="ja-JP" altLang="en-US" dirty="0">
                <a:solidFill>
                  <a:schemeClr val="tx1"/>
                </a:solidFill>
              </a:rPr>
              <a:t>    </a:t>
            </a:r>
            <a:r>
              <a:rPr lang="en-US" altLang="ja-JP" dirty="0">
                <a:solidFill>
                  <a:srgbClr val="3333FF"/>
                </a:solidFill>
              </a:rPr>
              <a:t>return</a:t>
            </a:r>
            <a:r>
              <a:rPr lang="en-US" altLang="ja-JP" dirty="0">
                <a:solidFill>
                  <a:schemeClr val="tx1"/>
                </a:solidFill>
              </a:rPr>
              <a:t>(</a:t>
            </a:r>
            <a:r>
              <a:rPr lang="en-US" altLang="ja-JP" dirty="0">
                <a:solidFill>
                  <a:srgbClr val="3333FF"/>
                </a:solidFill>
              </a:rPr>
              <a:t>NA</a:t>
            </a:r>
            <a:r>
              <a:rPr lang="en-US" altLang="ja-JP" dirty="0">
                <a:solidFill>
                  <a:schemeClr val="tx1"/>
                </a:solidFill>
              </a:rPr>
              <a:t>)</a:t>
            </a:r>
          </a:p>
          <a:p>
            <a:r>
              <a:rPr lang="en-US" altLang="ja-JP" dirty="0">
                <a:solidFill>
                  <a:schemeClr val="tx1"/>
                </a:solidFill>
              </a:rPr>
              <a:t>  },</a:t>
            </a:r>
          </a:p>
          <a:p>
            <a:r>
              <a:rPr lang="en-US" altLang="ja-JP" dirty="0">
                <a:solidFill>
                  <a:schemeClr val="tx1"/>
                </a:solidFill>
              </a:rPr>
              <a:t>  finally = {</a:t>
            </a:r>
          </a:p>
          <a:p>
            <a:r>
              <a:rPr lang="en-US" altLang="ja-JP" dirty="0">
                <a:solidFill>
                  <a:srgbClr val="00B050"/>
                </a:solidFill>
              </a:rPr>
              <a:t>    </a:t>
            </a:r>
            <a:r>
              <a:rPr lang="en-US" altLang="ja-JP" dirty="0">
                <a:solidFill>
                  <a:schemeClr val="tx1"/>
                </a:solidFill>
              </a:rPr>
              <a:t>cat(</a:t>
            </a:r>
            <a:r>
              <a:rPr lang="en-US" altLang="ja-JP" dirty="0">
                <a:solidFill>
                  <a:srgbClr val="00B050"/>
                </a:solidFill>
              </a:rPr>
              <a:t>"</a:t>
            </a:r>
            <a:r>
              <a:rPr lang="ja-JP" altLang="en-US" dirty="0">
                <a:solidFill>
                  <a:srgbClr val="00B050"/>
                </a:solidFill>
              </a:rPr>
              <a:t>処理完了</a:t>
            </a:r>
            <a:r>
              <a:rPr lang="en-US" altLang="ja-JP" dirty="0">
                <a:solidFill>
                  <a:srgbClr val="00B050"/>
                </a:solidFill>
              </a:rPr>
              <a:t>"</a:t>
            </a:r>
            <a:r>
              <a:rPr lang="en-US" altLang="ja-JP" dirty="0">
                <a:solidFill>
                  <a:schemeClr val="tx1"/>
                </a:solidFill>
              </a:rPr>
              <a:t>,</a:t>
            </a:r>
            <a:r>
              <a:rPr lang="en-US" altLang="ja-JP" dirty="0">
                <a:solidFill>
                  <a:srgbClr val="00B050"/>
                </a:solidFill>
              </a:rPr>
              <a:t> "\n"</a:t>
            </a:r>
            <a:r>
              <a:rPr lang="en-US" altLang="ja-JP" dirty="0">
                <a:solidFill>
                  <a:schemeClr val="tx1"/>
                </a:solidFill>
              </a:rPr>
              <a:t>)</a:t>
            </a:r>
            <a:r>
              <a:rPr lang="en-US" altLang="ja-JP" dirty="0">
                <a:solidFill>
                  <a:srgbClr val="00B050"/>
                </a:solidFill>
              </a:rPr>
              <a:t> #</a:t>
            </a:r>
            <a:r>
              <a:rPr lang="ja-JP" altLang="en-US" dirty="0">
                <a:solidFill>
                  <a:srgbClr val="00B050"/>
                </a:solidFill>
              </a:rPr>
              <a:t>必要に応じて、最後に必ず実行される</a:t>
            </a:r>
            <a:r>
              <a:rPr lang="en-US" altLang="ja-JP" dirty="0">
                <a:solidFill>
                  <a:srgbClr val="00B050"/>
                </a:solidFill>
              </a:rPr>
              <a:t>finally</a:t>
            </a:r>
            <a:r>
              <a:rPr lang="ja-JP" altLang="en-US" dirty="0">
                <a:solidFill>
                  <a:srgbClr val="00B050"/>
                </a:solidFill>
              </a:rPr>
              <a:t>オプションに処理を記載する</a:t>
            </a:r>
          </a:p>
          <a:p>
            <a:r>
              <a:rPr lang="ja-JP" altLang="en-US" dirty="0">
                <a:solidFill>
                  <a:schemeClr val="tx1"/>
                </a:solidFill>
              </a:rPr>
              <a:t>  </a:t>
            </a:r>
            <a:r>
              <a:rPr lang="en-US" altLang="ja-JP" dirty="0">
                <a:solidFill>
                  <a:schemeClr val="tx1"/>
                </a:solidFill>
              </a:rPr>
              <a:t>}</a:t>
            </a:r>
          </a:p>
          <a:p>
            <a:r>
              <a:rPr lang="en-US" altLang="ja-JP" dirty="0">
                <a:solidFill>
                  <a:schemeClr val="tx1"/>
                </a:solidFill>
              </a:rPr>
              <a:t>  )</a:t>
            </a:r>
          </a:p>
          <a:p>
            <a:r>
              <a:rPr lang="en-US" altLang="ja-JP" dirty="0">
                <a:solidFill>
                  <a:schemeClr val="tx1"/>
                </a:solidFill>
              </a:rPr>
              <a:t>}</a:t>
            </a:r>
          </a:p>
          <a:p>
            <a:r>
              <a:rPr lang="en-US" altLang="ja-JP" dirty="0">
                <a:solidFill>
                  <a:schemeClr val="tx1"/>
                </a:solidFill>
              </a:rPr>
              <a:t>g(</a:t>
            </a:r>
            <a:r>
              <a:rPr lang="en-US" altLang="ja-JP" dirty="0">
                <a:solidFill>
                  <a:srgbClr val="3333FF"/>
                </a:solidFill>
              </a:rPr>
              <a:t>2</a:t>
            </a:r>
            <a:r>
              <a:rPr lang="en-US" altLang="ja-JP" dirty="0">
                <a:solidFill>
                  <a:schemeClr val="tx1"/>
                </a:solidFill>
              </a:rPr>
              <a:t>)</a:t>
            </a:r>
          </a:p>
          <a:p>
            <a:r>
              <a:rPr lang="en-US" altLang="ja-JP" dirty="0">
                <a:solidFill>
                  <a:schemeClr val="tx1"/>
                </a:solidFill>
              </a:rPr>
              <a:t>g(</a:t>
            </a:r>
            <a:r>
              <a:rPr lang="en-US" altLang="ja-JP" dirty="0">
                <a:solidFill>
                  <a:srgbClr val="3333FF"/>
                </a:solidFill>
              </a:rPr>
              <a:t>1</a:t>
            </a:r>
            <a:r>
              <a:rPr lang="en-US" altLang="ja-JP" dirty="0">
                <a:solidFill>
                  <a:schemeClr val="tx1"/>
                </a:solidFill>
              </a:rPr>
              <a:t>)</a:t>
            </a:r>
          </a:p>
          <a:p>
            <a:r>
              <a:rPr lang="en-US" altLang="ja-JP" dirty="0">
                <a:solidFill>
                  <a:schemeClr val="tx1"/>
                </a:solidFill>
              </a:rPr>
              <a:t>g(</a:t>
            </a:r>
            <a:r>
              <a:rPr lang="en-US" altLang="ja-JP" dirty="0">
                <a:solidFill>
                  <a:srgbClr val="3333FF"/>
                </a:solidFill>
              </a:rPr>
              <a:t>0</a:t>
            </a:r>
            <a:r>
              <a:rPr lang="en-US" altLang="ja-JP" dirty="0">
                <a:solidFill>
                  <a:schemeClr val="tx1"/>
                </a:solidFill>
              </a:rPr>
              <a:t>)</a:t>
            </a:r>
          </a:p>
          <a:p>
            <a:r>
              <a:rPr lang="en-US" altLang="ja-JP" dirty="0">
                <a:solidFill>
                  <a:schemeClr val="tx1"/>
                </a:solidFill>
              </a:rPr>
              <a:t>g(</a:t>
            </a:r>
            <a:r>
              <a:rPr lang="en-US" altLang="ja-JP" dirty="0">
                <a:solidFill>
                  <a:srgbClr val="3333FF"/>
                </a:solidFill>
              </a:rPr>
              <a:t>-1</a:t>
            </a:r>
            <a:r>
              <a:rPr lang="en-US" altLang="ja-JP" dirty="0">
                <a:solidFill>
                  <a:schemeClr val="tx1"/>
                </a:solidFill>
              </a:rPr>
              <a:t>)</a:t>
            </a:r>
          </a:p>
        </p:txBody>
      </p:sp>
      <p:pic>
        <p:nvPicPr>
          <p:cNvPr id="10" name="図 9">
            <a:extLst>
              <a:ext uri="{FF2B5EF4-FFF2-40B4-BE49-F238E27FC236}">
                <a16:creationId xmlns:a16="http://schemas.microsoft.com/office/drawing/2014/main" id="{BF94768A-3AF8-7313-1198-F3DD42225E32}"/>
              </a:ext>
            </a:extLst>
          </p:cNvPr>
          <p:cNvPicPr>
            <a:picLocks noChangeAspect="1"/>
          </p:cNvPicPr>
          <p:nvPr/>
        </p:nvPicPr>
        <p:blipFill>
          <a:blip r:embed="rId3"/>
          <a:stretch>
            <a:fillRect/>
          </a:stretch>
        </p:blipFill>
        <p:spPr>
          <a:xfrm>
            <a:off x="2733446" y="5905147"/>
            <a:ext cx="2684534" cy="2102272"/>
          </a:xfrm>
          <a:prstGeom prst="rect">
            <a:avLst/>
          </a:prstGeom>
        </p:spPr>
      </p:pic>
    </p:spTree>
    <p:extLst>
      <p:ext uri="{BB962C8B-B14F-4D97-AF65-F5344CB8AC3E}">
        <p14:creationId xmlns:p14="http://schemas.microsoft.com/office/powerpoint/2010/main" val="1841079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BAC69-B6D1-39A0-2D75-6B34CF316E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E8C9C2-F641-72A5-A799-5C424F53E05C}"/>
              </a:ext>
            </a:extLst>
          </p:cNvPr>
          <p:cNvSpPr>
            <a:spLocks noGrp="1"/>
          </p:cNvSpPr>
          <p:nvPr>
            <p:ph type="title"/>
          </p:nvPr>
        </p:nvSpPr>
        <p:spPr/>
        <p:txBody>
          <a:bodyPr/>
          <a:lstStyle/>
          <a:p>
            <a:r>
              <a:rPr kumimoji="1" lang="ja-JP" altLang="en-US" dirty="0"/>
              <a:t>制限時間の設定​</a:t>
            </a:r>
          </a:p>
        </p:txBody>
      </p:sp>
      <p:sp>
        <p:nvSpPr>
          <p:cNvPr id="3" name="スライド番号プレースホルダー 2">
            <a:extLst>
              <a:ext uri="{FF2B5EF4-FFF2-40B4-BE49-F238E27FC236}">
                <a16:creationId xmlns:a16="http://schemas.microsoft.com/office/drawing/2014/main" id="{938C517A-6934-3A3F-4295-24BF83EDAD9B}"/>
              </a:ext>
            </a:extLst>
          </p:cNvPr>
          <p:cNvSpPr>
            <a:spLocks noGrp="1"/>
          </p:cNvSpPr>
          <p:nvPr>
            <p:ph type="sldNum" sz="quarter" idx="4"/>
          </p:nvPr>
        </p:nvSpPr>
        <p:spPr/>
        <p:txBody>
          <a:bodyPr/>
          <a:lstStyle/>
          <a:p>
            <a:fld id="{24AEDCA4-7D12-E34A-9125-9C962139F6EA}" type="slidenum">
              <a:rPr kumimoji="1" lang="en-US" altLang="ja-JP" smtClean="0"/>
              <a:pPr/>
              <a:t>31</a:t>
            </a:fld>
            <a:endParaRPr kumimoji="1" lang="en-US" altLang="ja-JP" dirty="0"/>
          </a:p>
        </p:txBody>
      </p:sp>
      <p:sp>
        <p:nvSpPr>
          <p:cNvPr id="4" name="コンテンツ プレースホルダー 3">
            <a:extLst>
              <a:ext uri="{FF2B5EF4-FFF2-40B4-BE49-F238E27FC236}">
                <a16:creationId xmlns:a16="http://schemas.microsoft.com/office/drawing/2014/main" id="{2EB56F19-A808-A148-9FF8-96E04D07FE6F}"/>
              </a:ext>
            </a:extLst>
          </p:cNvPr>
          <p:cNvSpPr>
            <a:spLocks noGrp="1"/>
          </p:cNvSpPr>
          <p:nvPr>
            <p:ph sz="half" idx="10"/>
          </p:nvPr>
        </p:nvSpPr>
        <p:spPr>
          <a:xfrm>
            <a:off x="496885" y="1426912"/>
            <a:ext cx="13745207" cy="938719"/>
          </a:xfrm>
        </p:spPr>
        <p:txBody>
          <a:bodyPr/>
          <a:lstStyle/>
          <a:p>
            <a:pPr marL="0" indent="0">
              <a:buNone/>
            </a:pPr>
            <a:r>
              <a:rPr kumimoji="1" lang="en-US" altLang="ja-JP" sz="2800" b="0" dirty="0" err="1"/>
              <a:t>setTimeLimit</a:t>
            </a:r>
            <a:r>
              <a:rPr kumimoji="1" lang="ja-JP" altLang="en-US" sz="2800" b="0" dirty="0"/>
              <a:t>関数を用いて、</a:t>
            </a:r>
            <a:endParaRPr kumimoji="1" lang="en-US" altLang="ja-JP" sz="2800" b="0" dirty="0"/>
          </a:p>
          <a:p>
            <a:pPr marL="0" indent="0">
              <a:buNone/>
            </a:pPr>
            <a:r>
              <a:rPr kumimoji="1" lang="ja-JP" altLang="en-US" sz="2800" b="0" dirty="0"/>
              <a:t>実行時間が想定以上に長い処理は強制的にエラーにさせることができる</a:t>
            </a:r>
            <a:endParaRPr kumimoji="1" lang="en-US" altLang="ja-JP" sz="2800" b="0" dirty="0"/>
          </a:p>
        </p:txBody>
      </p:sp>
      <p:sp>
        <p:nvSpPr>
          <p:cNvPr id="5" name="正方形/長方形 4">
            <a:extLst>
              <a:ext uri="{FF2B5EF4-FFF2-40B4-BE49-F238E27FC236}">
                <a16:creationId xmlns:a16="http://schemas.microsoft.com/office/drawing/2014/main" id="{9E5618DD-3F99-9FAC-1759-9669A589EF1F}"/>
              </a:ext>
            </a:extLst>
          </p:cNvPr>
          <p:cNvSpPr/>
          <p:nvPr/>
        </p:nvSpPr>
        <p:spPr>
          <a:xfrm>
            <a:off x="496885" y="2779316"/>
            <a:ext cx="11707815" cy="12446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999AFBD-BE0B-24BE-10F6-BBA5FA5EE2B9}"/>
              </a:ext>
            </a:extLst>
          </p:cNvPr>
          <p:cNvSpPr txBox="1"/>
          <p:nvPr/>
        </p:nvSpPr>
        <p:spPr>
          <a:xfrm>
            <a:off x="496885" y="2896425"/>
            <a:ext cx="11860215" cy="1015663"/>
          </a:xfrm>
          <a:prstGeom prst="rect">
            <a:avLst/>
          </a:prstGeom>
          <a:noFill/>
        </p:spPr>
        <p:txBody>
          <a:bodyPr wrap="square">
            <a:spAutoFit/>
          </a:bodyPr>
          <a:lstStyle/>
          <a:p>
            <a:r>
              <a:rPr lang="en-US" altLang="ja-JP" sz="2000" dirty="0" err="1">
                <a:solidFill>
                  <a:schemeClr val="tx1"/>
                </a:solidFill>
              </a:rPr>
              <a:t>setTimeLimit</a:t>
            </a:r>
            <a:r>
              <a:rPr lang="en-US" altLang="ja-JP" sz="2000" dirty="0">
                <a:solidFill>
                  <a:schemeClr val="tx1"/>
                </a:solidFill>
              </a:rPr>
              <a:t>(elapsed = </a:t>
            </a:r>
            <a:r>
              <a:rPr lang="en-US" altLang="ja-JP" sz="2000" dirty="0">
                <a:solidFill>
                  <a:srgbClr val="3333FF"/>
                </a:solidFill>
              </a:rPr>
              <a:t>5</a:t>
            </a:r>
            <a:r>
              <a:rPr lang="en-US" altLang="ja-JP" sz="2000" dirty="0">
                <a:solidFill>
                  <a:schemeClr val="tx1"/>
                </a:solidFill>
              </a:rPr>
              <a:t>)  </a:t>
            </a:r>
            <a:r>
              <a:rPr lang="en-US" altLang="ja-JP" sz="2000" dirty="0">
                <a:solidFill>
                  <a:srgbClr val="00B050"/>
                </a:solidFill>
              </a:rPr>
              <a:t># </a:t>
            </a:r>
            <a:r>
              <a:rPr lang="ja-JP" altLang="en-US" sz="2000" dirty="0">
                <a:solidFill>
                  <a:srgbClr val="00B050"/>
                </a:solidFill>
              </a:rPr>
              <a:t>制限時間を</a:t>
            </a:r>
            <a:r>
              <a:rPr lang="en-US" altLang="ja-JP" sz="2000" dirty="0">
                <a:solidFill>
                  <a:srgbClr val="00B050"/>
                </a:solidFill>
              </a:rPr>
              <a:t>5</a:t>
            </a:r>
            <a:r>
              <a:rPr lang="ja-JP" altLang="en-US" sz="2000" dirty="0">
                <a:solidFill>
                  <a:srgbClr val="00B050"/>
                </a:solidFill>
              </a:rPr>
              <a:t>秒に設定</a:t>
            </a:r>
          </a:p>
          <a:p>
            <a:r>
              <a:rPr lang="en-US" altLang="ja-JP" sz="2000" dirty="0" err="1">
                <a:solidFill>
                  <a:schemeClr val="tx1"/>
                </a:solidFill>
              </a:rPr>
              <a:t>Sys.sleep</a:t>
            </a:r>
            <a:r>
              <a:rPr lang="en-US" altLang="ja-JP" sz="2000" dirty="0">
                <a:solidFill>
                  <a:schemeClr val="tx1"/>
                </a:solidFill>
              </a:rPr>
              <a:t>(</a:t>
            </a:r>
            <a:r>
              <a:rPr lang="en-US" altLang="ja-JP" sz="2000" dirty="0">
                <a:solidFill>
                  <a:srgbClr val="3333FF"/>
                </a:solidFill>
              </a:rPr>
              <a:t>10</a:t>
            </a:r>
            <a:r>
              <a:rPr lang="en-US" altLang="ja-JP" sz="2000" dirty="0">
                <a:solidFill>
                  <a:schemeClr val="tx1"/>
                </a:solidFill>
              </a:rPr>
              <a:t>) </a:t>
            </a:r>
            <a:r>
              <a:rPr lang="ja-JP" altLang="en-US" sz="2000" dirty="0">
                <a:solidFill>
                  <a:schemeClr val="tx1"/>
                </a:solidFill>
              </a:rPr>
              <a:t> </a:t>
            </a:r>
            <a:r>
              <a:rPr lang="en-US" altLang="ja-JP" sz="2000" dirty="0">
                <a:solidFill>
                  <a:srgbClr val="00B050"/>
                </a:solidFill>
              </a:rPr>
              <a:t># </a:t>
            </a:r>
            <a:r>
              <a:rPr lang="ja-JP" altLang="en-US" sz="2000" dirty="0">
                <a:solidFill>
                  <a:srgbClr val="00B050"/>
                </a:solidFill>
              </a:rPr>
              <a:t>確認したい処理を記載する。（便宜上、例示では</a:t>
            </a:r>
            <a:r>
              <a:rPr lang="en-US" altLang="ja-JP" sz="2000" dirty="0">
                <a:solidFill>
                  <a:srgbClr val="00B050"/>
                </a:solidFill>
              </a:rPr>
              <a:t>10</a:t>
            </a:r>
            <a:r>
              <a:rPr lang="ja-JP" altLang="en-US" sz="2000" dirty="0">
                <a:solidFill>
                  <a:srgbClr val="00B050"/>
                </a:solidFill>
              </a:rPr>
              <a:t>秒のスリープ処理を入れている）</a:t>
            </a:r>
          </a:p>
          <a:p>
            <a:r>
              <a:rPr lang="en-US" altLang="ja-JP" sz="2000" dirty="0" err="1">
                <a:solidFill>
                  <a:schemeClr val="tx1"/>
                </a:solidFill>
              </a:rPr>
              <a:t>setTimeLimit</a:t>
            </a:r>
            <a:r>
              <a:rPr lang="en-US" altLang="ja-JP" sz="2000" dirty="0">
                <a:solidFill>
                  <a:schemeClr val="tx1"/>
                </a:solidFill>
              </a:rPr>
              <a:t>()  </a:t>
            </a:r>
            <a:r>
              <a:rPr lang="en-US" altLang="ja-JP" sz="2000" dirty="0">
                <a:solidFill>
                  <a:srgbClr val="00B050"/>
                </a:solidFill>
              </a:rPr>
              <a:t># </a:t>
            </a:r>
            <a:r>
              <a:rPr lang="ja-JP" altLang="en-US" sz="2000" dirty="0">
                <a:solidFill>
                  <a:srgbClr val="00B050"/>
                </a:solidFill>
              </a:rPr>
              <a:t>制限時間の設定を解除</a:t>
            </a:r>
            <a:endParaRPr lang="en-US" altLang="ja-JP" sz="2000" dirty="0">
              <a:solidFill>
                <a:schemeClr val="tx1"/>
              </a:solidFill>
            </a:endParaRPr>
          </a:p>
        </p:txBody>
      </p:sp>
      <p:pic>
        <p:nvPicPr>
          <p:cNvPr id="8" name="図 7">
            <a:extLst>
              <a:ext uri="{FF2B5EF4-FFF2-40B4-BE49-F238E27FC236}">
                <a16:creationId xmlns:a16="http://schemas.microsoft.com/office/drawing/2014/main" id="{E327DA40-328D-5AF4-C8DB-4957FFE02FAB}"/>
              </a:ext>
            </a:extLst>
          </p:cNvPr>
          <p:cNvPicPr>
            <a:picLocks noChangeAspect="1"/>
          </p:cNvPicPr>
          <p:nvPr/>
        </p:nvPicPr>
        <p:blipFill>
          <a:blip r:embed="rId3"/>
          <a:stretch>
            <a:fillRect/>
          </a:stretch>
        </p:blipFill>
        <p:spPr>
          <a:xfrm>
            <a:off x="496885" y="4387407"/>
            <a:ext cx="7564000" cy="560581"/>
          </a:xfrm>
          <a:prstGeom prst="rect">
            <a:avLst/>
          </a:prstGeom>
        </p:spPr>
      </p:pic>
    </p:spTree>
    <p:extLst>
      <p:ext uri="{BB962C8B-B14F-4D97-AF65-F5344CB8AC3E}">
        <p14:creationId xmlns:p14="http://schemas.microsoft.com/office/powerpoint/2010/main" val="30457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68FA5-C59F-F57A-7F45-13DAE61E78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2BB042-D410-0804-5679-26AE07C57A6C}"/>
              </a:ext>
            </a:extLst>
          </p:cNvPr>
          <p:cNvSpPr>
            <a:spLocks noGrp="1"/>
          </p:cNvSpPr>
          <p:nvPr>
            <p:ph type="title"/>
          </p:nvPr>
        </p:nvSpPr>
        <p:spPr/>
        <p:txBody>
          <a:bodyPr/>
          <a:lstStyle/>
          <a:p>
            <a:r>
              <a:rPr kumimoji="1" lang="ja-JP" altLang="en-US" dirty="0"/>
              <a:t>制限時間の設定​</a:t>
            </a:r>
          </a:p>
        </p:txBody>
      </p:sp>
      <p:sp>
        <p:nvSpPr>
          <p:cNvPr id="3" name="スライド番号プレースホルダー 2">
            <a:extLst>
              <a:ext uri="{FF2B5EF4-FFF2-40B4-BE49-F238E27FC236}">
                <a16:creationId xmlns:a16="http://schemas.microsoft.com/office/drawing/2014/main" id="{278DE848-4281-E582-DE22-0BE7A71417B3}"/>
              </a:ext>
            </a:extLst>
          </p:cNvPr>
          <p:cNvSpPr>
            <a:spLocks noGrp="1"/>
          </p:cNvSpPr>
          <p:nvPr>
            <p:ph type="sldNum" sz="quarter" idx="4"/>
          </p:nvPr>
        </p:nvSpPr>
        <p:spPr/>
        <p:txBody>
          <a:bodyPr/>
          <a:lstStyle/>
          <a:p>
            <a:fld id="{24AEDCA4-7D12-E34A-9125-9C962139F6EA}" type="slidenum">
              <a:rPr kumimoji="1" lang="en-US" altLang="ja-JP" smtClean="0"/>
              <a:pPr/>
              <a:t>32</a:t>
            </a:fld>
            <a:endParaRPr kumimoji="1" lang="en-US" altLang="ja-JP" dirty="0"/>
          </a:p>
        </p:txBody>
      </p:sp>
      <p:sp>
        <p:nvSpPr>
          <p:cNvPr id="4" name="コンテンツ プレースホルダー 3">
            <a:extLst>
              <a:ext uri="{FF2B5EF4-FFF2-40B4-BE49-F238E27FC236}">
                <a16:creationId xmlns:a16="http://schemas.microsoft.com/office/drawing/2014/main" id="{1D5C9400-3663-6ED6-1913-E1AAD0BF2306}"/>
              </a:ext>
            </a:extLst>
          </p:cNvPr>
          <p:cNvSpPr>
            <a:spLocks noGrp="1"/>
          </p:cNvSpPr>
          <p:nvPr>
            <p:ph sz="half" idx="10"/>
          </p:nvPr>
        </p:nvSpPr>
        <p:spPr>
          <a:xfrm>
            <a:off x="496885" y="1426912"/>
            <a:ext cx="13745207" cy="1446550"/>
          </a:xfrm>
        </p:spPr>
        <p:txBody>
          <a:bodyPr/>
          <a:lstStyle/>
          <a:p>
            <a:pPr marL="0" indent="0">
              <a:buNone/>
            </a:pPr>
            <a:r>
              <a:rPr kumimoji="1" lang="ja-JP" altLang="en-US" sz="2800" b="0" dirty="0"/>
              <a:t>実行時間が長い場合を検知したいがエラーとして処理を止めたくない場合には、</a:t>
            </a:r>
            <a:endParaRPr kumimoji="1" lang="en-US" altLang="ja-JP" sz="2800" b="0" dirty="0"/>
          </a:p>
          <a:p>
            <a:pPr marL="0" indent="0">
              <a:buNone/>
            </a:pPr>
            <a:r>
              <a:rPr kumimoji="1" lang="en-US" altLang="ja-JP" sz="2800" b="0" dirty="0" err="1"/>
              <a:t>tryCatch</a:t>
            </a:r>
            <a:r>
              <a:rPr kumimoji="1" lang="ja-JP" altLang="en-US" sz="2800" b="0" dirty="0"/>
              <a:t>関数と</a:t>
            </a:r>
            <a:r>
              <a:rPr kumimoji="1" lang="en-US" altLang="ja-JP" sz="2800" b="0" dirty="0" err="1"/>
              <a:t>conditionMessage</a:t>
            </a:r>
            <a:r>
              <a:rPr kumimoji="1" lang="ja-JP" altLang="en-US" sz="2800" b="0" dirty="0"/>
              <a:t>関数を用れば良い</a:t>
            </a:r>
            <a:endParaRPr kumimoji="1" lang="en-US" altLang="ja-JP" sz="2800" b="0" dirty="0"/>
          </a:p>
          <a:p>
            <a:pPr marL="0" indent="0">
              <a:buNone/>
            </a:pPr>
            <a:r>
              <a:rPr kumimoji="1" lang="ja-JP" altLang="en-US" sz="2800" b="0" dirty="0"/>
              <a:t>なお、実行時間が長い場合以外のエラーも検知できるようにすることに留意</a:t>
            </a:r>
            <a:endParaRPr kumimoji="1" lang="en-US" altLang="ja-JP" sz="1200" b="0" dirty="0"/>
          </a:p>
        </p:txBody>
      </p:sp>
      <p:sp>
        <p:nvSpPr>
          <p:cNvPr id="5" name="正方形/長方形 4">
            <a:extLst>
              <a:ext uri="{FF2B5EF4-FFF2-40B4-BE49-F238E27FC236}">
                <a16:creationId xmlns:a16="http://schemas.microsoft.com/office/drawing/2014/main" id="{FF294050-ADBD-1ABF-FC80-D4DA6E8B12C3}"/>
              </a:ext>
            </a:extLst>
          </p:cNvPr>
          <p:cNvSpPr/>
          <p:nvPr/>
        </p:nvSpPr>
        <p:spPr>
          <a:xfrm>
            <a:off x="496885" y="3003353"/>
            <a:ext cx="8685215" cy="4307284"/>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36730F7-E082-6810-B22E-6A2F43540107}"/>
              </a:ext>
            </a:extLst>
          </p:cNvPr>
          <p:cNvSpPr txBox="1"/>
          <p:nvPr/>
        </p:nvSpPr>
        <p:spPr>
          <a:xfrm>
            <a:off x="496885" y="3110281"/>
            <a:ext cx="11860215" cy="4093428"/>
          </a:xfrm>
          <a:prstGeom prst="rect">
            <a:avLst/>
          </a:prstGeom>
          <a:noFill/>
        </p:spPr>
        <p:txBody>
          <a:bodyPr wrap="square">
            <a:spAutoFit/>
          </a:bodyPr>
          <a:lstStyle/>
          <a:p>
            <a:r>
              <a:rPr lang="en-US" altLang="ja-JP" sz="2000" dirty="0" err="1">
                <a:solidFill>
                  <a:schemeClr val="tx1"/>
                </a:solidFill>
              </a:rPr>
              <a:t>setTimeLimit</a:t>
            </a:r>
            <a:r>
              <a:rPr lang="en-US" altLang="ja-JP" sz="2000" dirty="0">
                <a:solidFill>
                  <a:schemeClr val="tx1"/>
                </a:solidFill>
              </a:rPr>
              <a:t>(elapsed = </a:t>
            </a:r>
            <a:r>
              <a:rPr lang="en-US" altLang="ja-JP" sz="2000" dirty="0">
                <a:solidFill>
                  <a:srgbClr val="3333FF"/>
                </a:solidFill>
              </a:rPr>
              <a:t>5</a:t>
            </a:r>
            <a:r>
              <a:rPr lang="en-US" altLang="ja-JP" sz="2000" dirty="0">
                <a:solidFill>
                  <a:schemeClr val="tx1"/>
                </a:solidFill>
              </a:rPr>
              <a:t>)</a:t>
            </a:r>
          </a:p>
          <a:p>
            <a:endParaRPr lang="en-US" altLang="ja-JP" sz="2000" dirty="0">
              <a:solidFill>
                <a:schemeClr val="tx1"/>
              </a:solidFill>
            </a:endParaRPr>
          </a:p>
          <a:p>
            <a:r>
              <a:rPr lang="en-US" altLang="ja-JP" sz="2000" dirty="0">
                <a:solidFill>
                  <a:schemeClr val="tx1"/>
                </a:solidFill>
              </a:rPr>
              <a:t>res &lt;- </a:t>
            </a:r>
            <a:r>
              <a:rPr lang="en-US" altLang="ja-JP" sz="2000" dirty="0" err="1">
                <a:solidFill>
                  <a:srgbClr val="3333FF"/>
                </a:solidFill>
              </a:rPr>
              <a:t>tryCatch</a:t>
            </a:r>
            <a:r>
              <a:rPr lang="en-US" altLang="ja-JP" sz="2000" dirty="0">
                <a:solidFill>
                  <a:schemeClr val="tx1"/>
                </a:solidFill>
              </a:rPr>
              <a:t>(</a:t>
            </a:r>
          </a:p>
          <a:p>
            <a:r>
              <a:rPr lang="en-US" altLang="ja-JP" sz="2000" dirty="0">
                <a:solidFill>
                  <a:schemeClr val="tx1"/>
                </a:solidFill>
              </a:rPr>
              <a:t>  </a:t>
            </a:r>
            <a:r>
              <a:rPr lang="en-US" altLang="ja-JP" sz="2000" dirty="0" err="1">
                <a:solidFill>
                  <a:schemeClr val="tx1"/>
                </a:solidFill>
              </a:rPr>
              <a:t>Sys.sleep</a:t>
            </a:r>
            <a:r>
              <a:rPr lang="en-US" altLang="ja-JP" sz="2000" dirty="0">
                <a:solidFill>
                  <a:schemeClr val="tx1"/>
                </a:solidFill>
              </a:rPr>
              <a:t>(</a:t>
            </a:r>
            <a:r>
              <a:rPr lang="en-US" altLang="ja-JP" sz="2000" dirty="0">
                <a:solidFill>
                  <a:srgbClr val="3333FF"/>
                </a:solidFill>
              </a:rPr>
              <a:t>10</a:t>
            </a:r>
            <a:r>
              <a:rPr lang="en-US" altLang="ja-JP" sz="2000" dirty="0">
                <a:solidFill>
                  <a:schemeClr val="tx1"/>
                </a:solidFill>
              </a:rPr>
              <a:t>),</a:t>
            </a:r>
          </a:p>
          <a:p>
            <a:r>
              <a:rPr lang="en-US" altLang="ja-JP" sz="2000" dirty="0">
                <a:solidFill>
                  <a:schemeClr val="tx1"/>
                </a:solidFill>
              </a:rPr>
              <a:t>  error = </a:t>
            </a:r>
            <a:r>
              <a:rPr lang="en-US" altLang="ja-JP" sz="2000" dirty="0">
                <a:solidFill>
                  <a:srgbClr val="3333FF"/>
                </a:solidFill>
              </a:rPr>
              <a:t>function</a:t>
            </a:r>
            <a:r>
              <a:rPr lang="en-US" altLang="ja-JP" sz="2000" dirty="0">
                <a:solidFill>
                  <a:schemeClr val="tx1"/>
                </a:solidFill>
              </a:rPr>
              <a:t>(e) {</a:t>
            </a:r>
          </a:p>
          <a:p>
            <a:r>
              <a:rPr lang="en-US" altLang="ja-JP" sz="2000" dirty="0">
                <a:solidFill>
                  <a:schemeClr val="tx1"/>
                </a:solidFill>
              </a:rPr>
              <a:t>   </a:t>
            </a:r>
            <a:r>
              <a:rPr lang="en-US" altLang="ja-JP" sz="2000" dirty="0">
                <a:solidFill>
                  <a:srgbClr val="3333FF"/>
                </a:solidFill>
              </a:rPr>
              <a:t> if </a:t>
            </a:r>
            <a:r>
              <a:rPr lang="en-US" altLang="ja-JP" sz="2000" dirty="0">
                <a:solidFill>
                  <a:schemeClr val="tx1"/>
                </a:solidFill>
              </a:rPr>
              <a:t>(</a:t>
            </a:r>
            <a:r>
              <a:rPr lang="en-US" altLang="ja-JP" sz="2000" dirty="0" err="1">
                <a:solidFill>
                  <a:schemeClr val="tx1"/>
                </a:solidFill>
              </a:rPr>
              <a:t>grepl</a:t>
            </a:r>
            <a:r>
              <a:rPr lang="en-US" altLang="ja-JP" sz="2000" dirty="0">
                <a:solidFill>
                  <a:schemeClr val="tx1"/>
                </a:solidFill>
              </a:rPr>
              <a:t>( </a:t>
            </a:r>
            <a:r>
              <a:rPr lang="en-US" altLang="ja-JP" sz="2000" dirty="0">
                <a:solidFill>
                  <a:srgbClr val="00B050"/>
                </a:solidFill>
              </a:rPr>
              <a:t>"time limit"</a:t>
            </a:r>
            <a:r>
              <a:rPr lang="ja-JP" altLang="en-US" sz="2000" dirty="0">
                <a:solidFill>
                  <a:srgbClr val="00B050"/>
                </a:solidFill>
              </a:rPr>
              <a:t> </a:t>
            </a:r>
            <a:r>
              <a:rPr lang="en-US" altLang="ja-JP" sz="2000" dirty="0">
                <a:solidFill>
                  <a:schemeClr val="tx1"/>
                </a:solidFill>
              </a:rPr>
              <a:t>, </a:t>
            </a:r>
            <a:r>
              <a:rPr lang="en-US" altLang="ja-JP" sz="2000" dirty="0" err="1">
                <a:solidFill>
                  <a:schemeClr val="tx1"/>
                </a:solidFill>
              </a:rPr>
              <a:t>conditionMessage</a:t>
            </a:r>
            <a:r>
              <a:rPr lang="en-US" altLang="ja-JP" sz="2000" dirty="0">
                <a:solidFill>
                  <a:schemeClr val="tx1"/>
                </a:solidFill>
              </a:rPr>
              <a:t>(e))) {</a:t>
            </a:r>
          </a:p>
          <a:p>
            <a:r>
              <a:rPr lang="en-US" altLang="ja-JP" sz="2000" dirty="0">
                <a:solidFill>
                  <a:schemeClr val="tx1"/>
                </a:solidFill>
              </a:rPr>
              <a:t>      message(</a:t>
            </a:r>
            <a:r>
              <a:rPr lang="en-US" altLang="ja-JP" sz="2000" dirty="0">
                <a:solidFill>
                  <a:srgbClr val="00B050"/>
                </a:solidFill>
              </a:rPr>
              <a:t>"</a:t>
            </a:r>
            <a:r>
              <a:rPr lang="ja-JP" altLang="en-US" sz="2000" dirty="0">
                <a:solidFill>
                  <a:srgbClr val="00B050"/>
                </a:solidFill>
              </a:rPr>
              <a:t>処理時間が想定以上に長いので確認してください</a:t>
            </a:r>
            <a:r>
              <a:rPr lang="en-US" altLang="ja-JP" sz="2000" dirty="0">
                <a:solidFill>
                  <a:srgbClr val="00B050"/>
                </a:solidFill>
              </a:rPr>
              <a:t>"</a:t>
            </a:r>
            <a:r>
              <a:rPr lang="en-US" altLang="ja-JP" sz="2000" dirty="0">
                <a:solidFill>
                  <a:schemeClr val="tx1"/>
                </a:solidFill>
              </a:rPr>
              <a:t>)</a:t>
            </a:r>
          </a:p>
          <a:p>
            <a:r>
              <a:rPr lang="en-US" altLang="ja-JP" sz="2000" dirty="0">
                <a:solidFill>
                  <a:schemeClr val="tx1"/>
                </a:solidFill>
              </a:rPr>
              <a:t>      </a:t>
            </a:r>
            <a:r>
              <a:rPr lang="en-US" altLang="ja-JP" sz="2000" dirty="0">
                <a:solidFill>
                  <a:srgbClr val="3333FF"/>
                </a:solidFill>
              </a:rPr>
              <a:t>return</a:t>
            </a:r>
            <a:r>
              <a:rPr lang="en-US" altLang="ja-JP" sz="2000" dirty="0">
                <a:solidFill>
                  <a:schemeClr val="tx1"/>
                </a:solidFill>
              </a:rPr>
              <a:t>(</a:t>
            </a:r>
            <a:r>
              <a:rPr lang="en-US" altLang="ja-JP" sz="2000" dirty="0">
                <a:solidFill>
                  <a:srgbClr val="3333FF"/>
                </a:solidFill>
              </a:rPr>
              <a:t>NULL</a:t>
            </a:r>
            <a:r>
              <a:rPr lang="en-US" altLang="ja-JP" sz="2000" dirty="0">
                <a:solidFill>
                  <a:schemeClr val="tx1"/>
                </a:solidFill>
              </a:rPr>
              <a:t>)</a:t>
            </a:r>
          </a:p>
          <a:p>
            <a:r>
              <a:rPr lang="en-US" altLang="ja-JP" sz="2000" dirty="0">
                <a:solidFill>
                  <a:schemeClr val="tx1"/>
                </a:solidFill>
              </a:rPr>
              <a:t>    }</a:t>
            </a:r>
          </a:p>
          <a:p>
            <a:r>
              <a:rPr lang="en-US" altLang="ja-JP" sz="2000" dirty="0">
                <a:solidFill>
                  <a:schemeClr val="tx1"/>
                </a:solidFill>
              </a:rPr>
              <a:t>    </a:t>
            </a:r>
            <a:r>
              <a:rPr lang="en-US" altLang="ja-JP" sz="2000" dirty="0">
                <a:solidFill>
                  <a:srgbClr val="3333FF"/>
                </a:solidFill>
              </a:rPr>
              <a:t>stop</a:t>
            </a:r>
            <a:r>
              <a:rPr lang="en-US" altLang="ja-JP" sz="2000" dirty="0">
                <a:solidFill>
                  <a:schemeClr val="tx1"/>
                </a:solidFill>
              </a:rPr>
              <a:t>(e)  </a:t>
            </a:r>
            <a:r>
              <a:rPr lang="en-US" altLang="ja-JP" sz="2000" dirty="0">
                <a:solidFill>
                  <a:srgbClr val="00B050"/>
                </a:solidFill>
              </a:rPr>
              <a:t># </a:t>
            </a:r>
            <a:r>
              <a:rPr lang="ja-JP" altLang="en-US" sz="2000" dirty="0">
                <a:solidFill>
                  <a:srgbClr val="00B050"/>
                </a:solidFill>
              </a:rPr>
              <a:t>処理時間以外に関するエラーがある場合にはここで出力する</a:t>
            </a:r>
          </a:p>
          <a:p>
            <a:r>
              <a:rPr lang="ja-JP" altLang="en-US" sz="2000" dirty="0">
                <a:solidFill>
                  <a:schemeClr val="tx1"/>
                </a:solidFill>
              </a:rPr>
              <a:t>  </a:t>
            </a:r>
            <a:r>
              <a:rPr lang="en-US" altLang="ja-JP" sz="2000" dirty="0">
                <a:solidFill>
                  <a:schemeClr val="tx1"/>
                </a:solidFill>
              </a:rPr>
              <a:t>}</a:t>
            </a:r>
          </a:p>
          <a:p>
            <a:r>
              <a:rPr lang="en-US" altLang="ja-JP" sz="2000" dirty="0">
                <a:solidFill>
                  <a:schemeClr val="tx1"/>
                </a:solidFill>
              </a:rPr>
              <a:t>)</a:t>
            </a:r>
          </a:p>
          <a:p>
            <a:r>
              <a:rPr lang="en-US" altLang="ja-JP" sz="2000" dirty="0" err="1">
                <a:solidFill>
                  <a:schemeClr val="tx1"/>
                </a:solidFill>
              </a:rPr>
              <a:t>setTimeLimit</a:t>
            </a:r>
            <a:r>
              <a:rPr lang="en-US" altLang="ja-JP" sz="2000" dirty="0">
                <a:solidFill>
                  <a:schemeClr val="tx1"/>
                </a:solidFill>
              </a:rPr>
              <a:t>()</a:t>
            </a:r>
          </a:p>
        </p:txBody>
      </p:sp>
    </p:spTree>
    <p:extLst>
      <p:ext uri="{BB962C8B-B14F-4D97-AF65-F5344CB8AC3E}">
        <p14:creationId xmlns:p14="http://schemas.microsoft.com/office/powerpoint/2010/main" val="3915138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4FF92-7960-3BDC-3E62-869DF600A4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183B80-9155-6582-6405-568C9AFE3DED}"/>
              </a:ext>
            </a:extLst>
          </p:cNvPr>
          <p:cNvSpPr>
            <a:spLocks noGrp="1"/>
          </p:cNvSpPr>
          <p:nvPr>
            <p:ph type="title"/>
          </p:nvPr>
        </p:nvSpPr>
        <p:spPr/>
        <p:txBody>
          <a:bodyPr/>
          <a:lstStyle/>
          <a:p>
            <a:r>
              <a:rPr kumimoji="1" lang="ja-JP" altLang="en-US" dirty="0"/>
              <a:t>途中記載に警告を出力するオプション</a:t>
            </a:r>
          </a:p>
        </p:txBody>
      </p:sp>
      <p:sp>
        <p:nvSpPr>
          <p:cNvPr id="3" name="スライド番号プレースホルダー 2">
            <a:extLst>
              <a:ext uri="{FF2B5EF4-FFF2-40B4-BE49-F238E27FC236}">
                <a16:creationId xmlns:a16="http://schemas.microsoft.com/office/drawing/2014/main" id="{9DF6868E-6684-3714-58B1-56B25CD28E75}"/>
              </a:ext>
            </a:extLst>
          </p:cNvPr>
          <p:cNvSpPr>
            <a:spLocks noGrp="1"/>
          </p:cNvSpPr>
          <p:nvPr>
            <p:ph type="sldNum" sz="quarter" idx="4"/>
          </p:nvPr>
        </p:nvSpPr>
        <p:spPr/>
        <p:txBody>
          <a:bodyPr/>
          <a:lstStyle/>
          <a:p>
            <a:fld id="{24AEDCA4-7D12-E34A-9125-9C962139F6EA}" type="slidenum">
              <a:rPr kumimoji="1" lang="en-US" altLang="ja-JP" smtClean="0"/>
              <a:pPr/>
              <a:t>33</a:t>
            </a:fld>
            <a:endParaRPr kumimoji="1" lang="en-US" altLang="ja-JP" dirty="0"/>
          </a:p>
        </p:txBody>
      </p:sp>
      <p:sp>
        <p:nvSpPr>
          <p:cNvPr id="4" name="コンテンツ プレースホルダー 3">
            <a:extLst>
              <a:ext uri="{FF2B5EF4-FFF2-40B4-BE49-F238E27FC236}">
                <a16:creationId xmlns:a16="http://schemas.microsoft.com/office/drawing/2014/main" id="{084F80D4-C0AA-D804-75F1-36D3DE8F541B}"/>
              </a:ext>
            </a:extLst>
          </p:cNvPr>
          <p:cNvSpPr>
            <a:spLocks noGrp="1"/>
          </p:cNvSpPr>
          <p:nvPr>
            <p:ph sz="half" idx="10"/>
          </p:nvPr>
        </p:nvSpPr>
        <p:spPr>
          <a:xfrm>
            <a:off x="496885" y="1426912"/>
            <a:ext cx="13745207" cy="4493538"/>
          </a:xfrm>
        </p:spPr>
        <p:txBody>
          <a:bodyPr/>
          <a:lstStyle/>
          <a:p>
            <a:pPr marL="0" indent="0">
              <a:buNone/>
            </a:pPr>
            <a:r>
              <a:rPr kumimoji="1" lang="ja-JP" altLang="en-US" sz="2800" b="0" u="sng" dirty="0"/>
              <a:t>①関数オプション名の途中記載</a:t>
            </a:r>
            <a:endParaRPr kumimoji="1" lang="en-US" altLang="ja-JP" sz="2800" b="0" u="sng" dirty="0"/>
          </a:p>
          <a:p>
            <a:pPr marL="0" indent="0">
              <a:buNone/>
            </a:pPr>
            <a:r>
              <a:rPr kumimoji="1" lang="en-US" altLang="ja-JP" sz="2800" b="0" dirty="0"/>
              <a:t>R </a:t>
            </a:r>
            <a:r>
              <a:rPr kumimoji="1" lang="ja-JP" altLang="en-US" sz="2800" b="0" dirty="0"/>
              <a:t>は関数のオプション名を途中まで書いても一致させてしまう仕様であるが、</a:t>
            </a:r>
            <a:endParaRPr kumimoji="1" lang="en-US" altLang="ja-JP" sz="2800" b="0" dirty="0"/>
          </a:p>
          <a:p>
            <a:pPr marL="0" indent="0">
              <a:buNone/>
            </a:pPr>
            <a:r>
              <a:rPr kumimoji="1" lang="ja-JP" altLang="en-US" sz="2800" b="0" dirty="0"/>
              <a:t>オプション名を正確に記載していないと、</a:t>
            </a:r>
            <a:endParaRPr kumimoji="1" lang="en-US" altLang="ja-JP" sz="2800" b="0" dirty="0"/>
          </a:p>
          <a:p>
            <a:pPr marL="0" indent="0">
              <a:buNone/>
            </a:pPr>
            <a:r>
              <a:rPr kumimoji="1" lang="ja-JP" altLang="en-US" sz="2800" b="0" dirty="0"/>
              <a:t>バージョンが上がってオプション名が増えた場合などに挙動が変わる恐れがある</a:t>
            </a:r>
            <a:endParaRPr kumimoji="1" lang="en-US" altLang="ja-JP" sz="2800" b="0" dirty="0"/>
          </a:p>
          <a:p>
            <a:pPr marL="0" indent="0">
              <a:buNone/>
            </a:pPr>
            <a:endParaRPr kumimoji="1" lang="en-US" altLang="ja-JP" sz="2800" b="0" dirty="0"/>
          </a:p>
          <a:p>
            <a:pPr marL="0" indent="0">
              <a:buNone/>
            </a:pPr>
            <a:r>
              <a:rPr kumimoji="1" lang="ja-JP" altLang="en-US" sz="2800" b="0" dirty="0"/>
              <a:t>→</a:t>
            </a:r>
            <a:r>
              <a:rPr kumimoji="1" lang="en-US" altLang="ja-JP" sz="2800" b="0" dirty="0"/>
              <a:t>options(</a:t>
            </a:r>
            <a:r>
              <a:rPr kumimoji="1" lang="en-US" altLang="ja-JP" sz="2800" b="0" dirty="0" err="1"/>
              <a:t>warnPartialMatch</a:t>
            </a:r>
            <a:r>
              <a:rPr kumimoji="1" lang="en-US" altLang="ja-JP" sz="2800" dirty="0" err="1"/>
              <a:t>Args</a:t>
            </a:r>
            <a:r>
              <a:rPr kumimoji="1" lang="en-US" altLang="ja-JP" sz="2800" b="0" dirty="0"/>
              <a:t> = TRUE) </a:t>
            </a:r>
            <a:r>
              <a:rPr kumimoji="1" lang="ja-JP" altLang="en-US" sz="2800" b="0" dirty="0"/>
              <a:t>を設定することで、警告を出し得る</a:t>
            </a:r>
            <a:endParaRPr kumimoji="1" lang="en-US" altLang="ja-JP" sz="2800" b="0" dirty="0"/>
          </a:p>
          <a:p>
            <a:pPr marL="0" indent="0">
              <a:buNone/>
            </a:pP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20DEB7A9-6CA4-82B7-FE63-6223E106C278}"/>
              </a:ext>
            </a:extLst>
          </p:cNvPr>
          <p:cNvSpPr/>
          <p:nvPr/>
        </p:nvSpPr>
        <p:spPr>
          <a:xfrm>
            <a:off x="585787" y="4573690"/>
            <a:ext cx="8278813" cy="200824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98B8F8A-C7A2-E8B8-A311-94F6493A38EF}"/>
              </a:ext>
            </a:extLst>
          </p:cNvPr>
          <p:cNvSpPr txBox="1"/>
          <p:nvPr/>
        </p:nvSpPr>
        <p:spPr>
          <a:xfrm>
            <a:off x="598486" y="4642939"/>
            <a:ext cx="8609014" cy="1938992"/>
          </a:xfrm>
          <a:prstGeom prst="rect">
            <a:avLst/>
          </a:prstGeom>
          <a:noFill/>
        </p:spPr>
        <p:txBody>
          <a:bodyPr wrap="square">
            <a:spAutoFit/>
          </a:bodyPr>
          <a:lstStyle/>
          <a:p>
            <a:r>
              <a:rPr lang="en-US" altLang="ja-JP" sz="2000" dirty="0"/>
              <a:t>round(</a:t>
            </a:r>
            <a:r>
              <a:rPr lang="en-US" altLang="ja-JP" sz="2000" dirty="0">
                <a:solidFill>
                  <a:srgbClr val="3333FF"/>
                </a:solidFill>
              </a:rPr>
              <a:t>0.12300</a:t>
            </a:r>
            <a:r>
              <a:rPr lang="en-US" altLang="ja-JP" sz="2000" dirty="0"/>
              <a:t>, digits =</a:t>
            </a:r>
            <a:r>
              <a:rPr lang="ja-JP" altLang="en-US" sz="2000" dirty="0"/>
              <a:t> </a:t>
            </a:r>
            <a:r>
              <a:rPr lang="en-US" altLang="ja-JP" sz="2000" dirty="0">
                <a:solidFill>
                  <a:srgbClr val="3333FF"/>
                </a:solidFill>
              </a:rPr>
              <a:t>4</a:t>
            </a:r>
            <a:r>
              <a:rPr lang="en-US" altLang="ja-JP" sz="2000" dirty="0"/>
              <a:t>) </a:t>
            </a:r>
          </a:p>
          <a:p>
            <a:r>
              <a:rPr lang="en-US" altLang="ja-JP" sz="2000" dirty="0"/>
              <a:t>round(</a:t>
            </a:r>
            <a:r>
              <a:rPr lang="en-US" altLang="ja-JP" sz="2000" dirty="0">
                <a:solidFill>
                  <a:srgbClr val="3333FF"/>
                </a:solidFill>
              </a:rPr>
              <a:t>0.12300</a:t>
            </a:r>
            <a:r>
              <a:rPr lang="en-US" altLang="ja-JP" sz="2000" dirty="0"/>
              <a:t>, digit = </a:t>
            </a:r>
            <a:r>
              <a:rPr lang="en-US" altLang="ja-JP" sz="2000" dirty="0">
                <a:solidFill>
                  <a:srgbClr val="3333FF"/>
                </a:solidFill>
              </a:rPr>
              <a:t>4</a:t>
            </a:r>
            <a:r>
              <a:rPr lang="en-US" altLang="ja-JP" sz="2000" dirty="0"/>
              <a:t>) </a:t>
            </a:r>
            <a:r>
              <a:rPr lang="en-US" altLang="ja-JP" sz="2000" dirty="0">
                <a:solidFill>
                  <a:srgbClr val="00B050"/>
                </a:solidFill>
              </a:rPr>
              <a:t>#digit</a:t>
            </a:r>
            <a:r>
              <a:rPr lang="ja-JP" altLang="en-US" sz="2000" dirty="0">
                <a:solidFill>
                  <a:srgbClr val="00B050"/>
                </a:solidFill>
              </a:rPr>
              <a:t>を</a:t>
            </a:r>
            <a:r>
              <a:rPr lang="en-US" altLang="ja-JP" sz="2000" dirty="0">
                <a:solidFill>
                  <a:srgbClr val="00B050"/>
                </a:solidFill>
              </a:rPr>
              <a:t>digits</a:t>
            </a:r>
            <a:r>
              <a:rPr lang="ja-JP" altLang="en-US" sz="2000" dirty="0">
                <a:solidFill>
                  <a:srgbClr val="00B050"/>
                </a:solidFill>
              </a:rPr>
              <a:t>とみなして処理される</a:t>
            </a:r>
          </a:p>
          <a:p>
            <a:endParaRPr lang="en-US" altLang="ja-JP" sz="2000" dirty="0"/>
          </a:p>
          <a:p>
            <a:r>
              <a:rPr lang="en-US" altLang="ja-JP" sz="2000" dirty="0"/>
              <a:t>options(</a:t>
            </a:r>
            <a:r>
              <a:rPr lang="en-US" altLang="ja-JP" sz="2000" dirty="0" err="1"/>
              <a:t>warnPartialMatchArgs</a:t>
            </a:r>
            <a:r>
              <a:rPr lang="en-US" altLang="ja-JP" sz="2000" dirty="0"/>
              <a:t> = </a:t>
            </a:r>
            <a:r>
              <a:rPr lang="en-US" altLang="ja-JP" sz="2000" dirty="0">
                <a:solidFill>
                  <a:srgbClr val="3333FF"/>
                </a:solidFill>
              </a:rPr>
              <a:t>TRUE</a:t>
            </a:r>
            <a:r>
              <a:rPr lang="en-US" altLang="ja-JP" sz="2000" dirty="0"/>
              <a:t>)</a:t>
            </a:r>
          </a:p>
          <a:p>
            <a:r>
              <a:rPr lang="en-US" altLang="ja-JP" sz="2000" dirty="0"/>
              <a:t>round(</a:t>
            </a:r>
            <a:r>
              <a:rPr lang="en-US" altLang="ja-JP" sz="2000" dirty="0">
                <a:solidFill>
                  <a:srgbClr val="3333FF"/>
                </a:solidFill>
              </a:rPr>
              <a:t>0.12300</a:t>
            </a:r>
            <a:r>
              <a:rPr lang="en-US" altLang="ja-JP" sz="2000" dirty="0"/>
              <a:t>, digits =</a:t>
            </a:r>
            <a:r>
              <a:rPr lang="ja-JP" altLang="en-US" sz="2000" dirty="0"/>
              <a:t> </a:t>
            </a:r>
            <a:r>
              <a:rPr lang="en-US" altLang="ja-JP" sz="2000" dirty="0">
                <a:solidFill>
                  <a:srgbClr val="3333FF"/>
                </a:solidFill>
              </a:rPr>
              <a:t>4</a:t>
            </a:r>
            <a:r>
              <a:rPr lang="en-US" altLang="ja-JP" sz="2000" dirty="0"/>
              <a:t>) </a:t>
            </a:r>
          </a:p>
          <a:p>
            <a:r>
              <a:rPr lang="en-US" altLang="ja-JP" sz="2000" dirty="0"/>
              <a:t>round(</a:t>
            </a:r>
            <a:r>
              <a:rPr lang="en-US" altLang="ja-JP" sz="2000" dirty="0">
                <a:solidFill>
                  <a:srgbClr val="3333FF"/>
                </a:solidFill>
              </a:rPr>
              <a:t>0.12300</a:t>
            </a:r>
            <a:r>
              <a:rPr lang="en-US" altLang="ja-JP" sz="2000" dirty="0"/>
              <a:t>, digit = </a:t>
            </a:r>
            <a:r>
              <a:rPr lang="en-US" altLang="ja-JP" sz="2000" dirty="0">
                <a:solidFill>
                  <a:srgbClr val="3333FF"/>
                </a:solidFill>
              </a:rPr>
              <a:t>4</a:t>
            </a:r>
            <a:r>
              <a:rPr lang="en-US" altLang="ja-JP" sz="2000" dirty="0"/>
              <a:t>) </a:t>
            </a:r>
            <a:r>
              <a:rPr lang="en-US" altLang="ja-JP" sz="2000" dirty="0">
                <a:solidFill>
                  <a:srgbClr val="00B050"/>
                </a:solidFill>
              </a:rPr>
              <a:t>#digit</a:t>
            </a:r>
            <a:r>
              <a:rPr lang="ja-JP" altLang="en-US" sz="2000" dirty="0">
                <a:solidFill>
                  <a:srgbClr val="00B050"/>
                </a:solidFill>
              </a:rPr>
              <a:t>は正確なオプション名ではないため警告</a:t>
            </a:r>
          </a:p>
        </p:txBody>
      </p:sp>
      <p:pic>
        <p:nvPicPr>
          <p:cNvPr id="8" name="図 7">
            <a:extLst>
              <a:ext uri="{FF2B5EF4-FFF2-40B4-BE49-F238E27FC236}">
                <a16:creationId xmlns:a16="http://schemas.microsoft.com/office/drawing/2014/main" id="{4967471A-D9A1-BF9D-D439-DF2C58CA8E07}"/>
              </a:ext>
            </a:extLst>
          </p:cNvPr>
          <p:cNvPicPr>
            <a:picLocks noChangeAspect="1"/>
          </p:cNvPicPr>
          <p:nvPr/>
        </p:nvPicPr>
        <p:blipFill>
          <a:blip r:embed="rId3"/>
          <a:stretch>
            <a:fillRect/>
          </a:stretch>
        </p:blipFill>
        <p:spPr>
          <a:xfrm>
            <a:off x="8992929" y="4845841"/>
            <a:ext cx="5355393" cy="1736089"/>
          </a:xfrm>
          <a:prstGeom prst="rect">
            <a:avLst/>
          </a:prstGeom>
        </p:spPr>
      </p:pic>
    </p:spTree>
    <p:extLst>
      <p:ext uri="{BB962C8B-B14F-4D97-AF65-F5344CB8AC3E}">
        <p14:creationId xmlns:p14="http://schemas.microsoft.com/office/powerpoint/2010/main" val="2851297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614C-1D66-A3DC-BB50-8FC3D087DD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47B541-92F1-6A30-AAFA-211FD9CB4229}"/>
              </a:ext>
            </a:extLst>
          </p:cNvPr>
          <p:cNvSpPr>
            <a:spLocks noGrp="1"/>
          </p:cNvSpPr>
          <p:nvPr>
            <p:ph type="title"/>
          </p:nvPr>
        </p:nvSpPr>
        <p:spPr/>
        <p:txBody>
          <a:bodyPr/>
          <a:lstStyle/>
          <a:p>
            <a:r>
              <a:rPr kumimoji="1" lang="ja-JP" altLang="en-US" dirty="0"/>
              <a:t>途中記載に警告を出力するオプション</a:t>
            </a:r>
          </a:p>
        </p:txBody>
      </p:sp>
      <p:sp>
        <p:nvSpPr>
          <p:cNvPr id="3" name="スライド番号プレースホルダー 2">
            <a:extLst>
              <a:ext uri="{FF2B5EF4-FFF2-40B4-BE49-F238E27FC236}">
                <a16:creationId xmlns:a16="http://schemas.microsoft.com/office/drawing/2014/main" id="{A088F890-C099-9B91-18DA-6BCE45977574}"/>
              </a:ext>
            </a:extLst>
          </p:cNvPr>
          <p:cNvSpPr>
            <a:spLocks noGrp="1"/>
          </p:cNvSpPr>
          <p:nvPr>
            <p:ph type="sldNum" sz="quarter" idx="4"/>
          </p:nvPr>
        </p:nvSpPr>
        <p:spPr/>
        <p:txBody>
          <a:bodyPr/>
          <a:lstStyle/>
          <a:p>
            <a:fld id="{24AEDCA4-7D12-E34A-9125-9C962139F6EA}" type="slidenum">
              <a:rPr kumimoji="1" lang="en-US" altLang="ja-JP" smtClean="0"/>
              <a:pPr/>
              <a:t>34</a:t>
            </a:fld>
            <a:endParaRPr kumimoji="1" lang="en-US" altLang="ja-JP" dirty="0"/>
          </a:p>
        </p:txBody>
      </p:sp>
      <p:sp>
        <p:nvSpPr>
          <p:cNvPr id="4" name="コンテンツ プレースホルダー 3">
            <a:extLst>
              <a:ext uri="{FF2B5EF4-FFF2-40B4-BE49-F238E27FC236}">
                <a16:creationId xmlns:a16="http://schemas.microsoft.com/office/drawing/2014/main" id="{A7544FF0-8F30-04E4-59E1-486BDFE3C46D}"/>
              </a:ext>
            </a:extLst>
          </p:cNvPr>
          <p:cNvSpPr>
            <a:spLocks noGrp="1"/>
          </p:cNvSpPr>
          <p:nvPr>
            <p:ph sz="half" idx="10"/>
          </p:nvPr>
        </p:nvSpPr>
        <p:spPr>
          <a:xfrm>
            <a:off x="496885" y="1426912"/>
            <a:ext cx="13745207" cy="2970044"/>
          </a:xfrm>
        </p:spPr>
        <p:txBody>
          <a:bodyPr/>
          <a:lstStyle/>
          <a:p>
            <a:pPr marL="0" indent="0">
              <a:buNone/>
            </a:pPr>
            <a:r>
              <a:rPr kumimoji="1" lang="ja-JP" altLang="en-US" sz="2800" b="0" u="sng" dirty="0"/>
              <a:t>②属性の途中記載</a:t>
            </a:r>
            <a:endParaRPr kumimoji="1" lang="en-US" altLang="ja-JP" sz="2800" b="0" u="sng" dirty="0"/>
          </a:p>
          <a:p>
            <a:pPr marL="0" indent="0">
              <a:buNone/>
            </a:pPr>
            <a:r>
              <a:rPr kumimoji="1" lang="ja-JP" altLang="en-US" sz="2800" b="0" dirty="0"/>
              <a:t>属性名を途中までの一致で取得してしまう</a:t>
            </a:r>
            <a:endParaRPr kumimoji="1" lang="en-US" altLang="ja-JP" sz="2800" b="0" dirty="0"/>
          </a:p>
          <a:p>
            <a:pPr marL="0" indent="0">
              <a:buNone/>
            </a:pPr>
            <a:r>
              <a:rPr kumimoji="1" lang="ja-JP" altLang="en-US" sz="2800" b="0" dirty="0"/>
              <a:t>→</a:t>
            </a:r>
            <a:r>
              <a:rPr kumimoji="1" lang="en-US" altLang="ja-JP" sz="2800" b="0" dirty="0"/>
              <a:t>options(</a:t>
            </a:r>
            <a:r>
              <a:rPr kumimoji="1" lang="en-US" altLang="ja-JP" sz="2800" b="0" dirty="0" err="1"/>
              <a:t>warnPartialMatch</a:t>
            </a:r>
            <a:r>
              <a:rPr kumimoji="1" lang="en-US" altLang="ja-JP" sz="2800" dirty="0" err="1"/>
              <a:t>Attr</a:t>
            </a:r>
            <a:r>
              <a:rPr kumimoji="1" lang="en-US" altLang="ja-JP" sz="2800" b="0" dirty="0"/>
              <a:t> = TRUE) </a:t>
            </a:r>
            <a:r>
              <a:rPr kumimoji="1" lang="ja-JP" altLang="en-US" sz="2800" b="0" dirty="0"/>
              <a:t>を設定することで、警告を出し得る</a:t>
            </a:r>
            <a:endParaRPr kumimoji="1" lang="en-US" altLang="ja-JP" sz="2800" b="0" dirty="0"/>
          </a:p>
          <a:p>
            <a:pPr marL="0" indent="0">
              <a:buNone/>
            </a:pP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82BEBE4E-0FE0-E72A-4459-383A45527D11}"/>
              </a:ext>
            </a:extLst>
          </p:cNvPr>
          <p:cNvSpPr/>
          <p:nvPr/>
        </p:nvSpPr>
        <p:spPr>
          <a:xfrm>
            <a:off x="585787" y="3290990"/>
            <a:ext cx="8164513" cy="200824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3E6A1E3-EB24-C74F-4E47-128D05F58A46}"/>
              </a:ext>
            </a:extLst>
          </p:cNvPr>
          <p:cNvSpPr txBox="1"/>
          <p:nvPr/>
        </p:nvSpPr>
        <p:spPr>
          <a:xfrm>
            <a:off x="598486" y="3360239"/>
            <a:ext cx="8609014" cy="1938992"/>
          </a:xfrm>
          <a:prstGeom prst="rect">
            <a:avLst/>
          </a:prstGeom>
          <a:noFill/>
        </p:spPr>
        <p:txBody>
          <a:bodyPr wrap="square">
            <a:spAutoFit/>
          </a:bodyPr>
          <a:lstStyle/>
          <a:p>
            <a:r>
              <a:rPr lang="en-US" altLang="ja-JP" sz="2000" dirty="0"/>
              <a:t>x &lt;- </a:t>
            </a:r>
            <a:r>
              <a:rPr lang="en-US" altLang="ja-JP" sz="2000" dirty="0">
                <a:solidFill>
                  <a:srgbClr val="3333FF"/>
                </a:solidFill>
              </a:rPr>
              <a:t>1</a:t>
            </a:r>
            <a:r>
              <a:rPr lang="en-US" altLang="ja-JP" sz="2000" dirty="0"/>
              <a:t>:</a:t>
            </a:r>
            <a:r>
              <a:rPr lang="en-US" altLang="ja-JP" sz="2000" dirty="0">
                <a:solidFill>
                  <a:srgbClr val="3333FF"/>
                </a:solidFill>
              </a:rPr>
              <a:t>3</a:t>
            </a:r>
          </a:p>
          <a:p>
            <a:r>
              <a:rPr lang="en-US" altLang="ja-JP" sz="2000" dirty="0" err="1"/>
              <a:t>attr</a:t>
            </a:r>
            <a:r>
              <a:rPr lang="en-US" altLang="ja-JP" sz="2000" dirty="0"/>
              <a:t>(x, </a:t>
            </a:r>
            <a:r>
              <a:rPr lang="en-US" altLang="ja-JP" sz="2000" dirty="0">
                <a:solidFill>
                  <a:srgbClr val="00B050"/>
                </a:solidFill>
              </a:rPr>
              <a:t>"label"</a:t>
            </a:r>
            <a:r>
              <a:rPr lang="en-US" altLang="ja-JP" sz="2000" dirty="0"/>
              <a:t>) &lt;- </a:t>
            </a:r>
            <a:r>
              <a:rPr lang="en-US" altLang="ja-JP" sz="2000" dirty="0">
                <a:solidFill>
                  <a:srgbClr val="00B050"/>
                </a:solidFill>
              </a:rPr>
              <a:t>"Score"</a:t>
            </a:r>
          </a:p>
          <a:p>
            <a:endParaRPr lang="en-US" altLang="ja-JP" sz="2000" dirty="0"/>
          </a:p>
          <a:p>
            <a:r>
              <a:rPr lang="en-US" altLang="ja-JP" sz="2000" dirty="0" err="1"/>
              <a:t>attr</a:t>
            </a:r>
            <a:r>
              <a:rPr lang="en-US" altLang="ja-JP" sz="2000" dirty="0"/>
              <a:t>(x, </a:t>
            </a:r>
            <a:r>
              <a:rPr lang="en-US" altLang="ja-JP" sz="2000" dirty="0">
                <a:solidFill>
                  <a:srgbClr val="00B050"/>
                </a:solidFill>
              </a:rPr>
              <a:t>"lab"</a:t>
            </a:r>
            <a:r>
              <a:rPr lang="en-US" altLang="ja-JP" sz="2000" dirty="0"/>
              <a:t>)  </a:t>
            </a:r>
            <a:r>
              <a:rPr lang="en-US" altLang="ja-JP" sz="2000" dirty="0">
                <a:solidFill>
                  <a:srgbClr val="00B050"/>
                </a:solidFill>
              </a:rPr>
              <a:t>#lab</a:t>
            </a:r>
            <a:r>
              <a:rPr lang="ja-JP" altLang="en-US" sz="2000" dirty="0">
                <a:solidFill>
                  <a:srgbClr val="00B050"/>
                </a:solidFill>
              </a:rPr>
              <a:t>を</a:t>
            </a:r>
            <a:r>
              <a:rPr lang="en-US" altLang="ja-JP" sz="2000" dirty="0">
                <a:solidFill>
                  <a:srgbClr val="00B050"/>
                </a:solidFill>
              </a:rPr>
              <a:t>label</a:t>
            </a:r>
            <a:r>
              <a:rPr lang="ja-JP" altLang="en-US" sz="2000" dirty="0">
                <a:solidFill>
                  <a:srgbClr val="00B050"/>
                </a:solidFill>
              </a:rPr>
              <a:t>とみなして属性を拾ってしまう</a:t>
            </a:r>
          </a:p>
          <a:p>
            <a:r>
              <a:rPr lang="en-US" altLang="ja-JP" sz="2000" dirty="0"/>
              <a:t>options(</a:t>
            </a:r>
            <a:r>
              <a:rPr lang="en-US" altLang="ja-JP" sz="2000" dirty="0" err="1"/>
              <a:t>warnPartialMatchAttr</a:t>
            </a:r>
            <a:r>
              <a:rPr lang="en-US" altLang="ja-JP" sz="2000" dirty="0"/>
              <a:t> = </a:t>
            </a:r>
            <a:r>
              <a:rPr lang="en-US" altLang="ja-JP" sz="2000" dirty="0">
                <a:solidFill>
                  <a:srgbClr val="3333FF"/>
                </a:solidFill>
              </a:rPr>
              <a:t>TRUE</a:t>
            </a:r>
            <a:r>
              <a:rPr lang="en-US" altLang="ja-JP" sz="2000" dirty="0"/>
              <a:t>)</a:t>
            </a:r>
          </a:p>
          <a:p>
            <a:r>
              <a:rPr lang="en-US" altLang="ja-JP" sz="2000" dirty="0" err="1"/>
              <a:t>attr</a:t>
            </a:r>
            <a:r>
              <a:rPr lang="en-US" altLang="ja-JP" sz="2000" dirty="0"/>
              <a:t>(x, </a:t>
            </a:r>
            <a:r>
              <a:rPr lang="en-US" altLang="ja-JP" sz="2000" dirty="0">
                <a:solidFill>
                  <a:srgbClr val="00B050"/>
                </a:solidFill>
              </a:rPr>
              <a:t>"lab"</a:t>
            </a:r>
            <a:r>
              <a:rPr lang="en-US" altLang="ja-JP" sz="2000" dirty="0"/>
              <a:t>) </a:t>
            </a:r>
            <a:r>
              <a:rPr lang="ja-JP" altLang="en-US" sz="2000" dirty="0"/>
              <a:t> </a:t>
            </a:r>
            <a:r>
              <a:rPr lang="en-US" altLang="ja-JP" sz="2000" dirty="0">
                <a:solidFill>
                  <a:srgbClr val="00B050"/>
                </a:solidFill>
              </a:rPr>
              <a:t>#</a:t>
            </a:r>
            <a:r>
              <a:rPr lang="ja-JP" altLang="en-US" sz="2000" dirty="0">
                <a:solidFill>
                  <a:srgbClr val="00B050"/>
                </a:solidFill>
              </a:rPr>
              <a:t>設定されていない属性でないため警告</a:t>
            </a:r>
          </a:p>
        </p:txBody>
      </p:sp>
      <p:pic>
        <p:nvPicPr>
          <p:cNvPr id="8" name="図 7">
            <a:extLst>
              <a:ext uri="{FF2B5EF4-FFF2-40B4-BE49-F238E27FC236}">
                <a16:creationId xmlns:a16="http://schemas.microsoft.com/office/drawing/2014/main" id="{0679495A-3132-2F01-5195-2A6DFFFB0D34}"/>
              </a:ext>
            </a:extLst>
          </p:cNvPr>
          <p:cNvPicPr>
            <a:picLocks noChangeAspect="1"/>
          </p:cNvPicPr>
          <p:nvPr/>
        </p:nvPicPr>
        <p:blipFill>
          <a:blip r:embed="rId3"/>
          <a:stretch>
            <a:fillRect/>
          </a:stretch>
        </p:blipFill>
        <p:spPr>
          <a:xfrm>
            <a:off x="9062929" y="3290990"/>
            <a:ext cx="5249467" cy="1938992"/>
          </a:xfrm>
          <a:prstGeom prst="rect">
            <a:avLst/>
          </a:prstGeom>
        </p:spPr>
      </p:pic>
    </p:spTree>
    <p:extLst>
      <p:ext uri="{BB962C8B-B14F-4D97-AF65-F5344CB8AC3E}">
        <p14:creationId xmlns:p14="http://schemas.microsoft.com/office/powerpoint/2010/main" val="730475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010C7-D254-E10B-A89F-2AFF7609CA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F05FBD-8729-ED30-3115-E5FB5B4C049B}"/>
              </a:ext>
            </a:extLst>
          </p:cNvPr>
          <p:cNvSpPr>
            <a:spLocks noGrp="1"/>
          </p:cNvSpPr>
          <p:nvPr>
            <p:ph type="title"/>
          </p:nvPr>
        </p:nvSpPr>
        <p:spPr/>
        <p:txBody>
          <a:bodyPr/>
          <a:lstStyle/>
          <a:p>
            <a:r>
              <a:rPr kumimoji="1" lang="ja-JP" altLang="en-US" dirty="0"/>
              <a:t>途中記載に警告を出力するオプション</a:t>
            </a:r>
          </a:p>
        </p:txBody>
      </p:sp>
      <p:sp>
        <p:nvSpPr>
          <p:cNvPr id="3" name="スライド番号プレースホルダー 2">
            <a:extLst>
              <a:ext uri="{FF2B5EF4-FFF2-40B4-BE49-F238E27FC236}">
                <a16:creationId xmlns:a16="http://schemas.microsoft.com/office/drawing/2014/main" id="{097026D3-CAB2-41D0-91FE-2137ECAECAA4}"/>
              </a:ext>
            </a:extLst>
          </p:cNvPr>
          <p:cNvSpPr>
            <a:spLocks noGrp="1"/>
          </p:cNvSpPr>
          <p:nvPr>
            <p:ph type="sldNum" sz="quarter" idx="4"/>
          </p:nvPr>
        </p:nvSpPr>
        <p:spPr/>
        <p:txBody>
          <a:bodyPr/>
          <a:lstStyle/>
          <a:p>
            <a:fld id="{24AEDCA4-7D12-E34A-9125-9C962139F6EA}" type="slidenum">
              <a:rPr kumimoji="1" lang="en-US" altLang="ja-JP" smtClean="0"/>
              <a:pPr/>
              <a:t>35</a:t>
            </a:fld>
            <a:endParaRPr kumimoji="1" lang="en-US" altLang="ja-JP" dirty="0"/>
          </a:p>
        </p:txBody>
      </p:sp>
      <p:sp>
        <p:nvSpPr>
          <p:cNvPr id="4" name="コンテンツ プレースホルダー 3">
            <a:extLst>
              <a:ext uri="{FF2B5EF4-FFF2-40B4-BE49-F238E27FC236}">
                <a16:creationId xmlns:a16="http://schemas.microsoft.com/office/drawing/2014/main" id="{69EDB2FD-1B1B-51A9-AEF2-AB8FEE45AC13}"/>
              </a:ext>
            </a:extLst>
          </p:cNvPr>
          <p:cNvSpPr>
            <a:spLocks noGrp="1"/>
          </p:cNvSpPr>
          <p:nvPr>
            <p:ph sz="half" idx="10"/>
          </p:nvPr>
        </p:nvSpPr>
        <p:spPr>
          <a:xfrm>
            <a:off x="496885" y="1426912"/>
            <a:ext cx="13745207" cy="2970044"/>
          </a:xfrm>
        </p:spPr>
        <p:txBody>
          <a:bodyPr/>
          <a:lstStyle/>
          <a:p>
            <a:pPr marL="0" indent="0">
              <a:buNone/>
            </a:pPr>
            <a:r>
              <a:rPr kumimoji="1" lang="ja-JP" altLang="en-US" sz="2800" b="0" u="sng" dirty="0"/>
              <a:t>③</a:t>
            </a:r>
            <a:r>
              <a:rPr kumimoji="1" lang="en-US" altLang="ja-JP" sz="2800" b="0" u="sng" dirty="0"/>
              <a:t>$</a:t>
            </a:r>
            <a:r>
              <a:rPr kumimoji="1" lang="ja-JP" altLang="en-US" sz="2800" b="0" u="sng" dirty="0"/>
              <a:t>で指定した列名の途中記載</a:t>
            </a:r>
            <a:endParaRPr kumimoji="1" lang="en-US" altLang="ja-JP" sz="2800" b="0" u="sng" dirty="0"/>
          </a:p>
          <a:p>
            <a:pPr marL="0" indent="0">
              <a:buNone/>
            </a:pPr>
            <a:r>
              <a:rPr kumimoji="1" lang="ja-JP" altLang="en-US" sz="2800" b="0" dirty="0"/>
              <a:t>データフレーム中の</a:t>
            </a:r>
            <a:r>
              <a:rPr kumimoji="1" lang="en-US" altLang="ja-JP" sz="2800" b="0" dirty="0"/>
              <a:t>$</a:t>
            </a:r>
            <a:r>
              <a:rPr kumimoji="1" lang="ja-JP" altLang="en-US" sz="2800" b="0" dirty="0"/>
              <a:t>で指定した列名を途中までの一致で取得してしまう</a:t>
            </a:r>
            <a:endParaRPr kumimoji="1" lang="en-US" altLang="ja-JP" sz="2800" b="0" dirty="0"/>
          </a:p>
          <a:p>
            <a:pPr marL="0" indent="0">
              <a:buNone/>
            </a:pPr>
            <a:r>
              <a:rPr kumimoji="1" lang="ja-JP" altLang="en-US" sz="2800" b="0" dirty="0"/>
              <a:t>→</a:t>
            </a:r>
            <a:r>
              <a:rPr kumimoji="1" lang="en-US" altLang="ja-JP" sz="2800" b="0" dirty="0"/>
              <a:t>options(</a:t>
            </a:r>
            <a:r>
              <a:rPr kumimoji="1" lang="en-US" altLang="ja-JP" sz="2800" b="0" dirty="0" err="1"/>
              <a:t>warnPartialMatch</a:t>
            </a:r>
            <a:r>
              <a:rPr kumimoji="1" lang="en-US" altLang="ja-JP" sz="2800" dirty="0" err="1"/>
              <a:t>Dollar</a:t>
            </a:r>
            <a:r>
              <a:rPr kumimoji="1" lang="en-US" altLang="ja-JP" sz="2800" b="0" dirty="0"/>
              <a:t> = TRUE) </a:t>
            </a:r>
            <a:r>
              <a:rPr kumimoji="1" lang="ja-JP" altLang="en-US" sz="2800" b="0" dirty="0"/>
              <a:t>を設定することで、警告を出し得る</a:t>
            </a:r>
            <a:endParaRPr kumimoji="1" lang="en-US" altLang="ja-JP" sz="2800" b="0" dirty="0"/>
          </a:p>
          <a:p>
            <a:pPr marL="0" indent="0">
              <a:buNone/>
            </a:pP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614F3972-8F14-BC23-3BD2-54469B871FBB}"/>
              </a:ext>
            </a:extLst>
          </p:cNvPr>
          <p:cNvSpPr/>
          <p:nvPr/>
        </p:nvSpPr>
        <p:spPr>
          <a:xfrm>
            <a:off x="585787" y="3290990"/>
            <a:ext cx="4913313" cy="3239348"/>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C0EAE7E-0534-E571-5DC2-92808C5AD8E9}"/>
              </a:ext>
            </a:extLst>
          </p:cNvPr>
          <p:cNvSpPr txBox="1"/>
          <p:nvPr/>
        </p:nvSpPr>
        <p:spPr>
          <a:xfrm>
            <a:off x="598486" y="3360239"/>
            <a:ext cx="5129214" cy="3170099"/>
          </a:xfrm>
          <a:prstGeom prst="rect">
            <a:avLst/>
          </a:prstGeom>
          <a:noFill/>
        </p:spPr>
        <p:txBody>
          <a:bodyPr wrap="square">
            <a:spAutoFit/>
          </a:bodyPr>
          <a:lstStyle/>
          <a:p>
            <a:r>
              <a:rPr lang="en-US" altLang="ja-JP" sz="2000" dirty="0" err="1"/>
              <a:t>df</a:t>
            </a:r>
            <a:r>
              <a:rPr lang="en-US" altLang="ja-JP" sz="2000" dirty="0"/>
              <a:t> &lt;- </a:t>
            </a:r>
            <a:r>
              <a:rPr lang="en-US" altLang="ja-JP" sz="2000" dirty="0" err="1"/>
              <a:t>data.frame</a:t>
            </a:r>
            <a:r>
              <a:rPr lang="en-US" altLang="ja-JP" sz="2000" dirty="0"/>
              <a:t>(</a:t>
            </a:r>
          </a:p>
          <a:p>
            <a:r>
              <a:rPr lang="en-US" altLang="ja-JP" sz="2000" dirty="0"/>
              <a:t>  </a:t>
            </a:r>
            <a:r>
              <a:rPr lang="en-US" altLang="ja-JP" sz="2000" dirty="0" err="1"/>
              <a:t>testvar</a:t>
            </a:r>
            <a:r>
              <a:rPr lang="en-US" altLang="ja-JP" sz="2000" dirty="0"/>
              <a:t>  = </a:t>
            </a:r>
            <a:r>
              <a:rPr lang="en-US" altLang="ja-JP" sz="2000" dirty="0">
                <a:solidFill>
                  <a:srgbClr val="3333FF"/>
                </a:solidFill>
              </a:rPr>
              <a:t>1</a:t>
            </a:r>
            <a:r>
              <a:rPr lang="en-US" altLang="ja-JP" sz="2000" dirty="0"/>
              <a:t>:</a:t>
            </a:r>
            <a:r>
              <a:rPr lang="en-US" altLang="ja-JP" sz="2000" dirty="0">
                <a:solidFill>
                  <a:srgbClr val="3333FF"/>
                </a:solidFill>
              </a:rPr>
              <a:t>3</a:t>
            </a:r>
            <a:r>
              <a:rPr lang="en-US" altLang="ja-JP" sz="2000" dirty="0"/>
              <a:t>,</a:t>
            </a:r>
          </a:p>
          <a:p>
            <a:r>
              <a:rPr lang="en-US" altLang="ja-JP" sz="2000" dirty="0"/>
              <a:t>  </a:t>
            </a:r>
            <a:r>
              <a:rPr lang="en-US" altLang="ja-JP" sz="2000" dirty="0" err="1"/>
              <a:t>othervar</a:t>
            </a:r>
            <a:r>
              <a:rPr lang="en-US" altLang="ja-JP" sz="2000" dirty="0"/>
              <a:t> = </a:t>
            </a:r>
            <a:r>
              <a:rPr lang="en-US" altLang="ja-JP" sz="2000" dirty="0">
                <a:solidFill>
                  <a:srgbClr val="3333FF"/>
                </a:solidFill>
              </a:rPr>
              <a:t>4</a:t>
            </a:r>
            <a:r>
              <a:rPr lang="en-US" altLang="ja-JP" sz="2000" dirty="0"/>
              <a:t>:</a:t>
            </a:r>
            <a:r>
              <a:rPr lang="en-US" altLang="ja-JP" sz="2000" dirty="0">
                <a:solidFill>
                  <a:srgbClr val="3333FF"/>
                </a:solidFill>
              </a:rPr>
              <a:t>6</a:t>
            </a:r>
          </a:p>
          <a:p>
            <a:r>
              <a:rPr lang="en-US" altLang="ja-JP" sz="2000" dirty="0"/>
              <a:t>)</a:t>
            </a:r>
          </a:p>
          <a:p>
            <a:endParaRPr lang="en-US" altLang="ja-JP" sz="2000" dirty="0"/>
          </a:p>
          <a:p>
            <a:r>
              <a:rPr lang="en-US" altLang="ja-JP" sz="2000" dirty="0" err="1"/>
              <a:t>df$testv</a:t>
            </a:r>
            <a:endParaRPr lang="en-US" altLang="ja-JP" sz="2000" dirty="0"/>
          </a:p>
          <a:p>
            <a:r>
              <a:rPr lang="en-US" altLang="ja-JP" sz="2000" dirty="0" err="1"/>
              <a:t>df$oth</a:t>
            </a:r>
            <a:endParaRPr lang="en-US" altLang="ja-JP" sz="2000" dirty="0"/>
          </a:p>
          <a:p>
            <a:r>
              <a:rPr lang="en-US" altLang="ja-JP" sz="2000" dirty="0"/>
              <a:t>options(</a:t>
            </a:r>
            <a:r>
              <a:rPr lang="en-US" altLang="ja-JP" sz="2000" dirty="0" err="1"/>
              <a:t>warnPartialMatchDollar</a:t>
            </a:r>
            <a:r>
              <a:rPr lang="en-US" altLang="ja-JP" sz="2000" dirty="0"/>
              <a:t> = </a:t>
            </a:r>
            <a:r>
              <a:rPr lang="en-US" altLang="ja-JP" sz="2000" dirty="0">
                <a:solidFill>
                  <a:srgbClr val="3333FF"/>
                </a:solidFill>
              </a:rPr>
              <a:t>TRUE</a:t>
            </a:r>
            <a:r>
              <a:rPr lang="en-US" altLang="ja-JP" sz="2000" dirty="0"/>
              <a:t>)</a:t>
            </a:r>
          </a:p>
          <a:p>
            <a:r>
              <a:rPr lang="en-US" altLang="ja-JP" sz="2000" dirty="0" err="1"/>
              <a:t>df$testv</a:t>
            </a:r>
            <a:endParaRPr lang="en-US" altLang="ja-JP" sz="2000" dirty="0"/>
          </a:p>
          <a:p>
            <a:r>
              <a:rPr lang="en-US" altLang="ja-JP" sz="2000" dirty="0" err="1"/>
              <a:t>df$oth</a:t>
            </a:r>
            <a:endParaRPr lang="ja-JP" altLang="en-US" sz="2000" dirty="0">
              <a:solidFill>
                <a:srgbClr val="00B050"/>
              </a:solidFill>
            </a:endParaRPr>
          </a:p>
        </p:txBody>
      </p:sp>
      <p:pic>
        <p:nvPicPr>
          <p:cNvPr id="9" name="図 8">
            <a:extLst>
              <a:ext uri="{FF2B5EF4-FFF2-40B4-BE49-F238E27FC236}">
                <a16:creationId xmlns:a16="http://schemas.microsoft.com/office/drawing/2014/main" id="{3D9D078B-682A-77D7-EB40-B0057A092E2F}"/>
              </a:ext>
            </a:extLst>
          </p:cNvPr>
          <p:cNvPicPr>
            <a:picLocks noChangeAspect="1"/>
          </p:cNvPicPr>
          <p:nvPr/>
        </p:nvPicPr>
        <p:blipFill>
          <a:blip r:embed="rId3"/>
          <a:stretch>
            <a:fillRect/>
          </a:stretch>
        </p:blipFill>
        <p:spPr>
          <a:xfrm>
            <a:off x="5588002" y="3623167"/>
            <a:ext cx="4554740" cy="3170099"/>
          </a:xfrm>
          <a:prstGeom prst="rect">
            <a:avLst/>
          </a:prstGeom>
        </p:spPr>
      </p:pic>
    </p:spTree>
    <p:extLst>
      <p:ext uri="{BB962C8B-B14F-4D97-AF65-F5344CB8AC3E}">
        <p14:creationId xmlns:p14="http://schemas.microsoft.com/office/powerpoint/2010/main" val="2536182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5156-C5CF-B32B-91BD-EB17A90369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E71ACB7-83E5-9712-BC4F-945ABAFC7C4E}"/>
              </a:ext>
            </a:extLst>
          </p:cNvPr>
          <p:cNvSpPr>
            <a:spLocks noGrp="1"/>
          </p:cNvSpPr>
          <p:nvPr>
            <p:ph type="title"/>
          </p:nvPr>
        </p:nvSpPr>
        <p:spPr/>
        <p:txBody>
          <a:bodyPr/>
          <a:lstStyle/>
          <a:p>
            <a:r>
              <a:rPr kumimoji="1" lang="ja-JP" altLang="en-US" dirty="0"/>
              <a:t>途中記載に警告を出力するオプション</a:t>
            </a:r>
          </a:p>
        </p:txBody>
      </p:sp>
      <p:sp>
        <p:nvSpPr>
          <p:cNvPr id="3" name="スライド番号プレースホルダー 2">
            <a:extLst>
              <a:ext uri="{FF2B5EF4-FFF2-40B4-BE49-F238E27FC236}">
                <a16:creationId xmlns:a16="http://schemas.microsoft.com/office/drawing/2014/main" id="{0A458BE9-FD14-8EAD-3524-67DA773A73CD}"/>
              </a:ext>
            </a:extLst>
          </p:cNvPr>
          <p:cNvSpPr>
            <a:spLocks noGrp="1"/>
          </p:cNvSpPr>
          <p:nvPr>
            <p:ph type="sldNum" sz="quarter" idx="4"/>
          </p:nvPr>
        </p:nvSpPr>
        <p:spPr/>
        <p:txBody>
          <a:bodyPr/>
          <a:lstStyle/>
          <a:p>
            <a:fld id="{24AEDCA4-7D12-E34A-9125-9C962139F6EA}" type="slidenum">
              <a:rPr kumimoji="1" lang="en-US" altLang="ja-JP" smtClean="0"/>
              <a:pPr/>
              <a:t>36</a:t>
            </a:fld>
            <a:endParaRPr kumimoji="1" lang="en-US" altLang="ja-JP" dirty="0"/>
          </a:p>
        </p:txBody>
      </p:sp>
      <p:sp>
        <p:nvSpPr>
          <p:cNvPr id="4" name="コンテンツ プレースホルダー 3">
            <a:extLst>
              <a:ext uri="{FF2B5EF4-FFF2-40B4-BE49-F238E27FC236}">
                <a16:creationId xmlns:a16="http://schemas.microsoft.com/office/drawing/2014/main" id="{D063D469-EF5F-858D-D1C1-4809F2000AC2}"/>
              </a:ext>
            </a:extLst>
          </p:cNvPr>
          <p:cNvSpPr>
            <a:spLocks noGrp="1"/>
          </p:cNvSpPr>
          <p:nvPr>
            <p:ph sz="half" idx="10"/>
          </p:nvPr>
        </p:nvSpPr>
        <p:spPr>
          <a:xfrm>
            <a:off x="496885" y="1426912"/>
            <a:ext cx="13745207" cy="1954381"/>
          </a:xfrm>
        </p:spPr>
        <p:txBody>
          <a:bodyPr/>
          <a:lstStyle/>
          <a:p>
            <a:pPr marL="0" indent="0">
              <a:buNone/>
            </a:pPr>
            <a:r>
              <a:rPr kumimoji="1" lang="ja-JP" altLang="en-US" sz="2800" b="0" dirty="0"/>
              <a:t>ただし、以下のように途中までの記載から、列名を一意に推測・特定できない場合、</a:t>
            </a:r>
            <a:endParaRPr kumimoji="1" lang="en-US" altLang="ja-JP" sz="2800" b="0" dirty="0"/>
          </a:p>
          <a:p>
            <a:pPr marL="0" indent="0">
              <a:buNone/>
            </a:pPr>
            <a:r>
              <a:rPr kumimoji="1" lang="en-US" altLang="ja-JP" sz="2800" b="0" dirty="0"/>
              <a:t>options(</a:t>
            </a:r>
            <a:r>
              <a:rPr kumimoji="1" lang="en-US" altLang="ja-JP" sz="2800" b="0" dirty="0" err="1"/>
              <a:t>warnPartialMatch</a:t>
            </a:r>
            <a:r>
              <a:rPr kumimoji="1" lang="en-US" altLang="ja-JP" sz="2800" dirty="0" err="1"/>
              <a:t>Dollar</a:t>
            </a:r>
            <a:r>
              <a:rPr kumimoji="1" lang="en-US" altLang="ja-JP" sz="2800" b="0" dirty="0"/>
              <a:t> = TRUE) </a:t>
            </a:r>
            <a:r>
              <a:rPr kumimoji="1" lang="ja-JP" altLang="en-US" sz="2800" b="0" dirty="0"/>
              <a:t>の設定に関わらず</a:t>
            </a:r>
            <a:r>
              <a:rPr kumimoji="1" lang="en-US" altLang="ja-JP" sz="2800" b="0" dirty="0"/>
              <a:t>NULL</a:t>
            </a:r>
            <a:r>
              <a:rPr kumimoji="1" lang="ja-JP" altLang="en-US" sz="2800" b="0" dirty="0"/>
              <a:t>を戻す</a:t>
            </a:r>
            <a:endParaRPr kumimoji="1" lang="en-US" altLang="ja-JP" sz="2800" b="0" dirty="0"/>
          </a:p>
          <a:p>
            <a:pPr marL="0" indent="0">
              <a:buNone/>
            </a:pPr>
            <a:r>
              <a:rPr kumimoji="1" lang="en-US" altLang="ja-JP" sz="2800" b="0" dirty="0"/>
              <a:t>  </a:t>
            </a:r>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0E802DA2-20C6-6B57-DC35-0871B9E3ED02}"/>
              </a:ext>
            </a:extLst>
          </p:cNvPr>
          <p:cNvSpPr/>
          <p:nvPr/>
        </p:nvSpPr>
        <p:spPr>
          <a:xfrm>
            <a:off x="496885" y="2742519"/>
            <a:ext cx="4913313" cy="283041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BF24E95-1774-8653-8DF3-05EEC5D491D1}"/>
              </a:ext>
            </a:extLst>
          </p:cNvPr>
          <p:cNvSpPr txBox="1"/>
          <p:nvPr/>
        </p:nvSpPr>
        <p:spPr>
          <a:xfrm>
            <a:off x="509584" y="2811768"/>
            <a:ext cx="5129214" cy="2554545"/>
          </a:xfrm>
          <a:prstGeom prst="rect">
            <a:avLst/>
          </a:prstGeom>
          <a:noFill/>
        </p:spPr>
        <p:txBody>
          <a:bodyPr wrap="square">
            <a:spAutoFit/>
          </a:bodyPr>
          <a:lstStyle/>
          <a:p>
            <a:r>
              <a:rPr lang="en-US" altLang="ja-JP" sz="2000" dirty="0" err="1"/>
              <a:t>adsl</a:t>
            </a:r>
            <a:r>
              <a:rPr lang="en-US" altLang="ja-JP" sz="2000" dirty="0"/>
              <a:t> &lt;- </a:t>
            </a:r>
            <a:r>
              <a:rPr lang="en-US" altLang="ja-JP" sz="2000" dirty="0" err="1"/>
              <a:t>data.frame</a:t>
            </a:r>
            <a:r>
              <a:rPr lang="en-US" altLang="ja-JP" sz="2000" dirty="0"/>
              <a:t>(</a:t>
            </a:r>
          </a:p>
          <a:p>
            <a:r>
              <a:rPr lang="en-US" altLang="ja-JP" sz="2000" dirty="0"/>
              <a:t>  TRT01PN = c(</a:t>
            </a:r>
            <a:r>
              <a:rPr lang="en-US" altLang="ja-JP" sz="2000" dirty="0">
                <a:solidFill>
                  <a:srgbClr val="3333FF"/>
                </a:solidFill>
              </a:rPr>
              <a:t>1</a:t>
            </a:r>
            <a:r>
              <a:rPr lang="en-US" altLang="ja-JP" sz="2000" dirty="0"/>
              <a:t>,</a:t>
            </a:r>
            <a:r>
              <a:rPr lang="en-US" altLang="ja-JP" sz="2000" dirty="0">
                <a:solidFill>
                  <a:srgbClr val="3333FF"/>
                </a:solidFill>
              </a:rPr>
              <a:t>2</a:t>
            </a:r>
            <a:r>
              <a:rPr lang="en-US" altLang="ja-JP" sz="2000" dirty="0"/>
              <a:t>,</a:t>
            </a:r>
            <a:r>
              <a:rPr lang="en-US" altLang="ja-JP" sz="2000" dirty="0">
                <a:solidFill>
                  <a:srgbClr val="3333FF"/>
                </a:solidFill>
              </a:rPr>
              <a:t>1</a:t>
            </a:r>
            <a:r>
              <a:rPr lang="en-US" altLang="ja-JP" sz="2000" dirty="0"/>
              <a:t>),</a:t>
            </a:r>
          </a:p>
          <a:p>
            <a:r>
              <a:rPr lang="en-US" altLang="ja-JP" sz="2000" dirty="0"/>
              <a:t>  TRT01P = c</a:t>
            </a:r>
            <a:r>
              <a:rPr lang="en-US" altLang="ja-JP" sz="2000" dirty="0">
                <a:solidFill>
                  <a:schemeClr val="tx1"/>
                </a:solidFill>
              </a:rPr>
              <a:t>(</a:t>
            </a:r>
            <a:r>
              <a:rPr lang="en-US" altLang="ja-JP" sz="2000" dirty="0">
                <a:solidFill>
                  <a:srgbClr val="00B050"/>
                </a:solidFill>
              </a:rPr>
              <a:t>"A","B","A"</a:t>
            </a:r>
            <a:r>
              <a:rPr lang="en-US" altLang="ja-JP" sz="2000" dirty="0">
                <a:solidFill>
                  <a:schemeClr val="tx1"/>
                </a:solidFill>
              </a:rPr>
              <a:t>)</a:t>
            </a:r>
          </a:p>
          <a:p>
            <a:r>
              <a:rPr lang="en-US" altLang="ja-JP" sz="2000" dirty="0"/>
              <a:t>)</a:t>
            </a:r>
          </a:p>
          <a:p>
            <a:endParaRPr lang="en-US" altLang="ja-JP" sz="2000" dirty="0"/>
          </a:p>
          <a:p>
            <a:r>
              <a:rPr lang="en-US" altLang="ja-JP" sz="2000" dirty="0" err="1"/>
              <a:t>adsl$TRT</a:t>
            </a:r>
            <a:endParaRPr lang="en-US" altLang="ja-JP" sz="2000" dirty="0"/>
          </a:p>
          <a:p>
            <a:r>
              <a:rPr lang="en-US" altLang="ja-JP" sz="2000" dirty="0"/>
              <a:t>options(</a:t>
            </a:r>
            <a:r>
              <a:rPr lang="en-US" altLang="ja-JP" sz="2000" dirty="0" err="1"/>
              <a:t>warnPartialMatchDollar</a:t>
            </a:r>
            <a:r>
              <a:rPr lang="en-US" altLang="ja-JP" sz="2000" dirty="0"/>
              <a:t> = </a:t>
            </a:r>
            <a:r>
              <a:rPr lang="en-US" altLang="ja-JP" sz="2000" dirty="0">
                <a:solidFill>
                  <a:srgbClr val="3333FF"/>
                </a:solidFill>
              </a:rPr>
              <a:t>TRUE</a:t>
            </a:r>
            <a:r>
              <a:rPr lang="en-US" altLang="ja-JP" sz="2000" dirty="0"/>
              <a:t>)</a:t>
            </a:r>
          </a:p>
          <a:p>
            <a:r>
              <a:rPr lang="en-US" altLang="ja-JP" sz="2000" dirty="0" err="1"/>
              <a:t>adsl$TRT</a:t>
            </a:r>
            <a:endParaRPr lang="ja-JP" altLang="en-US" sz="2000" dirty="0">
              <a:solidFill>
                <a:srgbClr val="00B050"/>
              </a:solidFill>
            </a:endParaRPr>
          </a:p>
        </p:txBody>
      </p:sp>
      <p:pic>
        <p:nvPicPr>
          <p:cNvPr id="8" name="図 7">
            <a:extLst>
              <a:ext uri="{FF2B5EF4-FFF2-40B4-BE49-F238E27FC236}">
                <a16:creationId xmlns:a16="http://schemas.microsoft.com/office/drawing/2014/main" id="{90234BD6-A698-D5D4-7475-1B771FE76665}"/>
              </a:ext>
            </a:extLst>
          </p:cNvPr>
          <p:cNvPicPr>
            <a:picLocks noChangeAspect="1"/>
          </p:cNvPicPr>
          <p:nvPr/>
        </p:nvPicPr>
        <p:blipFill>
          <a:blip r:embed="rId3"/>
          <a:stretch>
            <a:fillRect/>
          </a:stretch>
        </p:blipFill>
        <p:spPr>
          <a:xfrm>
            <a:off x="5740628" y="3061465"/>
            <a:ext cx="4226353" cy="2016164"/>
          </a:xfrm>
          <a:prstGeom prst="rect">
            <a:avLst/>
          </a:prstGeom>
        </p:spPr>
      </p:pic>
      <p:sp>
        <p:nvSpPr>
          <p:cNvPr id="10" name="コンテンツ プレースホルダー 3">
            <a:extLst>
              <a:ext uri="{FF2B5EF4-FFF2-40B4-BE49-F238E27FC236}">
                <a16:creationId xmlns:a16="http://schemas.microsoft.com/office/drawing/2014/main" id="{5CE87543-7C31-D806-90A0-948C04EE9235}"/>
              </a:ext>
            </a:extLst>
          </p:cNvPr>
          <p:cNvSpPr txBox="1">
            <a:spLocks/>
          </p:cNvSpPr>
          <p:nvPr/>
        </p:nvSpPr>
        <p:spPr>
          <a:xfrm>
            <a:off x="496885" y="5980594"/>
            <a:ext cx="13745207"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ja-JP" altLang="en-US" sz="2800" b="0" dirty="0"/>
              <a:t>そのため、</a:t>
            </a:r>
            <a:r>
              <a:rPr kumimoji="1" lang="ja-JP" altLang="en-US" sz="2800" b="0" dirty="0">
                <a:solidFill>
                  <a:srgbClr val="FF0000"/>
                </a:solidFill>
              </a:rPr>
              <a:t>データフレームから列を取得する場合には</a:t>
            </a:r>
            <a:r>
              <a:rPr kumimoji="1" lang="en-US" altLang="ja-JP" sz="2800" b="0" dirty="0">
                <a:solidFill>
                  <a:srgbClr val="FF0000"/>
                </a:solidFill>
              </a:rPr>
              <a:t>$</a:t>
            </a:r>
            <a:r>
              <a:rPr kumimoji="1" lang="ja-JP" altLang="en-US" sz="2800" b="0" dirty="0">
                <a:solidFill>
                  <a:srgbClr val="FF0000"/>
                </a:solidFill>
              </a:rPr>
              <a:t>を使わず</a:t>
            </a:r>
            <a:r>
              <a:rPr kumimoji="1" lang="ja-JP" altLang="en-US" sz="2800" b="0" dirty="0"/>
              <a:t>、</a:t>
            </a:r>
            <a:endParaRPr kumimoji="1" lang="en-US" altLang="ja-JP" sz="2800" b="0" dirty="0"/>
          </a:p>
          <a:p>
            <a:pPr marL="0" indent="0">
              <a:buNone/>
            </a:pPr>
            <a:r>
              <a:rPr kumimoji="1" lang="ja-JP" altLang="en-US" sz="2800" b="0" dirty="0"/>
              <a:t>不正確な列名の場合エラーを戻すことができる、</a:t>
            </a:r>
            <a:r>
              <a:rPr kumimoji="1" lang="ja-JP" altLang="en-US" sz="2800" b="0" dirty="0">
                <a:solidFill>
                  <a:srgbClr val="FF0000"/>
                </a:solidFill>
              </a:rPr>
              <a:t>データフレーム名</a:t>
            </a:r>
            <a:r>
              <a:rPr kumimoji="1" lang="en-US" altLang="ja-JP" sz="2800" b="0" dirty="0">
                <a:solidFill>
                  <a:srgbClr val="FF0000"/>
                </a:solidFill>
              </a:rPr>
              <a:t>[ ,</a:t>
            </a:r>
            <a:r>
              <a:rPr kumimoji="1" lang="ja-JP" altLang="en-US" sz="2800" b="0" dirty="0">
                <a:solidFill>
                  <a:srgbClr val="FF0000"/>
                </a:solidFill>
              </a:rPr>
              <a:t>列名</a:t>
            </a:r>
            <a:r>
              <a:rPr kumimoji="1" lang="en-US" altLang="ja-JP" sz="2800" b="0" dirty="0">
                <a:solidFill>
                  <a:srgbClr val="FF0000"/>
                </a:solidFill>
              </a:rPr>
              <a:t>]</a:t>
            </a:r>
            <a:r>
              <a:rPr kumimoji="1" lang="ja-JP" altLang="en-US" sz="2800" b="0" dirty="0"/>
              <a:t>の書き方をすると良い</a:t>
            </a:r>
            <a:endParaRPr kumimoji="1" lang="en-US" altLang="ja-JP" sz="2800" b="0" dirty="0"/>
          </a:p>
          <a:p>
            <a:pPr marL="0" indent="0">
              <a:buFont typeface="Arial" panose="020B0604020202020204" pitchFamily="34" charset="0"/>
              <a:buNone/>
            </a:pPr>
            <a:endParaRPr kumimoji="1" lang="en-US" altLang="ja-JP" sz="2800" b="0" dirty="0"/>
          </a:p>
        </p:txBody>
      </p:sp>
      <p:pic>
        <p:nvPicPr>
          <p:cNvPr id="12" name="図 11">
            <a:extLst>
              <a:ext uri="{FF2B5EF4-FFF2-40B4-BE49-F238E27FC236}">
                <a16:creationId xmlns:a16="http://schemas.microsoft.com/office/drawing/2014/main" id="{21FAE576-D723-B8BF-04FF-475E6000E0DD}"/>
              </a:ext>
            </a:extLst>
          </p:cNvPr>
          <p:cNvPicPr>
            <a:picLocks noChangeAspect="1"/>
          </p:cNvPicPr>
          <p:nvPr/>
        </p:nvPicPr>
        <p:blipFill>
          <a:blip r:embed="rId4"/>
          <a:stretch>
            <a:fillRect/>
          </a:stretch>
        </p:blipFill>
        <p:spPr>
          <a:xfrm>
            <a:off x="3429228" y="7138687"/>
            <a:ext cx="5863793" cy="780818"/>
          </a:xfrm>
          <a:prstGeom prst="rect">
            <a:avLst/>
          </a:prstGeom>
        </p:spPr>
      </p:pic>
    </p:spTree>
    <p:extLst>
      <p:ext uri="{BB962C8B-B14F-4D97-AF65-F5344CB8AC3E}">
        <p14:creationId xmlns:p14="http://schemas.microsoft.com/office/powerpoint/2010/main" val="3441541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15F8-A5A4-8EDD-C260-2981425EAE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156D72-6E04-64BE-5D92-4155D759C5A5}"/>
              </a:ext>
            </a:extLst>
          </p:cNvPr>
          <p:cNvSpPr>
            <a:spLocks noGrp="1"/>
          </p:cNvSpPr>
          <p:nvPr>
            <p:ph type="title"/>
          </p:nvPr>
        </p:nvSpPr>
        <p:spPr/>
        <p:txBody>
          <a:bodyPr/>
          <a:lstStyle/>
          <a:p>
            <a:r>
              <a:rPr kumimoji="1" lang="en-US" altLang="ja-JP" dirty="0"/>
              <a:t>attach</a:t>
            </a:r>
            <a:r>
              <a:rPr kumimoji="1" lang="ja-JP" altLang="en-US" dirty="0"/>
              <a:t>関数は使用しない​</a:t>
            </a:r>
          </a:p>
        </p:txBody>
      </p:sp>
      <p:sp>
        <p:nvSpPr>
          <p:cNvPr id="3" name="スライド番号プレースホルダー 2">
            <a:extLst>
              <a:ext uri="{FF2B5EF4-FFF2-40B4-BE49-F238E27FC236}">
                <a16:creationId xmlns:a16="http://schemas.microsoft.com/office/drawing/2014/main" id="{DF5F809C-A009-C0A9-03FC-0DCA22D2F967}"/>
              </a:ext>
            </a:extLst>
          </p:cNvPr>
          <p:cNvSpPr>
            <a:spLocks noGrp="1"/>
          </p:cNvSpPr>
          <p:nvPr>
            <p:ph type="sldNum" sz="quarter" idx="4"/>
          </p:nvPr>
        </p:nvSpPr>
        <p:spPr/>
        <p:txBody>
          <a:bodyPr/>
          <a:lstStyle/>
          <a:p>
            <a:fld id="{24AEDCA4-7D12-E34A-9125-9C962139F6EA}" type="slidenum">
              <a:rPr kumimoji="1" lang="en-US" altLang="ja-JP" smtClean="0"/>
              <a:pPr/>
              <a:t>37</a:t>
            </a:fld>
            <a:endParaRPr kumimoji="1" lang="en-US" altLang="ja-JP" dirty="0"/>
          </a:p>
        </p:txBody>
      </p:sp>
      <p:sp>
        <p:nvSpPr>
          <p:cNvPr id="4" name="コンテンツ プレースホルダー 3">
            <a:extLst>
              <a:ext uri="{FF2B5EF4-FFF2-40B4-BE49-F238E27FC236}">
                <a16:creationId xmlns:a16="http://schemas.microsoft.com/office/drawing/2014/main" id="{E407360F-DD19-214E-DC74-28561AF9B7F1}"/>
              </a:ext>
            </a:extLst>
          </p:cNvPr>
          <p:cNvSpPr>
            <a:spLocks noGrp="1"/>
          </p:cNvSpPr>
          <p:nvPr>
            <p:ph sz="half" idx="10"/>
          </p:nvPr>
        </p:nvSpPr>
        <p:spPr>
          <a:xfrm>
            <a:off x="496885" y="1426912"/>
            <a:ext cx="13745207" cy="1954381"/>
          </a:xfrm>
        </p:spPr>
        <p:txBody>
          <a:bodyPr/>
          <a:lstStyle/>
          <a:p>
            <a:pPr marL="0" indent="0">
              <a:buNone/>
            </a:pPr>
            <a:r>
              <a:rPr kumimoji="1" lang="ja-JP" altLang="en-US" sz="2800" b="0" dirty="0"/>
              <a:t>データフレームの変数を操作する際に、</a:t>
            </a:r>
            <a:endParaRPr kumimoji="1" lang="en-US" altLang="ja-JP" sz="2800" b="0" dirty="0"/>
          </a:p>
          <a:p>
            <a:pPr marL="0" indent="0">
              <a:buNone/>
            </a:pPr>
            <a:r>
              <a:rPr kumimoji="1" lang="ja-JP" altLang="en-US" sz="2800" b="0" dirty="0"/>
              <a:t>毎度データフレーム名を指定する必要がないように</a:t>
            </a:r>
            <a:r>
              <a:rPr kumimoji="1" lang="en-US" altLang="ja-JP" sz="2800" b="0" dirty="0"/>
              <a:t>attach</a:t>
            </a:r>
            <a:r>
              <a:rPr kumimoji="1" lang="ja-JP" altLang="en-US" sz="2800" b="0" dirty="0"/>
              <a:t>関数が用意されているが、</a:t>
            </a:r>
            <a:endParaRPr kumimoji="1" lang="en-US" altLang="ja-JP" sz="2800" b="0" dirty="0"/>
          </a:p>
          <a:p>
            <a:pPr marL="0" indent="0">
              <a:buNone/>
            </a:pPr>
            <a:r>
              <a:rPr kumimoji="1" lang="ja-JP" altLang="en-US" sz="2800" b="0" dirty="0"/>
              <a:t>以下のように意図通りの処理にならない恐れがあるため使用しない方が良い</a:t>
            </a:r>
            <a:endParaRPr kumimoji="1" lang="en-US" altLang="ja-JP" sz="2800" b="0" dirty="0"/>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6A94C958-5F55-3506-8D3D-FA70907ECFCD}"/>
              </a:ext>
            </a:extLst>
          </p:cNvPr>
          <p:cNvSpPr/>
          <p:nvPr/>
        </p:nvSpPr>
        <p:spPr>
          <a:xfrm>
            <a:off x="496885" y="3289300"/>
            <a:ext cx="9967915" cy="22225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D11D2C5-B8E0-3401-3CA3-E532AEE2AFE0}"/>
              </a:ext>
            </a:extLst>
          </p:cNvPr>
          <p:cNvSpPr txBox="1"/>
          <p:nvPr/>
        </p:nvSpPr>
        <p:spPr>
          <a:xfrm>
            <a:off x="496885" y="3406409"/>
            <a:ext cx="10260015" cy="1938992"/>
          </a:xfrm>
          <a:prstGeom prst="rect">
            <a:avLst/>
          </a:prstGeom>
          <a:noFill/>
        </p:spPr>
        <p:txBody>
          <a:bodyPr wrap="square">
            <a:spAutoFit/>
          </a:bodyPr>
          <a:lstStyle/>
          <a:p>
            <a:r>
              <a:rPr lang="en-US" altLang="ja-JP" sz="2000" dirty="0">
                <a:solidFill>
                  <a:schemeClr val="tx1"/>
                </a:solidFill>
              </a:rPr>
              <a:t>AVAL &lt;- </a:t>
            </a:r>
            <a:r>
              <a:rPr lang="en-US" altLang="ja-JP" sz="2000" dirty="0">
                <a:solidFill>
                  <a:srgbClr val="3333FF"/>
                </a:solidFill>
              </a:rPr>
              <a:t>10</a:t>
            </a:r>
          </a:p>
          <a:p>
            <a:r>
              <a:rPr lang="en-US" altLang="ja-JP" sz="2000" dirty="0" err="1">
                <a:solidFill>
                  <a:schemeClr val="tx1"/>
                </a:solidFill>
              </a:rPr>
              <a:t>df</a:t>
            </a:r>
            <a:r>
              <a:rPr lang="en-US" altLang="ja-JP" sz="2000" dirty="0">
                <a:solidFill>
                  <a:schemeClr val="tx1"/>
                </a:solidFill>
              </a:rPr>
              <a:t> &lt;- </a:t>
            </a:r>
            <a:r>
              <a:rPr lang="en-US" altLang="ja-JP" sz="2000" dirty="0" err="1">
                <a:solidFill>
                  <a:schemeClr val="tx1"/>
                </a:solidFill>
              </a:rPr>
              <a:t>data.frame</a:t>
            </a:r>
            <a:r>
              <a:rPr lang="en-US" altLang="ja-JP" sz="2000" dirty="0">
                <a:solidFill>
                  <a:schemeClr val="tx1"/>
                </a:solidFill>
              </a:rPr>
              <a:t>(AVAL = </a:t>
            </a:r>
            <a:r>
              <a:rPr lang="en-US" altLang="ja-JP" sz="2000" dirty="0">
                <a:solidFill>
                  <a:srgbClr val="3333FF"/>
                </a:solidFill>
              </a:rPr>
              <a:t>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 TRT=</a:t>
            </a:r>
            <a:r>
              <a:rPr lang="en-US" altLang="ja-JP" sz="2000" dirty="0">
                <a:solidFill>
                  <a:srgbClr val="3333FF"/>
                </a:solidFill>
              </a:rPr>
              <a:t>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a:t>
            </a:r>
          </a:p>
          <a:p>
            <a:endParaRPr lang="en-US" altLang="ja-JP" sz="2000" dirty="0">
              <a:solidFill>
                <a:schemeClr val="tx1"/>
              </a:solidFill>
            </a:endParaRPr>
          </a:p>
          <a:p>
            <a:r>
              <a:rPr lang="en-US" altLang="ja-JP" sz="2000" dirty="0">
                <a:solidFill>
                  <a:srgbClr val="3333FF"/>
                </a:solidFill>
              </a:rPr>
              <a:t>attach</a:t>
            </a:r>
            <a:r>
              <a:rPr lang="en-US" altLang="ja-JP" sz="2000" dirty="0">
                <a:solidFill>
                  <a:schemeClr val="tx1"/>
                </a:solidFill>
              </a:rPr>
              <a:t>(</a:t>
            </a:r>
            <a:r>
              <a:rPr lang="en-US" altLang="ja-JP" sz="2000" dirty="0" err="1">
                <a:solidFill>
                  <a:schemeClr val="tx1"/>
                </a:solidFill>
              </a:rPr>
              <a:t>df</a:t>
            </a:r>
            <a:r>
              <a:rPr lang="en-US" altLang="ja-JP" sz="2000" dirty="0">
                <a:solidFill>
                  <a:schemeClr val="tx1"/>
                </a:solidFill>
              </a:rPr>
              <a:t>) </a:t>
            </a:r>
          </a:p>
          <a:p>
            <a:r>
              <a:rPr lang="en-US" altLang="ja-JP" sz="2000" dirty="0">
                <a:solidFill>
                  <a:schemeClr val="tx1"/>
                </a:solidFill>
              </a:rPr>
              <a:t>TRT </a:t>
            </a:r>
            <a:r>
              <a:rPr lang="en-US" altLang="ja-JP" sz="2000" dirty="0">
                <a:solidFill>
                  <a:srgbClr val="00B050"/>
                </a:solidFill>
              </a:rPr>
              <a:t>#df</a:t>
            </a:r>
            <a:r>
              <a:rPr lang="ja-JP" altLang="en-US" sz="2000" dirty="0">
                <a:solidFill>
                  <a:srgbClr val="00B050"/>
                </a:solidFill>
              </a:rPr>
              <a:t>内の</a:t>
            </a:r>
            <a:r>
              <a:rPr lang="en-US" altLang="ja-JP" sz="2000" dirty="0">
                <a:solidFill>
                  <a:srgbClr val="00B050"/>
                </a:solidFill>
              </a:rPr>
              <a:t>TRT</a:t>
            </a:r>
            <a:r>
              <a:rPr lang="ja-JP" altLang="en-US" sz="2000" dirty="0">
                <a:solidFill>
                  <a:srgbClr val="00B050"/>
                </a:solidFill>
              </a:rPr>
              <a:t>を</a:t>
            </a:r>
            <a:r>
              <a:rPr lang="en-US" altLang="ja-JP" sz="2000" dirty="0" err="1">
                <a:solidFill>
                  <a:srgbClr val="00B050"/>
                </a:solidFill>
              </a:rPr>
              <a:t>df</a:t>
            </a:r>
            <a:r>
              <a:rPr lang="ja-JP" altLang="en-US" sz="2000" dirty="0">
                <a:solidFill>
                  <a:srgbClr val="00B050"/>
                </a:solidFill>
              </a:rPr>
              <a:t>名の指定なしで展開できる（変数名が競合しないので適切に動く）</a:t>
            </a:r>
          </a:p>
          <a:p>
            <a:r>
              <a:rPr lang="en-US" altLang="ja-JP" sz="2000" dirty="0">
                <a:solidFill>
                  <a:schemeClr val="tx1"/>
                </a:solidFill>
              </a:rPr>
              <a:t>AVAL </a:t>
            </a:r>
            <a:r>
              <a:rPr lang="en-US" altLang="ja-JP" sz="2000" dirty="0">
                <a:solidFill>
                  <a:srgbClr val="00B050"/>
                </a:solidFill>
              </a:rPr>
              <a:t>#df</a:t>
            </a:r>
            <a:r>
              <a:rPr lang="ja-JP" altLang="en-US" sz="2000" dirty="0">
                <a:solidFill>
                  <a:srgbClr val="00B050"/>
                </a:solidFill>
              </a:rPr>
              <a:t>内の</a:t>
            </a:r>
            <a:r>
              <a:rPr lang="en-US" altLang="ja-JP" sz="2000" dirty="0">
                <a:solidFill>
                  <a:srgbClr val="00B050"/>
                </a:solidFill>
              </a:rPr>
              <a:t>AVAL</a:t>
            </a:r>
            <a:r>
              <a:rPr lang="ja-JP" altLang="en-US" sz="2000" dirty="0">
                <a:solidFill>
                  <a:srgbClr val="00B050"/>
                </a:solidFill>
              </a:rPr>
              <a:t>ではなく、もともと定義していた</a:t>
            </a:r>
            <a:r>
              <a:rPr lang="en-US" altLang="ja-JP" sz="2000" dirty="0">
                <a:solidFill>
                  <a:srgbClr val="00B050"/>
                </a:solidFill>
              </a:rPr>
              <a:t>AVAL</a:t>
            </a:r>
            <a:r>
              <a:rPr lang="ja-JP" altLang="en-US" sz="2000" dirty="0">
                <a:solidFill>
                  <a:srgbClr val="00B050"/>
                </a:solidFill>
              </a:rPr>
              <a:t>が優先される</a:t>
            </a:r>
            <a:endParaRPr lang="en-US" altLang="ja-JP" sz="2000" dirty="0">
              <a:solidFill>
                <a:srgbClr val="00B050"/>
              </a:solidFill>
            </a:endParaRPr>
          </a:p>
        </p:txBody>
      </p:sp>
      <p:sp>
        <p:nvSpPr>
          <p:cNvPr id="7" name="正方形/長方形 6">
            <a:extLst>
              <a:ext uri="{FF2B5EF4-FFF2-40B4-BE49-F238E27FC236}">
                <a16:creationId xmlns:a16="http://schemas.microsoft.com/office/drawing/2014/main" id="{E65EBE7F-6347-A1A0-A49E-10BDD9FD70BD}"/>
              </a:ext>
            </a:extLst>
          </p:cNvPr>
          <p:cNvSpPr/>
          <p:nvPr/>
        </p:nvSpPr>
        <p:spPr>
          <a:xfrm>
            <a:off x="496886" y="5610092"/>
            <a:ext cx="6705602" cy="2005301"/>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B462850-26D6-8E4D-996A-61973527BA19}"/>
              </a:ext>
            </a:extLst>
          </p:cNvPr>
          <p:cNvSpPr txBox="1"/>
          <p:nvPr/>
        </p:nvSpPr>
        <p:spPr>
          <a:xfrm>
            <a:off x="496886" y="5676401"/>
            <a:ext cx="6805614" cy="1938992"/>
          </a:xfrm>
          <a:prstGeom prst="rect">
            <a:avLst/>
          </a:prstGeom>
          <a:noFill/>
        </p:spPr>
        <p:txBody>
          <a:bodyPr wrap="square">
            <a:spAutoFit/>
          </a:bodyPr>
          <a:lstStyle/>
          <a:p>
            <a:r>
              <a:rPr lang="en-US" altLang="ja-JP" sz="2000" dirty="0" err="1">
                <a:solidFill>
                  <a:schemeClr val="tx1"/>
                </a:solidFill>
              </a:rPr>
              <a:t>df</a:t>
            </a:r>
            <a:r>
              <a:rPr lang="en-US" altLang="ja-JP" sz="2000" dirty="0">
                <a:solidFill>
                  <a:schemeClr val="tx1"/>
                </a:solidFill>
              </a:rPr>
              <a:t> &lt;- </a:t>
            </a:r>
            <a:r>
              <a:rPr lang="en-US" altLang="ja-JP" sz="2000" dirty="0" err="1">
                <a:solidFill>
                  <a:schemeClr val="tx1"/>
                </a:solidFill>
              </a:rPr>
              <a:t>data.frame</a:t>
            </a:r>
            <a:r>
              <a:rPr lang="en-US" altLang="ja-JP" sz="2000" dirty="0">
                <a:solidFill>
                  <a:schemeClr val="tx1"/>
                </a:solidFill>
              </a:rPr>
              <a:t>(AVAL = </a:t>
            </a:r>
            <a:r>
              <a:rPr lang="en-US" altLang="ja-JP" sz="2000" dirty="0">
                <a:solidFill>
                  <a:srgbClr val="3333FF"/>
                </a:solidFill>
              </a:rPr>
              <a:t>1</a:t>
            </a:r>
            <a:r>
              <a:rPr lang="en-US" altLang="ja-JP" sz="2000" dirty="0">
                <a:solidFill>
                  <a:schemeClr val="tx1"/>
                </a:solidFill>
              </a:rPr>
              <a:t>:</a:t>
            </a:r>
            <a:r>
              <a:rPr lang="en-US" altLang="ja-JP" sz="2000" dirty="0">
                <a:solidFill>
                  <a:srgbClr val="3333FF"/>
                </a:solidFill>
              </a:rPr>
              <a:t>3</a:t>
            </a:r>
            <a:r>
              <a:rPr lang="en-US" altLang="ja-JP" sz="2000" dirty="0">
                <a:solidFill>
                  <a:schemeClr val="tx1"/>
                </a:solidFill>
              </a:rPr>
              <a:t>)</a:t>
            </a:r>
          </a:p>
          <a:p>
            <a:endParaRPr lang="en-US" altLang="ja-JP" sz="2000" dirty="0">
              <a:solidFill>
                <a:schemeClr val="tx1"/>
              </a:solidFill>
            </a:endParaRPr>
          </a:p>
          <a:p>
            <a:r>
              <a:rPr lang="en-US" altLang="ja-JP" sz="2000" dirty="0">
                <a:solidFill>
                  <a:srgbClr val="3333FF"/>
                </a:solidFill>
              </a:rPr>
              <a:t>attach</a:t>
            </a:r>
            <a:r>
              <a:rPr lang="en-US" altLang="ja-JP" sz="2000" dirty="0">
                <a:solidFill>
                  <a:schemeClr val="tx1"/>
                </a:solidFill>
              </a:rPr>
              <a:t>(</a:t>
            </a:r>
            <a:r>
              <a:rPr lang="en-US" altLang="ja-JP" sz="2000" dirty="0" err="1">
                <a:solidFill>
                  <a:schemeClr val="tx1"/>
                </a:solidFill>
              </a:rPr>
              <a:t>df</a:t>
            </a:r>
            <a:r>
              <a:rPr lang="en-US" altLang="ja-JP" sz="2000" dirty="0">
                <a:solidFill>
                  <a:schemeClr val="tx1"/>
                </a:solidFill>
              </a:rPr>
              <a:t>)</a:t>
            </a:r>
          </a:p>
          <a:p>
            <a:r>
              <a:rPr lang="en-US" altLang="ja-JP" sz="2000" dirty="0">
                <a:solidFill>
                  <a:schemeClr val="tx1"/>
                </a:solidFill>
              </a:rPr>
              <a:t>AVAL &lt;- AVAL + </a:t>
            </a:r>
            <a:r>
              <a:rPr lang="en-US" altLang="ja-JP" sz="2000" dirty="0">
                <a:solidFill>
                  <a:srgbClr val="3333FF"/>
                </a:solidFill>
              </a:rPr>
              <a:t>1</a:t>
            </a:r>
            <a:r>
              <a:rPr lang="en-US" altLang="ja-JP" sz="2000" dirty="0">
                <a:solidFill>
                  <a:schemeClr val="tx1"/>
                </a:solidFill>
              </a:rPr>
              <a:t> </a:t>
            </a:r>
            <a:r>
              <a:rPr lang="en-US" altLang="ja-JP" sz="2000" dirty="0">
                <a:solidFill>
                  <a:srgbClr val="00B050"/>
                </a:solidFill>
              </a:rPr>
              <a:t>#</a:t>
            </a:r>
            <a:r>
              <a:rPr lang="ja-JP" altLang="en-US" sz="2000" dirty="0">
                <a:solidFill>
                  <a:srgbClr val="00B050"/>
                </a:solidFill>
              </a:rPr>
              <a:t>新しいオブジェクトに上書きされる</a:t>
            </a:r>
          </a:p>
          <a:p>
            <a:r>
              <a:rPr lang="en-US" altLang="ja-JP" sz="2000" dirty="0">
                <a:solidFill>
                  <a:schemeClr val="tx1"/>
                </a:solidFill>
              </a:rPr>
              <a:t>AVAL </a:t>
            </a:r>
          </a:p>
          <a:p>
            <a:r>
              <a:rPr lang="en-US" altLang="ja-JP" sz="2000" dirty="0" err="1">
                <a:solidFill>
                  <a:schemeClr val="tx1"/>
                </a:solidFill>
              </a:rPr>
              <a:t>df</a:t>
            </a:r>
            <a:r>
              <a:rPr lang="en-US" altLang="ja-JP" sz="2000" dirty="0">
                <a:solidFill>
                  <a:schemeClr val="tx1"/>
                </a:solidFill>
              </a:rPr>
              <a:t> </a:t>
            </a:r>
            <a:r>
              <a:rPr lang="en-US" altLang="ja-JP" sz="2000" dirty="0">
                <a:solidFill>
                  <a:srgbClr val="00B050"/>
                </a:solidFill>
              </a:rPr>
              <a:t>#df</a:t>
            </a:r>
            <a:r>
              <a:rPr lang="ja-JP" altLang="en-US" sz="2000" dirty="0">
                <a:solidFill>
                  <a:srgbClr val="00B050"/>
                </a:solidFill>
              </a:rPr>
              <a:t>の</a:t>
            </a:r>
            <a:r>
              <a:rPr lang="en-US" altLang="ja-JP" sz="2000" dirty="0">
                <a:solidFill>
                  <a:srgbClr val="00B050"/>
                </a:solidFill>
              </a:rPr>
              <a:t>AVAL</a:t>
            </a:r>
            <a:r>
              <a:rPr lang="ja-JP" altLang="en-US" sz="2000" dirty="0">
                <a:solidFill>
                  <a:srgbClr val="00B050"/>
                </a:solidFill>
              </a:rPr>
              <a:t>には反映されていない</a:t>
            </a:r>
          </a:p>
        </p:txBody>
      </p:sp>
      <p:pic>
        <p:nvPicPr>
          <p:cNvPr id="12" name="図 11">
            <a:extLst>
              <a:ext uri="{FF2B5EF4-FFF2-40B4-BE49-F238E27FC236}">
                <a16:creationId xmlns:a16="http://schemas.microsoft.com/office/drawing/2014/main" id="{13D84C8D-1B57-9B23-0BC4-6844FEFE413A}"/>
              </a:ext>
            </a:extLst>
          </p:cNvPr>
          <p:cNvPicPr>
            <a:picLocks noChangeAspect="1"/>
          </p:cNvPicPr>
          <p:nvPr/>
        </p:nvPicPr>
        <p:blipFill>
          <a:blip r:embed="rId3"/>
          <a:stretch>
            <a:fillRect/>
          </a:stretch>
        </p:blipFill>
        <p:spPr>
          <a:xfrm>
            <a:off x="7748493" y="5676401"/>
            <a:ext cx="3971770" cy="1869471"/>
          </a:xfrm>
          <a:prstGeom prst="rect">
            <a:avLst/>
          </a:prstGeom>
        </p:spPr>
      </p:pic>
      <p:pic>
        <p:nvPicPr>
          <p:cNvPr id="14" name="図 13">
            <a:extLst>
              <a:ext uri="{FF2B5EF4-FFF2-40B4-BE49-F238E27FC236}">
                <a16:creationId xmlns:a16="http://schemas.microsoft.com/office/drawing/2014/main" id="{35A1C42C-FB2C-431C-15C7-DDFB81B9E1EB}"/>
              </a:ext>
            </a:extLst>
          </p:cNvPr>
          <p:cNvPicPr>
            <a:picLocks noChangeAspect="1"/>
          </p:cNvPicPr>
          <p:nvPr/>
        </p:nvPicPr>
        <p:blipFill>
          <a:blip r:embed="rId4"/>
          <a:stretch>
            <a:fillRect/>
          </a:stretch>
        </p:blipFill>
        <p:spPr>
          <a:xfrm>
            <a:off x="10491608" y="3618270"/>
            <a:ext cx="3900667" cy="1383349"/>
          </a:xfrm>
          <a:prstGeom prst="rect">
            <a:avLst/>
          </a:prstGeom>
        </p:spPr>
      </p:pic>
    </p:spTree>
    <p:extLst>
      <p:ext uri="{BB962C8B-B14F-4D97-AF65-F5344CB8AC3E}">
        <p14:creationId xmlns:p14="http://schemas.microsoft.com/office/powerpoint/2010/main" val="1151606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C716-CA72-52ED-6012-524FB63761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DDDCD0-1102-E309-A300-F38622910312}"/>
              </a:ext>
            </a:extLst>
          </p:cNvPr>
          <p:cNvSpPr>
            <a:spLocks noGrp="1"/>
          </p:cNvSpPr>
          <p:nvPr>
            <p:ph type="title"/>
          </p:nvPr>
        </p:nvSpPr>
        <p:spPr/>
        <p:txBody>
          <a:bodyPr/>
          <a:lstStyle/>
          <a:p>
            <a:r>
              <a:rPr kumimoji="1" lang="ja-JP" altLang="en-US" dirty="0"/>
              <a:t>関数名の重複に注意​</a:t>
            </a:r>
          </a:p>
        </p:txBody>
      </p:sp>
      <p:sp>
        <p:nvSpPr>
          <p:cNvPr id="3" name="スライド番号プレースホルダー 2">
            <a:extLst>
              <a:ext uri="{FF2B5EF4-FFF2-40B4-BE49-F238E27FC236}">
                <a16:creationId xmlns:a16="http://schemas.microsoft.com/office/drawing/2014/main" id="{314804FB-69C8-FFAA-813D-4D20182CA333}"/>
              </a:ext>
            </a:extLst>
          </p:cNvPr>
          <p:cNvSpPr>
            <a:spLocks noGrp="1"/>
          </p:cNvSpPr>
          <p:nvPr>
            <p:ph type="sldNum" sz="quarter" idx="4"/>
          </p:nvPr>
        </p:nvSpPr>
        <p:spPr/>
        <p:txBody>
          <a:bodyPr/>
          <a:lstStyle/>
          <a:p>
            <a:fld id="{24AEDCA4-7D12-E34A-9125-9C962139F6EA}" type="slidenum">
              <a:rPr kumimoji="1" lang="en-US" altLang="ja-JP" smtClean="0"/>
              <a:pPr/>
              <a:t>38</a:t>
            </a:fld>
            <a:endParaRPr kumimoji="1" lang="en-US" altLang="ja-JP" dirty="0"/>
          </a:p>
        </p:txBody>
      </p:sp>
      <p:sp>
        <p:nvSpPr>
          <p:cNvPr id="4" name="コンテンツ プレースホルダー 3">
            <a:extLst>
              <a:ext uri="{FF2B5EF4-FFF2-40B4-BE49-F238E27FC236}">
                <a16:creationId xmlns:a16="http://schemas.microsoft.com/office/drawing/2014/main" id="{316E68A8-1ABD-E489-6518-D7690215B715}"/>
              </a:ext>
            </a:extLst>
          </p:cNvPr>
          <p:cNvSpPr>
            <a:spLocks noGrp="1"/>
          </p:cNvSpPr>
          <p:nvPr>
            <p:ph sz="half" idx="10"/>
          </p:nvPr>
        </p:nvSpPr>
        <p:spPr>
          <a:xfrm>
            <a:off x="496885" y="1426912"/>
            <a:ext cx="13745207" cy="938719"/>
          </a:xfrm>
        </p:spPr>
        <p:txBody>
          <a:bodyPr/>
          <a:lstStyle/>
          <a:p>
            <a:pPr marL="0" indent="0">
              <a:buNone/>
            </a:pPr>
            <a:r>
              <a:rPr kumimoji="1" lang="ja-JP" altLang="en-US" sz="2800" b="0" dirty="0"/>
              <a:t>追加パッケージに含まれる関数名が、既にロードしていたパッケージの関数名と重複する場合、</a:t>
            </a:r>
            <a:endParaRPr kumimoji="1" lang="en-US" altLang="ja-JP" sz="2800" b="0" dirty="0"/>
          </a:p>
          <a:p>
            <a:pPr marL="0" indent="0">
              <a:buNone/>
            </a:pPr>
            <a:r>
              <a:rPr kumimoji="1" lang="ja-JP" altLang="en-US" sz="2800" b="0" dirty="0"/>
              <a:t>追加パッケージのロード時に以下のような</a:t>
            </a:r>
            <a:r>
              <a:rPr kumimoji="1" lang="en-US" altLang="ja-JP" sz="2800" b="0" dirty="0"/>
              <a:t>Note</a:t>
            </a:r>
            <a:r>
              <a:rPr kumimoji="1" lang="ja-JP" altLang="en-US" sz="2800" b="0" dirty="0"/>
              <a:t>が出て、関数が上書きされる</a:t>
            </a:r>
            <a:endParaRPr kumimoji="1" lang="en-US" altLang="ja-JP" sz="2800" b="0" dirty="0"/>
          </a:p>
        </p:txBody>
      </p:sp>
      <p:pic>
        <p:nvPicPr>
          <p:cNvPr id="9" name="図 8">
            <a:extLst>
              <a:ext uri="{FF2B5EF4-FFF2-40B4-BE49-F238E27FC236}">
                <a16:creationId xmlns:a16="http://schemas.microsoft.com/office/drawing/2014/main" id="{1627BBED-7E5B-7F4E-380C-0B6190226047}"/>
              </a:ext>
            </a:extLst>
          </p:cNvPr>
          <p:cNvPicPr>
            <a:picLocks noChangeAspect="1"/>
          </p:cNvPicPr>
          <p:nvPr/>
        </p:nvPicPr>
        <p:blipFill>
          <a:blip r:embed="rId3"/>
          <a:stretch>
            <a:fillRect/>
          </a:stretch>
        </p:blipFill>
        <p:spPr>
          <a:xfrm>
            <a:off x="496885" y="2806317"/>
            <a:ext cx="4369025" cy="1828894"/>
          </a:xfrm>
          <a:prstGeom prst="rect">
            <a:avLst/>
          </a:prstGeom>
        </p:spPr>
      </p:pic>
      <p:sp>
        <p:nvSpPr>
          <p:cNvPr id="10" name="コンテンツ プレースホルダー 3">
            <a:extLst>
              <a:ext uri="{FF2B5EF4-FFF2-40B4-BE49-F238E27FC236}">
                <a16:creationId xmlns:a16="http://schemas.microsoft.com/office/drawing/2014/main" id="{EF22504B-A2EA-107D-64C8-0767BB72A723}"/>
              </a:ext>
            </a:extLst>
          </p:cNvPr>
          <p:cNvSpPr txBox="1">
            <a:spLocks/>
          </p:cNvSpPr>
          <p:nvPr/>
        </p:nvSpPr>
        <p:spPr>
          <a:xfrm>
            <a:off x="496885" y="4952375"/>
            <a:ext cx="13745207" cy="1446550"/>
          </a:xfrm>
          <a:prstGeom prst="rect">
            <a:avLst/>
          </a:prstGeom>
        </p:spPr>
        <p:txBody>
          <a:bodyPr wrap="square" lIns="0" tIns="0" rIns="0" bIns="0">
            <a:spAutoFit/>
          </a:bodyPr>
          <a:lstStyle>
            <a:lvl1pPr marL="342900" indent="-342900">
              <a:spcBef>
                <a:spcPts val="600"/>
              </a:spcBef>
              <a:buClr>
                <a:schemeClr val="accent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1pPr>
            <a:lvl2pPr marL="952988" indent="-342900">
              <a:buClr>
                <a:schemeClr val="tx2"/>
              </a:buClr>
              <a:buFont typeface="Arial" panose="020B0604020202020204" pitchFamily="34" charset="0"/>
              <a:buChar char="•"/>
              <a:defRPr sz="2000" b="1" i="0">
                <a:latin typeface="Meiryo UI" panose="020B0604030504040204" pitchFamily="34" charset="-128"/>
                <a:ea typeface="Meiryo UI" panose="020B0604030504040204" pitchFamily="34" charset="-128"/>
                <a:cs typeface="+mn-cs"/>
              </a:defRPr>
            </a:lvl2pPr>
            <a:lvl3pPr marL="1219200" marR="0" indent="-858838" defTabSz="914400" eaLnBrk="1" fontAlgn="auto" latinLnBrk="0" hangingPunct="1">
              <a:lnSpc>
                <a:spcPct val="100000"/>
              </a:lnSpc>
              <a:spcBef>
                <a:spcPts val="600"/>
              </a:spcBef>
              <a:spcAft>
                <a:spcPts val="0"/>
              </a:spcAft>
              <a:buClr>
                <a:schemeClr val="accent2"/>
              </a:buClr>
              <a:buSzTx/>
              <a:buFontTx/>
              <a:buNone/>
              <a:tabLst/>
              <a:defRPr>
                <a:latin typeface="+mn-lt"/>
                <a:ea typeface="+mn-ea"/>
                <a:cs typeface="+mn-cs"/>
              </a:defRPr>
            </a:lvl3pPr>
            <a:lvl4pPr marL="1830263">
              <a:defRPr>
                <a:latin typeface="+mn-lt"/>
                <a:ea typeface="+mn-ea"/>
                <a:cs typeface="+mn-cs"/>
              </a:defRPr>
            </a:lvl4pPr>
            <a:lvl5pPr marL="2440351">
              <a:defRPr>
                <a:latin typeface="+mn-lt"/>
                <a:ea typeface="+mn-ea"/>
                <a:cs typeface="+mn-cs"/>
              </a:defRPr>
            </a:lvl5pPr>
            <a:lvl6pPr marL="3050438">
              <a:defRPr>
                <a:latin typeface="+mn-lt"/>
                <a:ea typeface="+mn-ea"/>
                <a:cs typeface="+mn-cs"/>
              </a:defRPr>
            </a:lvl6pPr>
            <a:lvl7pPr marL="3660526">
              <a:defRPr>
                <a:latin typeface="+mn-lt"/>
                <a:ea typeface="+mn-ea"/>
                <a:cs typeface="+mn-cs"/>
              </a:defRPr>
            </a:lvl7pPr>
            <a:lvl8pPr marL="4270614">
              <a:defRPr>
                <a:latin typeface="+mn-lt"/>
                <a:ea typeface="+mn-ea"/>
                <a:cs typeface="+mn-cs"/>
              </a:defRPr>
            </a:lvl8pPr>
            <a:lvl9pPr marL="4880701">
              <a:defRPr>
                <a:latin typeface="+mn-lt"/>
                <a:ea typeface="+mn-ea"/>
                <a:cs typeface="+mn-cs"/>
              </a:defRPr>
            </a:lvl9pPr>
          </a:lstStyle>
          <a:p>
            <a:pPr marL="0" indent="0">
              <a:buNone/>
            </a:pPr>
            <a:r>
              <a:rPr kumimoji="1" lang="ja-JP" altLang="en-US" sz="2800" b="0" dirty="0"/>
              <a:t>関数は</a:t>
            </a:r>
            <a:r>
              <a:rPr kumimoji="1" lang="en-US" altLang="ja-JP" sz="2800" b="0" dirty="0"/>
              <a:t>stats::lag</a:t>
            </a:r>
            <a:r>
              <a:rPr kumimoji="1" lang="ja-JP" altLang="en-US" sz="2800" b="0" dirty="0"/>
              <a:t>のようにパッケージ名</a:t>
            </a:r>
            <a:r>
              <a:rPr kumimoji="1" lang="en-US" altLang="ja-JP" sz="2800" b="0" dirty="0"/>
              <a:t>::</a:t>
            </a:r>
            <a:r>
              <a:rPr kumimoji="1" lang="ja-JP" altLang="en-US" sz="2800" b="0" dirty="0"/>
              <a:t>関数名で呼び出すことが可能なので、</a:t>
            </a:r>
            <a:endParaRPr kumimoji="1" lang="en-US" altLang="ja-JP" sz="2800" b="0" dirty="0"/>
          </a:p>
          <a:p>
            <a:pPr marL="0" indent="0">
              <a:buNone/>
            </a:pPr>
            <a:r>
              <a:rPr kumimoji="1" lang="ja-JP" altLang="en-US" sz="2800" b="0" dirty="0"/>
              <a:t>複数パッケージに存在する関数を用いる場合には、</a:t>
            </a:r>
            <a:endParaRPr kumimoji="1" lang="en-US" altLang="ja-JP" sz="2800" b="0" dirty="0"/>
          </a:p>
          <a:p>
            <a:pPr marL="0" indent="0">
              <a:buNone/>
            </a:pPr>
            <a:r>
              <a:rPr kumimoji="1" lang="ja-JP" altLang="en-US" sz="2800" b="0" dirty="0"/>
              <a:t>パッケージ名</a:t>
            </a:r>
            <a:r>
              <a:rPr kumimoji="1" lang="en-US" altLang="ja-JP" sz="2800" b="0" dirty="0"/>
              <a:t>::</a:t>
            </a:r>
            <a:r>
              <a:rPr kumimoji="1" lang="ja-JP" altLang="en-US" sz="2800" b="0" dirty="0"/>
              <a:t>関数名という形で記載したほうが良い</a:t>
            </a:r>
            <a:endParaRPr kumimoji="1" lang="en-US" altLang="ja-JP" sz="2800" b="0" dirty="0"/>
          </a:p>
        </p:txBody>
      </p:sp>
    </p:spTree>
    <p:extLst>
      <p:ext uri="{BB962C8B-B14F-4D97-AF65-F5344CB8AC3E}">
        <p14:creationId xmlns:p14="http://schemas.microsoft.com/office/powerpoint/2010/main" val="4192470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C756C-E7A4-589B-DC58-F026A8F76F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C7C0C1-3663-E2CC-7D7D-431EFC80F9FE}"/>
              </a:ext>
            </a:extLst>
          </p:cNvPr>
          <p:cNvSpPr>
            <a:spLocks noGrp="1"/>
          </p:cNvSpPr>
          <p:nvPr>
            <p:ph type="title"/>
          </p:nvPr>
        </p:nvSpPr>
        <p:spPr/>
        <p:txBody>
          <a:bodyPr/>
          <a:lstStyle/>
          <a:p>
            <a:r>
              <a:rPr kumimoji="1" lang="ja-JP" altLang="en-US" dirty="0"/>
              <a:t>自作関数は既存関数名と別名で定義する​</a:t>
            </a:r>
          </a:p>
        </p:txBody>
      </p:sp>
      <p:sp>
        <p:nvSpPr>
          <p:cNvPr id="3" name="スライド番号プレースホルダー 2">
            <a:extLst>
              <a:ext uri="{FF2B5EF4-FFF2-40B4-BE49-F238E27FC236}">
                <a16:creationId xmlns:a16="http://schemas.microsoft.com/office/drawing/2014/main" id="{C25AA2D6-5AE6-EDE3-5BCE-F99A208CEB87}"/>
              </a:ext>
            </a:extLst>
          </p:cNvPr>
          <p:cNvSpPr>
            <a:spLocks noGrp="1"/>
          </p:cNvSpPr>
          <p:nvPr>
            <p:ph type="sldNum" sz="quarter" idx="4"/>
          </p:nvPr>
        </p:nvSpPr>
        <p:spPr/>
        <p:txBody>
          <a:bodyPr/>
          <a:lstStyle/>
          <a:p>
            <a:fld id="{24AEDCA4-7D12-E34A-9125-9C962139F6EA}" type="slidenum">
              <a:rPr kumimoji="1" lang="en-US" altLang="ja-JP" smtClean="0"/>
              <a:pPr/>
              <a:t>39</a:t>
            </a:fld>
            <a:endParaRPr kumimoji="1" lang="en-US" altLang="ja-JP" dirty="0"/>
          </a:p>
        </p:txBody>
      </p:sp>
      <p:sp>
        <p:nvSpPr>
          <p:cNvPr id="4" name="コンテンツ プレースホルダー 3">
            <a:extLst>
              <a:ext uri="{FF2B5EF4-FFF2-40B4-BE49-F238E27FC236}">
                <a16:creationId xmlns:a16="http://schemas.microsoft.com/office/drawing/2014/main" id="{53E39874-0C07-9EC1-2C06-6B9A6640AA8A}"/>
              </a:ext>
            </a:extLst>
          </p:cNvPr>
          <p:cNvSpPr>
            <a:spLocks noGrp="1"/>
          </p:cNvSpPr>
          <p:nvPr>
            <p:ph sz="half" idx="10"/>
          </p:nvPr>
        </p:nvSpPr>
        <p:spPr>
          <a:xfrm>
            <a:off x="496885" y="1426912"/>
            <a:ext cx="13745207" cy="1446550"/>
          </a:xfrm>
        </p:spPr>
        <p:txBody>
          <a:bodyPr/>
          <a:lstStyle/>
          <a:p>
            <a:pPr marL="0" indent="0">
              <a:buNone/>
            </a:pPr>
            <a:r>
              <a:rPr kumimoji="1" lang="ja-JP" altLang="en-US" sz="2800" b="0" dirty="0"/>
              <a:t>自作関数名が</a:t>
            </a:r>
            <a:r>
              <a:rPr kumimoji="1" lang="en-US" altLang="ja-JP" sz="2800" b="0" dirty="0"/>
              <a:t>R</a:t>
            </a:r>
            <a:r>
              <a:rPr kumimoji="1" lang="ja-JP" altLang="en-US" sz="2800" b="0" dirty="0"/>
              <a:t>で既に用意されている関数名と同名であっても、</a:t>
            </a:r>
            <a:endParaRPr kumimoji="1" lang="en-US" altLang="ja-JP" sz="2800" b="0" dirty="0"/>
          </a:p>
          <a:p>
            <a:pPr marL="0" indent="0">
              <a:buNone/>
            </a:pPr>
            <a:r>
              <a:rPr kumimoji="1" lang="ja-JP" altLang="en-US" sz="2800" b="0" dirty="0"/>
              <a:t>警告が表示されないことが多いので注意</a:t>
            </a:r>
            <a:endParaRPr kumimoji="1" lang="en-US" altLang="ja-JP" sz="2800" b="0" dirty="0"/>
          </a:p>
          <a:p>
            <a:pPr marL="0" indent="0">
              <a:buNone/>
            </a:pPr>
            <a:endParaRPr kumimoji="1" lang="en-US" altLang="ja-JP" sz="2800" b="0" dirty="0"/>
          </a:p>
        </p:txBody>
      </p:sp>
      <p:sp>
        <p:nvSpPr>
          <p:cNvPr id="5" name="正方形/長方形 4">
            <a:extLst>
              <a:ext uri="{FF2B5EF4-FFF2-40B4-BE49-F238E27FC236}">
                <a16:creationId xmlns:a16="http://schemas.microsoft.com/office/drawing/2014/main" id="{3AC72CDF-8C09-0455-830E-3CE69926F225}"/>
              </a:ext>
            </a:extLst>
          </p:cNvPr>
          <p:cNvSpPr/>
          <p:nvPr/>
        </p:nvSpPr>
        <p:spPr>
          <a:xfrm>
            <a:off x="496885" y="2667000"/>
            <a:ext cx="7504115" cy="3200400"/>
          </a:xfrm>
          <a:prstGeom prst="rect">
            <a:avLst/>
          </a:prstGeom>
          <a:solidFill>
            <a:srgbClr val="FFFFCC"/>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D12AE5F-D928-42ED-835C-E5A225D78361}"/>
              </a:ext>
            </a:extLst>
          </p:cNvPr>
          <p:cNvSpPr txBox="1"/>
          <p:nvPr/>
        </p:nvSpPr>
        <p:spPr>
          <a:xfrm>
            <a:off x="496885" y="2784109"/>
            <a:ext cx="7351715" cy="2862322"/>
          </a:xfrm>
          <a:prstGeom prst="rect">
            <a:avLst/>
          </a:prstGeom>
          <a:noFill/>
        </p:spPr>
        <p:txBody>
          <a:bodyPr wrap="square">
            <a:spAutoFit/>
          </a:bodyPr>
          <a:lstStyle/>
          <a:p>
            <a:r>
              <a:rPr lang="en-US" altLang="ja-JP" sz="2000" dirty="0">
                <a:solidFill>
                  <a:schemeClr val="tx1"/>
                </a:solidFill>
              </a:rPr>
              <a:t>log(</a:t>
            </a:r>
            <a:r>
              <a:rPr lang="en-US" altLang="ja-JP" sz="2000" dirty="0">
                <a:solidFill>
                  <a:srgbClr val="3333FF"/>
                </a:solidFill>
              </a:rPr>
              <a:t>1</a:t>
            </a:r>
            <a:r>
              <a:rPr lang="en-US" altLang="ja-JP" sz="2000" dirty="0">
                <a:solidFill>
                  <a:schemeClr val="tx1"/>
                </a:solidFill>
              </a:rPr>
              <a:t>)</a:t>
            </a:r>
          </a:p>
          <a:p>
            <a:endParaRPr lang="en-US" altLang="ja-JP" sz="2000" dirty="0">
              <a:solidFill>
                <a:schemeClr val="tx1"/>
              </a:solidFill>
            </a:endParaRPr>
          </a:p>
          <a:p>
            <a:r>
              <a:rPr lang="en-US" altLang="ja-JP" sz="2000" dirty="0">
                <a:solidFill>
                  <a:schemeClr val="tx1"/>
                </a:solidFill>
              </a:rPr>
              <a:t>log &lt;- </a:t>
            </a:r>
            <a:r>
              <a:rPr lang="en-US" altLang="ja-JP" sz="2000" dirty="0">
                <a:solidFill>
                  <a:srgbClr val="3333FF"/>
                </a:solidFill>
              </a:rPr>
              <a:t>function</a:t>
            </a:r>
            <a:r>
              <a:rPr lang="en-US" altLang="ja-JP" sz="2000" dirty="0">
                <a:solidFill>
                  <a:schemeClr val="tx1"/>
                </a:solidFill>
              </a:rPr>
              <a:t>(x){</a:t>
            </a:r>
          </a:p>
          <a:p>
            <a:r>
              <a:rPr lang="en-US" altLang="ja-JP" sz="2000" dirty="0">
                <a:solidFill>
                  <a:schemeClr val="tx1"/>
                </a:solidFill>
              </a:rPr>
              <a:t>  </a:t>
            </a:r>
            <a:r>
              <a:rPr lang="en-US" altLang="ja-JP" sz="2000" dirty="0">
                <a:solidFill>
                  <a:srgbClr val="3333FF"/>
                </a:solidFill>
              </a:rPr>
              <a:t>return</a:t>
            </a:r>
            <a:r>
              <a:rPr lang="en-US" altLang="ja-JP" sz="2000" dirty="0">
                <a:solidFill>
                  <a:schemeClr val="tx1"/>
                </a:solidFill>
              </a:rPr>
              <a:t>(x)</a:t>
            </a:r>
          </a:p>
          <a:p>
            <a:r>
              <a:rPr lang="en-US" altLang="ja-JP" sz="2000" dirty="0">
                <a:solidFill>
                  <a:schemeClr val="tx1"/>
                </a:solidFill>
              </a:rPr>
              <a:t>}</a:t>
            </a:r>
          </a:p>
          <a:p>
            <a:r>
              <a:rPr lang="en-US" altLang="ja-JP" sz="2000" dirty="0">
                <a:solidFill>
                  <a:schemeClr val="tx1"/>
                </a:solidFill>
              </a:rPr>
              <a:t>log(</a:t>
            </a:r>
            <a:r>
              <a:rPr lang="en-US" altLang="ja-JP" sz="2000" dirty="0">
                <a:solidFill>
                  <a:srgbClr val="3333FF"/>
                </a:solidFill>
              </a:rPr>
              <a:t>1</a:t>
            </a:r>
            <a:r>
              <a:rPr lang="en-US" altLang="ja-JP" sz="2000" dirty="0">
                <a:solidFill>
                  <a:schemeClr val="tx1"/>
                </a:solidFill>
              </a:rPr>
              <a:t>)</a:t>
            </a:r>
            <a:r>
              <a:rPr lang="ja-JP" altLang="en-US" sz="2000" dirty="0">
                <a:solidFill>
                  <a:schemeClr val="tx1"/>
                </a:solidFill>
              </a:rPr>
              <a:t>　</a:t>
            </a:r>
            <a:r>
              <a:rPr lang="en-US" altLang="ja-JP" sz="2000" dirty="0">
                <a:solidFill>
                  <a:srgbClr val="00B050"/>
                </a:solidFill>
              </a:rPr>
              <a:t>#</a:t>
            </a:r>
            <a:r>
              <a:rPr lang="ja-JP" altLang="en-US" sz="2000" dirty="0">
                <a:solidFill>
                  <a:srgbClr val="00B050"/>
                </a:solidFill>
              </a:rPr>
              <a:t>関数が上書きされた</a:t>
            </a:r>
          </a:p>
          <a:p>
            <a:endParaRPr lang="ja-JP" altLang="en-US" sz="2000" dirty="0">
              <a:solidFill>
                <a:schemeClr val="tx1"/>
              </a:solidFill>
            </a:endParaRPr>
          </a:p>
          <a:p>
            <a:r>
              <a:rPr lang="en-US" altLang="ja-JP" sz="2000" dirty="0">
                <a:solidFill>
                  <a:schemeClr val="tx1"/>
                </a:solidFill>
              </a:rPr>
              <a:t>rm(log) </a:t>
            </a:r>
            <a:r>
              <a:rPr lang="en-US" altLang="ja-JP" sz="2000" dirty="0">
                <a:solidFill>
                  <a:srgbClr val="00B050"/>
                </a:solidFill>
              </a:rPr>
              <a:t>#</a:t>
            </a:r>
            <a:r>
              <a:rPr lang="ja-JP" altLang="en-US" sz="2000" dirty="0">
                <a:solidFill>
                  <a:srgbClr val="00B050"/>
                </a:solidFill>
              </a:rPr>
              <a:t>関数を上書きしてしまった場合はオブジェクトを消去</a:t>
            </a:r>
          </a:p>
          <a:p>
            <a:r>
              <a:rPr lang="en-US" altLang="ja-JP" sz="2000" dirty="0">
                <a:solidFill>
                  <a:schemeClr val="tx1"/>
                </a:solidFill>
              </a:rPr>
              <a:t>log(</a:t>
            </a:r>
            <a:r>
              <a:rPr lang="en-US" altLang="ja-JP" sz="2000" dirty="0">
                <a:solidFill>
                  <a:srgbClr val="3333FF"/>
                </a:solidFill>
              </a:rPr>
              <a:t>1</a:t>
            </a:r>
            <a:r>
              <a:rPr lang="en-US" altLang="ja-JP" sz="2000" dirty="0">
                <a:solidFill>
                  <a:schemeClr val="tx1"/>
                </a:solidFill>
              </a:rPr>
              <a:t>)</a:t>
            </a:r>
          </a:p>
        </p:txBody>
      </p:sp>
      <p:pic>
        <p:nvPicPr>
          <p:cNvPr id="8" name="図 7">
            <a:extLst>
              <a:ext uri="{FF2B5EF4-FFF2-40B4-BE49-F238E27FC236}">
                <a16:creationId xmlns:a16="http://schemas.microsoft.com/office/drawing/2014/main" id="{594723A9-072A-6104-46BD-8D4699927FB2}"/>
              </a:ext>
            </a:extLst>
          </p:cNvPr>
          <p:cNvPicPr>
            <a:picLocks noChangeAspect="1"/>
          </p:cNvPicPr>
          <p:nvPr/>
        </p:nvPicPr>
        <p:blipFill>
          <a:blip r:embed="rId3"/>
          <a:stretch>
            <a:fillRect/>
          </a:stretch>
        </p:blipFill>
        <p:spPr>
          <a:xfrm>
            <a:off x="8326334" y="3128177"/>
            <a:ext cx="5146273" cy="2151044"/>
          </a:xfrm>
          <a:prstGeom prst="rect">
            <a:avLst/>
          </a:prstGeom>
        </p:spPr>
      </p:pic>
    </p:spTree>
    <p:extLst>
      <p:ext uri="{BB962C8B-B14F-4D97-AF65-F5344CB8AC3E}">
        <p14:creationId xmlns:p14="http://schemas.microsoft.com/office/powerpoint/2010/main" val="3583114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3A40-87B7-C317-11FD-6214B04DEA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0C4B04-A5EF-4BFF-3BE8-CA496211DF6F}"/>
              </a:ext>
            </a:extLst>
          </p:cNvPr>
          <p:cNvSpPr>
            <a:spLocks noGrp="1"/>
          </p:cNvSpPr>
          <p:nvPr>
            <p:ph type="title"/>
          </p:nvPr>
        </p:nvSpPr>
        <p:spPr/>
        <p:txBody>
          <a:bodyPr/>
          <a:lstStyle/>
          <a:p>
            <a:r>
              <a:rPr kumimoji="1" lang="ja-JP" altLang="en-US" dirty="0"/>
              <a:t>関数名の重複確認・所在確認​</a:t>
            </a:r>
          </a:p>
        </p:txBody>
      </p:sp>
      <p:sp>
        <p:nvSpPr>
          <p:cNvPr id="3" name="スライド番号プレースホルダー 2">
            <a:extLst>
              <a:ext uri="{FF2B5EF4-FFF2-40B4-BE49-F238E27FC236}">
                <a16:creationId xmlns:a16="http://schemas.microsoft.com/office/drawing/2014/main" id="{4622E969-4865-ED40-7BB1-85D1E20F670E}"/>
              </a:ext>
            </a:extLst>
          </p:cNvPr>
          <p:cNvSpPr>
            <a:spLocks noGrp="1"/>
          </p:cNvSpPr>
          <p:nvPr>
            <p:ph type="sldNum" sz="quarter" idx="4"/>
          </p:nvPr>
        </p:nvSpPr>
        <p:spPr/>
        <p:txBody>
          <a:bodyPr/>
          <a:lstStyle/>
          <a:p>
            <a:fld id="{24AEDCA4-7D12-E34A-9125-9C962139F6EA}" type="slidenum">
              <a:rPr kumimoji="1" lang="en-US" altLang="ja-JP" smtClean="0"/>
              <a:pPr/>
              <a:t>40</a:t>
            </a:fld>
            <a:endParaRPr kumimoji="1" lang="en-US" altLang="ja-JP" dirty="0"/>
          </a:p>
        </p:txBody>
      </p:sp>
      <p:sp>
        <p:nvSpPr>
          <p:cNvPr id="4" name="コンテンツ プレースホルダー 3">
            <a:extLst>
              <a:ext uri="{FF2B5EF4-FFF2-40B4-BE49-F238E27FC236}">
                <a16:creationId xmlns:a16="http://schemas.microsoft.com/office/drawing/2014/main" id="{CEFDDDAC-F2D5-BC4D-EC73-278E439FD122}"/>
              </a:ext>
            </a:extLst>
          </p:cNvPr>
          <p:cNvSpPr>
            <a:spLocks noGrp="1"/>
          </p:cNvSpPr>
          <p:nvPr>
            <p:ph sz="half" idx="10"/>
          </p:nvPr>
        </p:nvSpPr>
        <p:spPr>
          <a:xfrm>
            <a:off x="496885" y="1426912"/>
            <a:ext cx="13745207" cy="3985706"/>
          </a:xfrm>
        </p:spPr>
        <p:txBody>
          <a:bodyPr/>
          <a:lstStyle/>
          <a:p>
            <a:pPr marL="0" indent="0">
              <a:buNone/>
            </a:pPr>
            <a:r>
              <a:rPr kumimoji="1" lang="ja-JP" altLang="en-US" sz="2800" b="0" dirty="0"/>
              <a:t>ロード済みの関数のうち、重複した関数は</a:t>
            </a:r>
            <a:r>
              <a:rPr kumimoji="1" lang="en-US" altLang="ja-JP" sz="2800" b="0" dirty="0"/>
              <a:t>conflicts()</a:t>
            </a:r>
            <a:r>
              <a:rPr kumimoji="1" lang="ja-JP" altLang="en-US" sz="2800" b="0" dirty="0"/>
              <a:t>で調べることができる</a:t>
            </a:r>
            <a:endParaRPr kumimoji="1" lang="en-US" altLang="ja-JP" sz="2800" b="0" dirty="0"/>
          </a:p>
          <a:p>
            <a:pPr marL="0" indent="0">
              <a:buNone/>
            </a:pPr>
            <a:r>
              <a:rPr kumimoji="1" lang="en-US" altLang="ja-JP" sz="2800" b="0" dirty="0"/>
              <a:t>(</a:t>
            </a:r>
            <a:r>
              <a:rPr kumimoji="1" lang="ja-JP" altLang="en-US" sz="2800" b="0" dirty="0"/>
              <a:t>インストールしているがロードしていないパッケージは判定されない</a:t>
            </a:r>
            <a:r>
              <a:rPr kumimoji="1" lang="en-US" altLang="ja-JP" sz="2800" b="0" dirty="0"/>
              <a:t>)</a:t>
            </a:r>
          </a:p>
          <a:p>
            <a:pPr marL="0" indent="0">
              <a:buNone/>
            </a:pPr>
            <a:endParaRPr kumimoji="1" lang="en-US" altLang="ja-JP" sz="2800" b="0" dirty="0"/>
          </a:p>
          <a:p>
            <a:pPr marL="0" indent="0">
              <a:buNone/>
            </a:pPr>
            <a:endParaRPr kumimoji="1" lang="en-US" altLang="ja-JP" sz="2800" b="0" dirty="0"/>
          </a:p>
          <a:p>
            <a:pPr marL="0" indent="0">
              <a:buNone/>
            </a:pPr>
            <a:endParaRPr kumimoji="1" lang="en-US" altLang="ja-JP" sz="2800" b="0" dirty="0"/>
          </a:p>
          <a:p>
            <a:pPr marL="0" indent="0">
              <a:buNone/>
            </a:pPr>
            <a:r>
              <a:rPr kumimoji="1" lang="ja-JP" altLang="en-US" sz="2800" b="0" dirty="0"/>
              <a:t>また、各関数の所在は</a:t>
            </a:r>
            <a:r>
              <a:rPr kumimoji="1" lang="en-US" altLang="ja-JP" sz="2800" b="0" dirty="0"/>
              <a:t>find(“</a:t>
            </a:r>
            <a:r>
              <a:rPr kumimoji="1" lang="ja-JP" altLang="en-US" sz="2800" b="0" dirty="0"/>
              <a:t>関数名</a:t>
            </a:r>
            <a:r>
              <a:rPr kumimoji="1" lang="en-US" altLang="ja-JP" sz="2800" b="0" dirty="0"/>
              <a:t>”)</a:t>
            </a:r>
            <a:r>
              <a:rPr kumimoji="1" lang="ja-JP" altLang="en-US" sz="2800" b="0" dirty="0"/>
              <a:t>で調べることができる</a:t>
            </a:r>
            <a:endParaRPr kumimoji="1" lang="en-US" altLang="ja-JP" sz="2800" b="0" dirty="0"/>
          </a:p>
          <a:p>
            <a:pPr marL="0" indent="0">
              <a:buNone/>
            </a:pPr>
            <a:endParaRPr kumimoji="1" lang="en-US" altLang="ja-JP" sz="2800" b="0" dirty="0"/>
          </a:p>
          <a:p>
            <a:pPr marL="0" indent="0">
              <a:buNone/>
            </a:pPr>
            <a:endParaRPr kumimoji="1" lang="en-US" altLang="ja-JP" sz="2800" b="0" dirty="0"/>
          </a:p>
        </p:txBody>
      </p:sp>
      <p:pic>
        <p:nvPicPr>
          <p:cNvPr id="10" name="図 9">
            <a:extLst>
              <a:ext uri="{FF2B5EF4-FFF2-40B4-BE49-F238E27FC236}">
                <a16:creationId xmlns:a16="http://schemas.microsoft.com/office/drawing/2014/main" id="{21376D7C-3F3C-413D-C030-A7EAD24DF0D6}"/>
              </a:ext>
            </a:extLst>
          </p:cNvPr>
          <p:cNvPicPr>
            <a:picLocks noChangeAspect="1"/>
          </p:cNvPicPr>
          <p:nvPr/>
        </p:nvPicPr>
        <p:blipFill>
          <a:blip r:embed="rId3"/>
          <a:stretch>
            <a:fillRect/>
          </a:stretch>
        </p:blipFill>
        <p:spPr>
          <a:xfrm>
            <a:off x="496885" y="2624388"/>
            <a:ext cx="5319715" cy="499291"/>
          </a:xfrm>
          <a:prstGeom prst="rect">
            <a:avLst/>
          </a:prstGeom>
        </p:spPr>
      </p:pic>
      <p:pic>
        <p:nvPicPr>
          <p:cNvPr id="11" name="図 10">
            <a:extLst>
              <a:ext uri="{FF2B5EF4-FFF2-40B4-BE49-F238E27FC236}">
                <a16:creationId xmlns:a16="http://schemas.microsoft.com/office/drawing/2014/main" id="{B559854C-0E32-2976-20B1-1D68351F4099}"/>
              </a:ext>
            </a:extLst>
          </p:cNvPr>
          <p:cNvPicPr>
            <a:picLocks noChangeAspect="1"/>
          </p:cNvPicPr>
          <p:nvPr/>
        </p:nvPicPr>
        <p:blipFill>
          <a:blip r:embed="rId4"/>
          <a:stretch>
            <a:fillRect/>
          </a:stretch>
        </p:blipFill>
        <p:spPr>
          <a:xfrm>
            <a:off x="496885" y="4564167"/>
            <a:ext cx="3927115" cy="499291"/>
          </a:xfrm>
          <a:prstGeom prst="rect">
            <a:avLst/>
          </a:prstGeom>
        </p:spPr>
      </p:pic>
    </p:spTree>
    <p:extLst>
      <p:ext uri="{BB962C8B-B14F-4D97-AF65-F5344CB8AC3E}">
        <p14:creationId xmlns:p14="http://schemas.microsoft.com/office/powerpoint/2010/main" val="3911952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89C9C-40BE-B444-98C8-4801BB02380E}"/>
              </a:ext>
            </a:extLst>
          </p:cNvPr>
          <p:cNvSpPr>
            <a:spLocks noGrp="1"/>
          </p:cNvSpPr>
          <p:nvPr>
            <p:ph type="title"/>
          </p:nvPr>
        </p:nvSpPr>
        <p:spPr/>
        <p:txBody>
          <a:bodyPr/>
          <a:lstStyle/>
          <a:p>
            <a:r>
              <a:rPr kumimoji="1" lang="ja-JP" altLang="en-US" dirty="0"/>
              <a:t>まとめ​</a:t>
            </a:r>
          </a:p>
        </p:txBody>
      </p:sp>
      <p:sp>
        <p:nvSpPr>
          <p:cNvPr id="3" name="スライド番号プレースホルダー 2">
            <a:extLst>
              <a:ext uri="{FF2B5EF4-FFF2-40B4-BE49-F238E27FC236}">
                <a16:creationId xmlns:a16="http://schemas.microsoft.com/office/drawing/2014/main" id="{061F3F4E-0518-E973-EA96-11CED2D87267}"/>
              </a:ext>
            </a:extLst>
          </p:cNvPr>
          <p:cNvSpPr>
            <a:spLocks noGrp="1"/>
          </p:cNvSpPr>
          <p:nvPr>
            <p:ph type="sldNum" sz="quarter" idx="4"/>
          </p:nvPr>
        </p:nvSpPr>
        <p:spPr/>
        <p:txBody>
          <a:bodyPr/>
          <a:lstStyle/>
          <a:p>
            <a:fld id="{24AEDCA4-7D12-E34A-9125-9C962139F6EA}" type="slidenum">
              <a:rPr kumimoji="1" lang="en-US" altLang="ja-JP" smtClean="0"/>
              <a:pPr/>
              <a:t>41</a:t>
            </a:fld>
            <a:endParaRPr kumimoji="1" lang="en-US" altLang="ja-JP" dirty="0"/>
          </a:p>
        </p:txBody>
      </p:sp>
      <p:sp>
        <p:nvSpPr>
          <p:cNvPr id="4" name="コンテンツ プレースホルダー 3">
            <a:extLst>
              <a:ext uri="{FF2B5EF4-FFF2-40B4-BE49-F238E27FC236}">
                <a16:creationId xmlns:a16="http://schemas.microsoft.com/office/drawing/2014/main" id="{BC069454-E2EE-1349-180D-87AEB7B21078}"/>
              </a:ext>
            </a:extLst>
          </p:cNvPr>
          <p:cNvSpPr>
            <a:spLocks noGrp="1"/>
          </p:cNvSpPr>
          <p:nvPr>
            <p:ph sz="half" idx="10"/>
          </p:nvPr>
        </p:nvSpPr>
        <p:spPr>
          <a:xfrm>
            <a:off x="496885" y="1426912"/>
            <a:ext cx="13745207" cy="2462213"/>
          </a:xfrm>
        </p:spPr>
        <p:txBody>
          <a:bodyPr/>
          <a:lstStyle/>
          <a:p>
            <a:pPr marL="0" indent="0">
              <a:buNone/>
            </a:pPr>
            <a:r>
              <a:rPr kumimoji="1" lang="ja-JP" altLang="en-US" sz="2800" b="0" dirty="0"/>
              <a:t>標準パッケージの頑健なコーディング</a:t>
            </a:r>
            <a:r>
              <a:rPr kumimoji="1" lang="ja-JP" altLang="en-US" sz="2800" b="0"/>
              <a:t>について検討</a:t>
            </a:r>
            <a:r>
              <a:rPr kumimoji="1" lang="ja-JP" altLang="en-US" sz="2800" b="0" dirty="0"/>
              <a:t>した</a:t>
            </a:r>
            <a:endParaRPr kumimoji="1" lang="en-US" altLang="ja-JP" sz="2800" b="0" dirty="0"/>
          </a:p>
          <a:p>
            <a:pPr marL="0" indent="0">
              <a:buNone/>
            </a:pPr>
            <a:r>
              <a:rPr kumimoji="1" lang="ja-JP" altLang="en-US" sz="2800" b="0" dirty="0"/>
              <a:t>今後は</a:t>
            </a:r>
            <a:r>
              <a:rPr kumimoji="1" lang="en-US" altLang="ja-JP" sz="2800" b="0" dirty="0" err="1"/>
              <a:t>pharmaverse</a:t>
            </a:r>
            <a:r>
              <a:rPr kumimoji="1" lang="ja-JP" altLang="en-US" sz="2800" b="0" dirty="0"/>
              <a:t>などの追加パッケージについても検討したい</a:t>
            </a:r>
            <a:endParaRPr kumimoji="1" lang="en-US" altLang="ja-JP" sz="2800" b="0" dirty="0"/>
          </a:p>
          <a:p>
            <a:pPr marL="0" indent="0">
              <a:buNone/>
            </a:pPr>
            <a:endParaRPr kumimoji="1" lang="en-US" altLang="ja-JP" sz="2800" b="0" dirty="0"/>
          </a:p>
          <a:p>
            <a:pPr marL="0" indent="0">
              <a:buNone/>
            </a:pPr>
            <a:r>
              <a:rPr kumimoji="1" lang="ja-JP" altLang="en-US" sz="2800" b="0" dirty="0"/>
              <a:t>皆様が工夫されていることがございましたら、是非コメントいただけますと幸いです</a:t>
            </a:r>
            <a:endParaRPr kumimoji="1" lang="en-US" altLang="ja-JP" sz="2800" b="0" dirty="0"/>
          </a:p>
          <a:p>
            <a:pPr marL="0" indent="0">
              <a:buNone/>
            </a:pPr>
            <a:endParaRPr kumimoji="1" lang="en-US" altLang="ja-JP" sz="2800" b="0" dirty="0"/>
          </a:p>
        </p:txBody>
      </p:sp>
    </p:spTree>
    <p:extLst>
      <p:ext uri="{BB962C8B-B14F-4D97-AF65-F5344CB8AC3E}">
        <p14:creationId xmlns:p14="http://schemas.microsoft.com/office/powerpoint/2010/main" val="3961275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89C9C-40BE-B444-98C8-4801BB02380E}"/>
              </a:ext>
            </a:extLst>
          </p:cNvPr>
          <p:cNvSpPr>
            <a:spLocks noGrp="1"/>
          </p:cNvSpPr>
          <p:nvPr>
            <p:ph type="title"/>
          </p:nvPr>
        </p:nvSpPr>
        <p:spPr/>
        <p:txBody>
          <a:bodyPr/>
          <a:lstStyle/>
          <a:p>
            <a:r>
              <a:rPr kumimoji="1" lang="ja-JP" altLang="en-US" dirty="0"/>
              <a:t>参考文献</a:t>
            </a:r>
          </a:p>
        </p:txBody>
      </p:sp>
      <p:sp>
        <p:nvSpPr>
          <p:cNvPr id="3" name="スライド番号プレースホルダー 2">
            <a:extLst>
              <a:ext uri="{FF2B5EF4-FFF2-40B4-BE49-F238E27FC236}">
                <a16:creationId xmlns:a16="http://schemas.microsoft.com/office/drawing/2014/main" id="{061F3F4E-0518-E973-EA96-11CED2D87267}"/>
              </a:ext>
            </a:extLst>
          </p:cNvPr>
          <p:cNvSpPr>
            <a:spLocks noGrp="1"/>
          </p:cNvSpPr>
          <p:nvPr>
            <p:ph type="sldNum" sz="quarter" idx="4"/>
          </p:nvPr>
        </p:nvSpPr>
        <p:spPr/>
        <p:txBody>
          <a:bodyPr/>
          <a:lstStyle/>
          <a:p>
            <a:fld id="{24AEDCA4-7D12-E34A-9125-9C962139F6EA}" type="slidenum">
              <a:rPr kumimoji="1" lang="en-US" altLang="ja-JP" smtClean="0"/>
              <a:pPr/>
              <a:t>42</a:t>
            </a:fld>
            <a:endParaRPr kumimoji="1" lang="en-US" altLang="ja-JP" dirty="0"/>
          </a:p>
        </p:txBody>
      </p:sp>
      <p:sp>
        <p:nvSpPr>
          <p:cNvPr id="4" name="コンテンツ プレースホルダー 3">
            <a:extLst>
              <a:ext uri="{FF2B5EF4-FFF2-40B4-BE49-F238E27FC236}">
                <a16:creationId xmlns:a16="http://schemas.microsoft.com/office/drawing/2014/main" id="{907A13CA-42B6-09B4-AAA8-B13B640EB08A}"/>
              </a:ext>
            </a:extLst>
          </p:cNvPr>
          <p:cNvSpPr>
            <a:spLocks noGrp="1"/>
          </p:cNvSpPr>
          <p:nvPr>
            <p:ph sz="half" idx="10"/>
          </p:nvPr>
        </p:nvSpPr>
        <p:spPr>
          <a:xfrm>
            <a:off x="720000" y="1328057"/>
            <a:ext cx="12964478" cy="4524315"/>
          </a:xfrm>
        </p:spPr>
        <p:txBody>
          <a:bodyPr/>
          <a:lstStyle/>
          <a:p>
            <a:pPr marL="0" indent="0">
              <a:buNone/>
            </a:pPr>
            <a:r>
              <a:rPr kumimoji="1" lang="en-US" altLang="ja-JP" sz="1800" dirty="0"/>
              <a:t>[1] The R Project</a:t>
            </a:r>
          </a:p>
          <a:p>
            <a:pPr marL="0" indent="0">
              <a:buNone/>
            </a:pPr>
            <a:r>
              <a:rPr kumimoji="1" lang="en-US" altLang="ja-JP" sz="1800" dirty="0"/>
              <a:t>      </a:t>
            </a:r>
            <a:r>
              <a:rPr kumimoji="1" lang="en-US" altLang="ja-JP" sz="1800" dirty="0">
                <a:hlinkClick r:id="rId2"/>
              </a:rPr>
              <a:t>https://www.r-project.org</a:t>
            </a:r>
            <a:r>
              <a:rPr kumimoji="1" lang="en-US" altLang="ja-JP" sz="1800" dirty="0"/>
              <a:t>   </a:t>
            </a:r>
          </a:p>
          <a:p>
            <a:pPr marL="0" indent="0">
              <a:buNone/>
            </a:pPr>
            <a:r>
              <a:rPr kumimoji="1" lang="en-US" altLang="ja-JP" sz="1800" dirty="0"/>
              <a:t>[2] </a:t>
            </a:r>
            <a:r>
              <a:rPr kumimoji="1" lang="en-US" altLang="ja-JP" sz="1800" dirty="0" err="1"/>
              <a:t>Rdocumentation</a:t>
            </a:r>
            <a:endParaRPr kumimoji="1" lang="en-US" altLang="ja-JP" sz="1800" dirty="0"/>
          </a:p>
          <a:p>
            <a:pPr marL="0" indent="0">
              <a:buNone/>
            </a:pPr>
            <a:r>
              <a:rPr kumimoji="1" lang="en-US" altLang="ja-JP" sz="1800" dirty="0"/>
              <a:t>      </a:t>
            </a:r>
            <a:r>
              <a:rPr kumimoji="1" lang="en-US" altLang="ja-JP" sz="1800" dirty="0">
                <a:hlinkClick r:id="rId3"/>
              </a:rPr>
              <a:t>https://www.rdocumentation.org</a:t>
            </a:r>
            <a:r>
              <a:rPr kumimoji="1" lang="en-US" altLang="ja-JP" sz="1800" dirty="0"/>
              <a:t> </a:t>
            </a:r>
          </a:p>
          <a:p>
            <a:pPr marL="0" indent="0">
              <a:buNone/>
            </a:pPr>
            <a:r>
              <a:rPr kumimoji="1" lang="en-US" altLang="ja-JP" sz="1800" dirty="0"/>
              <a:t>[3] </a:t>
            </a:r>
            <a:r>
              <a:rPr kumimoji="1" lang="ja-JP" altLang="en-US" sz="1800" dirty="0"/>
              <a:t>舟尾 暢男 </a:t>
            </a:r>
            <a:r>
              <a:rPr kumimoji="1" lang="en-US" altLang="ja-JP" sz="1800" dirty="0"/>
              <a:t>(2016) The R Tips </a:t>
            </a:r>
            <a:r>
              <a:rPr kumimoji="1" lang="ja-JP" altLang="en-US" sz="1800" dirty="0"/>
              <a:t>第</a:t>
            </a:r>
            <a:r>
              <a:rPr kumimoji="1" lang="en-US" altLang="ja-JP" sz="1800" dirty="0"/>
              <a:t>3</a:t>
            </a:r>
            <a:r>
              <a:rPr kumimoji="1" lang="ja-JP" altLang="en-US" sz="1800" dirty="0"/>
              <a:t>版 ーデータ解析環境</a:t>
            </a:r>
            <a:r>
              <a:rPr kumimoji="1" lang="en-US" altLang="ja-JP" sz="1800" dirty="0"/>
              <a:t>R</a:t>
            </a:r>
            <a:r>
              <a:rPr kumimoji="1" lang="ja-JP" altLang="en-US" sz="1800" dirty="0"/>
              <a:t>の基本技・グラフィックス活用集ー オーム社 </a:t>
            </a:r>
            <a:endParaRPr kumimoji="1" lang="en-US" altLang="ja-JP" sz="1800" dirty="0"/>
          </a:p>
          <a:p>
            <a:pPr marL="0" indent="0">
              <a:buNone/>
            </a:pPr>
            <a:r>
              <a:rPr kumimoji="1" lang="en-US" altLang="ja-JP" sz="1800" dirty="0"/>
              <a:t>[4]</a:t>
            </a:r>
            <a:r>
              <a:rPr kumimoji="1" lang="ja-JP" altLang="en-US" sz="1800" dirty="0"/>
              <a:t> </a:t>
            </a:r>
            <a:r>
              <a:rPr kumimoji="1" lang="en-US" altLang="ja-JP" sz="1800" dirty="0"/>
              <a:t>Name all but the most important arguments</a:t>
            </a:r>
            <a:r>
              <a:rPr kumimoji="1" lang="ja-JP" altLang="en-US" sz="1800" dirty="0"/>
              <a:t>  </a:t>
            </a:r>
            <a:r>
              <a:rPr kumimoji="1" lang="en-US" altLang="ja-JP" sz="1800" dirty="0"/>
              <a:t>Tidy design principles</a:t>
            </a:r>
          </a:p>
          <a:p>
            <a:pPr marL="0" indent="0">
              <a:buNone/>
            </a:pPr>
            <a:r>
              <a:rPr kumimoji="1" lang="ja-JP" altLang="en-US" sz="1800" dirty="0"/>
              <a:t>　　　</a:t>
            </a:r>
            <a:r>
              <a:rPr kumimoji="1" lang="en-US" altLang="ja-JP" sz="1800" dirty="0">
                <a:hlinkClick r:id="rId4"/>
              </a:rPr>
              <a:t>https://design.tidyverse.org/call-data-details.html</a:t>
            </a:r>
            <a:r>
              <a:rPr kumimoji="1" lang="en-US" altLang="ja-JP" sz="1800" dirty="0"/>
              <a:t> </a:t>
            </a:r>
          </a:p>
          <a:p>
            <a:pPr marL="0" indent="0">
              <a:buNone/>
            </a:pPr>
            <a:r>
              <a:rPr kumimoji="1" lang="en-US" altLang="ja-JP" sz="1800" dirty="0"/>
              <a:t>[5]</a:t>
            </a:r>
            <a:r>
              <a:rPr kumimoji="1" lang="ja-JP" altLang="en-US" sz="1800" dirty="0"/>
              <a:t> </a:t>
            </a:r>
            <a:r>
              <a:rPr lang="ja-JP" altLang="en-US" sz="1800" dirty="0"/>
              <a:t>Ｒのスクリプト作成時の注意点とエラーへの対処  名古屋大学 大学院教育発達科学研究科・教育学部</a:t>
            </a:r>
            <a:endParaRPr kumimoji="1" lang="en-US" altLang="ja-JP" sz="1800" dirty="0"/>
          </a:p>
          <a:p>
            <a:pPr marL="0" indent="0">
              <a:buNone/>
            </a:pPr>
            <a:r>
              <a:rPr kumimoji="1" lang="en-US" altLang="ja-JP" sz="1800" dirty="0"/>
              <a:t>      </a:t>
            </a:r>
            <a:r>
              <a:rPr kumimoji="1" lang="en-US" altLang="ja-JP" sz="1800" dirty="0">
                <a:hlinkClick r:id="rId5"/>
              </a:rPr>
              <a:t>https://www.educa.nagoya-u.ac.jp/~ishii-h/materials/R_errors.pdf</a:t>
            </a:r>
            <a:r>
              <a:rPr kumimoji="1" lang="en-US" altLang="ja-JP" sz="1800" dirty="0"/>
              <a:t> </a:t>
            </a:r>
          </a:p>
          <a:p>
            <a:pPr marL="0" indent="0">
              <a:buNone/>
            </a:pPr>
            <a:r>
              <a:rPr kumimoji="1" lang="en-US" altLang="ja-JP" sz="1800" dirty="0"/>
              <a:t>[6] </a:t>
            </a:r>
            <a:r>
              <a:rPr kumimoji="1" lang="en-US" altLang="ja-JP" sz="1800" dirty="0" err="1"/>
              <a:t>Tidyverse</a:t>
            </a:r>
            <a:r>
              <a:rPr kumimoji="1" lang="en-US" altLang="ja-JP" sz="1800" dirty="0"/>
              <a:t> style guide</a:t>
            </a:r>
          </a:p>
          <a:p>
            <a:pPr marL="0" indent="0">
              <a:buNone/>
            </a:pPr>
            <a:r>
              <a:rPr kumimoji="1" lang="en-US" altLang="ja-JP" sz="1800" dirty="0"/>
              <a:t>      </a:t>
            </a:r>
            <a:r>
              <a:rPr kumimoji="1" lang="en-US" altLang="ja-JP" sz="1800" dirty="0">
                <a:hlinkClick r:id="rId6"/>
              </a:rPr>
              <a:t>https://style.tidyverse.org/</a:t>
            </a:r>
            <a:r>
              <a:rPr kumimoji="1" lang="en-US" altLang="ja-JP" sz="1800" dirty="0"/>
              <a:t> </a:t>
            </a:r>
          </a:p>
          <a:p>
            <a:pPr marL="0" indent="0">
              <a:buNone/>
            </a:pPr>
            <a:endParaRPr kumimoji="1" lang="en-US" altLang="ja-JP" sz="1800" dirty="0"/>
          </a:p>
          <a:p>
            <a:pPr marL="0" indent="0">
              <a:buNone/>
            </a:pPr>
            <a:endParaRPr kumimoji="1" lang="en-US" altLang="ja-JP" sz="1800" dirty="0"/>
          </a:p>
        </p:txBody>
      </p:sp>
    </p:spTree>
    <p:extLst>
      <p:ext uri="{BB962C8B-B14F-4D97-AF65-F5344CB8AC3E}">
        <p14:creationId xmlns:p14="http://schemas.microsoft.com/office/powerpoint/2010/main" val="3464694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43B03B9-EEA5-483B-4F6C-A13BF06CF7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685783" y="4822065"/>
            <a:ext cx="7286625" cy="394335"/>
          </a:xfrm>
          <a:prstGeom prst="rect">
            <a:avLst/>
          </a:prstGeom>
        </p:spPr>
      </p:pic>
    </p:spTree>
    <p:extLst>
      <p:ext uri="{BB962C8B-B14F-4D97-AF65-F5344CB8AC3E}">
        <p14:creationId xmlns:p14="http://schemas.microsoft.com/office/powerpoint/2010/main" val="2075472996"/>
      </p:ext>
    </p:extLst>
  </p:cSld>
  <p:clrMapOvr>
    <a:masterClrMapping/>
  </p:clrMapOvr>
</p:sld>
</file>

<file path=ppt/theme/theme1.xml><?xml version="1.0" encoding="utf-8"?>
<a:theme xmlns:a="http://schemas.openxmlformats.org/drawingml/2006/main" name="Office Theme">
  <a:themeElements>
    <a:clrScheme name="EPS_PPT_Color">
      <a:dk1>
        <a:srgbClr val="000000"/>
      </a:dk1>
      <a:lt1>
        <a:srgbClr val="FFFFFF"/>
      </a:lt1>
      <a:dk2>
        <a:srgbClr val="00A096"/>
      </a:dk2>
      <a:lt2>
        <a:srgbClr val="8BAAB3"/>
      </a:lt2>
      <a:accent1>
        <a:srgbClr val="005386"/>
      </a:accent1>
      <a:accent2>
        <a:srgbClr val="148ECF"/>
      </a:accent2>
      <a:accent3>
        <a:srgbClr val="89BD44"/>
      </a:accent3>
      <a:accent4>
        <a:srgbClr val="ED9124"/>
      </a:accent4>
      <a:accent5>
        <a:srgbClr val="B60E2E"/>
      </a:accent5>
      <a:accent6>
        <a:srgbClr val="DB3E8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5112</Words>
  <Application>Microsoft Office PowerPoint</Application>
  <PresentationFormat>ユーザー設定</PresentationFormat>
  <Paragraphs>643</Paragraphs>
  <Slides>43</Slides>
  <Notes>39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43</vt:i4>
      </vt:variant>
    </vt:vector>
  </HeadingPairs>
  <TitlesOfParts>
    <vt:vector size="48" baseType="lpstr">
      <vt:lpstr>Meiryo UI</vt:lpstr>
      <vt:lpstr>游ゴシック</vt:lpstr>
      <vt:lpstr>Arial</vt:lpstr>
      <vt:lpstr>Courier New</vt:lpstr>
      <vt:lpstr>Office Theme</vt:lpstr>
      <vt:lpstr>R with Pharma Lab Meetup #1 Rの頑健なコードを書くにはどのような工夫が必要か</vt:lpstr>
      <vt:lpstr>はじめに</vt:lpstr>
      <vt:lpstr>本発表について</vt:lpstr>
      <vt:lpstr>プログラム実行前に作業メモリ上のデータを消去する</vt:lpstr>
      <vt:lpstr>式の途中の改行に注意</vt:lpstr>
      <vt:lpstr>演算子の前後には半角スペースを入れる</vt:lpstr>
      <vt:lpstr>NAに注意</vt:lpstr>
      <vt:lpstr>データハンドリング時にNULLを発生させないように留意</vt:lpstr>
      <vt:lpstr>算術処理前に適切な値か確認する</vt:lpstr>
      <vt:lpstr>算術処理前に適切な値か確認する</vt:lpstr>
      <vt:lpstr>​switch関数でも想定外のデータを検知できるように</vt:lpstr>
      <vt:lpstr>代入演算子​</vt:lpstr>
      <vt:lpstr>小数点以下の表示桁数の設定</vt:lpstr>
      <vt:lpstr>factor型→数値型の変換はひとまず文字型に変換してから</vt:lpstr>
      <vt:lpstr>t関数で転置するなら転置後データフレームに戻す</vt:lpstr>
      <vt:lpstr>文字値から日付値への変換はフォーマットに注意</vt:lpstr>
      <vt:lpstr>文字値から日付値への変換はフォーマットに注意</vt:lpstr>
      <vt:lpstr>予約語に注意​</vt:lpstr>
      <vt:lpstr>予約語に注意​ ​</vt:lpstr>
      <vt:lpstr>シード値設定漏れに注意</vt:lpstr>
      <vt:lpstr>source関数によるプログラム呼び出し​</vt:lpstr>
      <vt:lpstr>source関数によるプログラム呼び出し​ ​</vt:lpstr>
      <vt:lpstr>相対パスを活用​</vt:lpstr>
      <vt:lpstr>警告レベルを制御</vt:lpstr>
      <vt:lpstr>警告レベルを制御​</vt:lpstr>
      <vt:lpstr>オプション設定をデフォルトに戻す​</vt:lpstr>
      <vt:lpstr>ユーザー定義のWarning/Errorを活用する​</vt:lpstr>
      <vt:lpstr>ユーザー定義のWarning/Errorを活用する​</vt:lpstr>
      <vt:lpstr>tryCatch関数によるエラーハンドリング</vt:lpstr>
      <vt:lpstr>tryCatch関数によるエラーハンドリング</vt:lpstr>
      <vt:lpstr>制限時間の設定​</vt:lpstr>
      <vt:lpstr>制限時間の設定​</vt:lpstr>
      <vt:lpstr>途中記載に警告を出力するオプション</vt:lpstr>
      <vt:lpstr>途中記載に警告を出力するオプション</vt:lpstr>
      <vt:lpstr>途中記載に警告を出力するオプション</vt:lpstr>
      <vt:lpstr>途中記載に警告を出力するオプション</vt:lpstr>
      <vt:lpstr>attach関数は使用しない​</vt:lpstr>
      <vt:lpstr>関数名の重複に注意​</vt:lpstr>
      <vt:lpstr>自作関数は既存関数名と別名で定義する​</vt:lpstr>
      <vt:lpstr>関数名の重複確認・所在確認​</vt:lpstr>
      <vt:lpstr>まとめ​</vt:lpstr>
      <vt:lpstr>参考文献</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2024-09-05T08:53:16Z</dcterms:created>
  <dcterms:modified xsi:type="dcterms:W3CDTF">2026-04-02T10:19:42Z</dcterms:modified>
</cp:coreProperties>
</file>