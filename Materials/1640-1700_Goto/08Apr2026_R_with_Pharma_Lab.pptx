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3"/>
  </p:notesMasterIdLst>
  <p:sldIdLst>
    <p:sldId id="256" r:id="rId5"/>
    <p:sldId id="258" r:id="rId6"/>
    <p:sldId id="267" r:id="rId7"/>
    <p:sldId id="277" r:id="rId8"/>
    <p:sldId id="259" r:id="rId9"/>
    <p:sldId id="294" r:id="rId10"/>
    <p:sldId id="261" r:id="rId11"/>
    <p:sldId id="262" r:id="rId12"/>
    <p:sldId id="280" r:id="rId13"/>
    <p:sldId id="293" r:id="rId14"/>
    <p:sldId id="282" r:id="rId15"/>
    <p:sldId id="283" r:id="rId16"/>
    <p:sldId id="292" r:id="rId17"/>
    <p:sldId id="260" r:id="rId18"/>
    <p:sldId id="285" r:id="rId19"/>
    <p:sldId id="269" r:id="rId20"/>
    <p:sldId id="263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29"/>
    <p:sldId id="312" r:id="rId30"/>
    <p:sldId id="270" r:id="rId31"/>
    <p:sldId id="308" r:id="rId32"/>
    <p:sldId id="304" r:id="rId33"/>
    <p:sldId id="305" r:id="rId34"/>
    <p:sldId id="306" r:id="rId35"/>
    <p:sldId id="307" r:id="rId36"/>
    <p:sldId id="310" r:id="rId37"/>
    <p:sldId id="309" r:id="rId38"/>
    <p:sldId id="272" r:id="rId39"/>
    <p:sldId id="311" r:id="rId40"/>
    <p:sldId id="264" r:id="rId41"/>
    <p:sldId id="274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8B0"/>
    <a:srgbClr val="FFA3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7631" autoAdjust="0"/>
  </p:normalViewPr>
  <p:slideViewPr>
    <p:cSldViewPr snapToGrid="0">
      <p:cViewPr varScale="1">
        <p:scale>
          <a:sx n="47" d="100"/>
          <a:sy n="47" d="100"/>
        </p:scale>
        <p:origin x="132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AE4B9D-3AE9-443D-8DBA-A66BA9F6D8EA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4AC2FC37-4A1C-470B-9F7D-4FCADA44A973}">
      <dgm:prSet phldrT="[Text]" custT="1"/>
      <dgm:spPr>
        <a:solidFill>
          <a:srgbClr val="00B8B0"/>
        </a:solidFill>
      </dgm:spPr>
      <dgm:t>
        <a:bodyPr/>
        <a:lstStyle/>
        <a:p>
          <a:r>
            <a:rPr kumimoji="1" lang="en-US" altLang="ja-JP" sz="2000" b="1"/>
            <a:t>Standardization</a:t>
          </a:r>
          <a:endParaRPr kumimoji="1" lang="ja-JP" altLang="en-US" sz="2000" b="1"/>
        </a:p>
      </dgm:t>
    </dgm:pt>
    <dgm:pt modelId="{14B1DF50-F26A-4B07-A537-DA2221C8BBA6}" type="parTrans" cxnId="{E1A1109B-A5A5-4BED-8509-849E0ABB59BC}">
      <dgm:prSet/>
      <dgm:spPr/>
      <dgm:t>
        <a:bodyPr/>
        <a:lstStyle/>
        <a:p>
          <a:endParaRPr kumimoji="1" lang="ja-JP" altLang="en-US"/>
        </a:p>
      </dgm:t>
    </dgm:pt>
    <dgm:pt modelId="{A13678C2-4BF7-442A-8299-618F783DC0F5}" type="sibTrans" cxnId="{E1A1109B-A5A5-4BED-8509-849E0ABB59BC}">
      <dgm:prSet/>
      <dgm:spPr/>
      <dgm:t>
        <a:bodyPr/>
        <a:lstStyle/>
        <a:p>
          <a:endParaRPr kumimoji="1" lang="ja-JP" altLang="en-US"/>
        </a:p>
      </dgm:t>
    </dgm:pt>
    <dgm:pt modelId="{7D69195B-A078-4B43-84F0-F0F2F423CB54}">
      <dgm:prSet phldrT="[Text]" custT="1"/>
      <dgm:spPr/>
      <dgm:t>
        <a:bodyPr/>
        <a:lstStyle/>
        <a:p>
          <a:r>
            <a:rPr kumimoji="1" lang="en-US" altLang="en-US" sz="2000"/>
            <a:t>Uniformity of summary table aggregation units, column names, and results between analyses</a:t>
          </a:r>
          <a:endParaRPr kumimoji="1" lang="ja-JP" altLang="en-US" sz="2000"/>
        </a:p>
      </dgm:t>
    </dgm:pt>
    <dgm:pt modelId="{746565C6-AA1F-483A-AA26-24725131D25D}" type="parTrans" cxnId="{D7321F64-BE02-4F92-91E6-51F4D3E2D13D}">
      <dgm:prSet/>
      <dgm:spPr/>
      <dgm:t>
        <a:bodyPr/>
        <a:lstStyle/>
        <a:p>
          <a:endParaRPr kumimoji="1" lang="ja-JP" altLang="en-US"/>
        </a:p>
      </dgm:t>
    </dgm:pt>
    <dgm:pt modelId="{FE2508BE-6B08-45E8-B846-A42DFC6991A7}" type="sibTrans" cxnId="{D7321F64-BE02-4F92-91E6-51F4D3E2D13D}">
      <dgm:prSet/>
      <dgm:spPr/>
      <dgm:t>
        <a:bodyPr/>
        <a:lstStyle/>
        <a:p>
          <a:endParaRPr kumimoji="1" lang="ja-JP" altLang="en-US"/>
        </a:p>
      </dgm:t>
    </dgm:pt>
    <dgm:pt modelId="{75BD788A-D11D-4FF7-9A46-63AA9692B063}">
      <dgm:prSet phldrT="[Text]" custT="1"/>
      <dgm:spPr>
        <a:solidFill>
          <a:srgbClr val="00B8B0"/>
        </a:solidFill>
      </dgm:spPr>
      <dgm:t>
        <a:bodyPr/>
        <a:lstStyle/>
        <a:p>
          <a:r>
            <a:rPr kumimoji="1" lang="en-US" altLang="ja-JP" sz="2000" b="1"/>
            <a:t>Efficiency</a:t>
          </a:r>
          <a:endParaRPr kumimoji="1" lang="ja-JP" altLang="en-US" sz="2000" b="1"/>
        </a:p>
      </dgm:t>
    </dgm:pt>
    <dgm:pt modelId="{EC76FC87-4E2E-4C46-AA4E-636EE390727E}" type="parTrans" cxnId="{C28A2A45-56A3-4E58-83D7-E2A9DADE114E}">
      <dgm:prSet/>
      <dgm:spPr/>
      <dgm:t>
        <a:bodyPr/>
        <a:lstStyle/>
        <a:p>
          <a:endParaRPr kumimoji="1" lang="ja-JP" altLang="en-US"/>
        </a:p>
      </dgm:t>
    </dgm:pt>
    <dgm:pt modelId="{01A3F5DE-8F56-407A-A02E-EFF5565F41E7}" type="sibTrans" cxnId="{C28A2A45-56A3-4E58-83D7-E2A9DADE114E}">
      <dgm:prSet/>
      <dgm:spPr/>
      <dgm:t>
        <a:bodyPr/>
        <a:lstStyle/>
        <a:p>
          <a:endParaRPr kumimoji="1" lang="ja-JP" altLang="en-US"/>
        </a:p>
      </dgm:t>
    </dgm:pt>
    <dgm:pt modelId="{B34400B2-8E51-4DE2-9F8D-FF5AC1580975}">
      <dgm:prSet phldrT="[Text]" custT="1"/>
      <dgm:spPr/>
      <dgm:t>
        <a:bodyPr/>
        <a:lstStyle/>
        <a:p>
          <a:r>
            <a:rPr kumimoji="1" lang="en-US" altLang="en-US" sz="2000"/>
            <a:t>Quick tabulation and re-formatting</a:t>
          </a:r>
          <a:endParaRPr kumimoji="1" lang="ja-JP" altLang="en-US" sz="2000"/>
        </a:p>
      </dgm:t>
    </dgm:pt>
    <dgm:pt modelId="{E81A4243-AF40-4F81-A7A0-5C0E0AE52367}" type="parTrans" cxnId="{79384BA2-D7C0-4144-B946-F968D734D43E}">
      <dgm:prSet/>
      <dgm:spPr/>
      <dgm:t>
        <a:bodyPr/>
        <a:lstStyle/>
        <a:p>
          <a:endParaRPr kumimoji="1" lang="ja-JP" altLang="en-US"/>
        </a:p>
      </dgm:t>
    </dgm:pt>
    <dgm:pt modelId="{7B81DC92-BC55-4965-8894-0FEEF2849AF6}" type="sibTrans" cxnId="{79384BA2-D7C0-4144-B946-F968D734D43E}">
      <dgm:prSet/>
      <dgm:spPr/>
      <dgm:t>
        <a:bodyPr/>
        <a:lstStyle/>
        <a:p>
          <a:endParaRPr kumimoji="1" lang="ja-JP" altLang="en-US"/>
        </a:p>
      </dgm:t>
    </dgm:pt>
    <dgm:pt modelId="{797CBAFE-67AA-43BB-8969-415298AB968D}">
      <dgm:prSet phldrT="[Text]" custT="1"/>
      <dgm:spPr>
        <a:solidFill>
          <a:srgbClr val="00B8B0"/>
        </a:solidFill>
      </dgm:spPr>
      <dgm:t>
        <a:bodyPr/>
        <a:lstStyle/>
        <a:p>
          <a:r>
            <a:rPr kumimoji="1" lang="en-US" altLang="ja-JP" sz="2000" b="1" dirty="0"/>
            <a:t>Reproductivity</a:t>
          </a:r>
          <a:endParaRPr kumimoji="1" lang="ja-JP" altLang="en-US" sz="2000" b="1" dirty="0"/>
        </a:p>
      </dgm:t>
    </dgm:pt>
    <dgm:pt modelId="{529C5D1F-F512-4144-8FF3-E9F429A2F0A2}" type="parTrans" cxnId="{128D2382-942B-46BC-840D-242492E340F3}">
      <dgm:prSet/>
      <dgm:spPr/>
      <dgm:t>
        <a:bodyPr/>
        <a:lstStyle/>
        <a:p>
          <a:endParaRPr kumimoji="1" lang="ja-JP" altLang="en-US"/>
        </a:p>
      </dgm:t>
    </dgm:pt>
    <dgm:pt modelId="{A4129339-D6EF-4DF4-8703-E087E16BC2D4}" type="sibTrans" cxnId="{128D2382-942B-46BC-840D-242492E340F3}">
      <dgm:prSet/>
      <dgm:spPr/>
      <dgm:t>
        <a:bodyPr/>
        <a:lstStyle/>
        <a:p>
          <a:endParaRPr kumimoji="1" lang="ja-JP" altLang="en-US"/>
        </a:p>
      </dgm:t>
    </dgm:pt>
    <dgm:pt modelId="{12510C2B-0FA5-476C-9251-2D7CC59AFF6E}">
      <dgm:prSet phldrT="[Text]" custT="1"/>
      <dgm:spPr/>
      <dgm:t>
        <a:bodyPr/>
        <a:lstStyle/>
        <a:p>
          <a:r>
            <a:rPr kumimoji="1" lang="en-US" altLang="en-US" sz="2000"/>
            <a:t>The same analysis logic can be easily applied to other study or subgroup.</a:t>
          </a:r>
          <a:endParaRPr kumimoji="1" lang="ja-JP" altLang="en-US" sz="2000"/>
        </a:p>
      </dgm:t>
    </dgm:pt>
    <dgm:pt modelId="{5F6FB5A4-45FC-49E7-88B4-820AC7FA1A39}" type="parTrans" cxnId="{2F20F886-2DE7-49C1-A5F2-761AFE0697A1}">
      <dgm:prSet/>
      <dgm:spPr/>
      <dgm:t>
        <a:bodyPr/>
        <a:lstStyle/>
        <a:p>
          <a:endParaRPr kumimoji="1" lang="ja-JP" altLang="en-US"/>
        </a:p>
      </dgm:t>
    </dgm:pt>
    <dgm:pt modelId="{23063C2B-B49D-4816-9BC5-07702581DFD4}" type="sibTrans" cxnId="{2F20F886-2DE7-49C1-A5F2-761AFE0697A1}">
      <dgm:prSet/>
      <dgm:spPr/>
      <dgm:t>
        <a:bodyPr/>
        <a:lstStyle/>
        <a:p>
          <a:endParaRPr kumimoji="1" lang="ja-JP" altLang="en-US"/>
        </a:p>
      </dgm:t>
    </dgm:pt>
    <dgm:pt modelId="{E5EF4F8D-DC42-4064-B7B3-C49C55E3B808}">
      <dgm:prSet phldrT="[Text]" custT="1"/>
      <dgm:spPr/>
      <dgm:t>
        <a:bodyPr/>
        <a:lstStyle/>
        <a:p>
          <a:r>
            <a:rPr kumimoji="1" lang="en-US" altLang="ja-JP" sz="2000"/>
            <a:t>Enable QC easier</a:t>
          </a:r>
          <a:endParaRPr kumimoji="1" lang="ja-JP" altLang="en-US" sz="2000"/>
        </a:p>
      </dgm:t>
    </dgm:pt>
    <dgm:pt modelId="{4AABA316-DF1D-4442-9DF4-D41A46EA7BCF}" type="parTrans" cxnId="{1DA9B980-BE2B-452B-A12D-F5183293281C}">
      <dgm:prSet/>
      <dgm:spPr/>
      <dgm:t>
        <a:bodyPr/>
        <a:lstStyle/>
        <a:p>
          <a:endParaRPr kumimoji="1" lang="ja-JP" altLang="en-US"/>
        </a:p>
      </dgm:t>
    </dgm:pt>
    <dgm:pt modelId="{3C477D81-72D5-46EE-94C9-A3C61B978FED}" type="sibTrans" cxnId="{1DA9B980-BE2B-452B-A12D-F5183293281C}">
      <dgm:prSet/>
      <dgm:spPr/>
      <dgm:t>
        <a:bodyPr/>
        <a:lstStyle/>
        <a:p>
          <a:endParaRPr kumimoji="1" lang="ja-JP" altLang="en-US"/>
        </a:p>
      </dgm:t>
    </dgm:pt>
    <dgm:pt modelId="{FF96FBD4-DD99-475E-B3D2-2ADC9327394F}">
      <dgm:prSet phldrT="[Text]" custT="1"/>
      <dgm:spPr/>
      <dgm:t>
        <a:bodyPr/>
        <a:lstStyle/>
        <a:p>
          <a:r>
            <a:rPr kumimoji="1" lang="en-US" altLang="en-US" sz="2000"/>
            <a:t>ARD can be used in a variety of ways, such as in tables, R Shiny, figures, etc.</a:t>
          </a:r>
          <a:endParaRPr kumimoji="1" lang="ja-JP" altLang="en-US" sz="2000"/>
        </a:p>
      </dgm:t>
    </dgm:pt>
    <dgm:pt modelId="{6A5E452A-13CA-498B-9EC1-197A5A51F474}" type="parTrans" cxnId="{37F015B3-3731-4962-A863-D43AD99EC986}">
      <dgm:prSet/>
      <dgm:spPr/>
      <dgm:t>
        <a:bodyPr/>
        <a:lstStyle/>
        <a:p>
          <a:endParaRPr kumimoji="1" lang="ja-JP" altLang="en-US"/>
        </a:p>
      </dgm:t>
    </dgm:pt>
    <dgm:pt modelId="{5A78199E-C628-41B9-9404-DB90B731FE97}" type="sibTrans" cxnId="{37F015B3-3731-4962-A863-D43AD99EC986}">
      <dgm:prSet/>
      <dgm:spPr/>
      <dgm:t>
        <a:bodyPr/>
        <a:lstStyle/>
        <a:p>
          <a:endParaRPr kumimoji="1" lang="ja-JP" altLang="en-US"/>
        </a:p>
      </dgm:t>
    </dgm:pt>
    <dgm:pt modelId="{2E1CB6FC-E217-4BE2-B15E-062ABB29CC15}" type="pres">
      <dgm:prSet presAssocID="{84AE4B9D-3AE9-443D-8DBA-A66BA9F6D8EA}" presName="Name0" presStyleCnt="0">
        <dgm:presLayoutVars>
          <dgm:dir/>
          <dgm:animLvl val="lvl"/>
          <dgm:resizeHandles val="exact"/>
        </dgm:presLayoutVars>
      </dgm:prSet>
      <dgm:spPr/>
    </dgm:pt>
    <dgm:pt modelId="{F35FDEB7-7AD2-45B2-845D-204DF97D9E6C}" type="pres">
      <dgm:prSet presAssocID="{4AC2FC37-4A1C-470B-9F7D-4FCADA44A973}" presName="linNode" presStyleCnt="0"/>
      <dgm:spPr/>
    </dgm:pt>
    <dgm:pt modelId="{B465CB3A-A771-4978-84E8-5B0785A6A340}" type="pres">
      <dgm:prSet presAssocID="{4AC2FC37-4A1C-470B-9F7D-4FCADA44A973}" presName="parentText" presStyleLbl="node1" presStyleIdx="0" presStyleCnt="3" custScaleX="62393">
        <dgm:presLayoutVars>
          <dgm:chMax val="1"/>
          <dgm:bulletEnabled val="1"/>
        </dgm:presLayoutVars>
      </dgm:prSet>
      <dgm:spPr/>
    </dgm:pt>
    <dgm:pt modelId="{9EEEED49-0F25-4AAA-A482-83EB82AF4C27}" type="pres">
      <dgm:prSet presAssocID="{4AC2FC37-4A1C-470B-9F7D-4FCADA44A973}" presName="descendantText" presStyleLbl="alignAccFollowNode1" presStyleIdx="0" presStyleCnt="3">
        <dgm:presLayoutVars>
          <dgm:bulletEnabled val="1"/>
        </dgm:presLayoutVars>
      </dgm:prSet>
      <dgm:spPr/>
    </dgm:pt>
    <dgm:pt modelId="{323CB6B3-B373-4B77-9ACE-514DF6C5097F}" type="pres">
      <dgm:prSet presAssocID="{A13678C2-4BF7-442A-8299-618F783DC0F5}" presName="sp" presStyleCnt="0"/>
      <dgm:spPr/>
    </dgm:pt>
    <dgm:pt modelId="{01DD66C3-DA62-4C68-8A34-E41AD4EABCA3}" type="pres">
      <dgm:prSet presAssocID="{75BD788A-D11D-4FF7-9A46-63AA9692B063}" presName="linNode" presStyleCnt="0"/>
      <dgm:spPr/>
    </dgm:pt>
    <dgm:pt modelId="{ACF058B8-EA91-4961-BCAB-578395A07A9F}" type="pres">
      <dgm:prSet presAssocID="{75BD788A-D11D-4FF7-9A46-63AA9692B063}" presName="parentText" presStyleLbl="node1" presStyleIdx="1" presStyleCnt="3" custScaleX="62393">
        <dgm:presLayoutVars>
          <dgm:chMax val="1"/>
          <dgm:bulletEnabled val="1"/>
        </dgm:presLayoutVars>
      </dgm:prSet>
      <dgm:spPr/>
    </dgm:pt>
    <dgm:pt modelId="{B55B2207-61E0-4B41-9C68-AE1DF3551239}" type="pres">
      <dgm:prSet presAssocID="{75BD788A-D11D-4FF7-9A46-63AA9692B063}" presName="descendantText" presStyleLbl="alignAccFollowNode1" presStyleIdx="1" presStyleCnt="3">
        <dgm:presLayoutVars>
          <dgm:bulletEnabled val="1"/>
        </dgm:presLayoutVars>
      </dgm:prSet>
      <dgm:spPr/>
    </dgm:pt>
    <dgm:pt modelId="{D3C97314-29F1-4160-9241-3C9996689587}" type="pres">
      <dgm:prSet presAssocID="{01A3F5DE-8F56-407A-A02E-EFF5565F41E7}" presName="sp" presStyleCnt="0"/>
      <dgm:spPr/>
    </dgm:pt>
    <dgm:pt modelId="{E487EA7F-0D06-4FA6-9DCA-10CA8D803EFD}" type="pres">
      <dgm:prSet presAssocID="{797CBAFE-67AA-43BB-8969-415298AB968D}" presName="linNode" presStyleCnt="0"/>
      <dgm:spPr/>
    </dgm:pt>
    <dgm:pt modelId="{7B33E1CC-54AD-4AB3-BF68-8821E80A5DE7}" type="pres">
      <dgm:prSet presAssocID="{797CBAFE-67AA-43BB-8969-415298AB968D}" presName="parentText" presStyleLbl="node1" presStyleIdx="2" presStyleCnt="3" custScaleX="62393">
        <dgm:presLayoutVars>
          <dgm:chMax val="1"/>
          <dgm:bulletEnabled val="1"/>
        </dgm:presLayoutVars>
      </dgm:prSet>
      <dgm:spPr/>
    </dgm:pt>
    <dgm:pt modelId="{3B9266A9-6229-4DE9-9976-C475EC61E99F}" type="pres">
      <dgm:prSet presAssocID="{797CBAFE-67AA-43BB-8969-415298AB968D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4E07011A-8A3F-4E73-A286-D7631A6CEB81}" type="presOf" srcId="{797CBAFE-67AA-43BB-8969-415298AB968D}" destId="{7B33E1CC-54AD-4AB3-BF68-8821E80A5DE7}" srcOrd="0" destOrd="0" presId="urn:microsoft.com/office/officeart/2005/8/layout/vList5"/>
    <dgm:cxn modelId="{8D9C142D-3D28-41D2-ACCD-1B79546692B8}" type="presOf" srcId="{E5EF4F8D-DC42-4064-B7B3-C49C55E3B808}" destId="{B55B2207-61E0-4B41-9C68-AE1DF3551239}" srcOrd="0" destOrd="1" presId="urn:microsoft.com/office/officeart/2005/8/layout/vList5"/>
    <dgm:cxn modelId="{D7321F64-BE02-4F92-91E6-51F4D3E2D13D}" srcId="{4AC2FC37-4A1C-470B-9F7D-4FCADA44A973}" destId="{7D69195B-A078-4B43-84F0-F0F2F423CB54}" srcOrd="0" destOrd="0" parTransId="{746565C6-AA1F-483A-AA26-24725131D25D}" sibTransId="{FE2508BE-6B08-45E8-B846-A42DFC6991A7}"/>
    <dgm:cxn modelId="{C28A2A45-56A3-4E58-83D7-E2A9DADE114E}" srcId="{84AE4B9D-3AE9-443D-8DBA-A66BA9F6D8EA}" destId="{75BD788A-D11D-4FF7-9A46-63AA9692B063}" srcOrd="1" destOrd="0" parTransId="{EC76FC87-4E2E-4C46-AA4E-636EE390727E}" sibTransId="{01A3F5DE-8F56-407A-A02E-EFF5565F41E7}"/>
    <dgm:cxn modelId="{73E88272-D61B-40D4-B03E-3A4AC9885332}" type="presOf" srcId="{7D69195B-A078-4B43-84F0-F0F2F423CB54}" destId="{9EEEED49-0F25-4AAA-A482-83EB82AF4C27}" srcOrd="0" destOrd="0" presId="urn:microsoft.com/office/officeart/2005/8/layout/vList5"/>
    <dgm:cxn modelId="{BFA9B27C-1A21-4B93-A5FE-693598FBAC50}" type="presOf" srcId="{84AE4B9D-3AE9-443D-8DBA-A66BA9F6D8EA}" destId="{2E1CB6FC-E217-4BE2-B15E-062ABB29CC15}" srcOrd="0" destOrd="0" presId="urn:microsoft.com/office/officeart/2005/8/layout/vList5"/>
    <dgm:cxn modelId="{1DA9B980-BE2B-452B-A12D-F5183293281C}" srcId="{75BD788A-D11D-4FF7-9A46-63AA9692B063}" destId="{E5EF4F8D-DC42-4064-B7B3-C49C55E3B808}" srcOrd="1" destOrd="0" parTransId="{4AABA316-DF1D-4442-9DF4-D41A46EA7BCF}" sibTransId="{3C477D81-72D5-46EE-94C9-A3C61B978FED}"/>
    <dgm:cxn modelId="{128D2382-942B-46BC-840D-242492E340F3}" srcId="{84AE4B9D-3AE9-443D-8DBA-A66BA9F6D8EA}" destId="{797CBAFE-67AA-43BB-8969-415298AB968D}" srcOrd="2" destOrd="0" parTransId="{529C5D1F-F512-4144-8FF3-E9F429A2F0A2}" sibTransId="{A4129339-D6EF-4DF4-8703-E087E16BC2D4}"/>
    <dgm:cxn modelId="{2F20F886-2DE7-49C1-A5F2-761AFE0697A1}" srcId="{797CBAFE-67AA-43BB-8969-415298AB968D}" destId="{12510C2B-0FA5-476C-9251-2D7CC59AFF6E}" srcOrd="0" destOrd="0" parTransId="{5F6FB5A4-45FC-49E7-88B4-820AC7FA1A39}" sibTransId="{23063C2B-B49D-4816-9BC5-07702581DFD4}"/>
    <dgm:cxn modelId="{2DA93099-5A29-41EA-B92E-D764E1550D3B}" type="presOf" srcId="{75BD788A-D11D-4FF7-9A46-63AA9692B063}" destId="{ACF058B8-EA91-4961-BCAB-578395A07A9F}" srcOrd="0" destOrd="0" presId="urn:microsoft.com/office/officeart/2005/8/layout/vList5"/>
    <dgm:cxn modelId="{E1A1109B-A5A5-4BED-8509-849E0ABB59BC}" srcId="{84AE4B9D-3AE9-443D-8DBA-A66BA9F6D8EA}" destId="{4AC2FC37-4A1C-470B-9F7D-4FCADA44A973}" srcOrd="0" destOrd="0" parTransId="{14B1DF50-F26A-4B07-A537-DA2221C8BBA6}" sibTransId="{A13678C2-4BF7-442A-8299-618F783DC0F5}"/>
    <dgm:cxn modelId="{79384BA2-D7C0-4144-B946-F968D734D43E}" srcId="{75BD788A-D11D-4FF7-9A46-63AA9692B063}" destId="{B34400B2-8E51-4DE2-9F8D-FF5AC1580975}" srcOrd="0" destOrd="0" parTransId="{E81A4243-AF40-4F81-A7A0-5C0E0AE52367}" sibTransId="{7B81DC92-BC55-4965-8894-0FEEF2849AF6}"/>
    <dgm:cxn modelId="{D43CADA7-8E13-45A0-B177-C96A5391B0BE}" type="presOf" srcId="{B34400B2-8E51-4DE2-9F8D-FF5AC1580975}" destId="{B55B2207-61E0-4B41-9C68-AE1DF3551239}" srcOrd="0" destOrd="0" presId="urn:microsoft.com/office/officeart/2005/8/layout/vList5"/>
    <dgm:cxn modelId="{37F015B3-3731-4962-A863-D43AD99EC986}" srcId="{797CBAFE-67AA-43BB-8969-415298AB968D}" destId="{FF96FBD4-DD99-475E-B3D2-2ADC9327394F}" srcOrd="1" destOrd="0" parTransId="{6A5E452A-13CA-498B-9EC1-197A5A51F474}" sibTransId="{5A78199E-C628-41B9-9404-DB90B731FE97}"/>
    <dgm:cxn modelId="{D57527C0-B293-4AE8-84B6-440A5E42B45F}" type="presOf" srcId="{12510C2B-0FA5-476C-9251-2D7CC59AFF6E}" destId="{3B9266A9-6229-4DE9-9976-C475EC61E99F}" srcOrd="0" destOrd="0" presId="urn:microsoft.com/office/officeart/2005/8/layout/vList5"/>
    <dgm:cxn modelId="{D1C910EA-0575-4811-9AFF-CA2EF37BDC3B}" type="presOf" srcId="{FF96FBD4-DD99-475E-B3D2-2ADC9327394F}" destId="{3B9266A9-6229-4DE9-9976-C475EC61E99F}" srcOrd="0" destOrd="1" presId="urn:microsoft.com/office/officeart/2005/8/layout/vList5"/>
    <dgm:cxn modelId="{CA72F0F5-1DFE-4C83-AC20-3262D104DB5C}" type="presOf" srcId="{4AC2FC37-4A1C-470B-9F7D-4FCADA44A973}" destId="{B465CB3A-A771-4978-84E8-5B0785A6A340}" srcOrd="0" destOrd="0" presId="urn:microsoft.com/office/officeart/2005/8/layout/vList5"/>
    <dgm:cxn modelId="{FEEBDD8E-02CA-49F2-9B01-37324E5E0B80}" type="presParOf" srcId="{2E1CB6FC-E217-4BE2-B15E-062ABB29CC15}" destId="{F35FDEB7-7AD2-45B2-845D-204DF97D9E6C}" srcOrd="0" destOrd="0" presId="urn:microsoft.com/office/officeart/2005/8/layout/vList5"/>
    <dgm:cxn modelId="{8344F467-CE31-4A1C-9554-3D46EE6DEE09}" type="presParOf" srcId="{F35FDEB7-7AD2-45B2-845D-204DF97D9E6C}" destId="{B465CB3A-A771-4978-84E8-5B0785A6A340}" srcOrd="0" destOrd="0" presId="urn:microsoft.com/office/officeart/2005/8/layout/vList5"/>
    <dgm:cxn modelId="{EEA010C4-CE8E-4D93-80F4-ED2844BBD58F}" type="presParOf" srcId="{F35FDEB7-7AD2-45B2-845D-204DF97D9E6C}" destId="{9EEEED49-0F25-4AAA-A482-83EB82AF4C27}" srcOrd="1" destOrd="0" presId="urn:microsoft.com/office/officeart/2005/8/layout/vList5"/>
    <dgm:cxn modelId="{45C03249-2BA0-4CCA-A103-A52FB6198FA7}" type="presParOf" srcId="{2E1CB6FC-E217-4BE2-B15E-062ABB29CC15}" destId="{323CB6B3-B373-4B77-9ACE-514DF6C5097F}" srcOrd="1" destOrd="0" presId="urn:microsoft.com/office/officeart/2005/8/layout/vList5"/>
    <dgm:cxn modelId="{5C318A63-178C-422A-870C-4480D81AB578}" type="presParOf" srcId="{2E1CB6FC-E217-4BE2-B15E-062ABB29CC15}" destId="{01DD66C3-DA62-4C68-8A34-E41AD4EABCA3}" srcOrd="2" destOrd="0" presId="urn:microsoft.com/office/officeart/2005/8/layout/vList5"/>
    <dgm:cxn modelId="{03EE914A-9527-42FD-B8A2-C232F92A8539}" type="presParOf" srcId="{01DD66C3-DA62-4C68-8A34-E41AD4EABCA3}" destId="{ACF058B8-EA91-4961-BCAB-578395A07A9F}" srcOrd="0" destOrd="0" presId="urn:microsoft.com/office/officeart/2005/8/layout/vList5"/>
    <dgm:cxn modelId="{0B236FA7-8CAD-4B11-B268-CEBF098BF2A2}" type="presParOf" srcId="{01DD66C3-DA62-4C68-8A34-E41AD4EABCA3}" destId="{B55B2207-61E0-4B41-9C68-AE1DF3551239}" srcOrd="1" destOrd="0" presId="urn:microsoft.com/office/officeart/2005/8/layout/vList5"/>
    <dgm:cxn modelId="{E9915D9C-889F-4FDB-8961-B9482263CBC6}" type="presParOf" srcId="{2E1CB6FC-E217-4BE2-B15E-062ABB29CC15}" destId="{D3C97314-29F1-4160-9241-3C9996689587}" srcOrd="3" destOrd="0" presId="urn:microsoft.com/office/officeart/2005/8/layout/vList5"/>
    <dgm:cxn modelId="{55D4FF5D-F446-475E-8FCA-59D9C593C987}" type="presParOf" srcId="{2E1CB6FC-E217-4BE2-B15E-062ABB29CC15}" destId="{E487EA7F-0D06-4FA6-9DCA-10CA8D803EFD}" srcOrd="4" destOrd="0" presId="urn:microsoft.com/office/officeart/2005/8/layout/vList5"/>
    <dgm:cxn modelId="{A047C3D3-032B-4174-8E21-87018ADC6566}" type="presParOf" srcId="{E487EA7F-0D06-4FA6-9DCA-10CA8D803EFD}" destId="{7B33E1CC-54AD-4AB3-BF68-8821E80A5DE7}" srcOrd="0" destOrd="0" presId="urn:microsoft.com/office/officeart/2005/8/layout/vList5"/>
    <dgm:cxn modelId="{60FE6E1B-354B-45BC-AD91-6439340F7496}" type="presParOf" srcId="{E487EA7F-0D06-4FA6-9DCA-10CA8D803EFD}" destId="{3B9266A9-6229-4DE9-9976-C475EC61E99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EEED49-0F25-4AAA-A482-83EB82AF4C27}">
      <dsp:nvSpPr>
        <dsp:cNvPr id="0" name=""/>
        <dsp:cNvSpPr/>
      </dsp:nvSpPr>
      <dsp:spPr>
        <a:xfrm rot="5400000">
          <a:off x="6083230" y="-2788951"/>
          <a:ext cx="1067395" cy="691618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en-US" sz="2000" kern="1200"/>
            <a:t>Uniformity of summary table aggregation units, column names, and results between analyses</a:t>
          </a:r>
          <a:endParaRPr kumimoji="1" lang="ja-JP" altLang="en-US" sz="2000" kern="1200"/>
        </a:p>
      </dsp:txBody>
      <dsp:txXfrm rot="-5400000">
        <a:off x="3158833" y="187552"/>
        <a:ext cx="6864083" cy="963183"/>
      </dsp:txXfrm>
    </dsp:sp>
    <dsp:sp modelId="{B465CB3A-A771-4978-84E8-5B0785A6A340}">
      <dsp:nvSpPr>
        <dsp:cNvPr id="0" name=""/>
        <dsp:cNvSpPr/>
      </dsp:nvSpPr>
      <dsp:spPr>
        <a:xfrm>
          <a:off x="731523" y="2021"/>
          <a:ext cx="2427310" cy="1334244"/>
        </a:xfrm>
        <a:prstGeom prst="roundRect">
          <a:avLst/>
        </a:prstGeom>
        <a:solidFill>
          <a:srgbClr val="00B8B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2000" b="1" kern="1200"/>
            <a:t>Standardization</a:t>
          </a:r>
          <a:endParaRPr kumimoji="1" lang="ja-JP" altLang="en-US" sz="2000" b="1" kern="1200"/>
        </a:p>
      </dsp:txBody>
      <dsp:txXfrm>
        <a:off x="796655" y="67153"/>
        <a:ext cx="2297046" cy="1203980"/>
      </dsp:txXfrm>
    </dsp:sp>
    <dsp:sp modelId="{B55B2207-61E0-4B41-9C68-AE1DF3551239}">
      <dsp:nvSpPr>
        <dsp:cNvPr id="0" name=""/>
        <dsp:cNvSpPr/>
      </dsp:nvSpPr>
      <dsp:spPr>
        <a:xfrm rot="5400000">
          <a:off x="6083230" y="-1387994"/>
          <a:ext cx="1067395" cy="691618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en-US" sz="2000" kern="1200"/>
            <a:t>Quick tabulation and re-formatting</a:t>
          </a:r>
          <a:endParaRPr kumimoji="1" lang="ja-JP" alt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ja-JP" sz="2000" kern="1200"/>
            <a:t>Enable QC easier</a:t>
          </a:r>
          <a:endParaRPr kumimoji="1" lang="ja-JP" altLang="en-US" sz="2000" kern="1200"/>
        </a:p>
      </dsp:txBody>
      <dsp:txXfrm rot="-5400000">
        <a:off x="3158833" y="1588509"/>
        <a:ext cx="6864083" cy="963183"/>
      </dsp:txXfrm>
    </dsp:sp>
    <dsp:sp modelId="{ACF058B8-EA91-4961-BCAB-578395A07A9F}">
      <dsp:nvSpPr>
        <dsp:cNvPr id="0" name=""/>
        <dsp:cNvSpPr/>
      </dsp:nvSpPr>
      <dsp:spPr>
        <a:xfrm>
          <a:off x="731523" y="1402977"/>
          <a:ext cx="2427310" cy="1334244"/>
        </a:xfrm>
        <a:prstGeom prst="roundRect">
          <a:avLst/>
        </a:prstGeom>
        <a:solidFill>
          <a:srgbClr val="00B8B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2000" b="1" kern="1200"/>
            <a:t>Efficiency</a:t>
          </a:r>
          <a:endParaRPr kumimoji="1" lang="ja-JP" altLang="en-US" sz="2000" b="1" kern="1200"/>
        </a:p>
      </dsp:txBody>
      <dsp:txXfrm>
        <a:off x="796655" y="1468109"/>
        <a:ext cx="2297046" cy="1203980"/>
      </dsp:txXfrm>
    </dsp:sp>
    <dsp:sp modelId="{3B9266A9-6229-4DE9-9976-C475EC61E99F}">
      <dsp:nvSpPr>
        <dsp:cNvPr id="0" name=""/>
        <dsp:cNvSpPr/>
      </dsp:nvSpPr>
      <dsp:spPr>
        <a:xfrm rot="5400000">
          <a:off x="6083230" y="12961"/>
          <a:ext cx="1067395" cy="691618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en-US" sz="2000" kern="1200"/>
            <a:t>The same analysis logic can be easily applied to other study or subgroup.</a:t>
          </a:r>
          <a:endParaRPr kumimoji="1" lang="ja-JP" alt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en-US" sz="2000" kern="1200"/>
            <a:t>ARD can be used in a variety of ways, such as in tables, R Shiny, figures, etc.</a:t>
          </a:r>
          <a:endParaRPr kumimoji="1" lang="ja-JP" altLang="en-US" sz="2000" kern="1200"/>
        </a:p>
      </dsp:txBody>
      <dsp:txXfrm rot="-5400000">
        <a:off x="3158833" y="2989464"/>
        <a:ext cx="6864083" cy="963183"/>
      </dsp:txXfrm>
    </dsp:sp>
    <dsp:sp modelId="{7B33E1CC-54AD-4AB3-BF68-8821E80A5DE7}">
      <dsp:nvSpPr>
        <dsp:cNvPr id="0" name=""/>
        <dsp:cNvSpPr/>
      </dsp:nvSpPr>
      <dsp:spPr>
        <a:xfrm>
          <a:off x="731523" y="2803934"/>
          <a:ext cx="2427310" cy="1334244"/>
        </a:xfrm>
        <a:prstGeom prst="roundRect">
          <a:avLst/>
        </a:prstGeom>
        <a:solidFill>
          <a:srgbClr val="00B8B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2000" b="1" kern="1200" dirty="0"/>
            <a:t>Reproductivity</a:t>
          </a:r>
          <a:endParaRPr kumimoji="1" lang="ja-JP" altLang="en-US" sz="2000" b="1" kern="1200" dirty="0"/>
        </a:p>
      </dsp:txBody>
      <dsp:txXfrm>
        <a:off x="796655" y="2869066"/>
        <a:ext cx="2297046" cy="1203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153894-78FC-4A57-A956-1A7796C34E24}" type="datetimeFigureOut">
              <a:rPr kumimoji="1" lang="ja-JP" altLang="en-US" smtClean="0"/>
              <a:t>2026/4/10</a:t>
            </a:fld>
            <a:endParaRPr kumimoji="1" lang="ja-JP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CED39A-58DD-4C03-9276-40FE00EB923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33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4295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勉強会ということで、</a:t>
            </a:r>
            <a:r>
              <a:rPr kumimoji="1" lang="en-US" altLang="ja-JP" dirty="0"/>
              <a:t>PHUSE</a:t>
            </a:r>
            <a:r>
              <a:rPr kumimoji="1" lang="ja-JP" altLang="en-US" dirty="0"/>
              <a:t>の取り組みだけではなく、一般的な知識も共有したい。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47185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はじめに穴埋めについて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5481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55C85-AC95-324C-9903-5FC536E55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486D19-0052-4986-B912-2F54A3F29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DCD32A-5DBF-7A29-2483-7F5749BE4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kumimoji="1" lang="en-US" altLang="ja-JP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19457-D0A6-2712-0397-F879A7B3E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83963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kumimoji="1" lang="en-US" alt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1691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36636-2F9C-4B2D-90C7-CA835BD65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B90E8B-6F90-F7E4-94B8-33CBBDC29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B32A91-4405-D2C1-839E-245AA3E12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F9005-0499-009B-A84F-6957B8AF84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6197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3260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36FEA-A9AC-499A-9993-8CB25BF3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B5984-26F7-C5CD-EF68-B2684ADBE8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B2958-C02B-E8A1-0766-28CB995FE0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13F7C-8AC8-28A6-7224-171CD5E8AD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9157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22171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38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40173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0355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43574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36174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0804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20538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39573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22655-4D2C-DBC4-8F1C-5D133FE15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46B5D-9286-5DDE-EF57-1F2A43C2C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5B23DD-B998-5021-9970-0A31C0B08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97B61-9BFB-0024-7544-C672CFA353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01538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D1BB6-EBD3-506D-1E9A-D3579C2D9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4C772-6418-50DB-5449-BD31FCD1B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A6C006-CE39-49AD-4FC3-55A30F96F6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C423C-DC28-BF66-B5A7-42C8E2602B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8607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59888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48849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5A7EB-D4DC-93CF-1EED-ED5F87909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F4EE60-6DE2-5F89-FAD8-E905A044CF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76534-0504-9F71-C45C-AB2606C9E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kumimoji="1"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44359-1D2E-D614-8379-15908121AE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7066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19825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53F6-258F-F93C-2AE5-9B692D40F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155B4C-E282-7D9A-8B9E-42F8088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82F98B-F510-7953-09D3-CBCEC5A16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B6705-A45F-027B-D39C-C6DF572431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870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19696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EAD3B-6357-598B-04B0-DF1DF2FA9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1A29F8-903C-9D0B-A1D6-1230ED5D6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6FD03E-AF77-BAC3-434A-31BA2AA4B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DB23A-72A9-102E-749C-DC887F9EE4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37827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65023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E745-C55A-012C-C258-0A7915587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CA929C-F590-BAEF-FA4B-C809E6C94F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EFA84-500B-7CC3-3F58-4480EA1C2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B81C2-AFAF-4E38-A9A6-DC9C722E8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70636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5D67C-9211-89BD-59BA-0BCB4F36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64EF0-B3DB-F6F5-9FEE-0D015BCAF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EF55C5-B543-39D3-297A-DD644024F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kumimoji="1" lang="en-US" altLang="ja-JP" b="1" u="sng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378B5C-02B1-49D8-214E-103195FB94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29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66288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F68AD-2171-89F8-637E-6CDF570F9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AF2A00-3ADD-8CAF-2036-825F7DAA9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FB7D0F-9644-6D0A-89A7-7FE58933A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FFB1A-4656-4E7B-0F6E-E13F8D4CD1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30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14012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4B74F-F476-9EA8-23CC-48C02CF99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8DB6C-0D0A-BE72-CB3A-A7776F97FF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D031C-DE1E-DF3D-192D-83FD00ED2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B7E31-3ECF-48C3-10C1-A137583421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1110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809CC-7877-B493-F558-A59171DEB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D9B21-F30C-F15F-3D9C-81D6693C5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E42C3D-0A09-776E-111F-FA6F7080E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67C93-A0D3-2767-B7E8-789644C653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58201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FF2D0-0DE3-B788-020B-52035682D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DAF1D5-115B-8C73-61B0-3CB5C1B7C9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257E9E-6609-AD8E-8AEA-5E6988006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00E78-CC38-4569-575A-CD9FD6DB2F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33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20802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6273-D861-E211-78CE-F1244D0A4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83FDB-6557-0B43-016B-BE5D11D8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9C2241-EE5E-5272-EC67-5536DECBA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D745-AE2A-230B-CF87-69A542C81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34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04484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37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535981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CED39A-58DD-4C03-9276-40FE00EB9230}" type="slidenum">
              <a:rPr kumimoji="1" lang="ja-JP" altLang="en-US" smtClean="0"/>
              <a:t>38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6757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1 (Full Colou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9918D-BA13-C7B2-DD69-2DC8F3E605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7747" y="1413309"/>
            <a:ext cx="5465762" cy="2276399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4000" spc="-100" baseline="0"/>
            </a:lvl1pPr>
          </a:lstStyle>
          <a:p>
            <a:r>
              <a:rPr lang="en-US" altLang="ja-JP" noProof="0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126F13-0AE9-3175-DE16-03EC60AEA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7747" y="4055266"/>
            <a:ext cx="4510395" cy="1047751"/>
          </a:xfrm>
        </p:spPr>
        <p:txBody>
          <a:bodyPr anchor="t" anchorCtr="0">
            <a:normAutofit/>
          </a:bodyPr>
          <a:lstStyle>
            <a:lvl1pPr marL="0" indent="0" algn="l">
              <a:spcBef>
                <a:spcPts val="0"/>
              </a:spcBef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ja-JP"/>
              <a:t>Click to edit Master subtitle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A8108-6468-F37B-B08D-4576298F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EE5C0-CA83-92F8-E574-92C5F4ED2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B0E19-F4C8-4F98-96D2-CE1ECDE59975}" type="slidenum">
              <a:rPr lang="en-GB" smtClean="0"/>
              <a:t>‹#›</a:t>
            </a:fld>
            <a:endParaRPr lang="en-GB"/>
          </a:p>
        </p:txBody>
      </p:sp>
      <p:pic>
        <p:nvPicPr>
          <p:cNvPr id="2061" name="Picture 13">
            <a:extLst>
              <a:ext uri="{FF2B5EF4-FFF2-40B4-BE49-F238E27FC236}">
                <a16:creationId xmlns:a16="http://schemas.microsoft.com/office/drawing/2014/main" id="{11323A8E-58B2-5227-B848-7987730AF7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863" y="6853238"/>
            <a:ext cx="133350" cy="4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Google Shape;81;gaef4685ac5_0_0" descr="A map of the world&#10;&#10;Description automatically generated with medium confidence">
            <a:extLst>
              <a:ext uri="{FF2B5EF4-FFF2-40B4-BE49-F238E27FC236}">
                <a16:creationId xmlns:a16="http://schemas.microsoft.com/office/drawing/2014/main" id="{52D02416-89A6-9245-52E8-8E957CCFB471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 l="4072" t="69" r="45363" b="-69"/>
          <a:stretch>
            <a:fillRect/>
          </a:stretch>
        </p:blipFill>
        <p:spPr>
          <a:xfrm>
            <a:off x="5957454" y="-4762"/>
            <a:ext cx="6594763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040087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45A4A-BEAF-8F80-8835-0907262ED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38" y="358793"/>
            <a:ext cx="9721417" cy="809834"/>
          </a:xfrm>
        </p:spPr>
        <p:txBody>
          <a:bodyPr>
            <a:normAutofit/>
          </a:bodyPr>
          <a:lstStyle/>
          <a:p>
            <a:r>
              <a:rPr lang="en-US" altLang="ja-JP" noProof="0"/>
              <a:t>Click to edit Master title style</a:t>
            </a:r>
            <a:endParaRPr lang="en-US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68F2A-23FD-5801-ACBB-432CB9339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560443"/>
            <a:ext cx="9721416" cy="4140000"/>
          </a:xfr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b="0"/>
            </a:lvl1pPr>
            <a:lvl2pPr marL="432000" indent="-216000">
              <a:lnSpc>
                <a:spcPct val="150000"/>
              </a:lnSpc>
              <a:spcBef>
                <a:spcPts val="500"/>
              </a:spcBef>
              <a:buSzPct val="130000"/>
              <a:buFont typeface="Wingdings" panose="05000000000000000000" pitchFamily="2" charset="2"/>
              <a:buChar char="ü"/>
              <a:defRPr sz="1800">
                <a:solidFill>
                  <a:srgbClr val="0460A9"/>
                </a:solidFill>
              </a:defRPr>
            </a:lvl2pPr>
          </a:lstStyle>
          <a:p>
            <a:pPr lvl="0"/>
            <a:r>
              <a:rPr lang="en-US" altLang="ja-JP" noProof="0"/>
              <a:t>Click to edit Master text styles</a:t>
            </a:r>
          </a:p>
          <a:p>
            <a:pPr lvl="1"/>
            <a:r>
              <a:rPr lang="en-US" altLang="ja-JP" noProof="0"/>
              <a:t>Second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E74A7-6AA6-6A4A-386F-857155357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2575B-FB3C-51E6-D7BC-6C7FF452E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B0E19-F4C8-4F98-96D2-CE1ECDE59975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23E7A485-8F68-E48D-970D-E99406E9D3FC}"/>
              </a:ext>
            </a:extLst>
          </p:cNvPr>
          <p:cNvSpPr/>
          <p:nvPr userDrawn="1"/>
        </p:nvSpPr>
        <p:spPr>
          <a:xfrm>
            <a:off x="10326255" y="0"/>
            <a:ext cx="1865745" cy="6858000"/>
          </a:xfrm>
          <a:custGeom>
            <a:avLst/>
            <a:gdLst>
              <a:gd name="connsiteX0" fmla="*/ 0 w 3040380"/>
              <a:gd name="connsiteY0" fmla="*/ 0 h 5143500"/>
              <a:gd name="connsiteX1" fmla="*/ 3040380 w 3040380"/>
              <a:gd name="connsiteY1" fmla="*/ 0 h 5143500"/>
              <a:gd name="connsiteX2" fmla="*/ 3040380 w 3040380"/>
              <a:gd name="connsiteY2" fmla="*/ 5143500 h 5143500"/>
              <a:gd name="connsiteX3" fmla="*/ 0 w 3040380"/>
              <a:gd name="connsiteY3" fmla="*/ 5143500 h 5143500"/>
              <a:gd name="connsiteX4" fmla="*/ 0 w 3040380"/>
              <a:gd name="connsiteY4" fmla="*/ 0 h 5143500"/>
              <a:gd name="connsiteX0" fmla="*/ 0 w 3040380"/>
              <a:gd name="connsiteY0" fmla="*/ 0 h 5151120"/>
              <a:gd name="connsiteX1" fmla="*/ 3040380 w 3040380"/>
              <a:gd name="connsiteY1" fmla="*/ 0 h 5151120"/>
              <a:gd name="connsiteX2" fmla="*/ 3040380 w 3040380"/>
              <a:gd name="connsiteY2" fmla="*/ 5143500 h 5151120"/>
              <a:gd name="connsiteX3" fmla="*/ 693420 w 3040380"/>
              <a:gd name="connsiteY3" fmla="*/ 5151120 h 5151120"/>
              <a:gd name="connsiteX4" fmla="*/ 0 w 3040380"/>
              <a:gd name="connsiteY4" fmla="*/ 0 h 5151120"/>
              <a:gd name="connsiteX0" fmla="*/ 0 w 3040380"/>
              <a:gd name="connsiteY0" fmla="*/ 0 h 5151120"/>
              <a:gd name="connsiteX1" fmla="*/ 3040380 w 3040380"/>
              <a:gd name="connsiteY1" fmla="*/ 0 h 5151120"/>
              <a:gd name="connsiteX2" fmla="*/ 3040380 w 3040380"/>
              <a:gd name="connsiteY2" fmla="*/ 5143500 h 5151120"/>
              <a:gd name="connsiteX3" fmla="*/ 693420 w 3040380"/>
              <a:gd name="connsiteY3" fmla="*/ 5151120 h 5151120"/>
              <a:gd name="connsiteX4" fmla="*/ 0 w 3040380"/>
              <a:gd name="connsiteY4" fmla="*/ 0 h 5151120"/>
              <a:gd name="connsiteX0" fmla="*/ 1041026 w 4081406"/>
              <a:gd name="connsiteY0" fmla="*/ 0 h 5143500"/>
              <a:gd name="connsiteX1" fmla="*/ 4081406 w 4081406"/>
              <a:gd name="connsiteY1" fmla="*/ 0 h 5143500"/>
              <a:gd name="connsiteX2" fmla="*/ 4081406 w 4081406"/>
              <a:gd name="connsiteY2" fmla="*/ 5143500 h 5143500"/>
              <a:gd name="connsiteX3" fmla="*/ 0 w 4081406"/>
              <a:gd name="connsiteY3" fmla="*/ 5143500 h 5143500"/>
              <a:gd name="connsiteX4" fmla="*/ 1041026 w 4081406"/>
              <a:gd name="connsiteY4" fmla="*/ 0 h 5143500"/>
              <a:gd name="connsiteX0" fmla="*/ 1041026 w 4081406"/>
              <a:gd name="connsiteY0" fmla="*/ 0 h 5143500"/>
              <a:gd name="connsiteX1" fmla="*/ 4081406 w 4081406"/>
              <a:gd name="connsiteY1" fmla="*/ 0 h 5143500"/>
              <a:gd name="connsiteX2" fmla="*/ 4081406 w 4081406"/>
              <a:gd name="connsiteY2" fmla="*/ 5143500 h 5143500"/>
              <a:gd name="connsiteX3" fmla="*/ 0 w 4081406"/>
              <a:gd name="connsiteY3" fmla="*/ 5143500 h 5143500"/>
              <a:gd name="connsiteX4" fmla="*/ 1041026 w 4081406"/>
              <a:gd name="connsiteY4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1406" h="5143500">
                <a:moveTo>
                  <a:pt x="1041026" y="0"/>
                </a:moveTo>
                <a:lnTo>
                  <a:pt x="4081406" y="0"/>
                </a:lnTo>
                <a:lnTo>
                  <a:pt x="4081406" y="5143500"/>
                </a:lnTo>
                <a:lnTo>
                  <a:pt x="0" y="5143500"/>
                </a:lnTo>
                <a:cubicBezTo>
                  <a:pt x="4121057" y="2900680"/>
                  <a:pt x="1272166" y="1717040"/>
                  <a:pt x="1041026" y="0"/>
                </a:cubicBezTo>
                <a:close/>
              </a:path>
            </a:pathLst>
          </a:custGeom>
          <a:solidFill>
            <a:srgbClr val="00B8B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Google Shape;81;gaef4685ac5_0_0" descr="A map of the world&#10;&#10;Description automatically generated with medium confidence">
            <a:extLst>
              <a:ext uri="{FF2B5EF4-FFF2-40B4-BE49-F238E27FC236}">
                <a16:creationId xmlns:a16="http://schemas.microsoft.com/office/drawing/2014/main" id="{CDFF48A1-8E64-EC0B-7E75-517CAC61717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76038" t="6217" r="3388" b="80668"/>
          <a:stretch>
            <a:fillRect/>
          </a:stretch>
        </p:blipFill>
        <p:spPr>
          <a:xfrm>
            <a:off x="10732655" y="6225309"/>
            <a:ext cx="1459345" cy="63269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7857081"/>
      </p:ext>
    </p:extLst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7A96AB-8025-800A-2C24-7E888FEFF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38" y="311086"/>
            <a:ext cx="11168062" cy="106527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ja-JP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E3102-B1BD-6F42-D23F-9839C4945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4838" y="1573619"/>
            <a:ext cx="11168062" cy="447793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altLang="ja-JP" noProof="0"/>
              <a:t>Click to edit Master text styles</a:t>
            </a:r>
          </a:p>
          <a:p>
            <a:pPr lvl="1"/>
            <a:r>
              <a:rPr lang="en-US" altLang="ja-JP" noProof="0"/>
              <a:t>Second level</a:t>
            </a:r>
          </a:p>
          <a:p>
            <a:pPr lvl="2"/>
            <a:r>
              <a:rPr lang="en-US" altLang="ja-JP" noProof="0"/>
              <a:t>Third level</a:t>
            </a:r>
          </a:p>
          <a:p>
            <a:pPr lvl="3"/>
            <a:r>
              <a:rPr lang="en-US" altLang="ja-JP" noProof="0"/>
              <a:t>Fourth level</a:t>
            </a:r>
          </a:p>
          <a:p>
            <a:pPr lvl="4"/>
            <a:r>
              <a:rPr lang="en-US" altLang="ja-JP" noProof="0"/>
              <a:t>Fifth level</a:t>
            </a:r>
            <a:endParaRPr lang="en-US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0478D-6D5E-92AA-A8E5-4B2E1DDB45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97850" y="6449644"/>
            <a:ext cx="2880000" cy="1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Insert menu &gt; Header &amp; Footer button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61785-315A-7A76-7C7E-594293B975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7726" y="6449644"/>
            <a:ext cx="465174" cy="1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900" b="1">
                <a:solidFill>
                  <a:schemeClr val="tx1"/>
                </a:solidFill>
              </a:defRPr>
            </a:lvl1pPr>
          </a:lstStyle>
          <a:p>
            <a:fld id="{03CB0E19-F4C8-4F98-96D2-CE1ECDE5997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6477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65" r:id="rId2"/>
  </p:sldLayoutIdLst>
  <p:hf hd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kumimoji="1" sz="3000" b="1" kern="1200">
          <a:solidFill>
            <a:srgbClr val="002068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5000"/>
        </a:lnSpc>
        <a:spcBef>
          <a:spcPts val="1000"/>
        </a:spcBef>
        <a:buFontTx/>
        <a:buNone/>
        <a:defRPr kumimoji="1" sz="2000" b="1" kern="1200">
          <a:solidFill>
            <a:srgbClr val="0460A9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5000"/>
        </a:lnSpc>
        <a:spcBef>
          <a:spcPts val="700"/>
        </a:spcBef>
        <a:buFontTx/>
        <a:buNone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95000"/>
        </a:lnSpc>
        <a:spcBef>
          <a:spcPts val="600"/>
        </a:spcBef>
        <a:buClr>
          <a:srgbClr val="0460A9"/>
        </a:buClr>
        <a:buFont typeface="Ping LCG Medium" pitchFamily="50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90538" indent="-268288" algn="l" defTabSz="914400" rtl="0" eaLnBrk="1" latinLnBrk="0" hangingPunct="1">
        <a:lnSpc>
          <a:spcPct val="95000"/>
        </a:lnSpc>
        <a:spcBef>
          <a:spcPts val="600"/>
        </a:spcBef>
        <a:buClr>
          <a:srgbClr val="0460A9"/>
        </a:buClr>
        <a:buFont typeface="Arial" panose="020B0604020202020204" pitchFamily="34" charset="0"/>
        <a:buChar char="–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73113" indent="-277813" algn="l" defTabSz="914400" rtl="0" eaLnBrk="1" latinLnBrk="0" hangingPunct="1">
        <a:lnSpc>
          <a:spcPct val="95000"/>
        </a:lnSpc>
        <a:spcBef>
          <a:spcPts val="600"/>
        </a:spcBef>
        <a:buClr>
          <a:srgbClr val="0460A9"/>
        </a:buClr>
        <a:buFont typeface="Arial" panose="020B0604020202020204" pitchFamily="34" charset="0"/>
        <a:buChar char="–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2">
          <p15:clr>
            <a:srgbClr val="F26B43"/>
          </p15:clr>
        </p15:guide>
        <p15:guide id="2" pos="3975">
          <p15:clr>
            <a:srgbClr val="F26B43"/>
          </p15:clr>
        </p15:guide>
        <p15:guide id="3" orient="horz" pos="243">
          <p15:clr>
            <a:srgbClr val="F26B43"/>
          </p15:clr>
        </p15:guide>
        <p15:guide id="4" orient="horz" pos="3812">
          <p15:clr>
            <a:srgbClr val="F26B43"/>
          </p15:clr>
        </p15:guide>
        <p15:guide id="5" orient="horz" pos="867">
          <p15:clr>
            <a:srgbClr val="F26B43"/>
          </p15:clr>
        </p15:guide>
        <p15:guide id="6" orient="horz" pos="1015">
          <p15:clr>
            <a:srgbClr val="F26B43"/>
          </p15:clr>
        </p15:guide>
        <p15:guide id="7" orient="horz" pos="1639">
          <p15:clr>
            <a:srgbClr val="F26B43"/>
          </p15:clr>
        </p15:guide>
        <p15:guide id="8" orient="horz" pos="1781">
          <p15:clr>
            <a:srgbClr val="F26B43"/>
          </p15:clr>
        </p15:guide>
        <p15:guide id="9" orient="horz" pos="2544">
          <p15:clr>
            <a:srgbClr val="F26B43"/>
          </p15:clr>
        </p15:guide>
        <p15:guide id="10" orient="horz" pos="3174">
          <p15:clr>
            <a:srgbClr val="F26B43"/>
          </p15:clr>
        </p15:guide>
        <p15:guide id="11" orient="horz" pos="3316">
          <p15:clr>
            <a:srgbClr val="F26B43"/>
          </p15:clr>
        </p15:guide>
        <p15:guide id="12" pos="7416">
          <p15:clr>
            <a:srgbClr val="F26B43"/>
          </p15:clr>
        </p15:guide>
        <p15:guide id="13" pos="381">
          <p15:clr>
            <a:srgbClr val="F26B43"/>
          </p15:clr>
        </p15:guide>
        <p15:guide id="14" pos="1434">
          <p15:clr>
            <a:srgbClr val="F26B43"/>
          </p15:clr>
        </p15:guide>
        <p15:guide id="15" pos="1581">
          <p15:clr>
            <a:srgbClr val="F26B43"/>
          </p15:clr>
        </p15:guide>
        <p15:guide id="16" pos="2625">
          <p15:clr>
            <a:srgbClr val="F26B43"/>
          </p15:clr>
        </p15:guide>
        <p15:guide id="17" pos="2776">
          <p15:clr>
            <a:srgbClr val="F26B43"/>
          </p15:clr>
        </p15:guide>
        <p15:guide id="18" pos="3824">
          <p15:clr>
            <a:srgbClr val="F26B43"/>
          </p15:clr>
        </p15:guide>
        <p15:guide id="19" pos="5020">
          <p15:clr>
            <a:srgbClr val="F26B43"/>
          </p15:clr>
        </p15:guide>
        <p15:guide id="20" pos="5166">
          <p15:clr>
            <a:srgbClr val="F26B43"/>
          </p15:clr>
        </p15:guide>
        <p15:guide id="21" pos="6219">
          <p15:clr>
            <a:srgbClr val="F26B43"/>
          </p15:clr>
        </p15:guide>
        <p15:guide id="22" pos="636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disc.org/sites/default/files/2023-04/CDISC-AnalysisResultsLogicalModel-Presentation-FINAL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hyperlink" Target="https://www.danieldsjoberg.com/ARD-PHUSE-workshop-2025/slides/01-intro-cards/#/analysis-results-data-ar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11" Type="http://schemas.openxmlformats.org/officeDocument/2006/relationships/image" Target="../media/image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344CC-406A-FAE8-17B4-77118A9295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ja-JP" dirty="0">
                <a:ea typeface="ＭＳ Ｐゴシック"/>
              </a:rPr>
              <a:t>Package development for PMDA Oncology inquiries</a:t>
            </a:r>
            <a:br>
              <a:rPr lang="ja-JP" altLang="en-US" dirty="0"/>
            </a:br>
            <a:endParaRPr kumimoji="1" lang="ja-JP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FE804B-48BE-28F8-57EB-4D325EDD49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7747" y="4055266"/>
            <a:ext cx="4510395" cy="2009868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PHUSE OST</a:t>
            </a:r>
            <a:br>
              <a:rPr kumimoji="1" lang="en-US" altLang="ja-JP" dirty="0"/>
            </a:br>
            <a:r>
              <a:rPr kumimoji="1" lang="en-US" altLang="ja-JP" sz="1600" dirty="0">
                <a:solidFill>
                  <a:schemeClr val="tx1"/>
                </a:solidFill>
              </a:rPr>
              <a:t>Shunsuke Goto</a:t>
            </a:r>
            <a:br>
              <a:rPr kumimoji="1" lang="en-US" altLang="ja-JP" sz="1600" dirty="0">
                <a:solidFill>
                  <a:schemeClr val="tx1"/>
                </a:solidFill>
              </a:rPr>
            </a:br>
            <a:r>
              <a:rPr kumimoji="1" lang="en-US" altLang="ja-JP" sz="1600" dirty="0">
                <a:solidFill>
                  <a:schemeClr val="tx1"/>
                </a:solidFill>
              </a:rPr>
              <a:t>Hiro Kosako</a:t>
            </a:r>
          </a:p>
          <a:p>
            <a:r>
              <a:rPr kumimoji="1" lang="en-US" altLang="ja-JP" sz="1600" dirty="0">
                <a:solidFill>
                  <a:schemeClr val="tx1"/>
                </a:solidFill>
              </a:rPr>
              <a:t>Tomoyuki </a:t>
            </a:r>
            <a:r>
              <a:rPr kumimoji="1" lang="en-US" altLang="ja-JP" sz="1600" dirty="0" err="1">
                <a:solidFill>
                  <a:schemeClr val="tx1"/>
                </a:solidFill>
              </a:rPr>
              <a:t>Namai</a:t>
            </a:r>
            <a:endParaRPr kumimoji="1" lang="en-US" altLang="ja-JP" sz="1600" dirty="0">
              <a:solidFill>
                <a:schemeClr val="tx1"/>
              </a:solidFill>
            </a:endParaRPr>
          </a:p>
          <a:p>
            <a:r>
              <a:rPr lang="en-US" altLang="ja-JP" sz="1600" dirty="0">
                <a:solidFill>
                  <a:schemeClr val="tx1"/>
                </a:solidFill>
              </a:rPr>
              <a:t>Hiroki </a:t>
            </a:r>
            <a:r>
              <a:rPr lang="en-US" altLang="ja-JP" sz="1600" dirty="0" err="1">
                <a:solidFill>
                  <a:schemeClr val="tx1"/>
                </a:solidFill>
              </a:rPr>
              <a:t>Yamanobe</a:t>
            </a:r>
            <a:endParaRPr kumimoji="1" lang="en-US" altLang="ja-JP" sz="1600" dirty="0">
              <a:solidFill>
                <a:schemeClr val="tx1"/>
              </a:solidFill>
            </a:endParaRPr>
          </a:p>
          <a:p>
            <a:r>
              <a:rPr lang="en-US" altLang="ja-JP" sz="1600" dirty="0">
                <a:solidFill>
                  <a:schemeClr val="tx1"/>
                </a:solidFill>
              </a:rPr>
              <a:t>Yuichi Nakajima</a:t>
            </a:r>
            <a:endParaRPr lang="en-US" altLang="ja-JP" dirty="0">
              <a:solidFill>
                <a:schemeClr val="tx1"/>
              </a:solidFill>
            </a:endParaRP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82486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8CB83-353F-E94E-D13E-892D0FFEF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本日の発表のゴール</a:t>
            </a:r>
            <a:endParaRPr kumimoji="1" lang="ja-JP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EDCBC0-5AEA-64E7-ED05-F1D1B1E5F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A6E8144-ACB0-EBA6-795D-EAFD5F024291}"/>
              </a:ext>
            </a:extLst>
          </p:cNvPr>
          <p:cNvSpPr/>
          <p:nvPr/>
        </p:nvSpPr>
        <p:spPr>
          <a:xfrm>
            <a:off x="780585" y="1839953"/>
            <a:ext cx="9846527" cy="1204332"/>
          </a:xfrm>
          <a:prstGeom prst="roundRect">
            <a:avLst/>
          </a:prstGeom>
          <a:solidFill>
            <a:srgbClr val="00B8B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kumimoji="1" lang="en-US" altLang="ja-JP" b="1" dirty="0"/>
              <a:t>PHUSE</a:t>
            </a:r>
            <a:r>
              <a:rPr kumimoji="1" lang="ja-JP" altLang="en-US" b="1" dirty="0"/>
              <a:t> </a:t>
            </a:r>
            <a:r>
              <a:rPr kumimoji="1" lang="en-US" altLang="ja-JP" b="1" dirty="0"/>
              <a:t>OST</a:t>
            </a:r>
            <a:r>
              <a:rPr kumimoji="1" lang="ja-JP" altLang="en-US" b="1" dirty="0"/>
              <a:t>の活動の一環である</a:t>
            </a:r>
            <a:r>
              <a:rPr kumimoji="1" lang="en-US" altLang="ja-JP" b="1" dirty="0"/>
              <a:t>{</a:t>
            </a:r>
            <a:r>
              <a:rPr kumimoji="1" lang="en-US" altLang="ja-JP" b="1" dirty="0" err="1"/>
              <a:t>anaume</a:t>
            </a:r>
            <a:r>
              <a:rPr kumimoji="1" lang="en-US" altLang="ja-JP" b="1" dirty="0"/>
              <a:t>} package</a:t>
            </a:r>
            <a:r>
              <a:rPr kumimoji="1" lang="ja-JP" altLang="en-US" b="1" dirty="0"/>
              <a:t>について知っていただく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C496492-2631-60AB-E822-0EB100F7A122}"/>
              </a:ext>
            </a:extLst>
          </p:cNvPr>
          <p:cNvSpPr/>
          <p:nvPr/>
        </p:nvSpPr>
        <p:spPr>
          <a:xfrm>
            <a:off x="780585" y="3456880"/>
            <a:ext cx="9846527" cy="1204332"/>
          </a:xfrm>
          <a:prstGeom prst="roundRect">
            <a:avLst/>
          </a:prstGeom>
          <a:solidFill>
            <a:srgbClr val="00B8B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{</a:t>
            </a:r>
            <a:r>
              <a:rPr kumimoji="1" lang="en-US" altLang="ja-JP" b="1" dirty="0" err="1"/>
              <a:t>anaume</a:t>
            </a:r>
            <a:r>
              <a:rPr kumimoji="1" lang="en-US" altLang="ja-JP" b="1" dirty="0"/>
              <a:t>}</a:t>
            </a:r>
            <a:r>
              <a:rPr kumimoji="1" lang="ja-JP" altLang="en-US" b="1" dirty="0"/>
              <a:t>を例に、一般的な</a:t>
            </a:r>
            <a:r>
              <a:rPr kumimoji="1" lang="en-US" altLang="ja-JP" b="1" dirty="0"/>
              <a:t>Package</a:t>
            </a:r>
            <a:r>
              <a:rPr kumimoji="1" lang="ja-JP" altLang="en-US" b="1" dirty="0"/>
              <a:t>の構成要素について理解を深める</a:t>
            </a:r>
          </a:p>
        </p:txBody>
      </p:sp>
    </p:spTree>
    <p:extLst>
      <p:ext uri="{BB962C8B-B14F-4D97-AF65-F5344CB8AC3E}">
        <p14:creationId xmlns:p14="http://schemas.microsoft.com/office/powerpoint/2010/main" val="2089644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9A228-343C-E370-F0F0-883395C4A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38" y="2827673"/>
            <a:ext cx="9721417" cy="809834"/>
          </a:xfrm>
        </p:spPr>
        <p:txBody>
          <a:bodyPr/>
          <a:lstStyle/>
          <a:p>
            <a:r>
              <a:rPr lang="en-US" altLang="ja-JP" dirty="0">
                <a:ea typeface="ＭＳ Ｐゴシック"/>
              </a:rPr>
              <a:t>Introduction of {</a:t>
            </a:r>
            <a:r>
              <a:rPr lang="en-US" altLang="ja-JP" dirty="0" err="1">
                <a:ea typeface="ＭＳ Ｐゴシック"/>
              </a:rPr>
              <a:t>anaume</a:t>
            </a:r>
            <a:r>
              <a:rPr lang="en-US" altLang="ja-JP" dirty="0">
                <a:ea typeface="ＭＳ Ｐゴシック"/>
              </a:rPr>
              <a:t>}</a:t>
            </a:r>
            <a:endParaRPr kumimoji="1" lang="ja-JP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407E95-DC63-8F69-1E6E-E176BBB41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</p:spTree>
    <p:extLst>
      <p:ext uri="{BB962C8B-B14F-4D97-AF65-F5344CB8AC3E}">
        <p14:creationId xmlns:p14="http://schemas.microsoft.com/office/powerpoint/2010/main" val="1868981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FF934-81E6-4128-C854-EB415B33A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77D76-5183-1C26-25B6-7621468A0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Challenges regarding to AE analysis of PMDA queries</a:t>
            </a:r>
            <a:br>
              <a:rPr kumimoji="1" lang="en-US" altLang="ja-JP" dirty="0"/>
            </a:br>
            <a:r>
              <a:rPr kumimoji="1" lang="en-US" altLang="ja-JP" dirty="0"/>
              <a:t>in oncology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A61BA-F9DF-70F1-9CE7-3894DAEB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560443"/>
            <a:ext cx="5058542" cy="4140000"/>
          </a:xfrm>
        </p:spPr>
        <p:txBody>
          <a:bodyPr/>
          <a:lstStyle/>
          <a:p>
            <a:r>
              <a:rPr lang="en-US" altLang="ja-JP" dirty="0"/>
              <a:t>A large number of similar-format reports are required within a short period.</a:t>
            </a:r>
          </a:p>
          <a:p>
            <a:r>
              <a:rPr lang="en-US" altLang="ja-JP" b="1" dirty="0"/>
              <a:t>No standardized format </a:t>
            </a:r>
            <a:r>
              <a:rPr lang="en-US" altLang="ja-JP" dirty="0"/>
              <a:t>like those defined by the FDA.</a:t>
            </a:r>
            <a:br>
              <a:rPr lang="en-US" altLang="ja-JP" dirty="0"/>
            </a:b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-&gt; This leads to challenges in preparation and streamlining.</a:t>
            </a:r>
            <a:endParaRPr kumimoji="1" lang="ja-JP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8CAE9-4D40-5BEC-478A-9A80F66E4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2D51C0-CC86-82CF-5BC5-981178AA2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334" y="1560443"/>
            <a:ext cx="4968362" cy="433945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37C135-D723-DAB2-C227-6C8B16B2F511}"/>
              </a:ext>
            </a:extLst>
          </p:cNvPr>
          <p:cNvSpPr txBox="1"/>
          <p:nvPr/>
        </p:nvSpPr>
        <p:spPr>
          <a:xfrm>
            <a:off x="5532582" y="2378478"/>
            <a:ext cx="1130471" cy="28634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ct val="95000"/>
              </a:lnSpc>
            </a:pPr>
            <a:r>
              <a:rPr kumimoji="1" lang="en-US" altLang="ja-JP" sz="1400" b="1" dirty="0"/>
              <a:t>ALL AE</a:t>
            </a:r>
            <a:endParaRPr kumimoji="1" lang="ja-JP" alt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E01BA6-FA02-4C37-CECA-0779905E0BFC}"/>
              </a:ext>
            </a:extLst>
          </p:cNvPr>
          <p:cNvSpPr txBox="1"/>
          <p:nvPr/>
        </p:nvSpPr>
        <p:spPr>
          <a:xfrm>
            <a:off x="5532582" y="3266888"/>
            <a:ext cx="1130471" cy="33866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>
              <a:lnSpc>
                <a:spcPct val="95000"/>
              </a:lnSpc>
            </a:pPr>
            <a:r>
              <a:rPr kumimoji="1" lang="en-US" altLang="ja-JP" sz="1400" b="1" dirty="0"/>
              <a:t>AE</a:t>
            </a:r>
            <a:r>
              <a:rPr kumimoji="1" lang="ja-JP" altLang="en-US" sz="1400" b="1" dirty="0"/>
              <a:t> </a:t>
            </a:r>
            <a:r>
              <a:rPr kumimoji="1" lang="en-US" altLang="ja-JP" sz="1400" b="1" dirty="0"/>
              <a:t>with</a:t>
            </a:r>
            <a:br>
              <a:rPr kumimoji="1" lang="en-US" altLang="ja-JP" sz="1400" b="1" dirty="0"/>
            </a:br>
            <a:r>
              <a:rPr kumimoji="1" lang="en-US" altLang="ja-JP" sz="1400" b="1" dirty="0"/>
              <a:t>Grade &gt;=3</a:t>
            </a:r>
            <a:endParaRPr kumimoji="1" lang="ja-JP" altLang="en-US" sz="1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224D9B-4648-1214-7A90-C54BBDB676EC}"/>
              </a:ext>
            </a:extLst>
          </p:cNvPr>
          <p:cNvSpPr txBox="1"/>
          <p:nvPr/>
        </p:nvSpPr>
        <p:spPr>
          <a:xfrm>
            <a:off x="8664305" y="1393815"/>
            <a:ext cx="1326361" cy="3332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ct val="95000"/>
              </a:lnSpc>
            </a:pPr>
            <a:r>
              <a:rPr kumimoji="1" lang="en-US" altLang="ja-JP" sz="1400" b="1" dirty="0"/>
              <a:t>Age group</a:t>
            </a:r>
            <a:endParaRPr kumimoji="1" lang="ja-JP" alt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DCA3F7-8332-9A76-CE67-2E96226D8A07}"/>
              </a:ext>
            </a:extLst>
          </p:cNvPr>
          <p:cNvSpPr txBox="1"/>
          <p:nvPr/>
        </p:nvSpPr>
        <p:spPr>
          <a:xfrm>
            <a:off x="5532582" y="4920098"/>
            <a:ext cx="1130471" cy="33866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ct val="95000"/>
              </a:lnSpc>
            </a:pPr>
            <a:r>
              <a:rPr kumimoji="1" lang="en-US" altLang="ja-JP" sz="1400" b="1" dirty="0"/>
              <a:t>Serious AE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773404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55FB5-994E-D02B-74B6-093D3EA0E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Package to solve this challenge: {</a:t>
            </a:r>
            <a:r>
              <a:rPr kumimoji="1" lang="en-US" altLang="ja-JP" dirty="0" err="1"/>
              <a:t>anaume</a:t>
            </a:r>
            <a:r>
              <a:rPr kumimoji="1" lang="en-US" altLang="ja-JP" dirty="0"/>
              <a:t>}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5FC48-DD4C-5449-BD4C-4EAC3128C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u="sng" dirty="0"/>
              <a:t>Ana</a:t>
            </a:r>
            <a:r>
              <a:rPr lang="en-US" altLang="ja-JP" dirty="0"/>
              <a:t>lysis </a:t>
            </a:r>
            <a:r>
              <a:rPr lang="en-US" altLang="ja-JP" u="sng" dirty="0"/>
              <a:t>U</a:t>
            </a:r>
            <a:r>
              <a:rPr lang="en-US" altLang="ja-JP" dirty="0"/>
              <a:t>tility for AE </a:t>
            </a:r>
            <a:r>
              <a:rPr lang="en-US" altLang="ja-JP" u="sng" dirty="0"/>
              <a:t>M</a:t>
            </a:r>
            <a:r>
              <a:rPr lang="en-US" altLang="ja-JP" dirty="0"/>
              <a:t>apping &amp; </a:t>
            </a:r>
            <a:r>
              <a:rPr lang="en-US" altLang="ja-JP" u="sng" dirty="0"/>
              <a:t>E</a:t>
            </a:r>
            <a:r>
              <a:rPr lang="en-US" altLang="ja-JP" dirty="0"/>
              <a:t>mbedding</a:t>
            </a:r>
          </a:p>
          <a:p>
            <a:r>
              <a:rPr lang="en-US" altLang="ja-JP" dirty="0"/>
              <a:t>Package to accelerate table generation for query from PMDA</a:t>
            </a:r>
          </a:p>
          <a:p>
            <a:r>
              <a:rPr lang="en-US" altLang="ja-JP" dirty="0"/>
              <a:t>Using ARD to generate table</a:t>
            </a:r>
            <a:endParaRPr kumimoji="1" lang="ja-JP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DF632D-0D93-19E6-D4F1-72914B561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3B396-182A-B095-7E3A-93502653914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CFBF9"/>
              </a:clrFrom>
              <a:clrTo>
                <a:srgbClr val="FCFBF9">
                  <a:alpha val="0"/>
                </a:srgbClr>
              </a:clrTo>
            </a:clrChange>
          </a:blip>
          <a:srcRect t="7832" b="18542"/>
          <a:stretch>
            <a:fillRect/>
          </a:stretch>
        </p:blipFill>
        <p:spPr>
          <a:xfrm>
            <a:off x="7638362" y="3139807"/>
            <a:ext cx="2880000" cy="3174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371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3E084-2AE5-EE1F-BEF3-1F6D7E276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1CF93-2CC6-5B38-A4A1-715233818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dirty="0"/>
              <a:t>Analysis Results Data (ARD)</a:t>
            </a:r>
            <a:r>
              <a:rPr lang="ja-JP" altLang="en-US" dirty="0"/>
              <a:t> </a:t>
            </a:r>
            <a:r>
              <a:rPr lang="en-US" altLang="ja-JP" dirty="0"/>
              <a:t>is</a:t>
            </a:r>
            <a:r>
              <a:rPr lang="ja-JP" altLang="en-US" dirty="0"/>
              <a:t> </a:t>
            </a:r>
            <a:r>
              <a:rPr lang="en-US" altLang="ja-JP" dirty="0"/>
              <a:t>structured dataset that represents the outputs of statistical analyses.</a:t>
            </a:r>
            <a:endParaRPr kumimoji="1" lang="ja-JP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548C25-1E0C-166A-BF3F-BE84D6E52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C3F25A4-BC80-91B3-025B-B7C4872F141E}"/>
              </a:ext>
            </a:extLst>
          </p:cNvPr>
          <p:cNvSpPr txBox="1">
            <a:spLocks/>
          </p:cNvSpPr>
          <p:nvPr/>
        </p:nvSpPr>
        <p:spPr>
          <a:xfrm>
            <a:off x="253257" y="6252510"/>
            <a:ext cx="6040665" cy="19713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>
                <a:hlinkClick r:id="rId3"/>
              </a:rPr>
              <a:t>CDISC-AnalysisResultsLogicalModel-Presentation-FINAL.pdf</a:t>
            </a:r>
            <a:endParaRPr lang="en-US" altLang="ja-JP"/>
          </a:p>
          <a:p>
            <a:pPr algn="l"/>
            <a:r>
              <a:rPr lang="en-US" altLang="ja-JP">
                <a:hlinkClick r:id="rId4"/>
              </a:rPr>
              <a:t>Analysis Results Datasets – Analysis Results Datasets Using Open-Source Tools from the {</a:t>
            </a:r>
            <a:r>
              <a:rPr lang="en-US" altLang="ja-JP" err="1">
                <a:hlinkClick r:id="rId4"/>
              </a:rPr>
              <a:t>pharmaverse</a:t>
            </a:r>
            <a:r>
              <a:rPr lang="en-US" altLang="ja-JP">
                <a:hlinkClick r:id="rId4"/>
              </a:rPr>
              <a:t>}</a:t>
            </a:r>
            <a:endParaRPr lang="en-US"/>
          </a:p>
          <a:p>
            <a:pPr algn="l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BEE1C2-AEFC-C926-CA94-79AC12CA62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963" y="1370372"/>
            <a:ext cx="10003346" cy="413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921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4109-E5CC-58FD-E3D5-7D6FD79BF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Strong points of using ARD</a:t>
            </a:r>
            <a:endParaRPr kumimoji="1" lang="ja-JP" alt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5D60E1F-6143-F9FC-5557-6D3C4A5A25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890179"/>
              </p:ext>
            </p:extLst>
          </p:nvPr>
        </p:nvGraphicFramePr>
        <p:xfrm>
          <a:off x="-1" y="1608015"/>
          <a:ext cx="10806546" cy="4140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F3FAFF-6241-E537-D87C-273703097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</p:spTree>
    <p:extLst>
      <p:ext uri="{BB962C8B-B14F-4D97-AF65-F5344CB8AC3E}">
        <p14:creationId xmlns:p14="http://schemas.microsoft.com/office/powerpoint/2010/main" val="2286145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9CA79-A6FC-74F1-C93B-B48ABDA7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BF87F-A4B7-6DF2-C427-44DE08B80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/>
              <a:t>Working flow from data to reports using ARD</a:t>
            </a:r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AC6228-735C-412D-128A-54351339A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10" name="Graphic 9" descr="Database with solid fill">
            <a:extLst>
              <a:ext uri="{FF2B5EF4-FFF2-40B4-BE49-F238E27FC236}">
                <a16:creationId xmlns:a16="http://schemas.microsoft.com/office/drawing/2014/main" id="{FEECB06D-4648-2C2B-0B4A-2A55D19DF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838" y="2224450"/>
            <a:ext cx="1896446" cy="1896446"/>
          </a:xfrm>
          <a:prstGeom prst="rect">
            <a:avLst/>
          </a:prstGeom>
        </p:spPr>
      </p:pic>
      <p:pic>
        <p:nvPicPr>
          <p:cNvPr id="12" name="Graphic 11" descr="Table with solid fill">
            <a:extLst>
              <a:ext uri="{FF2B5EF4-FFF2-40B4-BE49-F238E27FC236}">
                <a16:creationId xmlns:a16="http://schemas.microsoft.com/office/drawing/2014/main" id="{51B4D7C9-5C9B-7C7D-88E1-9A0878DCC3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95466" y="2371344"/>
            <a:ext cx="1700784" cy="1700784"/>
          </a:xfrm>
          <a:prstGeom prst="rect">
            <a:avLst/>
          </a:prstGeom>
        </p:spPr>
      </p:pic>
      <p:pic>
        <p:nvPicPr>
          <p:cNvPr id="15" name="Graphic 14" descr="Document with solid fill">
            <a:extLst>
              <a:ext uri="{FF2B5EF4-FFF2-40B4-BE49-F238E27FC236}">
                <a16:creationId xmlns:a16="http://schemas.microsoft.com/office/drawing/2014/main" id="{053EE937-20FC-1551-AD62-275F89C4BE4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09365" y="2606644"/>
            <a:ext cx="1235030" cy="123503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F266127-4CF9-2EB0-442B-677A6A14FDD4}"/>
              </a:ext>
            </a:extLst>
          </p:cNvPr>
          <p:cNvSpPr txBox="1"/>
          <p:nvPr/>
        </p:nvSpPr>
        <p:spPr>
          <a:xfrm>
            <a:off x="935546" y="4301944"/>
            <a:ext cx="1235030" cy="45841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ct val="95000"/>
              </a:lnSpc>
            </a:pPr>
            <a:r>
              <a:rPr kumimoji="1" lang="en-US" altLang="ja-JP" sz="2000" b="1" err="1"/>
              <a:t>ADaM</a:t>
            </a:r>
            <a:endParaRPr kumimoji="1" lang="ja-JP" altLang="en-US" sz="2000" b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4E1DB9-C00A-5502-2875-6E375AD44C6E}"/>
              </a:ext>
            </a:extLst>
          </p:cNvPr>
          <p:cNvSpPr txBox="1"/>
          <p:nvPr/>
        </p:nvSpPr>
        <p:spPr>
          <a:xfrm>
            <a:off x="3728343" y="4301944"/>
            <a:ext cx="1235030" cy="45841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ct val="95000"/>
              </a:lnSpc>
            </a:pPr>
            <a:r>
              <a:rPr kumimoji="1" lang="en-US" altLang="ja-JP" sz="2000" b="1"/>
              <a:t>ARD</a:t>
            </a:r>
            <a:endParaRPr kumimoji="1" lang="ja-JP" altLang="en-US" sz="2000" b="1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43B-742E-353F-D99C-6DAE3FC7A772}"/>
              </a:ext>
            </a:extLst>
          </p:cNvPr>
          <p:cNvSpPr txBox="1"/>
          <p:nvPr/>
        </p:nvSpPr>
        <p:spPr>
          <a:xfrm>
            <a:off x="8709365" y="4301944"/>
            <a:ext cx="1235030" cy="45841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ct val="95000"/>
              </a:lnSpc>
            </a:pPr>
            <a:r>
              <a:rPr kumimoji="1" lang="en-US" altLang="ja-JP" sz="2000" b="1"/>
              <a:t>Reports</a:t>
            </a:r>
            <a:endParaRPr kumimoji="1" lang="ja-JP" altLang="en-US" sz="2000" b="1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73344B1E-C744-27B6-A59F-C8EC604902B6}"/>
              </a:ext>
            </a:extLst>
          </p:cNvPr>
          <p:cNvSpPr/>
          <p:nvPr/>
        </p:nvSpPr>
        <p:spPr>
          <a:xfrm>
            <a:off x="2657856" y="2955036"/>
            <a:ext cx="621792" cy="533400"/>
          </a:xfrm>
          <a:prstGeom prst="rightArrow">
            <a:avLst/>
          </a:prstGeom>
          <a:solidFill>
            <a:srgbClr val="00B8B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19A6E5A0-39AF-B158-B7C8-8F36580681BB}"/>
              </a:ext>
            </a:extLst>
          </p:cNvPr>
          <p:cNvSpPr/>
          <p:nvPr/>
        </p:nvSpPr>
        <p:spPr>
          <a:xfrm>
            <a:off x="5465546" y="2955036"/>
            <a:ext cx="2626304" cy="533400"/>
          </a:xfrm>
          <a:prstGeom prst="rightArrow">
            <a:avLst/>
          </a:prstGeom>
          <a:solidFill>
            <a:srgbClr val="00B8B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7396A4D-9C0D-5036-9F9B-AD89CD9F36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920" y="1989129"/>
            <a:ext cx="1235030" cy="1235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frmt logo">
            <a:extLst>
              <a:ext uri="{FF2B5EF4-FFF2-40B4-BE49-F238E27FC236}">
                <a16:creationId xmlns:a16="http://schemas.microsoft.com/office/drawing/2014/main" id="{93E7D209-3DC8-5060-E977-04ACCC002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5788" y="3504765"/>
            <a:ext cx="1074648" cy="1235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6B5DD5-0C85-B735-4C60-BBAE1EA05F6B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CFBF9"/>
              </a:clrFrom>
              <a:clrTo>
                <a:srgbClr val="FCFBF9">
                  <a:alpha val="0"/>
                </a:srgbClr>
              </a:clrTo>
            </a:clrChange>
          </a:blip>
          <a:srcRect t="7832" b="18542"/>
          <a:stretch>
            <a:fillRect/>
          </a:stretch>
        </p:blipFill>
        <p:spPr>
          <a:xfrm>
            <a:off x="2383032" y="1672324"/>
            <a:ext cx="964459" cy="1062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682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EED53-F686-8364-88FD-92D6ACC21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156531-56B6-E5EA-B141-676A602BB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  <a:endParaRPr lang="en-US" noProof="0" dirty="0"/>
          </a:p>
        </p:txBody>
      </p:sp>
      <p:sp>
        <p:nvSpPr>
          <p:cNvPr id="2" name="Flowchart: Document 1">
            <a:extLst>
              <a:ext uri="{FF2B5EF4-FFF2-40B4-BE49-F238E27FC236}">
                <a16:creationId xmlns:a16="http://schemas.microsoft.com/office/drawing/2014/main" id="{C66B01B1-49A5-2161-6620-C168EC5D22A6}"/>
              </a:ext>
            </a:extLst>
          </p:cNvPr>
          <p:cNvSpPr/>
          <p:nvPr/>
        </p:nvSpPr>
        <p:spPr>
          <a:xfrm>
            <a:off x="3703320" y="1508760"/>
            <a:ext cx="1737360" cy="1060704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Inquiry # 1</a:t>
            </a:r>
          </a:p>
          <a:p>
            <a:pPr algn="ctr"/>
            <a:r>
              <a:rPr kumimoji="1" lang="en-US" altLang="ja-JP" dirty="0"/>
              <a:t>AE1</a:t>
            </a:r>
            <a:endParaRPr kumimoji="1" lang="ja-JP" altLang="en-US" dirty="0"/>
          </a:p>
        </p:txBody>
      </p:sp>
      <p:sp>
        <p:nvSpPr>
          <p:cNvPr id="3" name="Flowchart: Document 2">
            <a:extLst>
              <a:ext uri="{FF2B5EF4-FFF2-40B4-BE49-F238E27FC236}">
                <a16:creationId xmlns:a16="http://schemas.microsoft.com/office/drawing/2014/main" id="{FE468060-46D3-B7EC-63DF-A2266F8CEDAC}"/>
              </a:ext>
            </a:extLst>
          </p:cNvPr>
          <p:cNvSpPr/>
          <p:nvPr/>
        </p:nvSpPr>
        <p:spPr>
          <a:xfrm>
            <a:off x="3703320" y="5068824"/>
            <a:ext cx="1737360" cy="1060704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Inquiry # 1</a:t>
            </a:r>
          </a:p>
          <a:p>
            <a:pPr algn="ctr"/>
            <a:r>
              <a:rPr lang="en-US" altLang="ja-JP" dirty="0"/>
              <a:t>AE2</a:t>
            </a:r>
            <a:endParaRPr lang="ja-JP" altLang="en-US" dirty="0"/>
          </a:p>
        </p:txBody>
      </p:sp>
      <p:sp>
        <p:nvSpPr>
          <p:cNvPr id="5" name="Flowchart: Data 4">
            <a:extLst>
              <a:ext uri="{FF2B5EF4-FFF2-40B4-BE49-F238E27FC236}">
                <a16:creationId xmlns:a16="http://schemas.microsoft.com/office/drawing/2014/main" id="{290874A7-6725-3A8B-85F3-4FE320A12D64}"/>
              </a:ext>
            </a:extLst>
          </p:cNvPr>
          <p:cNvSpPr/>
          <p:nvPr/>
        </p:nvSpPr>
        <p:spPr>
          <a:xfrm>
            <a:off x="6684264" y="1508760"/>
            <a:ext cx="1737360" cy="1060704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ARD -</a:t>
            </a:r>
          </a:p>
          <a:p>
            <a:pPr algn="ctr"/>
            <a:r>
              <a:rPr lang="en-US" altLang="ja-JP" sz="1400" dirty="0"/>
              <a:t>Summary</a:t>
            </a:r>
          </a:p>
          <a:p>
            <a:pPr algn="ctr"/>
            <a:r>
              <a:rPr lang="en-US" altLang="ja-JP" sz="1400" dirty="0"/>
              <a:t>For AE1</a:t>
            </a:r>
          </a:p>
        </p:txBody>
      </p:sp>
      <p:sp>
        <p:nvSpPr>
          <p:cNvPr id="6" name="Flowchart: Document 5">
            <a:extLst>
              <a:ext uri="{FF2B5EF4-FFF2-40B4-BE49-F238E27FC236}">
                <a16:creationId xmlns:a16="http://schemas.microsoft.com/office/drawing/2014/main" id="{926BF806-0FB3-F2CA-48F3-B806B5D155B8}"/>
              </a:ext>
            </a:extLst>
          </p:cNvPr>
          <p:cNvSpPr/>
          <p:nvPr/>
        </p:nvSpPr>
        <p:spPr>
          <a:xfrm>
            <a:off x="9899904" y="1508760"/>
            <a:ext cx="1737360" cy="1060704"/>
          </a:xfrm>
          <a:prstGeom prst="flowChartDocumen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Analysis Results (summary)</a:t>
            </a:r>
          </a:p>
          <a:p>
            <a:pPr algn="ctr"/>
            <a:r>
              <a:rPr lang="en-US" altLang="ja-JP" sz="1400" dirty="0"/>
              <a:t>For AE1</a:t>
            </a:r>
            <a:endParaRPr kumimoji="1" lang="ja-JP" altLang="en-US" sz="1400" dirty="0"/>
          </a:p>
        </p:txBody>
      </p:sp>
      <p:sp>
        <p:nvSpPr>
          <p:cNvPr id="7" name="Flowchart: Data 6">
            <a:extLst>
              <a:ext uri="{FF2B5EF4-FFF2-40B4-BE49-F238E27FC236}">
                <a16:creationId xmlns:a16="http://schemas.microsoft.com/office/drawing/2014/main" id="{723CB233-2529-B0DC-EC1D-318135E4041D}"/>
              </a:ext>
            </a:extLst>
          </p:cNvPr>
          <p:cNvSpPr/>
          <p:nvPr/>
        </p:nvSpPr>
        <p:spPr>
          <a:xfrm>
            <a:off x="6684264" y="5068824"/>
            <a:ext cx="1737360" cy="1060704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ARD -</a:t>
            </a:r>
          </a:p>
          <a:p>
            <a:pPr algn="ctr"/>
            <a:r>
              <a:rPr lang="en-US" altLang="ja-JP" sz="1400" dirty="0"/>
              <a:t>Summary</a:t>
            </a:r>
          </a:p>
          <a:p>
            <a:pPr algn="ctr"/>
            <a:r>
              <a:rPr lang="en-US" altLang="ja-JP" sz="1400" dirty="0"/>
              <a:t>For AE2</a:t>
            </a:r>
          </a:p>
        </p:txBody>
      </p:sp>
      <p:sp>
        <p:nvSpPr>
          <p:cNvPr id="8" name="Flowchart: Document 7">
            <a:extLst>
              <a:ext uri="{FF2B5EF4-FFF2-40B4-BE49-F238E27FC236}">
                <a16:creationId xmlns:a16="http://schemas.microsoft.com/office/drawing/2014/main" id="{E4F5460E-2121-4A47-1D8A-5FBAD25DF9FA}"/>
              </a:ext>
            </a:extLst>
          </p:cNvPr>
          <p:cNvSpPr/>
          <p:nvPr/>
        </p:nvSpPr>
        <p:spPr>
          <a:xfrm>
            <a:off x="9899904" y="3136392"/>
            <a:ext cx="1737360" cy="1060704"/>
          </a:xfrm>
          <a:prstGeom prst="flowChartDocumen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Analysis Results (PT summary)</a:t>
            </a:r>
          </a:p>
          <a:p>
            <a:pPr algn="ctr"/>
            <a:r>
              <a:rPr lang="en-US" altLang="ja-JP" sz="1400" dirty="0"/>
              <a:t>For AE1</a:t>
            </a:r>
            <a:endParaRPr lang="ja-JP" altLang="en-US" sz="1400" dirty="0"/>
          </a:p>
        </p:txBody>
      </p:sp>
      <p:sp>
        <p:nvSpPr>
          <p:cNvPr id="9" name="Flowchart: Document 8">
            <a:extLst>
              <a:ext uri="{FF2B5EF4-FFF2-40B4-BE49-F238E27FC236}">
                <a16:creationId xmlns:a16="http://schemas.microsoft.com/office/drawing/2014/main" id="{1733773F-C07D-27B0-4DCF-DEB7F33743C7}"/>
              </a:ext>
            </a:extLst>
          </p:cNvPr>
          <p:cNvSpPr/>
          <p:nvPr/>
        </p:nvSpPr>
        <p:spPr>
          <a:xfrm>
            <a:off x="9899904" y="5068824"/>
            <a:ext cx="1737360" cy="1060704"/>
          </a:xfrm>
          <a:prstGeom prst="flowChartDocumen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Analysis Results (summary)</a:t>
            </a:r>
          </a:p>
          <a:p>
            <a:pPr algn="ctr"/>
            <a:r>
              <a:rPr lang="en-US" altLang="ja-JP" sz="1400" dirty="0"/>
              <a:t>For AE1</a:t>
            </a:r>
            <a:endParaRPr lang="ja-JP" altLang="en-US" sz="1400" dirty="0"/>
          </a:p>
        </p:txBody>
      </p:sp>
      <p:sp>
        <p:nvSpPr>
          <p:cNvPr id="10" name="Flowchart: Data 9">
            <a:extLst>
              <a:ext uri="{FF2B5EF4-FFF2-40B4-BE49-F238E27FC236}">
                <a16:creationId xmlns:a16="http://schemas.microsoft.com/office/drawing/2014/main" id="{2A42CCA1-E0C0-587D-A58B-F8579D6773B4}"/>
              </a:ext>
            </a:extLst>
          </p:cNvPr>
          <p:cNvSpPr/>
          <p:nvPr/>
        </p:nvSpPr>
        <p:spPr>
          <a:xfrm>
            <a:off x="691896" y="3288792"/>
            <a:ext cx="1737360" cy="1060704"/>
          </a:xfrm>
          <a:prstGeom prst="flowChartInputOutpu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ADAE</a:t>
            </a:r>
            <a:endParaRPr kumimoji="1" lang="ja-JP" altLang="en-US" dirty="0"/>
          </a:p>
        </p:txBody>
      </p:sp>
      <p:sp>
        <p:nvSpPr>
          <p:cNvPr id="11" name="Flowchart: Data 10">
            <a:extLst>
              <a:ext uri="{FF2B5EF4-FFF2-40B4-BE49-F238E27FC236}">
                <a16:creationId xmlns:a16="http://schemas.microsoft.com/office/drawing/2014/main" id="{0F52FCC3-7C15-23C7-7D31-1FFB3512CBAB}"/>
              </a:ext>
            </a:extLst>
          </p:cNvPr>
          <p:cNvSpPr/>
          <p:nvPr/>
        </p:nvSpPr>
        <p:spPr>
          <a:xfrm>
            <a:off x="6684264" y="3136392"/>
            <a:ext cx="1737360" cy="1060704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ARD -</a:t>
            </a:r>
          </a:p>
          <a:p>
            <a:pPr algn="ctr"/>
            <a:r>
              <a:rPr lang="en-US" altLang="ja-JP" sz="1200" dirty="0"/>
              <a:t>PT summary</a:t>
            </a:r>
          </a:p>
          <a:p>
            <a:pPr algn="ctr"/>
            <a:r>
              <a:rPr lang="en-US" altLang="ja-JP" sz="1200" dirty="0"/>
              <a:t>For AE1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C89406E-34B3-045A-E4A8-424D1AFE8B0E}"/>
              </a:ext>
            </a:extLst>
          </p:cNvPr>
          <p:cNvCxnSpPr>
            <a:stCxn id="10" idx="1"/>
            <a:endCxn id="2" idx="1"/>
          </p:cNvCxnSpPr>
          <p:nvPr/>
        </p:nvCxnSpPr>
        <p:spPr>
          <a:xfrm rot="5400000" flipH="1" flipV="1">
            <a:off x="2007108" y="1592580"/>
            <a:ext cx="1249680" cy="21427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F51F4BEA-B56A-BFD1-AEE9-631FBE9B0839}"/>
              </a:ext>
            </a:extLst>
          </p:cNvPr>
          <p:cNvCxnSpPr>
            <a:stCxn id="10" idx="4"/>
            <a:endCxn id="3" idx="1"/>
          </p:cNvCxnSpPr>
          <p:nvPr/>
        </p:nvCxnSpPr>
        <p:spPr>
          <a:xfrm rot="16200000" flipH="1">
            <a:off x="2007108" y="3902964"/>
            <a:ext cx="1249680" cy="21427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5B49B57-B49F-BC9C-DFD2-5492A43A3F86}"/>
              </a:ext>
            </a:extLst>
          </p:cNvPr>
          <p:cNvCxnSpPr>
            <a:stCxn id="2" idx="3"/>
            <a:endCxn id="5" idx="2"/>
          </p:cNvCxnSpPr>
          <p:nvPr/>
        </p:nvCxnSpPr>
        <p:spPr>
          <a:xfrm>
            <a:off x="5440680" y="2039112"/>
            <a:ext cx="14173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419ED695-0F40-35BD-D559-1F39840F34A6}"/>
              </a:ext>
            </a:extLst>
          </p:cNvPr>
          <p:cNvCxnSpPr>
            <a:stCxn id="2" idx="2"/>
            <a:endCxn id="11" idx="2"/>
          </p:cNvCxnSpPr>
          <p:nvPr/>
        </p:nvCxnSpPr>
        <p:spPr>
          <a:xfrm rot="16200000" flipH="1">
            <a:off x="5131298" y="1940042"/>
            <a:ext cx="1167404" cy="228600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D01ABAE-68D8-DB53-5E7B-4AAB3D8C873D}"/>
              </a:ext>
            </a:extLst>
          </p:cNvPr>
          <p:cNvCxnSpPr>
            <a:stCxn id="3" idx="3"/>
            <a:endCxn id="7" idx="2"/>
          </p:cNvCxnSpPr>
          <p:nvPr/>
        </p:nvCxnSpPr>
        <p:spPr>
          <a:xfrm>
            <a:off x="5440680" y="5599176"/>
            <a:ext cx="14173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101DB0-272D-BCD8-911A-F43915CA8117}"/>
              </a:ext>
            </a:extLst>
          </p:cNvPr>
          <p:cNvCxnSpPr>
            <a:stCxn id="5" idx="5"/>
            <a:endCxn id="6" idx="1"/>
          </p:cNvCxnSpPr>
          <p:nvPr/>
        </p:nvCxnSpPr>
        <p:spPr>
          <a:xfrm>
            <a:off x="8247888" y="2039112"/>
            <a:ext cx="16520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CBBFCF-6410-BB22-A630-48EDDDA42E27}"/>
              </a:ext>
            </a:extLst>
          </p:cNvPr>
          <p:cNvCxnSpPr>
            <a:stCxn id="11" idx="5"/>
            <a:endCxn id="8" idx="1"/>
          </p:cNvCxnSpPr>
          <p:nvPr/>
        </p:nvCxnSpPr>
        <p:spPr>
          <a:xfrm>
            <a:off x="8247888" y="3666744"/>
            <a:ext cx="16520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CEF457-EFFB-7485-22AB-F3D90B540C07}"/>
              </a:ext>
            </a:extLst>
          </p:cNvPr>
          <p:cNvCxnSpPr>
            <a:stCxn id="7" idx="5"/>
            <a:endCxn id="9" idx="1"/>
          </p:cNvCxnSpPr>
          <p:nvPr/>
        </p:nvCxnSpPr>
        <p:spPr>
          <a:xfrm>
            <a:off x="8247888" y="5599176"/>
            <a:ext cx="16520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03087A5-476A-9079-9559-DA8BE5FF52AA}"/>
              </a:ext>
            </a:extLst>
          </p:cNvPr>
          <p:cNvSpPr txBox="1"/>
          <p:nvPr/>
        </p:nvSpPr>
        <p:spPr>
          <a:xfrm>
            <a:off x="1751683" y="1115782"/>
            <a:ext cx="19973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i="1" dirty="0" err="1">
                <a:solidFill>
                  <a:srgbClr val="FF0000"/>
                </a:solidFill>
              </a:rPr>
              <a:t>make_ae_type</a:t>
            </a:r>
            <a:r>
              <a:rPr lang="en-US" altLang="ja-JP" b="1" i="1" dirty="0">
                <a:solidFill>
                  <a:srgbClr val="FF0000"/>
                </a:solidFill>
              </a:rPr>
              <a:t>()</a:t>
            </a:r>
            <a:endParaRPr kumimoji="1" lang="en-US" altLang="ja-JP" b="1" i="1" dirty="0">
              <a:solidFill>
                <a:srgbClr val="FF0000"/>
              </a:solidFill>
            </a:endParaRPr>
          </a:p>
          <a:p>
            <a:r>
              <a:rPr lang="en-US" altLang="ja-JP" dirty="0"/>
              <a:t>To create event flag</a:t>
            </a:r>
            <a:endParaRPr kumimoji="1" lang="ja-JP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7436F9-4DCC-29F0-E5D3-C6913E6D8BD4}"/>
              </a:ext>
            </a:extLst>
          </p:cNvPr>
          <p:cNvSpPr txBox="1"/>
          <p:nvPr/>
        </p:nvSpPr>
        <p:spPr>
          <a:xfrm>
            <a:off x="5440679" y="761166"/>
            <a:ext cx="4353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i="1" dirty="0" err="1">
                <a:solidFill>
                  <a:srgbClr val="00B050"/>
                </a:solidFill>
              </a:rPr>
              <a:t>jpn_query_overview</a:t>
            </a:r>
            <a:r>
              <a:rPr kumimoji="1" lang="en-US" altLang="ja-JP" b="1" i="1" dirty="0">
                <a:solidFill>
                  <a:srgbClr val="00B050"/>
                </a:solidFill>
              </a:rPr>
              <a:t>()</a:t>
            </a:r>
            <a:br>
              <a:rPr kumimoji="1" lang="en-US" altLang="ja-JP" b="1" i="1" dirty="0"/>
            </a:br>
            <a:r>
              <a:rPr lang="en-US" altLang="ja-JP" dirty="0"/>
              <a:t>To create ARD for summary information</a:t>
            </a:r>
            <a:endParaRPr kumimoji="1" lang="ja-JP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CCB7D4-4651-B58E-96C9-6EB13D1B990C}"/>
              </a:ext>
            </a:extLst>
          </p:cNvPr>
          <p:cNvSpPr txBox="1"/>
          <p:nvPr/>
        </p:nvSpPr>
        <p:spPr>
          <a:xfrm>
            <a:off x="5440680" y="2543663"/>
            <a:ext cx="3364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i="1" dirty="0">
                <a:solidFill>
                  <a:srgbClr val="0070C0"/>
                </a:solidFill>
              </a:rPr>
              <a:t>ｊ</a:t>
            </a:r>
            <a:r>
              <a:rPr kumimoji="1" lang="en-US" altLang="ja-JP" b="1" i="1" dirty="0" err="1">
                <a:solidFill>
                  <a:srgbClr val="0070C0"/>
                </a:solidFill>
              </a:rPr>
              <a:t>pn_query_summary_pt</a:t>
            </a:r>
            <a:endParaRPr kumimoji="1" lang="en-US" altLang="ja-JP" b="1" i="1" dirty="0">
              <a:solidFill>
                <a:srgbClr val="0070C0"/>
              </a:solidFill>
            </a:endParaRPr>
          </a:p>
          <a:p>
            <a:r>
              <a:rPr lang="en-US" altLang="ja-JP" dirty="0"/>
              <a:t>To create ARD for PT summary </a:t>
            </a:r>
            <a:endParaRPr kumimoji="1" lang="ja-JP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333ACE-02A2-C37F-1261-348715C44593}"/>
              </a:ext>
            </a:extLst>
          </p:cNvPr>
          <p:cNvSpPr txBox="1"/>
          <p:nvPr/>
        </p:nvSpPr>
        <p:spPr>
          <a:xfrm>
            <a:off x="1762700" y="4445014"/>
            <a:ext cx="19973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i="1" dirty="0" err="1">
                <a:solidFill>
                  <a:srgbClr val="FF0000"/>
                </a:solidFill>
              </a:rPr>
              <a:t>make_ae_type</a:t>
            </a:r>
            <a:r>
              <a:rPr lang="en-US" altLang="ja-JP" b="1" i="1" dirty="0">
                <a:solidFill>
                  <a:srgbClr val="FF0000"/>
                </a:solidFill>
              </a:rPr>
              <a:t>()</a:t>
            </a:r>
            <a:endParaRPr kumimoji="1" lang="en-US" altLang="ja-JP" b="1" i="1" dirty="0">
              <a:solidFill>
                <a:srgbClr val="FF0000"/>
              </a:solidFill>
            </a:endParaRPr>
          </a:p>
          <a:p>
            <a:r>
              <a:rPr lang="en-US" altLang="ja-JP" dirty="0"/>
              <a:t>To create event flag</a:t>
            </a:r>
            <a:endParaRPr kumimoji="1" lang="ja-JP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A8962E-1915-DC66-6CED-F3A3ED9FD30B}"/>
              </a:ext>
            </a:extLst>
          </p:cNvPr>
          <p:cNvSpPr txBox="1"/>
          <p:nvPr/>
        </p:nvSpPr>
        <p:spPr>
          <a:xfrm>
            <a:off x="5376286" y="4328005"/>
            <a:ext cx="4353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i="1" dirty="0" err="1">
                <a:solidFill>
                  <a:srgbClr val="00B050"/>
                </a:solidFill>
              </a:rPr>
              <a:t>jpn_query_overview</a:t>
            </a:r>
            <a:r>
              <a:rPr kumimoji="1" lang="en-US" altLang="ja-JP" b="1" i="1" dirty="0">
                <a:solidFill>
                  <a:srgbClr val="00B050"/>
                </a:solidFill>
              </a:rPr>
              <a:t>()</a:t>
            </a:r>
            <a:br>
              <a:rPr kumimoji="1" lang="en-US" altLang="ja-JP" b="1" i="1" dirty="0">
                <a:solidFill>
                  <a:srgbClr val="00B050"/>
                </a:solidFill>
              </a:rPr>
            </a:br>
            <a:r>
              <a:rPr lang="en-US" altLang="ja-JP" dirty="0"/>
              <a:t>To create ARD for summary information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7522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FE6CD-C570-E806-A74B-A6AB083FF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040B91-F470-0813-518A-E31D276E4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  <a:endParaRPr lang="en-US" noProof="0" dirty="0"/>
          </a:p>
        </p:txBody>
      </p:sp>
      <p:sp>
        <p:nvSpPr>
          <p:cNvPr id="2" name="Flowchart: Document 1">
            <a:extLst>
              <a:ext uri="{FF2B5EF4-FFF2-40B4-BE49-F238E27FC236}">
                <a16:creationId xmlns:a16="http://schemas.microsoft.com/office/drawing/2014/main" id="{FE67F341-665D-A3C7-CF67-69576D330A6C}"/>
              </a:ext>
            </a:extLst>
          </p:cNvPr>
          <p:cNvSpPr/>
          <p:nvPr/>
        </p:nvSpPr>
        <p:spPr>
          <a:xfrm>
            <a:off x="3703320" y="1508760"/>
            <a:ext cx="1737360" cy="1060704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Inquiry # 1</a:t>
            </a:r>
          </a:p>
          <a:p>
            <a:pPr algn="ctr"/>
            <a:r>
              <a:rPr kumimoji="1" lang="en-US" altLang="ja-JP" dirty="0"/>
              <a:t>AE1</a:t>
            </a:r>
            <a:endParaRPr kumimoji="1" lang="ja-JP" altLang="en-US" dirty="0"/>
          </a:p>
        </p:txBody>
      </p:sp>
      <p:sp>
        <p:nvSpPr>
          <p:cNvPr id="3" name="Flowchart: Document 2">
            <a:extLst>
              <a:ext uri="{FF2B5EF4-FFF2-40B4-BE49-F238E27FC236}">
                <a16:creationId xmlns:a16="http://schemas.microsoft.com/office/drawing/2014/main" id="{2473EA79-3D86-3F2F-4468-377C2C9A0E17}"/>
              </a:ext>
            </a:extLst>
          </p:cNvPr>
          <p:cNvSpPr/>
          <p:nvPr/>
        </p:nvSpPr>
        <p:spPr>
          <a:xfrm>
            <a:off x="3703320" y="5068824"/>
            <a:ext cx="1737360" cy="1060704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Inquiry # 1</a:t>
            </a:r>
          </a:p>
          <a:p>
            <a:pPr algn="ctr"/>
            <a:r>
              <a:rPr lang="en-US" altLang="ja-JP" dirty="0"/>
              <a:t>AE2</a:t>
            </a:r>
            <a:endParaRPr lang="ja-JP" altLang="en-US" dirty="0"/>
          </a:p>
        </p:txBody>
      </p:sp>
      <p:sp>
        <p:nvSpPr>
          <p:cNvPr id="5" name="Flowchart: Data 4">
            <a:extLst>
              <a:ext uri="{FF2B5EF4-FFF2-40B4-BE49-F238E27FC236}">
                <a16:creationId xmlns:a16="http://schemas.microsoft.com/office/drawing/2014/main" id="{71DB5115-065A-FBD4-65E0-E040E2488A37}"/>
              </a:ext>
            </a:extLst>
          </p:cNvPr>
          <p:cNvSpPr/>
          <p:nvPr/>
        </p:nvSpPr>
        <p:spPr>
          <a:xfrm>
            <a:off x="6684264" y="1508760"/>
            <a:ext cx="1737360" cy="1060704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ARD -</a:t>
            </a:r>
          </a:p>
          <a:p>
            <a:pPr algn="ctr"/>
            <a:r>
              <a:rPr lang="en-US" altLang="ja-JP" sz="1400" dirty="0"/>
              <a:t>Summary</a:t>
            </a:r>
          </a:p>
          <a:p>
            <a:pPr algn="ctr"/>
            <a:r>
              <a:rPr lang="en-US" altLang="ja-JP" sz="1400" dirty="0"/>
              <a:t>For AE1</a:t>
            </a:r>
          </a:p>
        </p:txBody>
      </p:sp>
      <p:sp>
        <p:nvSpPr>
          <p:cNvPr id="6" name="Flowchart: Document 5">
            <a:extLst>
              <a:ext uri="{FF2B5EF4-FFF2-40B4-BE49-F238E27FC236}">
                <a16:creationId xmlns:a16="http://schemas.microsoft.com/office/drawing/2014/main" id="{39DD06F5-552E-01E9-932C-F7A2CA167359}"/>
              </a:ext>
            </a:extLst>
          </p:cNvPr>
          <p:cNvSpPr/>
          <p:nvPr/>
        </p:nvSpPr>
        <p:spPr>
          <a:xfrm>
            <a:off x="9899904" y="1508760"/>
            <a:ext cx="1737360" cy="1060704"/>
          </a:xfrm>
          <a:prstGeom prst="flowChartDocumen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Analysis Results (summary)</a:t>
            </a:r>
          </a:p>
          <a:p>
            <a:pPr algn="ctr"/>
            <a:r>
              <a:rPr lang="en-US" altLang="ja-JP" sz="1400" dirty="0"/>
              <a:t>For AE1</a:t>
            </a:r>
            <a:endParaRPr kumimoji="1" lang="ja-JP" altLang="en-US" sz="1400" dirty="0"/>
          </a:p>
        </p:txBody>
      </p:sp>
      <p:sp>
        <p:nvSpPr>
          <p:cNvPr id="7" name="Flowchart: Data 6">
            <a:extLst>
              <a:ext uri="{FF2B5EF4-FFF2-40B4-BE49-F238E27FC236}">
                <a16:creationId xmlns:a16="http://schemas.microsoft.com/office/drawing/2014/main" id="{195FFD44-79D2-2B4B-759C-3B4BD1B3D267}"/>
              </a:ext>
            </a:extLst>
          </p:cNvPr>
          <p:cNvSpPr/>
          <p:nvPr/>
        </p:nvSpPr>
        <p:spPr>
          <a:xfrm>
            <a:off x="6684264" y="5068824"/>
            <a:ext cx="1737360" cy="1060704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ARD -</a:t>
            </a:r>
          </a:p>
          <a:p>
            <a:pPr algn="ctr"/>
            <a:r>
              <a:rPr lang="en-US" altLang="ja-JP" sz="1400" dirty="0"/>
              <a:t>Summary</a:t>
            </a:r>
          </a:p>
          <a:p>
            <a:pPr algn="ctr"/>
            <a:r>
              <a:rPr lang="en-US" altLang="ja-JP" sz="1400" dirty="0"/>
              <a:t>For AE2</a:t>
            </a:r>
          </a:p>
        </p:txBody>
      </p:sp>
      <p:sp>
        <p:nvSpPr>
          <p:cNvPr id="8" name="Flowchart: Document 7">
            <a:extLst>
              <a:ext uri="{FF2B5EF4-FFF2-40B4-BE49-F238E27FC236}">
                <a16:creationId xmlns:a16="http://schemas.microsoft.com/office/drawing/2014/main" id="{24ACF557-58FD-B6BC-4675-4C9D1B2A0853}"/>
              </a:ext>
            </a:extLst>
          </p:cNvPr>
          <p:cNvSpPr/>
          <p:nvPr/>
        </p:nvSpPr>
        <p:spPr>
          <a:xfrm>
            <a:off x="9899904" y="3136392"/>
            <a:ext cx="1737360" cy="1060704"/>
          </a:xfrm>
          <a:prstGeom prst="flowChartDocumen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Analysis Results (PT summary)</a:t>
            </a:r>
          </a:p>
          <a:p>
            <a:pPr algn="ctr"/>
            <a:r>
              <a:rPr lang="en-US" altLang="ja-JP" sz="1400" dirty="0"/>
              <a:t>For AE1</a:t>
            </a:r>
            <a:endParaRPr lang="ja-JP" altLang="en-US" sz="1400" dirty="0"/>
          </a:p>
        </p:txBody>
      </p:sp>
      <p:sp>
        <p:nvSpPr>
          <p:cNvPr id="9" name="Flowchart: Document 8">
            <a:extLst>
              <a:ext uri="{FF2B5EF4-FFF2-40B4-BE49-F238E27FC236}">
                <a16:creationId xmlns:a16="http://schemas.microsoft.com/office/drawing/2014/main" id="{5AFFA2EA-C9AB-9FF8-52AC-D660FD5F93FF}"/>
              </a:ext>
            </a:extLst>
          </p:cNvPr>
          <p:cNvSpPr/>
          <p:nvPr/>
        </p:nvSpPr>
        <p:spPr>
          <a:xfrm>
            <a:off x="9899904" y="5068824"/>
            <a:ext cx="1737360" cy="1060704"/>
          </a:xfrm>
          <a:prstGeom prst="flowChartDocumen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Analysis Results (summary)</a:t>
            </a:r>
          </a:p>
          <a:p>
            <a:pPr algn="ctr"/>
            <a:r>
              <a:rPr lang="en-US" altLang="ja-JP" sz="1400" dirty="0"/>
              <a:t>For AE1</a:t>
            </a:r>
            <a:endParaRPr lang="ja-JP" altLang="en-US" sz="1400" dirty="0"/>
          </a:p>
        </p:txBody>
      </p:sp>
      <p:sp>
        <p:nvSpPr>
          <p:cNvPr id="10" name="Flowchart: Data 9">
            <a:extLst>
              <a:ext uri="{FF2B5EF4-FFF2-40B4-BE49-F238E27FC236}">
                <a16:creationId xmlns:a16="http://schemas.microsoft.com/office/drawing/2014/main" id="{13B8ED70-5956-61B6-8570-FD313E2628AA}"/>
              </a:ext>
            </a:extLst>
          </p:cNvPr>
          <p:cNvSpPr/>
          <p:nvPr/>
        </p:nvSpPr>
        <p:spPr>
          <a:xfrm>
            <a:off x="691896" y="3288792"/>
            <a:ext cx="1737360" cy="1060704"/>
          </a:xfrm>
          <a:prstGeom prst="flowChartInputOutpu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ADAE</a:t>
            </a:r>
            <a:endParaRPr kumimoji="1" lang="ja-JP" altLang="en-US" dirty="0"/>
          </a:p>
        </p:txBody>
      </p:sp>
      <p:sp>
        <p:nvSpPr>
          <p:cNvPr id="11" name="Flowchart: Data 10">
            <a:extLst>
              <a:ext uri="{FF2B5EF4-FFF2-40B4-BE49-F238E27FC236}">
                <a16:creationId xmlns:a16="http://schemas.microsoft.com/office/drawing/2014/main" id="{D277D0E6-1EF1-4277-F676-E2E024EEFA0A}"/>
              </a:ext>
            </a:extLst>
          </p:cNvPr>
          <p:cNvSpPr/>
          <p:nvPr/>
        </p:nvSpPr>
        <p:spPr>
          <a:xfrm>
            <a:off x="6684264" y="3136392"/>
            <a:ext cx="1737360" cy="1060704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ARD -</a:t>
            </a:r>
          </a:p>
          <a:p>
            <a:pPr algn="ctr"/>
            <a:r>
              <a:rPr lang="en-US" altLang="ja-JP" sz="1200" dirty="0"/>
              <a:t>PT summary</a:t>
            </a:r>
          </a:p>
          <a:p>
            <a:pPr algn="ctr"/>
            <a:r>
              <a:rPr lang="en-US" altLang="ja-JP" sz="1200" dirty="0"/>
              <a:t>For AE1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97F685CF-63BC-BC98-50E6-9C2E84891B27}"/>
              </a:ext>
            </a:extLst>
          </p:cNvPr>
          <p:cNvCxnSpPr>
            <a:stCxn id="10" idx="1"/>
            <a:endCxn id="2" idx="1"/>
          </p:cNvCxnSpPr>
          <p:nvPr/>
        </p:nvCxnSpPr>
        <p:spPr>
          <a:xfrm rot="5400000" flipH="1" flipV="1">
            <a:off x="2007108" y="1592580"/>
            <a:ext cx="1249680" cy="21427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42CDC43C-12E6-A462-CC4E-F55CE1EE36DD}"/>
              </a:ext>
            </a:extLst>
          </p:cNvPr>
          <p:cNvCxnSpPr>
            <a:stCxn id="10" idx="4"/>
            <a:endCxn id="3" idx="1"/>
          </p:cNvCxnSpPr>
          <p:nvPr/>
        </p:nvCxnSpPr>
        <p:spPr>
          <a:xfrm rot="16200000" flipH="1">
            <a:off x="2007108" y="3902964"/>
            <a:ext cx="1249680" cy="21427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94C562B-7C05-B439-C62B-C346C2555076}"/>
              </a:ext>
            </a:extLst>
          </p:cNvPr>
          <p:cNvCxnSpPr>
            <a:stCxn id="2" idx="3"/>
            <a:endCxn id="5" idx="2"/>
          </p:cNvCxnSpPr>
          <p:nvPr/>
        </p:nvCxnSpPr>
        <p:spPr>
          <a:xfrm>
            <a:off x="5440680" y="2039112"/>
            <a:ext cx="14173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A4A5784-95D8-5C3C-C086-B278F4F65C6F}"/>
              </a:ext>
            </a:extLst>
          </p:cNvPr>
          <p:cNvCxnSpPr>
            <a:stCxn id="2" idx="2"/>
            <a:endCxn id="11" idx="2"/>
          </p:cNvCxnSpPr>
          <p:nvPr/>
        </p:nvCxnSpPr>
        <p:spPr>
          <a:xfrm rot="16200000" flipH="1">
            <a:off x="5131298" y="1940042"/>
            <a:ext cx="1167404" cy="228600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FB8588F-3B61-D848-693B-C19FF7AB64F4}"/>
              </a:ext>
            </a:extLst>
          </p:cNvPr>
          <p:cNvCxnSpPr>
            <a:stCxn id="3" idx="3"/>
            <a:endCxn id="7" idx="2"/>
          </p:cNvCxnSpPr>
          <p:nvPr/>
        </p:nvCxnSpPr>
        <p:spPr>
          <a:xfrm>
            <a:off x="5440680" y="5599176"/>
            <a:ext cx="14173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8A9B893-0B31-C2D2-062C-215B33BC990F}"/>
              </a:ext>
            </a:extLst>
          </p:cNvPr>
          <p:cNvCxnSpPr>
            <a:stCxn id="5" idx="5"/>
            <a:endCxn id="6" idx="1"/>
          </p:cNvCxnSpPr>
          <p:nvPr/>
        </p:nvCxnSpPr>
        <p:spPr>
          <a:xfrm>
            <a:off x="8247888" y="2039112"/>
            <a:ext cx="16520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8501646-1D01-DA56-9222-43B631476B58}"/>
              </a:ext>
            </a:extLst>
          </p:cNvPr>
          <p:cNvCxnSpPr>
            <a:stCxn id="11" idx="5"/>
            <a:endCxn id="8" idx="1"/>
          </p:cNvCxnSpPr>
          <p:nvPr/>
        </p:nvCxnSpPr>
        <p:spPr>
          <a:xfrm>
            <a:off x="8247888" y="3666744"/>
            <a:ext cx="16520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5518516-50E1-5DD9-D602-67FCDEB3A866}"/>
              </a:ext>
            </a:extLst>
          </p:cNvPr>
          <p:cNvCxnSpPr>
            <a:stCxn id="7" idx="5"/>
            <a:endCxn id="9" idx="1"/>
          </p:cNvCxnSpPr>
          <p:nvPr/>
        </p:nvCxnSpPr>
        <p:spPr>
          <a:xfrm>
            <a:off x="8247888" y="5599176"/>
            <a:ext cx="16520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459BD0E-5BD4-6ABD-C763-FDA61FD2090D}"/>
              </a:ext>
            </a:extLst>
          </p:cNvPr>
          <p:cNvSpPr txBox="1"/>
          <p:nvPr/>
        </p:nvSpPr>
        <p:spPr>
          <a:xfrm>
            <a:off x="1751683" y="1115782"/>
            <a:ext cx="19973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i="1" dirty="0" err="1">
                <a:solidFill>
                  <a:srgbClr val="FF0000"/>
                </a:solidFill>
              </a:rPr>
              <a:t>make_ae_type</a:t>
            </a:r>
            <a:r>
              <a:rPr lang="en-US" altLang="ja-JP" b="1" i="1" dirty="0">
                <a:solidFill>
                  <a:srgbClr val="FF0000"/>
                </a:solidFill>
              </a:rPr>
              <a:t>()</a:t>
            </a:r>
            <a:endParaRPr kumimoji="1" lang="en-US" altLang="ja-JP" b="1" i="1" dirty="0">
              <a:solidFill>
                <a:srgbClr val="FF0000"/>
              </a:solidFill>
            </a:endParaRPr>
          </a:p>
          <a:p>
            <a:r>
              <a:rPr lang="en-US" altLang="ja-JP" dirty="0"/>
              <a:t>To create event flag</a:t>
            </a:r>
            <a:endParaRPr kumimoji="1" lang="ja-JP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506A0D-38F4-091A-2191-A420ADC38985}"/>
              </a:ext>
            </a:extLst>
          </p:cNvPr>
          <p:cNvSpPr txBox="1"/>
          <p:nvPr/>
        </p:nvSpPr>
        <p:spPr>
          <a:xfrm>
            <a:off x="5440679" y="761166"/>
            <a:ext cx="4353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i="1" dirty="0" err="1">
                <a:solidFill>
                  <a:srgbClr val="00B050"/>
                </a:solidFill>
              </a:rPr>
              <a:t>jpn_query_overview</a:t>
            </a:r>
            <a:r>
              <a:rPr kumimoji="1" lang="en-US" altLang="ja-JP" b="1" i="1" dirty="0">
                <a:solidFill>
                  <a:srgbClr val="00B050"/>
                </a:solidFill>
              </a:rPr>
              <a:t>()</a:t>
            </a:r>
            <a:br>
              <a:rPr kumimoji="1" lang="en-US" altLang="ja-JP" b="1" i="1" dirty="0"/>
            </a:br>
            <a:r>
              <a:rPr lang="en-US" altLang="ja-JP" dirty="0"/>
              <a:t>To create ARD for summary information</a:t>
            </a:r>
            <a:endParaRPr kumimoji="1" lang="ja-JP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2198BD-4607-3578-0CBE-72121C301824}"/>
              </a:ext>
            </a:extLst>
          </p:cNvPr>
          <p:cNvSpPr txBox="1"/>
          <p:nvPr/>
        </p:nvSpPr>
        <p:spPr>
          <a:xfrm>
            <a:off x="5440680" y="2543663"/>
            <a:ext cx="3364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i="1" dirty="0">
                <a:solidFill>
                  <a:srgbClr val="0070C0"/>
                </a:solidFill>
              </a:rPr>
              <a:t>ｊ</a:t>
            </a:r>
            <a:r>
              <a:rPr kumimoji="1" lang="en-US" altLang="ja-JP" b="1" i="1" dirty="0" err="1">
                <a:solidFill>
                  <a:srgbClr val="0070C0"/>
                </a:solidFill>
              </a:rPr>
              <a:t>pn_query_summary_pt</a:t>
            </a:r>
            <a:endParaRPr kumimoji="1" lang="en-US" altLang="ja-JP" b="1" i="1" dirty="0">
              <a:solidFill>
                <a:srgbClr val="0070C0"/>
              </a:solidFill>
            </a:endParaRPr>
          </a:p>
          <a:p>
            <a:r>
              <a:rPr lang="en-US" altLang="ja-JP" dirty="0"/>
              <a:t>To create ARD for PT summary </a:t>
            </a:r>
            <a:endParaRPr kumimoji="1" lang="ja-JP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780D68-129E-8A1E-D5C3-8956BEF05D6A}"/>
              </a:ext>
            </a:extLst>
          </p:cNvPr>
          <p:cNvSpPr txBox="1"/>
          <p:nvPr/>
        </p:nvSpPr>
        <p:spPr>
          <a:xfrm>
            <a:off x="1762700" y="4445014"/>
            <a:ext cx="19973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i="1" dirty="0" err="1">
                <a:solidFill>
                  <a:srgbClr val="FF0000"/>
                </a:solidFill>
              </a:rPr>
              <a:t>make_ae_type</a:t>
            </a:r>
            <a:r>
              <a:rPr lang="en-US" altLang="ja-JP" b="1" i="1" dirty="0">
                <a:solidFill>
                  <a:srgbClr val="FF0000"/>
                </a:solidFill>
              </a:rPr>
              <a:t>()</a:t>
            </a:r>
            <a:endParaRPr kumimoji="1" lang="en-US" altLang="ja-JP" b="1" i="1" dirty="0">
              <a:solidFill>
                <a:srgbClr val="FF0000"/>
              </a:solidFill>
            </a:endParaRPr>
          </a:p>
          <a:p>
            <a:r>
              <a:rPr lang="en-US" altLang="ja-JP" dirty="0"/>
              <a:t>To create event flag</a:t>
            </a:r>
            <a:endParaRPr kumimoji="1" lang="ja-JP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C03C2F-3A76-7C1C-3921-67C1A4AE4F71}"/>
              </a:ext>
            </a:extLst>
          </p:cNvPr>
          <p:cNvSpPr txBox="1"/>
          <p:nvPr/>
        </p:nvSpPr>
        <p:spPr>
          <a:xfrm>
            <a:off x="5376286" y="4328005"/>
            <a:ext cx="4353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i="1" dirty="0" err="1">
                <a:solidFill>
                  <a:srgbClr val="00B050"/>
                </a:solidFill>
              </a:rPr>
              <a:t>jpn_query_overview</a:t>
            </a:r>
            <a:r>
              <a:rPr kumimoji="1" lang="en-US" altLang="ja-JP" b="1" i="1" dirty="0">
                <a:solidFill>
                  <a:srgbClr val="00B050"/>
                </a:solidFill>
              </a:rPr>
              <a:t>()</a:t>
            </a:r>
            <a:br>
              <a:rPr kumimoji="1" lang="en-US" altLang="ja-JP" b="1" i="1" dirty="0">
                <a:solidFill>
                  <a:srgbClr val="00B050"/>
                </a:solidFill>
              </a:rPr>
            </a:br>
            <a:r>
              <a:rPr lang="en-US" altLang="ja-JP" dirty="0"/>
              <a:t>To create ARD for summary information</a:t>
            </a:r>
            <a:endParaRPr kumimoji="1" lang="ja-JP" altLang="en-US" dirty="0"/>
          </a:p>
        </p:txBody>
      </p:sp>
      <p:sp>
        <p:nvSpPr>
          <p:cNvPr id="21" name="Speech Bubble: Rectangle 20">
            <a:extLst>
              <a:ext uri="{FF2B5EF4-FFF2-40B4-BE49-F238E27FC236}">
                <a16:creationId xmlns:a16="http://schemas.microsoft.com/office/drawing/2014/main" id="{3EFD9974-278C-EB58-E0AD-05B13F408B58}"/>
              </a:ext>
            </a:extLst>
          </p:cNvPr>
          <p:cNvSpPr/>
          <p:nvPr/>
        </p:nvSpPr>
        <p:spPr>
          <a:xfrm>
            <a:off x="462013" y="221381"/>
            <a:ext cx="4260121" cy="1645920"/>
          </a:xfrm>
          <a:prstGeom prst="wedgeRectCallout">
            <a:avLst>
              <a:gd name="adj1" fmla="val 26840"/>
              <a:gd name="adj2" fmla="val 7068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Step1: Define the event </a:t>
            </a:r>
            <a:endParaRPr kumimoji="1" lang="ja-JP" altLang="en-US" dirty="0"/>
          </a:p>
        </p:txBody>
      </p:sp>
      <p:sp>
        <p:nvSpPr>
          <p:cNvPr id="23" name="Speech Bubble: Rectangle 22">
            <a:extLst>
              <a:ext uri="{FF2B5EF4-FFF2-40B4-BE49-F238E27FC236}">
                <a16:creationId xmlns:a16="http://schemas.microsoft.com/office/drawing/2014/main" id="{3AF06020-4031-FA3A-A528-09064681D40A}"/>
              </a:ext>
            </a:extLst>
          </p:cNvPr>
          <p:cNvSpPr/>
          <p:nvPr/>
        </p:nvSpPr>
        <p:spPr>
          <a:xfrm>
            <a:off x="1461436" y="4445267"/>
            <a:ext cx="4260121" cy="1645920"/>
          </a:xfrm>
          <a:prstGeom prst="wedgeRectCallout">
            <a:avLst>
              <a:gd name="adj1" fmla="val 41978"/>
              <a:gd name="adj2" fmla="val -1106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Step2: Create ARD</a:t>
            </a:r>
            <a:endParaRPr kumimoji="1" lang="ja-JP" altLang="en-US" dirty="0"/>
          </a:p>
        </p:txBody>
      </p:sp>
      <p:sp>
        <p:nvSpPr>
          <p:cNvPr id="27" name="Speech Bubble: Rectangle 26">
            <a:extLst>
              <a:ext uri="{FF2B5EF4-FFF2-40B4-BE49-F238E27FC236}">
                <a16:creationId xmlns:a16="http://schemas.microsoft.com/office/drawing/2014/main" id="{7DB0A900-E4F6-1B2B-D76F-519CD9CAB0F9}"/>
              </a:ext>
            </a:extLst>
          </p:cNvPr>
          <p:cNvSpPr/>
          <p:nvPr/>
        </p:nvSpPr>
        <p:spPr>
          <a:xfrm>
            <a:off x="7931879" y="610435"/>
            <a:ext cx="4260121" cy="1645920"/>
          </a:xfrm>
          <a:prstGeom prst="wedgeRectCallout">
            <a:avLst>
              <a:gd name="adj1" fmla="val -39360"/>
              <a:gd name="adj2" fmla="val 7945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Step3: Generate outputs from ARD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59654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431A5FA9-08F0-8F6C-BDC9-5ED987621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3964" y="39703"/>
            <a:ext cx="3284582" cy="18475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003B8E-2A72-F1A9-3263-AB8F4AD45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Step1: </a:t>
            </a:r>
            <a:r>
              <a:rPr lang="en-US" altLang="ja-JP" dirty="0"/>
              <a:t>Define the event </a:t>
            </a:r>
            <a:br>
              <a:rPr lang="en-US" altLang="ja-JP" dirty="0"/>
            </a:br>
            <a:r>
              <a:rPr lang="en-US" altLang="ja-JP" dirty="0" err="1"/>
              <a:t>make_ae_type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DE687-6942-6F5D-83C9-26A17F1FA3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560443"/>
            <a:ext cx="9721416" cy="374307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altLang="ja-JP" dirty="0"/>
              <a:t>Define conditions for target AEs and display labels for tables</a:t>
            </a:r>
          </a:p>
          <a:p>
            <a:pPr>
              <a:lnSpc>
                <a:spcPct val="100000"/>
              </a:lnSpc>
            </a:pPr>
            <a:r>
              <a:rPr lang="en-US" altLang="ja-JP" dirty="0"/>
              <a:t>Create an object of class </a:t>
            </a:r>
            <a:r>
              <a:rPr lang="en-US" altLang="ja-JP" dirty="0" err="1"/>
              <a:t>ae_type</a:t>
            </a:r>
            <a:r>
              <a:rPr lang="en-US" altLang="ja-JP" dirty="0"/>
              <a:t> (essentially a list)</a:t>
            </a:r>
          </a:p>
          <a:p>
            <a:pPr>
              <a:lnSpc>
                <a:spcPct val="100000"/>
              </a:lnSpc>
            </a:pPr>
            <a:r>
              <a:rPr lang="en-US" altLang="ja-JP" dirty="0"/>
              <a:t>Pass this object as an argument to subsequent functions for flexible analysis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4F1AB3-ECFE-7D4B-AD36-146F9388C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C2308F-0E8E-3DDE-3D70-EC87E986C9D6}"/>
              </a:ext>
            </a:extLst>
          </p:cNvPr>
          <p:cNvSpPr txBox="1"/>
          <p:nvPr/>
        </p:nvSpPr>
        <p:spPr>
          <a:xfrm>
            <a:off x="604838" y="3173869"/>
            <a:ext cx="8214458" cy="15425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>
            <a:normAutofit/>
          </a:bodyPr>
          <a:lstStyle/>
          <a:p>
            <a:pPr algn="l" latinLnBrk="1">
              <a:buNone/>
            </a:pP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&gt; </a:t>
            </a:r>
            <a:r>
              <a:rPr lang="en-US" altLang="ja-JP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make_ae_type</a:t>
            </a: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("aeg3", "AE &gt;= Grade 3",expr(AEGRD == "Y"))</a:t>
            </a:r>
          </a:p>
          <a:p>
            <a:pPr algn="l" latinLnBrk="1">
              <a:buNone/>
            </a:pPr>
            <a:r>
              <a:rPr lang="en-US" altLang="ja-JP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ae_type</a:t>
            </a:r>
            <a:endParaRPr lang="en-US" altLang="ja-JP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  <a:p>
            <a:pPr algn="l" latinLnBrk="1">
              <a:buNone/>
            </a:pPr>
            <a:r>
              <a:rPr lang="en-US" altLang="ja-JP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 id: aeg3</a:t>
            </a:r>
          </a:p>
          <a:p>
            <a:pPr algn="l" latinLnBrk="1">
              <a:buNone/>
            </a:pPr>
            <a:r>
              <a:rPr lang="en-US" altLang="ja-JP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 label: AE &gt;= Grade 3</a:t>
            </a:r>
          </a:p>
          <a:p>
            <a:pPr algn="l" latinLnBrk="1">
              <a:buNone/>
            </a:pPr>
            <a:r>
              <a:rPr lang="en-US" altLang="ja-JP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 condition: AEGRD == "Y"</a:t>
            </a:r>
          </a:p>
          <a:p>
            <a:pPr algn="l">
              <a:lnSpc>
                <a:spcPct val="95000"/>
              </a:lnSpc>
            </a:pPr>
            <a:endParaRPr kumimoji="1" lang="ja-JP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4669ED-9B78-DA29-81F4-C2905F157D5E}"/>
              </a:ext>
            </a:extLst>
          </p:cNvPr>
          <p:cNvSpPr txBox="1"/>
          <p:nvPr/>
        </p:nvSpPr>
        <p:spPr>
          <a:xfrm>
            <a:off x="604838" y="4873741"/>
            <a:ext cx="8214458" cy="16193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>
            <a:normAutofit/>
          </a:bodyPr>
          <a:lstStyle/>
          <a:p>
            <a:pPr algn="l" latinLnBrk="1">
              <a:buNone/>
            </a:pP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&gt; 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ae_types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 &lt;- list(</a:t>
            </a:r>
          </a:p>
          <a:p>
            <a:pPr algn="l" latinLnBrk="1">
              <a:buNone/>
            </a:pP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make_ae_type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("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any_ae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",   "Any AE",                       expr(TRUE)),</a:t>
            </a:r>
          </a:p>
          <a:p>
            <a:pPr algn="l" latinLnBrk="1">
              <a:buNone/>
            </a:pP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make_ae_type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("aeg3",     "AE &gt;= Grade 3",                expr(AEGRD == "Y")),</a:t>
            </a:r>
          </a:p>
          <a:p>
            <a:pPr algn="l" latinLnBrk="1">
              <a:buNone/>
            </a:pP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make_ae_type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("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sae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",      "Any SAE",                      expr(AESER == "Y")),</a:t>
            </a:r>
          </a:p>
          <a:p>
            <a:pPr algn="l" latinLnBrk="1">
              <a:buNone/>
            </a:pP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make_ae_type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("fatal",    "Fatal SAEs",                   expr(AESER == "Y" &amp; AEFAT == "Y")),</a:t>
            </a:r>
          </a:p>
          <a:p>
            <a:pPr algn="l" latinLnBrk="1">
              <a:buNone/>
            </a:pP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make_ae_type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("disc",     "AE leads drug withdraw",       expr(AEDISCON == "Y")),</a:t>
            </a:r>
          </a:p>
          <a:p>
            <a:pPr algn="l" latinLnBrk="1">
              <a:buNone/>
            </a:pP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make_ae_type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("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itrr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",     "AE leads drug interrupt",      expr(AEITRR == "Y")),</a:t>
            </a:r>
          </a:p>
          <a:p>
            <a:pPr algn="l" latinLnBrk="1">
              <a:buNone/>
            </a:pP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make_ae_type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("</a:t>
            </a:r>
            <a:r>
              <a:rPr lang="en-US" altLang="ja-JP" sz="1100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redu</a:t>
            </a: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",     "AE leads to dose reduction",   expr(AEREDUCE == "Y"))</a:t>
            </a:r>
          </a:p>
          <a:p>
            <a:pPr algn="l" latinLnBrk="1">
              <a:buNone/>
            </a:pPr>
            <a:r>
              <a:rPr lang="en-US" altLang="ja-JP" sz="1100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)</a:t>
            </a:r>
            <a:endParaRPr lang="en-US" altLang="ja-JP" sz="1100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  <a:p>
            <a:pPr algn="l">
              <a:lnSpc>
                <a:spcPct val="95000"/>
              </a:lnSpc>
            </a:pPr>
            <a:endParaRPr kumimoji="1" lang="ja-JP" altLang="en-US" sz="1100" b="1" dirty="0"/>
          </a:p>
        </p:txBody>
      </p: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03EBED2A-BD85-125C-9BAE-A6E31CDC04CA}"/>
              </a:ext>
            </a:extLst>
          </p:cNvPr>
          <p:cNvSpPr/>
          <p:nvPr/>
        </p:nvSpPr>
        <p:spPr>
          <a:xfrm>
            <a:off x="7368367" y="3755938"/>
            <a:ext cx="3110447" cy="378372"/>
          </a:xfrm>
          <a:prstGeom prst="wedgeRectCallout">
            <a:avLst>
              <a:gd name="adj1" fmla="val -35545"/>
              <a:gd name="adj2" fmla="val -13749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Condition for this ae type</a:t>
            </a:r>
            <a:endParaRPr kumimoji="1" lang="ja-JP" altLang="en-US" dirty="0"/>
          </a:p>
        </p:txBody>
      </p:sp>
      <p:sp>
        <p:nvSpPr>
          <p:cNvPr id="13" name="Speech Bubble: Rectangle 12">
            <a:extLst>
              <a:ext uri="{FF2B5EF4-FFF2-40B4-BE49-F238E27FC236}">
                <a16:creationId xmlns:a16="http://schemas.microsoft.com/office/drawing/2014/main" id="{F2DFC79B-3241-4CA5-D863-5AE6EE534C21}"/>
              </a:ext>
            </a:extLst>
          </p:cNvPr>
          <p:cNvSpPr/>
          <p:nvPr/>
        </p:nvSpPr>
        <p:spPr>
          <a:xfrm>
            <a:off x="4410479" y="3755938"/>
            <a:ext cx="2517061" cy="378372"/>
          </a:xfrm>
          <a:prstGeom prst="wedgeRectCallout">
            <a:avLst>
              <a:gd name="adj1" fmla="val -31369"/>
              <a:gd name="adj2" fmla="val -1263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Label to be displayed</a:t>
            </a:r>
            <a:endParaRPr kumimoji="1" lang="ja-JP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20F1EE-3B80-063D-A025-CAB5EE9E253B}"/>
              </a:ext>
            </a:extLst>
          </p:cNvPr>
          <p:cNvSpPr txBox="1"/>
          <p:nvPr/>
        </p:nvSpPr>
        <p:spPr>
          <a:xfrm>
            <a:off x="9045081" y="233430"/>
            <a:ext cx="606391" cy="14122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lIns="0" tIns="0" rIns="0" bIns="0" rtlCol="0">
            <a:normAutofit/>
          </a:bodyPr>
          <a:lstStyle/>
          <a:p>
            <a:pPr algn="l">
              <a:lnSpc>
                <a:spcPct val="95000"/>
              </a:lnSpc>
            </a:pPr>
            <a:endParaRPr kumimoji="1" lang="ja-JP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478895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8C624-1E59-3EA9-D2FF-85230D54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567BF9-954F-8646-3500-4B19C8719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3964" y="39703"/>
            <a:ext cx="3284582" cy="18475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BC5CBB-ECBE-53D9-1FF5-97CCC06FE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Step2: </a:t>
            </a:r>
            <a:r>
              <a:rPr lang="en-US" altLang="ja-JP" dirty="0"/>
              <a:t>Create ARD</a:t>
            </a:r>
            <a:br>
              <a:rPr lang="en-US" altLang="ja-JP" dirty="0"/>
            </a:br>
            <a:r>
              <a:rPr lang="en-US" altLang="ja-JP" dirty="0" err="1"/>
              <a:t>jpn_query_overview</a:t>
            </a:r>
            <a:r>
              <a:rPr lang="en-US" altLang="ja-JP" dirty="0"/>
              <a:t>/</a:t>
            </a:r>
            <a:r>
              <a:rPr lang="ja-JP" altLang="en-US" dirty="0"/>
              <a:t>ｊ</a:t>
            </a:r>
            <a:r>
              <a:rPr lang="en-US" altLang="ja-JP" dirty="0" err="1"/>
              <a:t>pn_query_summary_pt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1B1B7-4B22-5216-1F57-8FAF2F0EF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560443"/>
            <a:ext cx="5207382" cy="4889201"/>
          </a:xfrm>
        </p:spPr>
        <p:txBody>
          <a:bodyPr/>
          <a:lstStyle/>
          <a:p>
            <a:r>
              <a:rPr lang="en-US" altLang="ja-JP" dirty="0" err="1"/>
              <a:t>jpn_query_overview</a:t>
            </a:r>
            <a:r>
              <a:rPr lang="en-US" altLang="ja-JP" dirty="0"/>
              <a:t>()</a:t>
            </a:r>
          </a:p>
          <a:p>
            <a:pPr lvl="3"/>
            <a:r>
              <a:rPr lang="en-US" altLang="ja-JP" dirty="0"/>
              <a:t>Function to Generate ARD for AE Overview</a:t>
            </a:r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ｊ</a:t>
            </a:r>
            <a:r>
              <a:rPr lang="en-US" altLang="ja-JP" dirty="0" err="1"/>
              <a:t>pn_query_summary_pt</a:t>
            </a:r>
            <a:r>
              <a:rPr lang="en-US" altLang="ja-JP" dirty="0"/>
              <a:t>()</a:t>
            </a:r>
          </a:p>
          <a:p>
            <a:pPr lvl="3"/>
            <a:r>
              <a:rPr lang="en-US" altLang="ja-JP" dirty="0"/>
              <a:t>Function to Generate ARD for AE by PT</a:t>
            </a:r>
          </a:p>
          <a:p>
            <a:pPr lvl="3"/>
            <a:endParaRPr lang="en-US" altLang="ja-JP" dirty="0"/>
          </a:p>
          <a:p>
            <a:pPr lvl="3"/>
            <a:endParaRPr lang="en-US" altLang="ja-JP" dirty="0"/>
          </a:p>
          <a:p>
            <a:pPr lvl="3"/>
            <a:endParaRPr lang="en-US" altLang="ja-JP" dirty="0"/>
          </a:p>
          <a:p>
            <a:pPr marL="222250" lvl="3" indent="0">
              <a:buNone/>
            </a:pPr>
            <a:endParaRPr lang="en-US" altLang="ja-JP" dirty="0"/>
          </a:p>
          <a:p>
            <a:pPr marL="222250" lvl="3" indent="0">
              <a:buNone/>
            </a:pPr>
            <a:r>
              <a:rPr lang="en-US" altLang="ja-JP" dirty="0"/>
              <a:t>Both functions internally use {cards}.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361441-A0CE-C267-F066-1F5618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D22CC3-56A1-5AF1-6175-187E1E39FCF6}"/>
              </a:ext>
            </a:extLst>
          </p:cNvPr>
          <p:cNvSpPr txBox="1"/>
          <p:nvPr/>
        </p:nvSpPr>
        <p:spPr>
          <a:xfrm>
            <a:off x="10118844" y="173812"/>
            <a:ext cx="1173445" cy="154339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lIns="0" tIns="0" rIns="0" bIns="0" rtlCol="0">
            <a:normAutofit/>
          </a:bodyPr>
          <a:lstStyle/>
          <a:p>
            <a:pPr algn="l">
              <a:lnSpc>
                <a:spcPct val="95000"/>
              </a:lnSpc>
            </a:pPr>
            <a:endParaRPr kumimoji="1" lang="ja-JP" altLang="en-US" sz="10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D33246-4FC8-1C24-C719-136C8FF35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3789" y="2003511"/>
            <a:ext cx="4564751" cy="1589574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B47EB50-9B4F-DDCD-FCC7-1BE37E543D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34173"/>
          <a:stretch>
            <a:fillRect/>
          </a:stretch>
        </p:blipFill>
        <p:spPr>
          <a:xfrm>
            <a:off x="6003789" y="3879388"/>
            <a:ext cx="4066110" cy="233779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943454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5AA21-11C8-9E44-174A-C321ED61B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35E57-9ADB-BAAF-BC4C-7A920E326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Step2: </a:t>
            </a:r>
            <a:r>
              <a:rPr lang="en-US" altLang="ja-JP" dirty="0"/>
              <a:t>Create ARD </a:t>
            </a:r>
            <a:br>
              <a:rPr lang="en-US" altLang="ja-JP" dirty="0"/>
            </a:br>
            <a:r>
              <a:rPr lang="en-US" altLang="ja-JP" dirty="0"/>
              <a:t>ex) </a:t>
            </a:r>
            <a:r>
              <a:rPr lang="en-US" altLang="ja-JP" dirty="0" err="1"/>
              <a:t>jpn_query_overview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81AFF-0568-F9D6-E7F8-85AAC2B0A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8" y="1560443"/>
            <a:ext cx="9963701" cy="4889201"/>
          </a:xfrm>
        </p:spPr>
        <p:txBody>
          <a:bodyPr/>
          <a:lstStyle/>
          <a:p>
            <a:r>
              <a:rPr lang="en-US" altLang="ja-JP" dirty="0" err="1"/>
              <a:t>jpn_query_overview</a:t>
            </a:r>
            <a:r>
              <a:rPr lang="en-US" altLang="ja-JP" dirty="0"/>
              <a:t>()</a:t>
            </a:r>
          </a:p>
          <a:p>
            <a:pPr marL="0" indent="0">
              <a:buNone/>
            </a:pP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57162C-215A-9801-60CB-BF66F1419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0FF419-6651-5F85-8DD8-A7C4C761BAFD}"/>
              </a:ext>
            </a:extLst>
          </p:cNvPr>
          <p:cNvSpPr txBox="1"/>
          <p:nvPr/>
        </p:nvSpPr>
        <p:spPr>
          <a:xfrm>
            <a:off x="447182" y="2229195"/>
            <a:ext cx="5816984" cy="15335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>
            <a:normAutofit lnSpcReduction="10000"/>
          </a:bodyPr>
          <a:lstStyle/>
          <a:p>
            <a:pPr algn="l" latinLnBrk="1">
              <a:buNone/>
            </a:pP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&gt; </a:t>
            </a:r>
            <a:r>
              <a:rPr lang="en-US" altLang="ja-JP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jpn_query_overview</a:t>
            </a: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(</a:t>
            </a:r>
          </a:p>
          <a:p>
            <a:pPr algn="l" latinLnBrk="1">
              <a:buNone/>
            </a:pP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data = </a:t>
            </a:r>
            <a:r>
              <a:rPr lang="en-US" altLang="ja-JP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adae</a:t>
            </a: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,</a:t>
            </a:r>
          </a:p>
          <a:p>
            <a:pPr algn="l" latinLnBrk="1">
              <a:buNone/>
            </a:pP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</a:t>
            </a:r>
            <a:r>
              <a:rPr lang="en-US" altLang="ja-JP" dirty="0">
                <a:solidFill>
                  <a:srgbClr val="0000FF"/>
                </a:solidFill>
                <a:latin typeface="Lucida Console" panose="020B0609040504020204" pitchFamily="49" charset="0"/>
              </a:rPr>
              <a:t>denominator</a:t>
            </a: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 = </a:t>
            </a:r>
            <a:r>
              <a:rPr lang="en-US" altLang="ja-JP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adsl</a:t>
            </a: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,</a:t>
            </a:r>
          </a:p>
          <a:p>
            <a:pPr algn="l" latinLnBrk="1">
              <a:buNone/>
            </a:pP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</a:t>
            </a:r>
            <a:r>
              <a:rPr lang="en-US" altLang="ja-JP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ae_types</a:t>
            </a: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 = </a:t>
            </a:r>
            <a:r>
              <a:rPr lang="en-US" altLang="ja-JP" b="0" i="0" dirty="0" err="1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ae_types</a:t>
            </a: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,</a:t>
            </a:r>
          </a:p>
          <a:p>
            <a:pPr algn="l" latinLnBrk="1">
              <a:buNone/>
            </a:pP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  by = TRT01A</a:t>
            </a:r>
          </a:p>
          <a:p>
            <a:pPr algn="l" latinLnBrk="1">
              <a:buNone/>
            </a:pPr>
            <a:r>
              <a:rPr lang="en-US" altLang="ja-JP" b="0" i="0" dirty="0"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+ )</a:t>
            </a:r>
            <a:endParaRPr lang="en-US" altLang="ja-JP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3A3C98-6C0D-2B41-EFFD-9F64C6596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039" y="2229195"/>
            <a:ext cx="5047123" cy="296291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1F76AF-BA7C-AE11-8917-77F293BE98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964" y="39703"/>
            <a:ext cx="3284582" cy="18475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72FD13-134E-E9EF-8818-F13942B0EE94}"/>
              </a:ext>
            </a:extLst>
          </p:cNvPr>
          <p:cNvSpPr txBox="1"/>
          <p:nvPr/>
        </p:nvSpPr>
        <p:spPr>
          <a:xfrm>
            <a:off x="10118844" y="173812"/>
            <a:ext cx="1173445" cy="154339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lIns="0" tIns="0" rIns="0" bIns="0" rtlCol="0">
            <a:normAutofit/>
          </a:bodyPr>
          <a:lstStyle/>
          <a:p>
            <a:pPr algn="l">
              <a:lnSpc>
                <a:spcPct val="95000"/>
              </a:lnSpc>
            </a:pPr>
            <a:endParaRPr kumimoji="1" lang="ja-JP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1533173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65363-6B02-B8A8-9509-F559C0B0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{cards} package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AB1E8-A9F1-09C1-7987-125B0E8FB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/>
              <a:t>Part of </a:t>
            </a:r>
            <a:r>
              <a:rPr kumimoji="1" lang="en-US" altLang="ja-JP" err="1"/>
              <a:t>Pharmaverse</a:t>
            </a:r>
            <a:endParaRPr kumimoji="1" lang="en-US" altLang="ja-JP"/>
          </a:p>
          <a:p>
            <a:r>
              <a:rPr kumimoji="1" lang="en-US" altLang="ja-JP"/>
              <a:t>R package </a:t>
            </a:r>
            <a:r>
              <a:rPr lang="en-US" altLang="ja-JP"/>
              <a:t>to</a:t>
            </a:r>
            <a:r>
              <a:rPr kumimoji="1" lang="en-US" altLang="ja-JP"/>
              <a:t> create ARD</a:t>
            </a:r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624DA-9E71-1BCF-FE34-E2B5738BE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802AED1-E5AD-D395-437F-DFDEE6FBD2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4850" y="564078"/>
            <a:ext cx="2286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3C38AB-DCF5-83EB-F6CC-482807D9B612}"/>
              </a:ext>
            </a:extLst>
          </p:cNvPr>
          <p:cNvSpPr txBox="1"/>
          <p:nvPr/>
        </p:nvSpPr>
        <p:spPr>
          <a:xfrm>
            <a:off x="819397" y="3113866"/>
            <a:ext cx="5522026" cy="1033154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lIns="0" tIns="0" rIns="0" bIns="0" rtlCol="0">
            <a:normAutofit fontScale="92500" lnSpcReduction="10000"/>
          </a:bodyPr>
          <a:lstStyle/>
          <a:p>
            <a:pPr>
              <a:lnSpc>
                <a:spcPct val="95000"/>
              </a:lnSpc>
            </a:pPr>
            <a:r>
              <a:rPr kumimoji="1" lang="en-US" altLang="ja-JP" sz="1400" b="1" dirty="0" err="1"/>
              <a:t>ard_categorical</a:t>
            </a:r>
            <a:r>
              <a:rPr kumimoji="1" lang="en-US" altLang="ja-JP" sz="1400" b="1" dirty="0"/>
              <a:t>(</a:t>
            </a:r>
          </a:p>
          <a:p>
            <a:pPr>
              <a:lnSpc>
                <a:spcPct val="95000"/>
              </a:lnSpc>
            </a:pPr>
            <a:r>
              <a:rPr kumimoji="1" lang="en-US" altLang="ja-JP" sz="1400" b="1" dirty="0"/>
              <a:t>  data = </a:t>
            </a:r>
            <a:r>
              <a:rPr kumimoji="1" lang="en-US" altLang="ja-JP" sz="1400" b="1" dirty="0" err="1"/>
              <a:t>adae</a:t>
            </a:r>
            <a:r>
              <a:rPr kumimoji="1" lang="en-US" altLang="ja-JP" sz="1400" b="1" dirty="0"/>
              <a:t>,</a:t>
            </a:r>
          </a:p>
          <a:p>
            <a:pPr>
              <a:lnSpc>
                <a:spcPct val="95000"/>
              </a:lnSpc>
            </a:pPr>
            <a:r>
              <a:rPr kumimoji="1" lang="en-US" altLang="ja-JP" sz="1400" b="1" dirty="0"/>
              <a:t>  by = c('AGEGR1','TRT01A’),</a:t>
            </a:r>
          </a:p>
          <a:p>
            <a:pPr>
              <a:lnSpc>
                <a:spcPct val="95000"/>
              </a:lnSpc>
            </a:pPr>
            <a:r>
              <a:rPr kumimoji="1" lang="en-US" altLang="ja-JP" sz="1400" b="1" dirty="0"/>
              <a:t>  variables = AEDECOD, </a:t>
            </a:r>
          </a:p>
          <a:p>
            <a:pPr>
              <a:lnSpc>
                <a:spcPct val="95000"/>
              </a:lnSpc>
            </a:pPr>
            <a:r>
              <a:rPr kumimoji="1" lang="en-US" altLang="ja-JP" sz="1400" b="1" dirty="0"/>
              <a:t> denominator = </a:t>
            </a:r>
            <a:r>
              <a:rPr kumimoji="1" lang="en-US" altLang="ja-JP" sz="1400" b="1" dirty="0" err="1"/>
              <a:t>adsl</a:t>
            </a:r>
            <a:endParaRPr kumimoji="1" lang="en-US" altLang="ja-JP" sz="1400" b="1" dirty="0"/>
          </a:p>
          <a:p>
            <a:pPr>
              <a:lnSpc>
                <a:spcPct val="95000"/>
              </a:lnSpc>
            </a:pPr>
            <a:r>
              <a:rPr kumimoji="1" lang="en-US" altLang="ja-JP" sz="1400" b="1" dirty="0"/>
              <a:t>)</a:t>
            </a:r>
            <a:endParaRPr kumimoji="1" lang="ja-JP" altLang="en-US" sz="1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92BF0C-9136-61D2-A270-952469CAF2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97" y="4353362"/>
            <a:ext cx="6992326" cy="2057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777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095FC-8677-3190-7F83-3B0F26E50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B5018-38D1-408F-B68F-D5215AB7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Step3: </a:t>
            </a:r>
            <a:r>
              <a:rPr lang="en-US" altLang="ja-JP" dirty="0"/>
              <a:t>Create outputs from ARD 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E57A8-D3D5-B7AD-3212-E8124C11E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560443"/>
            <a:ext cx="9721416" cy="3743077"/>
          </a:xfrm>
        </p:spPr>
        <p:txBody>
          <a:bodyPr>
            <a:normAutofit/>
          </a:bodyPr>
          <a:lstStyle/>
          <a:p>
            <a:r>
              <a:rPr lang="en-US" altLang="ja-JP" dirty="0"/>
              <a:t>Provide template program to generate table from ARD </a:t>
            </a:r>
            <a:br>
              <a:rPr lang="en-US" altLang="ja-JP" dirty="0"/>
            </a:br>
            <a:r>
              <a:rPr lang="en-US" altLang="ja-JP" dirty="0"/>
              <a:t>instead of functions for flexible modification in actual queries.</a:t>
            </a:r>
          </a:p>
          <a:p>
            <a:r>
              <a:rPr lang="en-US" altLang="ja-JP" dirty="0"/>
              <a:t>Generate Output from ARD using: </a:t>
            </a:r>
          </a:p>
          <a:p>
            <a:pPr lvl="1"/>
            <a:r>
              <a:rPr lang="en-US" altLang="ja-JP" dirty="0"/>
              <a:t>{</a:t>
            </a:r>
            <a:r>
              <a:rPr lang="en-US" altLang="ja-JP" dirty="0" err="1"/>
              <a:t>gt</a:t>
            </a:r>
            <a:r>
              <a:rPr lang="en-US" altLang="ja-JP" dirty="0"/>
              <a:t>}</a:t>
            </a:r>
          </a:p>
          <a:p>
            <a:pPr lvl="1"/>
            <a:r>
              <a:rPr lang="en-US" altLang="ja-JP" dirty="0"/>
              <a:t>{</a:t>
            </a:r>
            <a:r>
              <a:rPr lang="en-US" altLang="ja-JP" dirty="0" err="1"/>
              <a:t>gtsummary</a:t>
            </a:r>
            <a:r>
              <a:rPr lang="en-US" altLang="ja-JP" dirty="0"/>
              <a:t>}</a:t>
            </a:r>
          </a:p>
          <a:p>
            <a:pPr lvl="1"/>
            <a:r>
              <a:rPr lang="en-US" altLang="ja-JP" dirty="0">
                <a:solidFill>
                  <a:srgbClr val="FF0000"/>
                </a:solidFill>
              </a:rPr>
              <a:t>{</a:t>
            </a:r>
            <a:r>
              <a:rPr lang="en-US" altLang="ja-JP" dirty="0" err="1">
                <a:solidFill>
                  <a:srgbClr val="FF0000"/>
                </a:solidFill>
              </a:rPr>
              <a:t>tfrmt</a:t>
            </a:r>
            <a:r>
              <a:rPr lang="en-US" altLang="ja-JP" dirty="0">
                <a:solidFill>
                  <a:srgbClr val="FF0000"/>
                </a:solidFill>
              </a:rPr>
              <a:t>}</a:t>
            </a:r>
          </a:p>
          <a:p>
            <a:pPr lvl="3"/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616AA0-9D07-08E5-9DDF-6AFD355E4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15E6E0-9F9E-C7B4-75B1-8AC2DB145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3964" y="39703"/>
            <a:ext cx="3284582" cy="18475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8F02D4-802D-0EB0-74C7-6D6A75AFFCF5}"/>
              </a:ext>
            </a:extLst>
          </p:cNvPr>
          <p:cNvSpPr txBox="1"/>
          <p:nvPr/>
        </p:nvSpPr>
        <p:spPr>
          <a:xfrm>
            <a:off x="11226188" y="228356"/>
            <a:ext cx="629966" cy="15217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lIns="0" tIns="0" rIns="0" bIns="0" rtlCol="0">
            <a:normAutofit/>
          </a:bodyPr>
          <a:lstStyle/>
          <a:p>
            <a:pPr algn="l">
              <a:lnSpc>
                <a:spcPct val="95000"/>
              </a:lnSpc>
            </a:pPr>
            <a:endParaRPr kumimoji="1" lang="ja-JP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1967937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50453-9D27-1298-C342-065887B5D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8B3A3-FFE3-220C-EA9A-DE9A171E7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38" y="2827673"/>
            <a:ext cx="9721417" cy="809834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Structure of R package</a:t>
            </a:r>
            <a:endParaRPr kumimoji="1" lang="ja-JP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70451E-66C5-C4AC-0217-54A4ADDF4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</p:spTree>
    <p:extLst>
      <p:ext uri="{BB962C8B-B14F-4D97-AF65-F5344CB8AC3E}">
        <p14:creationId xmlns:p14="http://schemas.microsoft.com/office/powerpoint/2010/main" val="861954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31DC-688C-5C48-209A-844A42706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Basic components of R Package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863EA-E95E-96EC-CE47-DD11F2948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ja-JP" dirty="0"/>
              <a:t>DESCRIPTION</a:t>
            </a:r>
          </a:p>
          <a:p>
            <a:r>
              <a:rPr lang="en-US" altLang="ja-JP" dirty="0"/>
              <a:t>NAMESPACE</a:t>
            </a:r>
          </a:p>
          <a:p>
            <a:r>
              <a:rPr lang="en-US" altLang="ja-JP" dirty="0"/>
              <a:t>R</a:t>
            </a:r>
          </a:p>
          <a:p>
            <a:r>
              <a:rPr lang="en-US" altLang="ja-JP" dirty="0"/>
              <a:t>README</a:t>
            </a:r>
          </a:p>
          <a:p>
            <a:r>
              <a:rPr lang="en-US" altLang="ja-JP" dirty="0"/>
              <a:t>man</a:t>
            </a:r>
          </a:p>
          <a:p>
            <a:r>
              <a:rPr lang="en-US" altLang="ja-JP" dirty="0"/>
              <a:t>Vignettes</a:t>
            </a:r>
          </a:p>
          <a:p>
            <a:r>
              <a:rPr lang="en-US" altLang="ja-JP" dirty="0"/>
              <a:t>_</a:t>
            </a:r>
            <a:r>
              <a:rPr lang="en-US" altLang="ja-JP" dirty="0" err="1"/>
              <a:t>pkgdown.yml</a:t>
            </a:r>
            <a:endParaRPr lang="en-US" altLang="ja-JP" dirty="0"/>
          </a:p>
          <a:p>
            <a:r>
              <a:rPr lang="en-US" altLang="ja-JP" dirty="0"/>
              <a:t>tests</a:t>
            </a:r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9D84AF-88ED-5BAD-062E-022E9A753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8CAB46-8D4C-445E-0E77-7B140AD2D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2096" y="1023981"/>
            <a:ext cx="7088656" cy="5258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225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65BC8-2BC8-64A9-64A8-2D8230B3C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2D558-5E67-C464-BF89-BE3B9832F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Basic components of R Package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DCEFF9-61FD-C90E-8A60-40E4BA7F3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ja-JP" dirty="0"/>
              <a:t>DESCRIPTION</a:t>
            </a:r>
          </a:p>
          <a:p>
            <a:r>
              <a:rPr lang="en-US" altLang="ja-JP" dirty="0"/>
              <a:t>NAMESPACE</a:t>
            </a:r>
          </a:p>
          <a:p>
            <a:r>
              <a:rPr lang="en-US" altLang="ja-JP" dirty="0"/>
              <a:t>R</a:t>
            </a:r>
          </a:p>
          <a:p>
            <a:r>
              <a:rPr lang="en-US" altLang="ja-JP" dirty="0"/>
              <a:t>README</a:t>
            </a:r>
          </a:p>
          <a:p>
            <a:r>
              <a:rPr lang="en-US" altLang="ja-JP" dirty="0"/>
              <a:t>man</a:t>
            </a:r>
          </a:p>
          <a:p>
            <a:r>
              <a:rPr lang="en-US" altLang="ja-JP" dirty="0"/>
              <a:t>vignettes</a:t>
            </a:r>
          </a:p>
          <a:p>
            <a:r>
              <a:rPr lang="en-US" altLang="ja-JP" dirty="0"/>
              <a:t>_</a:t>
            </a:r>
            <a:r>
              <a:rPr lang="en-US" altLang="ja-JP" dirty="0" err="1"/>
              <a:t>pkgdown.yml</a:t>
            </a:r>
            <a:endParaRPr lang="en-US" altLang="ja-JP" dirty="0"/>
          </a:p>
          <a:p>
            <a:r>
              <a:rPr lang="en-US" altLang="ja-JP" dirty="0"/>
              <a:t>tests</a:t>
            </a:r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B9A15F-1668-62E4-A422-004B0376F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867D0B-2553-23E1-2A79-2D8537208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2096" y="1023981"/>
            <a:ext cx="7088656" cy="5258577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203DAF-A9A2-4973-1508-38E60C0EEB3E}"/>
              </a:ext>
            </a:extLst>
          </p:cNvPr>
          <p:cNvGrpSpPr/>
          <p:nvPr/>
        </p:nvGrpSpPr>
        <p:grpSpPr>
          <a:xfrm>
            <a:off x="941247" y="1382687"/>
            <a:ext cx="9385008" cy="1170983"/>
            <a:chOff x="941247" y="1382687"/>
            <a:chExt cx="9385008" cy="117098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289DAE6-67DB-3F07-A553-2E823CFDB2C4}"/>
                </a:ext>
              </a:extLst>
            </p:cNvPr>
            <p:cNvSpPr/>
            <p:nvPr/>
          </p:nvSpPr>
          <p:spPr>
            <a:xfrm>
              <a:off x="941247" y="1513146"/>
              <a:ext cx="2038435" cy="10405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25F0623-37B2-4A40-484B-149EF97A66AF}"/>
                </a:ext>
              </a:extLst>
            </p:cNvPr>
            <p:cNvSpPr/>
            <p:nvPr/>
          </p:nvSpPr>
          <p:spPr>
            <a:xfrm>
              <a:off x="4287957" y="1382687"/>
              <a:ext cx="6038298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Package</a:t>
              </a:r>
              <a:r>
                <a:rPr kumimoji="1" lang="ja-JP" altLang="en-US" dirty="0">
                  <a:solidFill>
                    <a:schemeClr val="tx1"/>
                  </a:solidFill>
                </a:rPr>
                <a:t>に必須となる</a:t>
              </a:r>
              <a:r>
                <a:rPr kumimoji="1" lang="en-US" altLang="ja-JP" dirty="0">
                  <a:solidFill>
                    <a:schemeClr val="tx1"/>
                  </a:solidFill>
                </a:rPr>
                <a:t>Metadata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20E55FF-58A8-0E3A-2BC2-5E135E2014D1}"/>
                </a:ext>
              </a:extLst>
            </p:cNvPr>
            <p:cNvCxnSpPr>
              <a:cxnSpLocks/>
              <a:stCxn id="10" idx="1"/>
              <a:endCxn id="5" idx="3"/>
            </p:cNvCxnSpPr>
            <p:nvPr/>
          </p:nvCxnSpPr>
          <p:spPr>
            <a:xfrm flipH="1">
              <a:off x="2979682" y="1787604"/>
              <a:ext cx="1308275" cy="245804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2773AE2-AE7C-CCE4-FD23-3320D16316EF}"/>
              </a:ext>
            </a:extLst>
          </p:cNvPr>
          <p:cNvGrpSpPr/>
          <p:nvPr/>
        </p:nvGrpSpPr>
        <p:grpSpPr>
          <a:xfrm>
            <a:off x="957012" y="2359265"/>
            <a:ext cx="9369243" cy="809834"/>
            <a:chOff x="957012" y="2359265"/>
            <a:chExt cx="9369243" cy="80983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B42CD3B-AA8B-6DF6-BC41-8E22AC9F4D16}"/>
                </a:ext>
              </a:extLst>
            </p:cNvPr>
            <p:cNvSpPr/>
            <p:nvPr/>
          </p:nvSpPr>
          <p:spPr>
            <a:xfrm>
              <a:off x="957012" y="2612745"/>
              <a:ext cx="2038435" cy="3327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9DA3730-4BC1-5083-0F25-324871CE46CC}"/>
                </a:ext>
              </a:extLst>
            </p:cNvPr>
            <p:cNvSpPr/>
            <p:nvPr/>
          </p:nvSpPr>
          <p:spPr>
            <a:xfrm>
              <a:off x="4287957" y="2359265"/>
              <a:ext cx="6038298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Package</a:t>
              </a:r>
              <a:r>
                <a:rPr kumimoji="1" lang="ja-JP" altLang="en-US" dirty="0">
                  <a:solidFill>
                    <a:schemeClr val="tx1"/>
                  </a:solidFill>
                </a:rPr>
                <a:t>に含まれる</a:t>
              </a:r>
              <a:r>
                <a:rPr kumimoji="1" lang="en-US" altLang="ja-JP" dirty="0">
                  <a:solidFill>
                    <a:schemeClr val="tx1"/>
                  </a:solidFill>
                </a:rPr>
                <a:t>R </a:t>
              </a:r>
              <a:r>
                <a:rPr kumimoji="1" lang="en-US" altLang="ja-JP" dirty="0" err="1">
                  <a:solidFill>
                    <a:schemeClr val="tx1"/>
                  </a:solidFill>
                </a:rPr>
                <a:t>pgm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7A0C462-ADAF-3AFF-47B0-BE05A4348ED4}"/>
                </a:ext>
              </a:extLst>
            </p:cNvPr>
            <p:cNvCxnSpPr>
              <a:cxnSpLocks/>
              <a:stCxn id="11" idx="1"/>
              <a:endCxn id="7" idx="3"/>
            </p:cNvCxnSpPr>
            <p:nvPr/>
          </p:nvCxnSpPr>
          <p:spPr>
            <a:xfrm flipH="1">
              <a:off x="2995447" y="2764182"/>
              <a:ext cx="1292510" cy="14934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2AEDE14-622C-0713-FDCB-98AF8CF70093}"/>
              </a:ext>
            </a:extLst>
          </p:cNvPr>
          <p:cNvGrpSpPr/>
          <p:nvPr/>
        </p:nvGrpSpPr>
        <p:grpSpPr>
          <a:xfrm>
            <a:off x="957012" y="3096259"/>
            <a:ext cx="9369243" cy="2043300"/>
            <a:chOff x="957012" y="3096259"/>
            <a:chExt cx="9369243" cy="20433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7F1C93-3210-09D3-A47C-D96FBC2874F0}"/>
                </a:ext>
              </a:extLst>
            </p:cNvPr>
            <p:cNvSpPr/>
            <p:nvPr/>
          </p:nvSpPr>
          <p:spPr>
            <a:xfrm>
              <a:off x="957012" y="3096259"/>
              <a:ext cx="2038435" cy="2043300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DFCBD5F-589C-CE6F-E8AC-6EF74CE5B87B}"/>
                </a:ext>
              </a:extLst>
            </p:cNvPr>
            <p:cNvSpPr/>
            <p:nvPr/>
          </p:nvSpPr>
          <p:spPr>
            <a:xfrm>
              <a:off x="4287957" y="3714219"/>
              <a:ext cx="6038298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Document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9BFE828-6277-1A33-907F-5E8583131E16}"/>
                </a:ext>
              </a:extLst>
            </p:cNvPr>
            <p:cNvCxnSpPr>
              <a:cxnSpLocks/>
              <a:stCxn id="12" idx="1"/>
              <a:endCxn id="8" idx="3"/>
            </p:cNvCxnSpPr>
            <p:nvPr/>
          </p:nvCxnSpPr>
          <p:spPr>
            <a:xfrm flipH="1" flipV="1">
              <a:off x="2995447" y="4117909"/>
              <a:ext cx="1292510" cy="1227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15ACD1-B3CD-2FF9-4FD6-EBB64D5A15AF}"/>
              </a:ext>
            </a:extLst>
          </p:cNvPr>
          <p:cNvGrpSpPr/>
          <p:nvPr/>
        </p:nvGrpSpPr>
        <p:grpSpPr>
          <a:xfrm>
            <a:off x="957012" y="4994738"/>
            <a:ext cx="9369243" cy="809834"/>
            <a:chOff x="957012" y="4994738"/>
            <a:chExt cx="9369243" cy="80983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79AA67-E670-8D88-067D-701AF9C525B0}"/>
                </a:ext>
              </a:extLst>
            </p:cNvPr>
            <p:cNvSpPr/>
            <p:nvPr/>
          </p:nvSpPr>
          <p:spPr>
            <a:xfrm>
              <a:off x="957012" y="5260908"/>
              <a:ext cx="2038435" cy="270467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044352-10B2-A0C7-657B-A6DE74A37973}"/>
                </a:ext>
              </a:extLst>
            </p:cNvPr>
            <p:cNvSpPr/>
            <p:nvPr/>
          </p:nvSpPr>
          <p:spPr>
            <a:xfrm>
              <a:off x="4287957" y="4994738"/>
              <a:ext cx="6038298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Package</a:t>
              </a:r>
              <a:r>
                <a:rPr kumimoji="1" lang="ja-JP" altLang="en-US" dirty="0">
                  <a:solidFill>
                    <a:schemeClr val="tx1"/>
                  </a:solidFill>
                </a:rPr>
                <a:t>の</a:t>
              </a:r>
              <a:r>
                <a:rPr kumimoji="1" lang="en-US" altLang="ja-JP" dirty="0">
                  <a:solidFill>
                    <a:schemeClr val="tx1"/>
                  </a:solidFill>
                </a:rPr>
                <a:t>Validation</a:t>
              </a:r>
              <a:r>
                <a:rPr kumimoji="1" lang="ja-JP" altLang="en-US" dirty="0">
                  <a:solidFill>
                    <a:schemeClr val="tx1"/>
                  </a:solidFill>
                </a:rPr>
                <a:t>用の</a:t>
              </a:r>
              <a:r>
                <a:rPr kumimoji="1" lang="en-US" altLang="ja-JP" dirty="0">
                  <a:solidFill>
                    <a:schemeClr val="tx1"/>
                  </a:solidFill>
                </a:rPr>
                <a:t>Unit test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D44C6CC-3BC8-D356-3F3A-26B166395500}"/>
                </a:ext>
              </a:extLst>
            </p:cNvPr>
            <p:cNvCxnSpPr>
              <a:cxnSpLocks/>
              <a:stCxn id="13" idx="1"/>
              <a:endCxn id="9" idx="3"/>
            </p:cNvCxnSpPr>
            <p:nvPr/>
          </p:nvCxnSpPr>
          <p:spPr>
            <a:xfrm flipH="1" flipV="1">
              <a:off x="2995447" y="5396142"/>
              <a:ext cx="1292510" cy="3513"/>
            </a:xfrm>
            <a:prstGeom prst="straightConnector1">
              <a:avLst/>
            </a:prstGeom>
            <a:ln w="1270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302675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0EA65-AEC0-23D3-C958-93A9BB4D7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7941-D347-6D85-9A58-4C504BBB4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Basic components of R Package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6FEDE-5042-9CA8-9569-A5A260793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ja-JP" dirty="0"/>
              <a:t>DESCRIPTION</a:t>
            </a:r>
          </a:p>
          <a:p>
            <a:r>
              <a:rPr lang="en-US" altLang="ja-JP" dirty="0"/>
              <a:t>NAMESPACE</a:t>
            </a:r>
          </a:p>
          <a:p>
            <a:r>
              <a:rPr lang="en-US" altLang="ja-JP" dirty="0"/>
              <a:t>R</a:t>
            </a:r>
          </a:p>
          <a:p>
            <a:r>
              <a:rPr lang="en-US" altLang="ja-JP" dirty="0"/>
              <a:t>README</a:t>
            </a:r>
          </a:p>
          <a:p>
            <a:r>
              <a:rPr lang="en-US" altLang="ja-JP" dirty="0"/>
              <a:t>man</a:t>
            </a:r>
          </a:p>
          <a:p>
            <a:r>
              <a:rPr lang="en-US" altLang="ja-JP" dirty="0"/>
              <a:t>vignettes</a:t>
            </a:r>
          </a:p>
          <a:p>
            <a:r>
              <a:rPr lang="en-US" altLang="ja-JP" dirty="0"/>
              <a:t>_</a:t>
            </a:r>
            <a:r>
              <a:rPr lang="en-US" altLang="ja-JP" dirty="0" err="1"/>
              <a:t>pkgdown.yml</a:t>
            </a:r>
            <a:endParaRPr lang="en-US" altLang="ja-JP" dirty="0"/>
          </a:p>
          <a:p>
            <a:r>
              <a:rPr lang="en-US" altLang="ja-JP" dirty="0"/>
              <a:t>tests</a:t>
            </a:r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614F2-D35C-7832-99B9-16ADA940E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598980-06BC-5D52-F732-E90610977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2096" y="1023981"/>
            <a:ext cx="7088656" cy="5258577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BEBE77E8-BFFD-AFCD-F638-5AF7E64B5E60}"/>
              </a:ext>
            </a:extLst>
          </p:cNvPr>
          <p:cNvGrpSpPr/>
          <p:nvPr/>
        </p:nvGrpSpPr>
        <p:grpSpPr>
          <a:xfrm>
            <a:off x="941247" y="1382687"/>
            <a:ext cx="9385008" cy="1170983"/>
            <a:chOff x="941247" y="1382687"/>
            <a:chExt cx="9385008" cy="117098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A256D77-4552-55F8-3337-F53C050E70D9}"/>
                </a:ext>
              </a:extLst>
            </p:cNvPr>
            <p:cNvSpPr/>
            <p:nvPr/>
          </p:nvSpPr>
          <p:spPr>
            <a:xfrm>
              <a:off x="941247" y="1513146"/>
              <a:ext cx="2038435" cy="10405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0C0FA55-807A-8D72-A003-367658B1E8E5}"/>
                </a:ext>
              </a:extLst>
            </p:cNvPr>
            <p:cNvSpPr/>
            <p:nvPr/>
          </p:nvSpPr>
          <p:spPr>
            <a:xfrm>
              <a:off x="4287957" y="1382687"/>
              <a:ext cx="6038298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Package</a:t>
              </a:r>
              <a:r>
                <a:rPr kumimoji="1" lang="ja-JP" altLang="en-US" dirty="0">
                  <a:solidFill>
                    <a:schemeClr val="tx1"/>
                  </a:solidFill>
                </a:rPr>
                <a:t>に必須となる</a:t>
              </a:r>
              <a:r>
                <a:rPr kumimoji="1" lang="en-US" altLang="ja-JP" dirty="0">
                  <a:solidFill>
                    <a:schemeClr val="tx1"/>
                  </a:solidFill>
                </a:rPr>
                <a:t>Metadata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3CC9C52-9066-B81F-4EC2-3F3D1D49544A}"/>
                </a:ext>
              </a:extLst>
            </p:cNvPr>
            <p:cNvCxnSpPr>
              <a:cxnSpLocks/>
              <a:stCxn id="10" idx="1"/>
              <a:endCxn id="5" idx="3"/>
            </p:cNvCxnSpPr>
            <p:nvPr/>
          </p:nvCxnSpPr>
          <p:spPr>
            <a:xfrm flipH="1">
              <a:off x="2979682" y="1787604"/>
              <a:ext cx="1308275" cy="245804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5732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5368F-0742-54BD-63C9-5693B5657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DESCRIPTION</a:t>
            </a:r>
            <a:endParaRPr kumimoji="1" lang="ja-JP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172241-78A9-E70C-DC81-E264978A4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F68B37-F3E1-BED7-535A-08A9E43CA0F5}"/>
              </a:ext>
            </a:extLst>
          </p:cNvPr>
          <p:cNvSpPr/>
          <p:nvPr/>
        </p:nvSpPr>
        <p:spPr>
          <a:xfrm>
            <a:off x="0" y="1408"/>
            <a:ext cx="1292772" cy="21930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Metadata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5E976D-4BA9-AB2C-1369-2FBA0C8ED9DC}"/>
              </a:ext>
            </a:extLst>
          </p:cNvPr>
          <p:cNvSpPr txBox="1"/>
          <p:nvPr/>
        </p:nvSpPr>
        <p:spPr>
          <a:xfrm>
            <a:off x="394578" y="1854875"/>
            <a:ext cx="10683272" cy="4954305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Package: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anaume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Title: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Adverse Event Analysis Utilities for Clinical Trials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Version: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0.0.0.9000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Authors@R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ja-JP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first.last@example.com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role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aut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cre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Description: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Provides utilities for summarizing adverse events in clinical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trials following Japanese regulatory conventions. Includes helpers for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defining AE type filters, binding datasets by AE type, and generating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ARD (Analysis Results Data) objects.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License: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MIT + file LICENSE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Encoding: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UTF-8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Roxygen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list(markdown = TRUE)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RoxygenNote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7.3.2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Depends: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R (&gt;= 3.5)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dirty="0">
                <a:solidFill>
                  <a:srgbClr val="4B69C6"/>
                </a:solidFill>
                <a:latin typeface="Consolas" panose="020B0609020204030204" pitchFamily="49" charset="0"/>
              </a:rPr>
              <a:t>Imports: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cards,</a:t>
            </a:r>
            <a:endParaRPr lang="en-US" altLang="ja-JP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dirty="0">
                <a:solidFill>
                  <a:srgbClr val="333333"/>
                </a:solidFill>
                <a:latin typeface="Consolas" panose="020B0609020204030204" pitchFamily="49" charset="0"/>
              </a:rPr>
              <a:t>    cli,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dirty="0" err="1">
                <a:solidFill>
                  <a:srgbClr val="333333"/>
                </a:solidFill>
                <a:latin typeface="Consolas" panose="020B0609020204030204" pitchFamily="49" charset="0"/>
              </a:rPr>
              <a:t>dplyr</a:t>
            </a:r>
            <a:r>
              <a:rPr lang="en-US" altLang="ja-JP" dirty="0">
                <a:solidFill>
                  <a:srgbClr val="333333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dirty="0" err="1">
                <a:solidFill>
                  <a:srgbClr val="333333"/>
                </a:solidFill>
                <a:latin typeface="Consolas" panose="020B0609020204030204" pitchFamily="49" charset="0"/>
              </a:rPr>
              <a:t>purrr</a:t>
            </a:r>
            <a:r>
              <a:rPr lang="en-US" altLang="ja-JP" dirty="0">
                <a:solidFill>
                  <a:srgbClr val="333333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dirty="0" err="1">
                <a:solidFill>
                  <a:srgbClr val="333333"/>
                </a:solidFill>
                <a:latin typeface="Consolas" panose="020B0609020204030204" pitchFamily="49" charset="0"/>
              </a:rPr>
              <a:t>rlang</a:t>
            </a:r>
            <a:r>
              <a:rPr lang="en-US" altLang="ja-JP" dirty="0">
                <a:solidFill>
                  <a:srgbClr val="333333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Suggests: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testthat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(&gt;= 3.0.0)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Config/</a:t>
            </a: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testthat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/edition: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3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URL: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https://github.com/yourname/anaume</a:t>
            </a: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BugReports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https://github.com/yourname/anaume/issues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0C412B8-39A8-A6DF-6AF8-00ED0EF61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844200"/>
            <a:ext cx="9721416" cy="4140000"/>
          </a:xfrm>
        </p:spPr>
        <p:txBody>
          <a:bodyPr/>
          <a:lstStyle/>
          <a:p>
            <a:r>
              <a:rPr kumimoji="1" lang="ja-JP" altLang="en-US" dirty="0"/>
              <a:t>パッケージ名、概要、作者、ライセンス、依存関係（</a:t>
            </a:r>
            <a:r>
              <a:rPr kumimoji="1" lang="en-US" altLang="ja-JP" dirty="0"/>
              <a:t>Depends/Imports/Suggests </a:t>
            </a:r>
            <a:r>
              <a:rPr kumimoji="1" lang="ja-JP" altLang="en-US" dirty="0"/>
              <a:t>など）といった 全体情報を宣言</a:t>
            </a:r>
          </a:p>
        </p:txBody>
      </p:sp>
    </p:spTree>
    <p:extLst>
      <p:ext uri="{BB962C8B-B14F-4D97-AF65-F5344CB8AC3E}">
        <p14:creationId xmlns:p14="http://schemas.microsoft.com/office/powerpoint/2010/main" val="3101787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E4749-6805-BFAF-6A01-C3291C6CF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59F6B-1412-A67C-067D-A6091F2DD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NAMESPACE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0BD2B-8B76-6CAD-7E2D-FB00790E8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906965"/>
            <a:ext cx="9721416" cy="4140000"/>
          </a:xfrm>
        </p:spPr>
        <p:txBody>
          <a:bodyPr/>
          <a:lstStyle/>
          <a:p>
            <a:r>
              <a:rPr kumimoji="1" lang="ja-JP" altLang="en-US" dirty="0"/>
              <a:t>どの関数・クラス等を</a:t>
            </a:r>
            <a:r>
              <a:rPr kumimoji="1" lang="en-US" altLang="ja-JP" dirty="0"/>
              <a:t>Package</a:t>
            </a:r>
            <a:r>
              <a:rPr kumimoji="1" lang="ja-JP" altLang="en-US" dirty="0"/>
              <a:t>から参照できるようにするかを決める</a:t>
            </a:r>
            <a:endParaRPr kumimoji="1" lang="en-US" altLang="ja-JP" dirty="0"/>
          </a:p>
          <a:p>
            <a:r>
              <a:rPr kumimoji="1" lang="ja-JP" altLang="en-US" dirty="0"/>
              <a:t>他パッケージの関数等を自パッケージからどう参照するかを決める（</a:t>
            </a:r>
            <a:r>
              <a:rPr kumimoji="1" lang="en-US" altLang="ja-JP" dirty="0"/>
              <a:t>imports</a:t>
            </a:r>
            <a:r>
              <a:rPr kumimoji="1" lang="ja-JP" altLang="en-US" dirty="0"/>
              <a:t>）</a:t>
            </a:r>
            <a:endParaRPr kumimoji="1" lang="en-US" altLang="ja-JP" dirty="0"/>
          </a:p>
          <a:p>
            <a:r>
              <a:rPr lang="ja-JP" altLang="en-US" dirty="0"/>
              <a:t>通常</a:t>
            </a:r>
            <a:r>
              <a:rPr lang="en-US" altLang="ja-JP" dirty="0"/>
              <a:t>Manual</a:t>
            </a:r>
            <a:r>
              <a:rPr lang="ja-JP" altLang="en-US" dirty="0"/>
              <a:t>では編集しない</a:t>
            </a:r>
            <a:endParaRPr kumimoji="1" lang="ja-JP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94929B-FF23-9CAD-F648-BAF98CAD0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CE9018-4104-857A-822C-2E1C7466900C}"/>
              </a:ext>
            </a:extLst>
          </p:cNvPr>
          <p:cNvSpPr/>
          <p:nvPr/>
        </p:nvSpPr>
        <p:spPr>
          <a:xfrm>
            <a:off x="0" y="1408"/>
            <a:ext cx="1292772" cy="21930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Metadata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8E5F3-A9C3-7CD2-E6AA-13A5CAB897F0}"/>
              </a:ext>
            </a:extLst>
          </p:cNvPr>
          <p:cNvSpPr txBox="1"/>
          <p:nvPr/>
        </p:nvSpPr>
        <p:spPr>
          <a:xfrm>
            <a:off x="2624431" y="2752557"/>
            <a:ext cx="6118517" cy="38770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S3method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ae_type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S3method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ae_type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ae_condition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ae_id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ae_label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jpn_query_aggregate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jpn_query_base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jpn_query_overview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merge_ae_types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cards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ard_stack_hierarchical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dplyr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all_of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dplyr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dplyr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group_vars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dplyr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mutate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dplyr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purrr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map_dfr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rlang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enquo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rlang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eval_tidy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rlang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quo_is_null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importFrom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tidyselect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u="sng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eval_select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1653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2EA6-4994-A709-568C-9A39B8229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4702B-DF34-BC2F-41BA-33903E8A2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Basic components of R Package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212DA-9746-A2A6-685D-5B325E250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ja-JP" dirty="0"/>
              <a:t>DESCRIPTION</a:t>
            </a:r>
          </a:p>
          <a:p>
            <a:r>
              <a:rPr lang="en-US" altLang="ja-JP" dirty="0"/>
              <a:t>NAMESPACE</a:t>
            </a:r>
          </a:p>
          <a:p>
            <a:r>
              <a:rPr lang="en-US" altLang="ja-JP" dirty="0"/>
              <a:t>R</a:t>
            </a:r>
          </a:p>
          <a:p>
            <a:r>
              <a:rPr lang="en-US" altLang="ja-JP" dirty="0"/>
              <a:t>README</a:t>
            </a:r>
          </a:p>
          <a:p>
            <a:r>
              <a:rPr lang="en-US" altLang="ja-JP" dirty="0"/>
              <a:t>man</a:t>
            </a:r>
          </a:p>
          <a:p>
            <a:r>
              <a:rPr lang="en-US" altLang="ja-JP" dirty="0"/>
              <a:t>vignettes</a:t>
            </a:r>
          </a:p>
          <a:p>
            <a:r>
              <a:rPr lang="en-US" altLang="ja-JP" dirty="0"/>
              <a:t>_</a:t>
            </a:r>
            <a:r>
              <a:rPr lang="en-US" altLang="ja-JP" dirty="0" err="1"/>
              <a:t>pkgdown.yml</a:t>
            </a:r>
            <a:endParaRPr lang="en-US" altLang="ja-JP" dirty="0"/>
          </a:p>
          <a:p>
            <a:r>
              <a:rPr lang="en-US" altLang="ja-JP" dirty="0"/>
              <a:t>tests</a:t>
            </a:r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5B648-BFB1-618D-7D6B-B4A58D6D5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4BAEDF-D171-3C87-FBB7-FC33DBD14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2096" y="1023981"/>
            <a:ext cx="7088656" cy="5258577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622C730B-A9DD-7DFE-5787-7DB105EF7592}"/>
              </a:ext>
            </a:extLst>
          </p:cNvPr>
          <p:cNvGrpSpPr/>
          <p:nvPr/>
        </p:nvGrpSpPr>
        <p:grpSpPr>
          <a:xfrm>
            <a:off x="957012" y="2359265"/>
            <a:ext cx="9369243" cy="809834"/>
            <a:chOff x="957012" y="2359265"/>
            <a:chExt cx="9369243" cy="80983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394ACD-D56E-B781-C5CA-AF9F7884C4FC}"/>
                </a:ext>
              </a:extLst>
            </p:cNvPr>
            <p:cNvSpPr/>
            <p:nvPr/>
          </p:nvSpPr>
          <p:spPr>
            <a:xfrm>
              <a:off x="957012" y="2612745"/>
              <a:ext cx="2038435" cy="3327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8CCC686-F73B-DFC5-C805-DB6DA04CFDE2}"/>
                </a:ext>
              </a:extLst>
            </p:cNvPr>
            <p:cNvSpPr/>
            <p:nvPr/>
          </p:nvSpPr>
          <p:spPr>
            <a:xfrm>
              <a:off x="4287957" y="2359265"/>
              <a:ext cx="6038298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Package</a:t>
              </a:r>
              <a:r>
                <a:rPr kumimoji="1" lang="ja-JP" altLang="en-US" dirty="0">
                  <a:solidFill>
                    <a:schemeClr val="tx1"/>
                  </a:solidFill>
                </a:rPr>
                <a:t>に含まれる</a:t>
              </a:r>
              <a:r>
                <a:rPr kumimoji="1" lang="en-US" altLang="ja-JP" dirty="0">
                  <a:solidFill>
                    <a:schemeClr val="tx1"/>
                  </a:solidFill>
                </a:rPr>
                <a:t>R </a:t>
              </a:r>
              <a:r>
                <a:rPr kumimoji="1" lang="en-US" altLang="ja-JP" dirty="0" err="1">
                  <a:solidFill>
                    <a:schemeClr val="tx1"/>
                  </a:solidFill>
                </a:rPr>
                <a:t>pgm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F5A4DA5-EE9A-52B1-80E4-4C05A9F8BFD6}"/>
                </a:ext>
              </a:extLst>
            </p:cNvPr>
            <p:cNvCxnSpPr>
              <a:cxnSpLocks/>
              <a:stCxn id="11" idx="1"/>
              <a:endCxn id="7" idx="3"/>
            </p:cNvCxnSpPr>
            <p:nvPr/>
          </p:nvCxnSpPr>
          <p:spPr>
            <a:xfrm flipH="1">
              <a:off x="2995447" y="2764182"/>
              <a:ext cx="1292510" cy="14934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07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076B6-701E-30B7-9C8F-5C6718D6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80E2A-CD75-3304-A6B0-BCBAE009A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R </a:t>
            </a:r>
            <a:r>
              <a:rPr kumimoji="1" lang="en-US" altLang="ja-JP" dirty="0" err="1"/>
              <a:t>pgm</a:t>
            </a:r>
            <a:endParaRPr kumimoji="1" lang="ja-JP" alt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CA557DD-A592-449E-397C-813C24E757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74554" y="2494040"/>
            <a:ext cx="8981983" cy="41402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6634A-9045-5DC7-0D49-640A3CF6D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425AEF-6BD8-4179-DB51-855B2F39BE83}"/>
              </a:ext>
            </a:extLst>
          </p:cNvPr>
          <p:cNvSpPr/>
          <p:nvPr/>
        </p:nvSpPr>
        <p:spPr>
          <a:xfrm>
            <a:off x="0" y="1408"/>
            <a:ext cx="1292772" cy="219309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Programs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C3579-7E7A-DB0B-F8E0-79A9BAC72632}"/>
              </a:ext>
            </a:extLst>
          </p:cNvPr>
          <p:cNvSpPr txBox="1">
            <a:spLocks/>
          </p:cNvSpPr>
          <p:nvPr/>
        </p:nvSpPr>
        <p:spPr>
          <a:xfrm>
            <a:off x="604839" y="844200"/>
            <a:ext cx="9721416" cy="4140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457200" indent="-457200" algn="l" defTabSz="914400" rtl="0" eaLnBrk="1" latinLnBrk="0" hangingPunct="1">
              <a:lnSpc>
                <a:spcPct val="15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kumimoji="1" sz="2000" b="0" kern="1200">
                <a:solidFill>
                  <a:srgbClr val="0460A9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SzPct val="130000"/>
              <a:buFont typeface="Wingdings" panose="05000000000000000000" pitchFamily="2" charset="2"/>
              <a:buChar char="ü"/>
              <a:defRPr kumimoji="1" sz="1800" kern="1200">
                <a:solidFill>
                  <a:srgbClr val="0460A9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400" rtl="0" eaLnBrk="1" latinLnBrk="0" hangingPunct="1">
              <a:lnSpc>
                <a:spcPct val="95000"/>
              </a:lnSpc>
              <a:spcBef>
                <a:spcPts val="600"/>
              </a:spcBef>
              <a:buClr>
                <a:srgbClr val="0460A9"/>
              </a:buClr>
              <a:buFont typeface="Ping LCG Medium" pitchFamily="50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90538" indent="-268288" algn="l" defTabSz="914400" rtl="0" eaLnBrk="1" latinLnBrk="0" hangingPunct="1">
              <a:lnSpc>
                <a:spcPct val="95000"/>
              </a:lnSpc>
              <a:spcBef>
                <a:spcPts val="600"/>
              </a:spcBef>
              <a:buClr>
                <a:srgbClr val="0460A9"/>
              </a:buClr>
              <a:buFont typeface="Arial" panose="020B0604020202020204" pitchFamily="34" charset="0"/>
              <a:buChar char="–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3113" indent="-277813" algn="l" defTabSz="914400" rtl="0" eaLnBrk="1" latinLnBrk="0" hangingPunct="1">
              <a:lnSpc>
                <a:spcPct val="95000"/>
              </a:lnSpc>
              <a:spcBef>
                <a:spcPts val="600"/>
              </a:spcBef>
              <a:buClr>
                <a:srgbClr val="0460A9"/>
              </a:buClr>
              <a:buFont typeface="Arial" panose="020B0604020202020204" pitchFamily="34" charset="0"/>
              <a:buChar char="–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関数などの </a:t>
            </a:r>
            <a:r>
              <a:rPr lang="en-US" altLang="ja-JP" dirty="0"/>
              <a:t>R </a:t>
            </a:r>
            <a:r>
              <a:rPr lang="ja-JP" altLang="en-US" dirty="0"/>
              <a:t>コードを格納する。</a:t>
            </a:r>
            <a:endParaRPr lang="en-US" altLang="ja-JP" dirty="0"/>
          </a:p>
          <a:p>
            <a:r>
              <a:rPr lang="en-US" altLang="ja-JP" dirty="0"/>
              <a:t>.R </a:t>
            </a:r>
            <a:r>
              <a:rPr lang="ja-JP" altLang="en-US" dirty="0"/>
              <a:t>ファイルは、パッケージ読み込み時に自動的にソースされる。</a:t>
            </a:r>
            <a:endParaRPr lang="en-US" altLang="ja-JP" dirty="0"/>
          </a:p>
          <a:p>
            <a:r>
              <a:rPr lang="ja-JP" altLang="en-US" dirty="0"/>
              <a:t>外部に公開されるかどうかは </a:t>
            </a:r>
            <a:r>
              <a:rPr lang="en-US" altLang="ja-JP" dirty="0"/>
              <a:t>NAMESPACE </a:t>
            </a:r>
            <a:r>
              <a:rPr lang="ja-JP" altLang="en-US" dirty="0"/>
              <a:t>によって制御される。</a:t>
            </a:r>
          </a:p>
        </p:txBody>
      </p:sp>
    </p:spTree>
    <p:extLst>
      <p:ext uri="{BB962C8B-B14F-4D97-AF65-F5344CB8AC3E}">
        <p14:creationId xmlns:p14="http://schemas.microsoft.com/office/powerpoint/2010/main" val="7064528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2B03-E84B-6B6A-C54E-5845A3999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6DA00-771D-9830-2BFC-1BFB4A281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Basic components of R Package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331E8-A47E-E988-27E6-6F8551A2C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ja-JP" dirty="0"/>
              <a:t>DESCRIPTION</a:t>
            </a:r>
          </a:p>
          <a:p>
            <a:r>
              <a:rPr lang="en-US" altLang="ja-JP" dirty="0"/>
              <a:t>NAMESPACE</a:t>
            </a:r>
          </a:p>
          <a:p>
            <a:r>
              <a:rPr lang="en-US" altLang="ja-JP" dirty="0"/>
              <a:t>R</a:t>
            </a:r>
          </a:p>
          <a:p>
            <a:r>
              <a:rPr lang="en-US" altLang="ja-JP" dirty="0"/>
              <a:t>README</a:t>
            </a:r>
          </a:p>
          <a:p>
            <a:r>
              <a:rPr lang="en-US" altLang="ja-JP" dirty="0"/>
              <a:t>man</a:t>
            </a:r>
          </a:p>
          <a:p>
            <a:r>
              <a:rPr lang="en-US" altLang="ja-JP" dirty="0"/>
              <a:t>vignettes</a:t>
            </a:r>
          </a:p>
          <a:p>
            <a:r>
              <a:rPr lang="en-US" altLang="ja-JP" dirty="0"/>
              <a:t>_</a:t>
            </a:r>
            <a:r>
              <a:rPr lang="en-US" altLang="ja-JP" dirty="0" err="1"/>
              <a:t>pkgdown.yml</a:t>
            </a:r>
            <a:endParaRPr lang="en-US" altLang="ja-JP" dirty="0"/>
          </a:p>
          <a:p>
            <a:r>
              <a:rPr lang="en-US" altLang="ja-JP" dirty="0"/>
              <a:t>tests</a:t>
            </a:r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598445-664B-D2D7-9477-552FD90B6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9A768E-BA69-9144-546F-DE73C2F0A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2096" y="1023981"/>
            <a:ext cx="7088656" cy="525857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CEE5868E-1B4C-5FEC-B1D9-94A6615DBA8F}"/>
              </a:ext>
            </a:extLst>
          </p:cNvPr>
          <p:cNvGrpSpPr/>
          <p:nvPr/>
        </p:nvGrpSpPr>
        <p:grpSpPr>
          <a:xfrm>
            <a:off x="957012" y="3096259"/>
            <a:ext cx="9369243" cy="2043300"/>
            <a:chOff x="957012" y="3096259"/>
            <a:chExt cx="9369243" cy="20433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2D18B4B-E834-9838-FB96-82B45F655B60}"/>
                </a:ext>
              </a:extLst>
            </p:cNvPr>
            <p:cNvSpPr/>
            <p:nvPr/>
          </p:nvSpPr>
          <p:spPr>
            <a:xfrm>
              <a:off x="957012" y="3096259"/>
              <a:ext cx="2038435" cy="2043300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AFE98C-1112-46B2-B684-C1DB0A5D8A69}"/>
                </a:ext>
              </a:extLst>
            </p:cNvPr>
            <p:cNvSpPr/>
            <p:nvPr/>
          </p:nvSpPr>
          <p:spPr>
            <a:xfrm>
              <a:off x="4287957" y="3714219"/>
              <a:ext cx="6038298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Document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B8B599F-15D9-549A-8CFF-2CC5469E2678}"/>
                </a:ext>
              </a:extLst>
            </p:cNvPr>
            <p:cNvCxnSpPr>
              <a:cxnSpLocks/>
              <a:stCxn id="12" idx="1"/>
              <a:endCxn id="8" idx="3"/>
            </p:cNvCxnSpPr>
            <p:nvPr/>
          </p:nvCxnSpPr>
          <p:spPr>
            <a:xfrm flipH="1" flipV="1">
              <a:off x="2995447" y="4117909"/>
              <a:ext cx="1292510" cy="1227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90895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35043-AE2E-822F-B0A8-1EBB8ED08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9DEC5-E199-32B1-8021-6BA163090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README</a:t>
            </a:r>
            <a:endParaRPr kumimoji="1" lang="ja-JP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B7C30A-B53C-CCB7-F619-9828BD1D4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A82150-5BAD-4752-31E6-2D0A35BDE6D8}"/>
              </a:ext>
            </a:extLst>
          </p:cNvPr>
          <p:cNvSpPr/>
          <p:nvPr/>
        </p:nvSpPr>
        <p:spPr>
          <a:xfrm>
            <a:off x="0" y="1408"/>
            <a:ext cx="1292772" cy="219309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Document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25C7E-1CE3-680B-CA7F-F47F3823C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8" y="1560513"/>
            <a:ext cx="9721850" cy="4140200"/>
          </a:xfrm>
        </p:spPr>
        <p:txBody>
          <a:bodyPr/>
          <a:lstStyle/>
          <a:p>
            <a:r>
              <a:rPr kumimoji="1" lang="en-US" altLang="ja-JP" dirty="0" err="1"/>
              <a:t>Github</a:t>
            </a:r>
            <a:r>
              <a:rPr kumimoji="1" lang="ja-JP" altLang="en-US" dirty="0"/>
              <a:t>や</a:t>
            </a:r>
            <a:r>
              <a:rPr kumimoji="1" lang="en-US" altLang="ja-JP" dirty="0" err="1"/>
              <a:t>Github</a:t>
            </a:r>
            <a:r>
              <a:rPr kumimoji="1" lang="en-US" altLang="ja-JP" dirty="0"/>
              <a:t> pages</a:t>
            </a:r>
            <a:r>
              <a:rPr kumimoji="1" lang="ja-JP" altLang="en-US" dirty="0"/>
              <a:t>の</a:t>
            </a:r>
            <a:r>
              <a:rPr kumimoji="1" lang="en-US" altLang="ja-JP" dirty="0"/>
              <a:t>Top page</a:t>
            </a:r>
            <a:r>
              <a:rPr kumimoji="1" lang="ja-JP" altLang="en-US" dirty="0"/>
              <a:t>に表示される内容</a:t>
            </a:r>
            <a:endParaRPr kumimoji="1" lang="en-US" altLang="ja-JP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2AD22A-4635-1410-B519-D61C877C0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131" y="2382013"/>
            <a:ext cx="9028124" cy="3885979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78677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28D05-6F1E-250E-8FDA-BD671D684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6882E-1BB3-E878-3337-9E978955D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Github</a:t>
            </a:r>
            <a:r>
              <a:rPr kumimoji="1" lang="en-US" altLang="ja-JP" dirty="0"/>
              <a:t> pages</a:t>
            </a:r>
            <a:r>
              <a:rPr kumimoji="1" lang="ja-JP" altLang="en-US" dirty="0"/>
              <a:t>とは？？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546C3-1822-D1D6-53BE-113F442D9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168627"/>
            <a:ext cx="10241837" cy="4140000"/>
          </a:xfrm>
        </p:spPr>
        <p:txBody>
          <a:bodyPr/>
          <a:lstStyle/>
          <a:p>
            <a:r>
              <a:rPr lang="en-US" altLang="ja-JP" dirty="0"/>
              <a:t>GitHub </a:t>
            </a:r>
            <a:r>
              <a:rPr lang="ja-JP" altLang="en-US" dirty="0"/>
              <a:t>のリポジトリ内容から、</a:t>
            </a:r>
            <a:r>
              <a:rPr lang="en-US" altLang="ja-JP" dirty="0"/>
              <a:t>Web</a:t>
            </a:r>
            <a:r>
              <a:rPr lang="ja-JP" altLang="en-US" dirty="0"/>
              <a:t>サイト（</a:t>
            </a:r>
            <a:r>
              <a:rPr lang="en-US" altLang="ja-JP" dirty="0"/>
              <a:t>HTML/CSS/JS</a:t>
            </a:r>
            <a:r>
              <a:rPr lang="ja-JP" altLang="en-US" dirty="0"/>
              <a:t>）を公開できる機能</a:t>
            </a:r>
            <a:endParaRPr lang="en-US" altLang="ja-JP" dirty="0"/>
          </a:p>
          <a:p>
            <a:r>
              <a:rPr lang="en-US" altLang="ja-JP" dirty="0"/>
              <a:t>Package</a:t>
            </a:r>
            <a:r>
              <a:rPr lang="ja-JP" altLang="en-US" dirty="0"/>
              <a:t>の使い方などの情報を掲載するために使用されることが多い</a:t>
            </a:r>
            <a:endParaRPr lang="en-US" altLang="ja-JP" dirty="0"/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DFB2CF-3D73-0FAA-3991-FCA370836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547D55-5F62-79CA-F54B-5F9ABFE872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302" y="2422742"/>
            <a:ext cx="9306910" cy="387629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8012218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28178-7DC4-3757-3F14-06BE93A34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8DEE6-486A-150A-4473-A84A59F5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man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1BABD-8EDD-600A-F2F5-AD69D8E5D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168627"/>
            <a:ext cx="5874789" cy="4140000"/>
          </a:xfrm>
        </p:spPr>
        <p:txBody>
          <a:bodyPr/>
          <a:lstStyle/>
          <a:p>
            <a:r>
              <a:rPr lang="ja-JP" altLang="en-US" dirty="0"/>
              <a:t>各関数の</a:t>
            </a:r>
            <a:r>
              <a:rPr lang="en-US" altLang="ja-JP" dirty="0"/>
              <a:t>Document</a:t>
            </a:r>
            <a:r>
              <a:rPr lang="ja-JP" altLang="en-US" dirty="0"/>
              <a:t>を格納した</a:t>
            </a:r>
            <a:r>
              <a:rPr lang="en-US" altLang="ja-JP" dirty="0"/>
              <a:t>Folder</a:t>
            </a:r>
          </a:p>
          <a:p>
            <a:r>
              <a:rPr lang="ja-JP" altLang="en-US" dirty="0"/>
              <a:t>各関数の</a:t>
            </a:r>
            <a:r>
              <a:rPr lang="en-US" altLang="ja-JP" dirty="0"/>
              <a:t>Document</a:t>
            </a:r>
            <a:r>
              <a:rPr lang="ja-JP" altLang="en-US" dirty="0"/>
              <a:t>は</a:t>
            </a:r>
            <a:r>
              <a:rPr lang="en-US" altLang="ja-JP" dirty="0" err="1"/>
              <a:t>Github</a:t>
            </a:r>
            <a:r>
              <a:rPr lang="en-US" altLang="ja-JP" dirty="0"/>
              <a:t> pages</a:t>
            </a:r>
            <a:r>
              <a:rPr lang="ja-JP" altLang="en-US" dirty="0"/>
              <a:t>や</a:t>
            </a:r>
            <a:r>
              <a:rPr lang="en-US" altLang="ja-JP" dirty="0" err="1"/>
              <a:t>Rstudio</a:t>
            </a:r>
            <a:r>
              <a:rPr lang="ja-JP" altLang="en-US" dirty="0"/>
              <a:t>の</a:t>
            </a:r>
            <a:r>
              <a:rPr lang="en-US" altLang="ja-JP" dirty="0"/>
              <a:t>Help</a:t>
            </a:r>
            <a:r>
              <a:rPr lang="ja-JP" altLang="en-US" dirty="0"/>
              <a:t>画面に表示される。</a:t>
            </a:r>
            <a:endParaRPr lang="en-US" altLang="ja-JP" dirty="0"/>
          </a:p>
          <a:p>
            <a:r>
              <a:rPr lang="en-US" altLang="ja-JP" dirty="0"/>
              <a:t>Manual</a:t>
            </a:r>
            <a:r>
              <a:rPr lang="ja-JP" altLang="en-US" dirty="0"/>
              <a:t>では編集しないことが多く、</a:t>
            </a:r>
            <a:r>
              <a:rPr lang="en-US" altLang="ja-JP" dirty="0" err="1"/>
              <a:t>roxygen</a:t>
            </a:r>
            <a:r>
              <a:rPr lang="ja-JP" altLang="en-US" dirty="0"/>
              <a:t>に</a:t>
            </a:r>
            <a:br>
              <a:rPr lang="en-US" altLang="ja-JP" dirty="0"/>
            </a:br>
            <a:r>
              <a:rPr lang="ja-JP" altLang="en-US" dirty="0"/>
              <a:t>よって記載した内容が</a:t>
            </a:r>
            <a:r>
              <a:rPr lang="en-US" altLang="ja-JP" dirty="0"/>
              <a:t>Document</a:t>
            </a:r>
            <a:r>
              <a:rPr lang="ja-JP" altLang="en-US" dirty="0"/>
              <a:t>となる</a:t>
            </a:r>
            <a:endParaRPr lang="en-US" altLang="ja-JP" dirty="0"/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7CBF97-FF7B-191B-DC39-51F43F9FE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FC0D57-C3AB-0E37-BDE9-9A2BF942927F}"/>
              </a:ext>
            </a:extLst>
          </p:cNvPr>
          <p:cNvSpPr/>
          <p:nvPr/>
        </p:nvSpPr>
        <p:spPr>
          <a:xfrm>
            <a:off x="0" y="1408"/>
            <a:ext cx="1292772" cy="219309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Document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7D9584-6BF3-1930-6AD3-B6C627CB9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355" y="509644"/>
            <a:ext cx="2880000" cy="61200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846388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B4739-8214-B1F7-6095-25269C6E3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F7D6F-B8F0-56D0-1F8E-9428CA899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roxygen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FC30C-2E88-A668-8379-B8371AA4E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168627"/>
            <a:ext cx="10241837" cy="4140000"/>
          </a:xfrm>
        </p:spPr>
        <p:txBody>
          <a:bodyPr/>
          <a:lstStyle/>
          <a:p>
            <a:r>
              <a:rPr lang="en-US" altLang="ja-JP" dirty="0"/>
              <a:t>R </a:t>
            </a:r>
            <a:r>
              <a:rPr lang="ja-JP" altLang="en-US" dirty="0"/>
              <a:t>コード中のコメントから、ドキュメント（</a:t>
            </a:r>
            <a:r>
              <a:rPr lang="en-US" altLang="ja-JP" dirty="0"/>
              <a:t>man/*.Rd</a:t>
            </a:r>
            <a:r>
              <a:rPr lang="ja-JP" altLang="en-US" dirty="0"/>
              <a:t>）や</a:t>
            </a:r>
            <a:r>
              <a:rPr lang="en-US" altLang="ja-JP" dirty="0"/>
              <a:t>NAMESPACE </a:t>
            </a:r>
            <a:r>
              <a:rPr lang="ja-JP" altLang="en-US" dirty="0"/>
              <a:t>を自動生成する仕組み。</a:t>
            </a:r>
            <a:endParaRPr lang="en-US" altLang="ja-JP" dirty="0"/>
          </a:p>
          <a:p>
            <a:r>
              <a:rPr lang="ja-JP" altLang="en-US" dirty="0"/>
              <a:t>コードとドキュメントを同じ場所で管理することで、保守性を高める。</a:t>
            </a:r>
            <a:endParaRPr lang="en-US" altLang="ja-JP" dirty="0"/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5B13DC-8DBA-296D-58D5-552DBE7B2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C514CF-8622-EC36-2DF0-E64C2C8C4A0F}"/>
              </a:ext>
            </a:extLst>
          </p:cNvPr>
          <p:cNvSpPr txBox="1"/>
          <p:nvPr/>
        </p:nvSpPr>
        <p:spPr>
          <a:xfrm>
            <a:off x="368355" y="2978557"/>
            <a:ext cx="4928859" cy="33384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 Create an `</a:t>
            </a:r>
            <a:r>
              <a:rPr lang="en-US" altLang="ja-JP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ae_type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` object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 </a:t>
            </a:r>
            <a:r>
              <a:rPr lang="en-US" altLang="ja-JP" b="0" i="1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@param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i="1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value for the object.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 </a:t>
            </a:r>
            <a:r>
              <a:rPr lang="en-US" altLang="ja-JP" b="0" i="1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@param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i="1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for the AE type.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 </a:t>
            </a:r>
            <a:r>
              <a:rPr lang="en-US" altLang="ja-JP" b="0" i="1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@param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i="1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Expression for </a:t>
            </a:r>
            <a:r>
              <a:rPr lang="en-US" altLang="ja-JP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subsetting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the dataset.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 </a:t>
            </a:r>
            <a:r>
              <a:rPr lang="en-US" altLang="ja-JP" b="0" i="1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@returns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An `</a:t>
            </a:r>
            <a:r>
              <a:rPr lang="en-US" altLang="ja-JP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ae_type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` object.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 </a:t>
            </a:r>
            <a:r>
              <a:rPr lang="en-US" altLang="ja-JP" b="0" i="1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@export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 </a:t>
            </a:r>
            <a:r>
              <a:rPr lang="en-US" altLang="ja-JP" b="0" i="1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@examples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 </a:t>
            </a:r>
            <a:r>
              <a:rPr lang="en-US" altLang="ja-JP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all_ae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", "All AEs")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#' </a:t>
            </a:r>
            <a:r>
              <a:rPr lang="en-US" altLang="ja-JP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rel_ae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", "Related AEs", AEREL == "Y")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1" dirty="0" err="1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ja-JP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. . .</a:t>
            </a:r>
            <a:endParaRPr lang="en-US" altLang="ja-JP" b="0" dirty="0">
              <a:solidFill>
                <a:srgbClr val="777777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B35A2254-8F1B-B514-3C50-322A862094D9}"/>
              </a:ext>
            </a:extLst>
          </p:cNvPr>
          <p:cNvSpPr/>
          <p:nvPr/>
        </p:nvSpPr>
        <p:spPr>
          <a:xfrm>
            <a:off x="5533698" y="4099033"/>
            <a:ext cx="614855" cy="7725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5E14C7D-3182-B420-ED7F-C7DAAB618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579" y="2547473"/>
            <a:ext cx="3294834" cy="4082171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1571407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A8A1F-5327-D973-CE5A-41DF262C1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3B22D-A018-C0D8-F2E9-E772CD863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vignettes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8E9CA-5A8C-69A8-37CE-D41B79414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168627"/>
            <a:ext cx="9721416" cy="4140000"/>
          </a:xfrm>
        </p:spPr>
        <p:txBody>
          <a:bodyPr/>
          <a:lstStyle/>
          <a:p>
            <a:r>
              <a:rPr lang="ja-JP" altLang="en-US" dirty="0"/>
              <a:t>関数横断的な内容として</a:t>
            </a:r>
            <a:r>
              <a:rPr lang="en-US" altLang="ja-JP" dirty="0"/>
              <a:t>Document</a:t>
            </a:r>
            <a:r>
              <a:rPr lang="ja-JP" altLang="en-US" dirty="0"/>
              <a:t>を格納した</a:t>
            </a:r>
            <a:r>
              <a:rPr lang="en-US" altLang="ja-JP" dirty="0"/>
              <a:t>Folder</a:t>
            </a:r>
          </a:p>
          <a:p>
            <a:r>
              <a:rPr lang="en-US" altLang="ja-JP" dirty="0" err="1"/>
              <a:t>Github</a:t>
            </a:r>
            <a:r>
              <a:rPr lang="en-US" altLang="ja-JP" dirty="0"/>
              <a:t> pages</a:t>
            </a:r>
            <a:r>
              <a:rPr lang="ja-JP" altLang="en-US" dirty="0"/>
              <a:t>上で、関数横断的な内容を</a:t>
            </a:r>
            <a:r>
              <a:rPr lang="en-US" altLang="ja-JP" dirty="0"/>
              <a:t>Articles</a:t>
            </a:r>
            <a:r>
              <a:rPr lang="ja-JP" altLang="en-US" dirty="0"/>
              <a:t>に相当することが多い。</a:t>
            </a:r>
            <a:endParaRPr lang="en-US" altLang="ja-JP" dirty="0"/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44DAA1-3A86-C376-789A-B110054C7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34023-A177-9939-E14B-5EBB817DAA27}"/>
              </a:ext>
            </a:extLst>
          </p:cNvPr>
          <p:cNvSpPr/>
          <p:nvPr/>
        </p:nvSpPr>
        <p:spPr>
          <a:xfrm>
            <a:off x="0" y="1408"/>
            <a:ext cx="1292772" cy="219309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Document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3DE745-D224-5B9E-E96A-8F5F7E5E5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0286" y="2766080"/>
            <a:ext cx="8171428" cy="3352381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2904166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AB743-4614-0A73-01FC-E021F48DF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7045E-4A0F-B869-F20B-79A93762C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_</a:t>
            </a:r>
            <a:r>
              <a:rPr lang="en-US" altLang="ja-JP" dirty="0" err="1"/>
              <a:t>pkgdown.yml</a:t>
            </a:r>
            <a:endParaRPr lang="en-US" altLang="ja-JP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763E5-28D6-1B6F-C137-359CEA5AB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168627"/>
            <a:ext cx="9721416" cy="4140000"/>
          </a:xfrm>
        </p:spPr>
        <p:txBody>
          <a:bodyPr/>
          <a:lstStyle/>
          <a:p>
            <a:r>
              <a:rPr lang="en-US" altLang="ja-JP" dirty="0" err="1"/>
              <a:t>Github</a:t>
            </a:r>
            <a:r>
              <a:rPr lang="en-US" altLang="ja-JP" dirty="0"/>
              <a:t> pages</a:t>
            </a:r>
            <a:r>
              <a:rPr lang="ja-JP" altLang="en-US" dirty="0"/>
              <a:t>生成時の設定ファイル</a:t>
            </a:r>
            <a:endParaRPr lang="en-US" altLang="ja-JP" dirty="0"/>
          </a:p>
          <a:p>
            <a:r>
              <a:rPr lang="ja-JP" altLang="en-US" dirty="0"/>
              <a:t>サイトの見た目・構成・表示内容を</a:t>
            </a:r>
            <a:r>
              <a:rPr lang="en-US" altLang="ja-JP" dirty="0"/>
              <a:t>YAML</a:t>
            </a:r>
            <a:r>
              <a:rPr lang="ja-JP" altLang="en-US" dirty="0"/>
              <a:t>形式で制御する。</a:t>
            </a:r>
            <a:endParaRPr lang="en-US" altLang="ja-JP" dirty="0"/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4C383E-C16E-7096-2679-74893682A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20C2C5-0204-D59E-0B23-AF6B0DE6C4D3}"/>
              </a:ext>
            </a:extLst>
          </p:cNvPr>
          <p:cNvSpPr/>
          <p:nvPr/>
        </p:nvSpPr>
        <p:spPr>
          <a:xfrm>
            <a:off x="0" y="1408"/>
            <a:ext cx="1292772" cy="219309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Document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2897A5-E433-B3F6-8A40-4684FC4B7F1F}"/>
              </a:ext>
            </a:extLst>
          </p:cNvPr>
          <p:cNvSpPr txBox="1"/>
          <p:nvPr/>
        </p:nvSpPr>
        <p:spPr>
          <a:xfrm>
            <a:off x="307427" y="3069040"/>
            <a:ext cx="5646683" cy="262033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https://yuichi-nakaima.github.io/anaume/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bootstrap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lang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en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anaume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description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{Package documentation for 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anaume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}.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repo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home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https://github.com/yuichi-nakaima/anaume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ja-JP" b="0" dirty="0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issue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https://github.com/yuichi-nakaima/anaume/issues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708F0B-B661-C72F-7EE6-8D656379D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271" y="3912070"/>
            <a:ext cx="5372302" cy="177730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1F102E1-0766-FF14-F79C-12C9949717C5}"/>
              </a:ext>
            </a:extLst>
          </p:cNvPr>
          <p:cNvSpPr/>
          <p:nvPr/>
        </p:nvSpPr>
        <p:spPr>
          <a:xfrm>
            <a:off x="6445927" y="2945930"/>
            <a:ext cx="3388511" cy="66884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どの項目に何の</a:t>
            </a:r>
            <a:r>
              <a:rPr kumimoji="1" lang="en-US" altLang="ja-JP" dirty="0">
                <a:solidFill>
                  <a:schemeClr val="tx1"/>
                </a:solidFill>
              </a:rPr>
              <a:t>Document</a:t>
            </a:r>
            <a:r>
              <a:rPr kumimoji="1" lang="ja-JP" altLang="en-US" dirty="0">
                <a:solidFill>
                  <a:schemeClr val="tx1"/>
                </a:solidFill>
              </a:rPr>
              <a:t>を</a:t>
            </a:r>
            <a:br>
              <a:rPr kumimoji="1" lang="en-US" altLang="ja-JP" dirty="0">
                <a:solidFill>
                  <a:schemeClr val="tx1"/>
                </a:solidFill>
              </a:rPr>
            </a:br>
            <a:r>
              <a:rPr kumimoji="1" lang="ja-JP" altLang="en-US" dirty="0">
                <a:solidFill>
                  <a:schemeClr val="tx1"/>
                </a:solidFill>
              </a:rPr>
              <a:t>配置するか等を設定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E2C73B9-023B-FD4B-BEDE-F39656AA6726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8140183" y="3614778"/>
            <a:ext cx="0" cy="380747"/>
          </a:xfrm>
          <a:prstGeom prst="straightConnector1">
            <a:avLst/>
          </a:prstGeom>
          <a:ln w="127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94324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2F1DC-3FEE-9364-2140-6F752F615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A5437-A527-1D12-26D7-B883A860B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Basic components of R Package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D7AD3-B049-3183-8D3E-20C82A221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ja-JP" dirty="0"/>
              <a:t>DESCRIPTION</a:t>
            </a:r>
          </a:p>
          <a:p>
            <a:r>
              <a:rPr lang="en-US" altLang="ja-JP" dirty="0"/>
              <a:t>NAMESPACE</a:t>
            </a:r>
          </a:p>
          <a:p>
            <a:r>
              <a:rPr lang="en-US" altLang="ja-JP" dirty="0"/>
              <a:t>R</a:t>
            </a:r>
          </a:p>
          <a:p>
            <a:r>
              <a:rPr lang="en-US" altLang="ja-JP" dirty="0"/>
              <a:t>README</a:t>
            </a:r>
          </a:p>
          <a:p>
            <a:r>
              <a:rPr lang="en-US" altLang="ja-JP" dirty="0"/>
              <a:t>man</a:t>
            </a:r>
          </a:p>
          <a:p>
            <a:r>
              <a:rPr lang="en-US" altLang="ja-JP" dirty="0"/>
              <a:t>vignettes</a:t>
            </a:r>
          </a:p>
          <a:p>
            <a:r>
              <a:rPr lang="en-US" altLang="ja-JP" dirty="0"/>
              <a:t>_</a:t>
            </a:r>
            <a:r>
              <a:rPr lang="en-US" altLang="ja-JP" dirty="0" err="1"/>
              <a:t>pkgdown.yml</a:t>
            </a:r>
            <a:endParaRPr lang="en-US" altLang="ja-JP" dirty="0"/>
          </a:p>
          <a:p>
            <a:r>
              <a:rPr lang="en-US" altLang="ja-JP" dirty="0"/>
              <a:t>tests</a:t>
            </a:r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E63243-7AE1-75DA-BAC1-0881B76EC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3794FC-570C-AB24-EA9E-66EDF7DE9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2096" y="1023981"/>
            <a:ext cx="7088656" cy="525857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57C24C73-DE04-3481-99BF-A255A7B910AD}"/>
              </a:ext>
            </a:extLst>
          </p:cNvPr>
          <p:cNvGrpSpPr/>
          <p:nvPr/>
        </p:nvGrpSpPr>
        <p:grpSpPr>
          <a:xfrm>
            <a:off x="957012" y="4994738"/>
            <a:ext cx="9369243" cy="809834"/>
            <a:chOff x="957012" y="4994738"/>
            <a:chExt cx="9369243" cy="80983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460C6B-EB36-E061-3382-5F23206EECC0}"/>
                </a:ext>
              </a:extLst>
            </p:cNvPr>
            <p:cNvSpPr/>
            <p:nvPr/>
          </p:nvSpPr>
          <p:spPr>
            <a:xfrm>
              <a:off x="957012" y="5260908"/>
              <a:ext cx="2038435" cy="270467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7A35F00-D105-F5EB-2D82-9110D803C804}"/>
                </a:ext>
              </a:extLst>
            </p:cNvPr>
            <p:cNvSpPr/>
            <p:nvPr/>
          </p:nvSpPr>
          <p:spPr>
            <a:xfrm>
              <a:off x="4287957" y="4994738"/>
              <a:ext cx="6038298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Package</a:t>
              </a:r>
              <a:r>
                <a:rPr kumimoji="1" lang="ja-JP" altLang="en-US" dirty="0">
                  <a:solidFill>
                    <a:schemeClr val="tx1"/>
                  </a:solidFill>
                </a:rPr>
                <a:t>の</a:t>
              </a:r>
              <a:r>
                <a:rPr kumimoji="1" lang="en-US" altLang="ja-JP" dirty="0">
                  <a:solidFill>
                    <a:schemeClr val="tx1"/>
                  </a:solidFill>
                </a:rPr>
                <a:t>Validation</a:t>
              </a:r>
              <a:r>
                <a:rPr kumimoji="1" lang="ja-JP" altLang="en-US" dirty="0">
                  <a:solidFill>
                    <a:schemeClr val="tx1"/>
                  </a:solidFill>
                </a:rPr>
                <a:t>用の</a:t>
              </a:r>
              <a:r>
                <a:rPr kumimoji="1" lang="en-US" altLang="ja-JP" dirty="0">
                  <a:solidFill>
                    <a:schemeClr val="tx1"/>
                  </a:solidFill>
                </a:rPr>
                <a:t>Unit test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9E867BE-F890-91B5-4EFC-39673FAC642A}"/>
                </a:ext>
              </a:extLst>
            </p:cNvPr>
            <p:cNvCxnSpPr>
              <a:cxnSpLocks/>
              <a:stCxn id="13" idx="1"/>
              <a:endCxn id="9" idx="3"/>
            </p:cNvCxnSpPr>
            <p:nvPr/>
          </p:nvCxnSpPr>
          <p:spPr>
            <a:xfrm flipH="1" flipV="1">
              <a:off x="2995447" y="5396142"/>
              <a:ext cx="1292510" cy="3513"/>
            </a:xfrm>
            <a:prstGeom prst="straightConnector1">
              <a:avLst/>
            </a:prstGeom>
            <a:ln w="1270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257196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7316A-1409-26E9-0245-2FC5F0F7A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71072-5718-3BB8-9022-E2E877C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Unit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574F9-EC2D-5C5D-E647-1FF50D3F3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839" y="1168627"/>
            <a:ext cx="9721416" cy="4140000"/>
          </a:xfrm>
        </p:spPr>
        <p:txBody>
          <a:bodyPr/>
          <a:lstStyle/>
          <a:p>
            <a:r>
              <a:rPr lang="en-US" altLang="ja-JP" dirty="0"/>
              <a:t>Package</a:t>
            </a:r>
            <a:r>
              <a:rPr lang="ja-JP" altLang="en-US" dirty="0"/>
              <a:t>では関数や</a:t>
            </a:r>
            <a:r>
              <a:rPr lang="en-US" altLang="ja-JP" dirty="0"/>
              <a:t>Feature</a:t>
            </a:r>
            <a:r>
              <a:rPr lang="ja-JP" altLang="en-US" dirty="0"/>
              <a:t>が意図通り機能しているかを</a:t>
            </a:r>
            <a:r>
              <a:rPr lang="en-US" altLang="ja-JP" dirty="0" err="1"/>
              <a:t>Devloper</a:t>
            </a:r>
            <a:r>
              <a:rPr lang="ja-JP" altLang="en-US" dirty="0"/>
              <a:t>がテストしている。</a:t>
            </a:r>
            <a:endParaRPr lang="en-US" altLang="ja-JP" dirty="0"/>
          </a:p>
          <a:p>
            <a:r>
              <a:rPr lang="en-US" altLang="ja-JP" dirty="0"/>
              <a:t>R CMD check </a:t>
            </a:r>
            <a:r>
              <a:rPr lang="ja-JP" altLang="en-US" dirty="0"/>
              <a:t>時に自動実行されるため、関数修正時に意図しない挙動の変化を防ぐ。</a:t>
            </a:r>
            <a:endParaRPr lang="en-US" altLang="ja-JP" dirty="0"/>
          </a:p>
          <a:p>
            <a:r>
              <a:rPr lang="ja-JP" altLang="en-US" dirty="0"/>
              <a:t>個別の</a:t>
            </a:r>
            <a:r>
              <a:rPr lang="en-US" altLang="ja-JP" dirty="0"/>
              <a:t>TEST</a:t>
            </a:r>
            <a:r>
              <a:rPr lang="ja-JP" altLang="en-US" dirty="0"/>
              <a:t>は</a:t>
            </a:r>
            <a:r>
              <a:rPr lang="en-US" altLang="ja-JP" dirty="0" err="1"/>
              <a:t>testthat</a:t>
            </a:r>
            <a:r>
              <a:rPr lang="en-US" altLang="ja-JP" dirty="0"/>
              <a:t> folder</a:t>
            </a:r>
            <a:r>
              <a:rPr lang="ja-JP" altLang="en-US" dirty="0"/>
              <a:t>内に保管されることが多く、</a:t>
            </a:r>
            <a:r>
              <a:rPr lang="en-US" altLang="ja-JP" dirty="0" err="1"/>
              <a:t>testthat</a:t>
            </a:r>
            <a:r>
              <a:rPr lang="ja-JP" altLang="en-US" dirty="0"/>
              <a:t>内の全ての</a:t>
            </a:r>
            <a:r>
              <a:rPr lang="en-US" altLang="ja-JP" dirty="0"/>
              <a:t>test</a:t>
            </a:r>
            <a:r>
              <a:rPr lang="ja-JP" altLang="en-US" dirty="0"/>
              <a:t>を</a:t>
            </a:r>
            <a:br>
              <a:rPr lang="en-US" altLang="ja-JP" dirty="0"/>
            </a:br>
            <a:r>
              <a:rPr lang="en-US" altLang="ja-JP" dirty="0" err="1"/>
              <a:t>testthat.R</a:t>
            </a:r>
            <a:r>
              <a:rPr lang="ja-JP" altLang="en-US" dirty="0"/>
              <a:t>で実行する構造を持つことが多い。</a:t>
            </a:r>
            <a:endParaRPr lang="en-US" altLang="ja-JP" dirty="0"/>
          </a:p>
          <a:p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F69EBA-A607-8F83-DAFB-498099C19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C2953A-10A0-8691-4C51-50DEA55AF2F3}"/>
              </a:ext>
            </a:extLst>
          </p:cNvPr>
          <p:cNvSpPr/>
          <p:nvPr/>
        </p:nvSpPr>
        <p:spPr>
          <a:xfrm>
            <a:off x="0" y="1408"/>
            <a:ext cx="1292772" cy="219309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Test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D8076F-79ED-C124-FCA3-AF65FD72D2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386" y="3697631"/>
            <a:ext cx="1819529" cy="10669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3E12DA9-BCD9-AA99-F4B4-40C66F46F99B}"/>
              </a:ext>
            </a:extLst>
          </p:cNvPr>
          <p:cNvSpPr txBox="1"/>
          <p:nvPr/>
        </p:nvSpPr>
        <p:spPr>
          <a:xfrm>
            <a:off x="2620724" y="3649775"/>
            <a:ext cx="7757134" cy="27998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This file is part of the standard setup for </a:t>
            </a:r>
            <a:r>
              <a:rPr lang="en-US" altLang="ja-JP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testthat</a:t>
            </a: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It is recommended that you do not modify it.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Where should you do additional test configuration?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Learn more about the roles of various files in: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* https://r-pkgs.org/testing-design.html#sec-tests-files-overview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* https://testthat.r-lib.org/articles/special-files.html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library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testthat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library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anaume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test_check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anaume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8486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EB5EE-08C9-3B1A-E237-7E2CA0995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2319A-7F9D-2EAB-2FD4-137D27611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Unit test</a:t>
            </a:r>
            <a:r>
              <a:rPr lang="ja-JP" altLang="en-US" dirty="0"/>
              <a:t>の例</a:t>
            </a:r>
            <a:endParaRPr lang="en-US" altLang="ja-JP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37B6E0-2DE3-6437-CFB4-EFCE41C1F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35F11-C221-C672-92AB-2E3CF125537D}"/>
              </a:ext>
            </a:extLst>
          </p:cNvPr>
          <p:cNvSpPr/>
          <p:nvPr/>
        </p:nvSpPr>
        <p:spPr>
          <a:xfrm>
            <a:off x="0" y="1408"/>
            <a:ext cx="1292772" cy="219309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Test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69B4FB-E88F-1949-6179-C5186C36E4DA}"/>
              </a:ext>
            </a:extLst>
          </p:cNvPr>
          <p:cNvSpPr txBox="1"/>
          <p:nvPr/>
        </p:nvSpPr>
        <p:spPr>
          <a:xfrm>
            <a:off x="460459" y="1136266"/>
            <a:ext cx="6096000" cy="53133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test_that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 creates 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ae_type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 object without condition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obj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all_ae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All AEs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expect_s3_class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ae_type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expect_equal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all_ae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expect_equal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All AEs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expect_true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rlang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quo_is_null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})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test_that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 creates 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ae_type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 object with condition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obj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rel_ae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Related AEs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AEREL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expect_s3_class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ae_type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expect_equal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rel_ae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expect_equal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Related AEs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expect_false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rlang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quo_is_null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ja-JP" b="0" dirty="0" err="1">
                <a:solidFill>
                  <a:srgbClr val="4B69C6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})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test_that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dirty="0" err="1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 errors when id is not a string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expect_error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expect_error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make_ae_type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ja-JP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"),</a:t>
            </a:r>
            <a:r>
              <a:rPr lang="en-US" altLang="ja-JP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>
                <a:solidFill>
                  <a:srgbClr val="448C27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"))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ja-JP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})</a:t>
            </a:r>
            <a:endParaRPr lang="en-US" altLang="ja-JP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1EFC5DE-934C-74DB-1D65-F739DAA66AE0}"/>
              </a:ext>
            </a:extLst>
          </p:cNvPr>
          <p:cNvGrpSpPr/>
          <p:nvPr/>
        </p:nvGrpSpPr>
        <p:grpSpPr>
          <a:xfrm>
            <a:off x="6769768" y="5190627"/>
            <a:ext cx="4090737" cy="809834"/>
            <a:chOff x="5364482" y="5126458"/>
            <a:chExt cx="3710487" cy="80983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567294A-AE1D-AAC7-6181-6B6F17D2F412}"/>
                </a:ext>
              </a:extLst>
            </p:cNvPr>
            <p:cNvSpPr/>
            <p:nvPr/>
          </p:nvSpPr>
          <p:spPr>
            <a:xfrm>
              <a:off x="5801726" y="5126458"/>
              <a:ext cx="3273243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意図した</a:t>
              </a:r>
              <a:r>
                <a:rPr kumimoji="1" lang="en-US" altLang="ja-JP" dirty="0">
                  <a:solidFill>
                    <a:schemeClr val="tx1"/>
                  </a:solidFill>
                </a:rPr>
                <a:t>Error</a:t>
              </a:r>
              <a:r>
                <a:rPr kumimoji="1" lang="ja-JP" altLang="en-US" dirty="0">
                  <a:solidFill>
                    <a:schemeClr val="tx1"/>
                  </a:solidFill>
                </a:rPr>
                <a:t>が出ることを確認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EDF1379-27FF-9F06-60F0-8409C822EDEB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5364482" y="5531375"/>
              <a:ext cx="437244" cy="0"/>
            </a:xfrm>
            <a:prstGeom prst="straightConnector1">
              <a:avLst/>
            </a:prstGeom>
            <a:ln w="1270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FEE15D4-F30A-AC0D-98E9-C6556F0DE6C7}"/>
              </a:ext>
            </a:extLst>
          </p:cNvPr>
          <p:cNvGrpSpPr/>
          <p:nvPr/>
        </p:nvGrpSpPr>
        <p:grpSpPr>
          <a:xfrm>
            <a:off x="6769768" y="3594438"/>
            <a:ext cx="4090737" cy="809834"/>
            <a:chOff x="5364482" y="5126458"/>
            <a:chExt cx="3710487" cy="80983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0EBCE61-2CE7-6A72-5A65-2018A79819B4}"/>
                </a:ext>
              </a:extLst>
            </p:cNvPr>
            <p:cNvSpPr/>
            <p:nvPr/>
          </p:nvSpPr>
          <p:spPr>
            <a:xfrm>
              <a:off x="5801726" y="5126458"/>
              <a:ext cx="3273243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条件を変えて動作確認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66FB714-5ECA-3234-2263-07F12C5B60FB}"/>
                </a:ext>
              </a:extLst>
            </p:cNvPr>
            <p:cNvCxnSpPr>
              <a:cxnSpLocks/>
              <a:stCxn id="20" idx="1"/>
            </p:cNvCxnSpPr>
            <p:nvPr/>
          </p:nvCxnSpPr>
          <p:spPr>
            <a:xfrm flipH="1">
              <a:off x="5364482" y="5531375"/>
              <a:ext cx="437244" cy="0"/>
            </a:xfrm>
            <a:prstGeom prst="straightConnector1">
              <a:avLst/>
            </a:prstGeom>
            <a:ln w="1270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FD4280B-9B28-28D2-2476-9B8E596D2CAA}"/>
              </a:ext>
            </a:extLst>
          </p:cNvPr>
          <p:cNvGrpSpPr/>
          <p:nvPr/>
        </p:nvGrpSpPr>
        <p:grpSpPr>
          <a:xfrm>
            <a:off x="6769768" y="1550065"/>
            <a:ext cx="4090737" cy="809834"/>
            <a:chOff x="5364482" y="5126458"/>
            <a:chExt cx="3710487" cy="80983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6E7D7A5-C01D-A904-499F-CFE3C081D451}"/>
                </a:ext>
              </a:extLst>
            </p:cNvPr>
            <p:cNvSpPr/>
            <p:nvPr/>
          </p:nvSpPr>
          <p:spPr>
            <a:xfrm>
              <a:off x="5801726" y="5126458"/>
              <a:ext cx="3273243" cy="8098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意図した値が返ってくるかを確認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469D3C4-5C5A-4282-A5BB-FBEC71C0A465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>
              <a:off x="5364482" y="5531375"/>
              <a:ext cx="437244" cy="0"/>
            </a:xfrm>
            <a:prstGeom prst="straightConnector1">
              <a:avLst/>
            </a:prstGeom>
            <a:ln w="1270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70123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D2D87-C393-749F-1C30-5540660E7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BB201-2F85-DDDA-8F9F-EC04D6EFA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本日の発表のゴール（再掲）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EC47AC-74C2-0643-0ABC-86461D7BE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256252F-DDEE-D2DF-F3FE-EEC634A4BE53}"/>
              </a:ext>
            </a:extLst>
          </p:cNvPr>
          <p:cNvSpPr/>
          <p:nvPr/>
        </p:nvSpPr>
        <p:spPr>
          <a:xfrm>
            <a:off x="780585" y="1839953"/>
            <a:ext cx="9846527" cy="1204332"/>
          </a:xfrm>
          <a:prstGeom prst="roundRect">
            <a:avLst/>
          </a:prstGeom>
          <a:solidFill>
            <a:srgbClr val="00B8B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kumimoji="1" lang="en-US" altLang="ja-JP" b="1" dirty="0"/>
              <a:t>PHUSE</a:t>
            </a:r>
            <a:r>
              <a:rPr kumimoji="1" lang="ja-JP" altLang="en-US" b="1" dirty="0"/>
              <a:t> </a:t>
            </a:r>
            <a:r>
              <a:rPr kumimoji="1" lang="en-US" altLang="ja-JP" b="1" dirty="0"/>
              <a:t>OST</a:t>
            </a:r>
            <a:r>
              <a:rPr kumimoji="1" lang="ja-JP" altLang="en-US" b="1" dirty="0"/>
              <a:t>の活動の一環である</a:t>
            </a:r>
            <a:r>
              <a:rPr kumimoji="1" lang="en-US" altLang="ja-JP" b="1" dirty="0"/>
              <a:t>{</a:t>
            </a:r>
            <a:r>
              <a:rPr kumimoji="1" lang="en-US" altLang="ja-JP" b="1" dirty="0" err="1"/>
              <a:t>anaume</a:t>
            </a:r>
            <a:r>
              <a:rPr kumimoji="1" lang="en-US" altLang="ja-JP" b="1" dirty="0"/>
              <a:t>} package</a:t>
            </a:r>
            <a:r>
              <a:rPr kumimoji="1" lang="ja-JP" altLang="en-US" b="1" dirty="0"/>
              <a:t>について知っていただく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55CA1B7-EB11-8CF8-72E0-6B5A568E2390}"/>
              </a:ext>
            </a:extLst>
          </p:cNvPr>
          <p:cNvSpPr/>
          <p:nvPr/>
        </p:nvSpPr>
        <p:spPr>
          <a:xfrm>
            <a:off x="780585" y="3456880"/>
            <a:ext cx="9846527" cy="1204332"/>
          </a:xfrm>
          <a:prstGeom prst="roundRect">
            <a:avLst/>
          </a:prstGeom>
          <a:solidFill>
            <a:srgbClr val="00B8B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{</a:t>
            </a:r>
            <a:r>
              <a:rPr kumimoji="1" lang="en-US" altLang="ja-JP" b="1" dirty="0" err="1"/>
              <a:t>anaume</a:t>
            </a:r>
            <a:r>
              <a:rPr kumimoji="1" lang="en-US" altLang="ja-JP" b="1" dirty="0"/>
              <a:t>}</a:t>
            </a:r>
            <a:r>
              <a:rPr kumimoji="1" lang="ja-JP" altLang="en-US" b="1" dirty="0"/>
              <a:t>を例に、一般的な</a:t>
            </a:r>
            <a:r>
              <a:rPr kumimoji="1" lang="en-US" altLang="ja-JP" b="1" dirty="0"/>
              <a:t>Package</a:t>
            </a:r>
            <a:r>
              <a:rPr kumimoji="1" lang="ja-JP" altLang="en-US" b="1" dirty="0"/>
              <a:t>の構成要素について理解を深める</a:t>
            </a:r>
          </a:p>
        </p:txBody>
      </p:sp>
    </p:spTree>
    <p:extLst>
      <p:ext uri="{BB962C8B-B14F-4D97-AF65-F5344CB8AC3E}">
        <p14:creationId xmlns:p14="http://schemas.microsoft.com/office/powerpoint/2010/main" val="42149740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5BE6C-2942-5422-DB59-EC20CB962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34105-CCF0-E3AF-88F7-626653BA2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38" y="2827673"/>
            <a:ext cx="9721417" cy="809834"/>
          </a:xfrm>
        </p:spPr>
        <p:txBody>
          <a:bodyPr>
            <a:normAutofit/>
          </a:bodyPr>
          <a:lstStyle/>
          <a:p>
            <a:r>
              <a:rPr lang="en-US" altLang="ja-JP"/>
              <a:t>End of slides</a:t>
            </a:r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4081DF-F485-EB04-5F0D-75A4D2246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</p:spTree>
    <p:extLst>
      <p:ext uri="{BB962C8B-B14F-4D97-AF65-F5344CB8AC3E}">
        <p14:creationId xmlns:p14="http://schemas.microsoft.com/office/powerpoint/2010/main" val="2746131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4C0A-2AC9-D431-F1D4-0F3E7A8EB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4F6DE-46F6-4C12-1FBF-34A8E840B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38" y="2827673"/>
            <a:ext cx="9721417" cy="809834"/>
          </a:xfrm>
        </p:spPr>
        <p:txBody>
          <a:bodyPr>
            <a:normAutofit/>
          </a:bodyPr>
          <a:lstStyle/>
          <a:p>
            <a:r>
              <a:rPr lang="en-US" altLang="ja-JP" dirty="0"/>
              <a:t>BU</a:t>
            </a:r>
            <a:endParaRPr kumimoji="1" lang="ja-JP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CB432-264F-29F8-3C2F-FA12C34BA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</p:spTree>
    <p:extLst>
      <p:ext uri="{BB962C8B-B14F-4D97-AF65-F5344CB8AC3E}">
        <p14:creationId xmlns:p14="http://schemas.microsoft.com/office/powerpoint/2010/main" val="8811831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EB731-37C7-136A-5688-D130BA1B4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Overview of PMDA’s Requests</a:t>
            </a:r>
            <a:endParaRPr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135E8-1EF8-8701-1125-D37D05597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6C6C436-C104-8E1B-56D8-40D73101D7A6}"/>
              </a:ext>
            </a:extLst>
          </p:cNvPr>
          <p:cNvGraphicFramePr>
            <a:graphicFrameLocks noGrp="1"/>
          </p:cNvGraphicFramePr>
          <p:nvPr/>
        </p:nvGraphicFramePr>
        <p:xfrm>
          <a:off x="138545" y="988644"/>
          <a:ext cx="11914910" cy="546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060">
                  <a:extLst>
                    <a:ext uri="{9D8B030D-6E8A-4147-A177-3AD203B41FA5}">
                      <a16:colId xmlns:a16="http://schemas.microsoft.com/office/drawing/2014/main" val="3531564981"/>
                    </a:ext>
                  </a:extLst>
                </a:gridCol>
                <a:gridCol w="1840747">
                  <a:extLst>
                    <a:ext uri="{9D8B030D-6E8A-4147-A177-3AD203B41FA5}">
                      <a16:colId xmlns:a16="http://schemas.microsoft.com/office/drawing/2014/main" val="1709521060"/>
                    </a:ext>
                  </a:extLst>
                </a:gridCol>
                <a:gridCol w="9753103">
                  <a:extLst>
                    <a:ext uri="{9D8B030D-6E8A-4147-A177-3AD203B41FA5}">
                      <a16:colId xmlns:a16="http://schemas.microsoft.com/office/drawing/2014/main" val="3726523656"/>
                    </a:ext>
                  </a:extLst>
                </a:gridCol>
              </a:tblGrid>
              <a:tr h="182247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#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Target studies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471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All studies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b="1"/>
                        <a:t>Summary of AE overview</a:t>
                      </a:r>
                      <a:endParaRPr kumimoji="1" lang="ja-JP" altLang="en-US" sz="1600" b="1" i="0" u="none" strike="noStrike" kern="1200" baseline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 b="0" i="0" u="none" strike="noStrike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 AEs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 b="0" i="0" u="none" strike="noStrike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AEs with grade 3+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 b="0" i="0" u="none" strike="noStrike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Fatal AEs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 b="0" i="0" u="none" strike="noStrike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Serious AEs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 b="0" i="0" u="none" strike="noStrike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AEs leading to treatment discontinuation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 b="0" i="0" u="none" strike="noStrike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AEs leading to dose interruption/delay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 b="0" i="0" u="none" strike="noStrike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AEs leading to dose reduction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287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2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All studies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b="1"/>
                        <a:t>Summary of AEs and drug-related AEs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/>
                        <a:t>The summaries for AEs and drug-related AEs need to be displayed on the one table.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/>
                        <a:t>The displays for following AEs are needed: Fatal AE, SAE, AE leading to treatment discontinuation of any treatment, AE leading to dose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/>
                        <a:t>interruption/delay of any treatment, AE leading to dose reduction of any treatment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647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3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Studies including JPN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b="1" dirty="0"/>
                        <a:t>Summary of AE overview for Japanese and non-Japanese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 dirty="0"/>
                        <a:t>AE overview for Japanese and non-Japanese needs to be displayed on the one table.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5129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4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Pivotal studies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b="1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Summary of important AEs by time windows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6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The number and percentage of patients with each important AE needs to be summarized by time windows from study start.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38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…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…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…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029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612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608C69-C7F0-60E2-B7F3-678415B2D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A773C-A37A-F8B0-DCD5-BDCA3AD12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Structure of ARDs for PMDA queries</a:t>
            </a:r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4C93E-502C-39F2-DF83-307763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Insert menu &gt; Header &amp; Footer button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AA3837-8372-C330-8EE3-621E5A6A1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9" y="1677382"/>
            <a:ext cx="4957195" cy="35443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8A5F25-9A23-292D-9F72-8F98CBA748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706095"/>
            <a:ext cx="5922149" cy="26892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714A03-C4BB-6DC8-5652-1BC37CA3D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973" y="2717859"/>
            <a:ext cx="1621616" cy="1687358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E5B699-9BBF-CA8B-62E0-AD712D5A7638}"/>
              </a:ext>
            </a:extLst>
          </p:cNvPr>
          <p:cNvSpPr/>
          <p:nvPr/>
        </p:nvSpPr>
        <p:spPr>
          <a:xfrm>
            <a:off x="1607950" y="1851889"/>
            <a:ext cx="1362592" cy="1896692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FFB1E33-E3F7-5C0E-4558-C0BF965C0255}"/>
              </a:ext>
            </a:extLst>
          </p:cNvPr>
          <p:cNvSpPr/>
          <p:nvPr/>
        </p:nvSpPr>
        <p:spPr>
          <a:xfrm>
            <a:off x="1607950" y="3748581"/>
            <a:ext cx="1362592" cy="1541056"/>
          </a:xfrm>
          <a:prstGeom prst="round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F20349-8F20-49D5-34DA-0192CF09CAC3}"/>
              </a:ext>
            </a:extLst>
          </p:cNvPr>
          <p:cNvSpPr/>
          <p:nvPr/>
        </p:nvSpPr>
        <p:spPr>
          <a:xfrm>
            <a:off x="6085699" y="4717473"/>
            <a:ext cx="1420611" cy="219677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7E67C12-55E3-C587-6BDB-0107F52C9E7F}"/>
              </a:ext>
            </a:extLst>
          </p:cNvPr>
          <p:cNvSpPr/>
          <p:nvPr/>
        </p:nvSpPr>
        <p:spPr>
          <a:xfrm>
            <a:off x="6082565" y="4957932"/>
            <a:ext cx="1420612" cy="263814"/>
          </a:xfrm>
          <a:prstGeom prst="round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AE09132-FFC1-3D2B-7159-B08B3E41585C}"/>
              </a:ext>
            </a:extLst>
          </p:cNvPr>
          <p:cNvSpPr/>
          <p:nvPr/>
        </p:nvSpPr>
        <p:spPr>
          <a:xfrm>
            <a:off x="354974" y="1831107"/>
            <a:ext cx="768928" cy="3437747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30C75FC-E87A-BC97-39E7-F9008B60BD7B}"/>
              </a:ext>
            </a:extLst>
          </p:cNvPr>
          <p:cNvSpPr/>
          <p:nvPr/>
        </p:nvSpPr>
        <p:spPr>
          <a:xfrm>
            <a:off x="7503177" y="4233982"/>
            <a:ext cx="4514972" cy="182995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091B2F3-A380-B1F9-28A8-90A0AB76B8A1}"/>
              </a:ext>
            </a:extLst>
          </p:cNvPr>
          <p:cNvSpPr/>
          <p:nvPr/>
        </p:nvSpPr>
        <p:spPr>
          <a:xfrm>
            <a:off x="1144594" y="1817944"/>
            <a:ext cx="405336" cy="3437747"/>
          </a:xfrm>
          <a:prstGeom prst="round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549E066-F0BE-70FB-57CC-13663D2E0B2F}"/>
              </a:ext>
            </a:extLst>
          </p:cNvPr>
          <p:cNvSpPr/>
          <p:nvPr/>
        </p:nvSpPr>
        <p:spPr>
          <a:xfrm>
            <a:off x="7503176" y="4453659"/>
            <a:ext cx="4514971" cy="209515"/>
          </a:xfrm>
          <a:prstGeom prst="round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9EE0C59-28F5-7A78-A73F-5069542E16FC}"/>
              </a:ext>
            </a:extLst>
          </p:cNvPr>
          <p:cNvSpPr/>
          <p:nvPr/>
        </p:nvSpPr>
        <p:spPr>
          <a:xfrm>
            <a:off x="3931916" y="1817944"/>
            <a:ext cx="405336" cy="1896692"/>
          </a:xfrm>
          <a:prstGeom prst="roundRect">
            <a:avLst/>
          </a:prstGeom>
          <a:solidFill>
            <a:srgbClr val="FFA3A5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0D427C6-16E8-C043-675C-84741F2CA556}"/>
              </a:ext>
            </a:extLst>
          </p:cNvPr>
          <p:cNvSpPr/>
          <p:nvPr/>
        </p:nvSpPr>
        <p:spPr>
          <a:xfrm>
            <a:off x="7513478" y="4699856"/>
            <a:ext cx="4504669" cy="258076"/>
          </a:xfrm>
          <a:prstGeom prst="roundRect">
            <a:avLst/>
          </a:prstGeom>
          <a:solidFill>
            <a:srgbClr val="FFA3A5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639A0A00-50FE-0DDF-292C-1C259374F619}"/>
              </a:ext>
            </a:extLst>
          </p:cNvPr>
          <p:cNvSpPr/>
          <p:nvPr/>
        </p:nvSpPr>
        <p:spPr>
          <a:xfrm rot="5400000">
            <a:off x="4266288" y="5099777"/>
            <a:ext cx="969522" cy="1621615"/>
          </a:xfrm>
          <a:prstGeom prst="bentUpArrow">
            <a:avLst>
              <a:gd name="adj1" fmla="val 25000"/>
              <a:gd name="adj2" fmla="val 26047"/>
              <a:gd name="adj3" fmla="val 2500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18F5CD0-0F98-946A-1B2B-6F20AFCC5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704" y="1039419"/>
            <a:ext cx="9721416" cy="4140000"/>
          </a:xfrm>
        </p:spPr>
        <p:txBody>
          <a:bodyPr/>
          <a:lstStyle/>
          <a:p>
            <a:r>
              <a:rPr lang="en-US" altLang="ja-JP"/>
              <a:t>Sample ARD for “summary of AE overview”</a:t>
            </a:r>
            <a:endParaRPr kumimoji="1" lang="en-US" altLang="ja-JP"/>
          </a:p>
        </p:txBody>
      </p:sp>
      <p:pic>
        <p:nvPicPr>
          <p:cNvPr id="9" name="Picture 4" descr="tfrmt logo">
            <a:extLst>
              <a:ext uri="{FF2B5EF4-FFF2-40B4-BE49-F238E27FC236}">
                <a16:creationId xmlns:a16="http://schemas.microsoft.com/office/drawing/2014/main" id="{CA8FB182-D373-B909-7704-DE38F0781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9592" y="1290455"/>
            <a:ext cx="1520962" cy="1648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2668094"/>
      </p:ext>
    </p:extLst>
  </p:cSld>
  <p:clrMapOvr>
    <a:masterClrMapping/>
  </p:clrMapOvr>
</p:sld>
</file>

<file path=ppt/theme/theme1.xml><?xml version="1.0" encoding="utf-8"?>
<a:theme xmlns:a="http://schemas.openxmlformats.org/drawingml/2006/main" name="theme_2024">
  <a:themeElements>
    <a:clrScheme name="Novartis RM">
      <a:dk1>
        <a:srgbClr val="000000"/>
      </a:dk1>
      <a:lt1>
        <a:srgbClr val="FFFFFF"/>
      </a:lt1>
      <a:dk2>
        <a:srgbClr val="002068"/>
      </a:dk2>
      <a:lt2>
        <a:srgbClr val="FFFFFF"/>
      </a:lt2>
      <a:accent1>
        <a:srgbClr val="002068"/>
      </a:accent1>
      <a:accent2>
        <a:srgbClr val="FF585D"/>
      </a:accent2>
      <a:accent3>
        <a:srgbClr val="FFC100"/>
      </a:accent3>
      <a:accent4>
        <a:srgbClr val="A7A8AA"/>
      </a:accent4>
      <a:accent5>
        <a:srgbClr val="D0D0D0"/>
      </a:accent5>
      <a:accent6>
        <a:srgbClr val="0460A9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rgbClr val="0460A9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rmAutofit/>
      </a:bodyPr>
      <a:lstStyle>
        <a:defPPr algn="l">
          <a:lnSpc>
            <a:spcPct val="95000"/>
          </a:lnSpc>
          <a:defRPr sz="1000" b="1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_2024" id="{58333689-20BD-495D-AD6D-3C3369F0172F}" vid="{63EF54B5-7250-4C51-9F63-38B3FF12A49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DBF427431D4B1448BE8CF98B93B7DD2" ma:contentTypeVersion="18" ma:contentTypeDescription="Create a new document." ma:contentTypeScope="" ma:versionID="7e00f65772eaa6b4e2a1f3806e43c919">
  <xsd:schema xmlns:xsd="http://www.w3.org/2001/XMLSchema" xmlns:xs="http://www.w3.org/2001/XMLSchema" xmlns:p="http://schemas.microsoft.com/office/2006/metadata/properties" xmlns:ns2="0ba1c913-3834-46f4-a0c5-fd96f14654cd" xmlns:ns3="ea1b8532-76a1-4465-838b-77a68046580b" xmlns:ns4="c9ac3ab4-a7cc-4b3a-aeed-dd55a233ac4b" targetNamespace="http://schemas.microsoft.com/office/2006/metadata/properties" ma:root="true" ma:fieldsID="2f09ec59953cd912df5c7bc2dd54bc36" ns2:_="" ns3:_="" ns4:_="">
    <xsd:import namespace="0ba1c913-3834-46f4-a0c5-fd96f14654cd"/>
    <xsd:import namespace="ea1b8532-76a1-4465-838b-77a68046580b"/>
    <xsd:import namespace="c9ac3ab4-a7cc-4b3a-aeed-dd55a233ac4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4:TaxCatchAll" minOccurs="0"/>
                <xsd:element ref="ns2:MediaServiceSearchPropertie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a1c913-3834-46f4-a0c5-fd96f14654c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737bc47b-3997-4ccb-824d-08e9c3bde3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a1b8532-76a1-4465-838b-77a68046580b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ac3ab4-a7cc-4b3a-aeed-dd55a233ac4b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44f690fa-f7d0-4d03-8954-c78cdcdcc3fb}" ma:internalName="TaxCatchAll" ma:showField="CatchAllData" ma:web="ea1b8532-76a1-4465-838b-77a6804658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ba1c913-3834-46f4-a0c5-fd96f14654cd">
      <Terms xmlns="http://schemas.microsoft.com/office/infopath/2007/PartnerControls"/>
    </lcf76f155ced4ddcb4097134ff3c332f>
    <TaxCatchAll xmlns="c9ac3ab4-a7cc-4b3a-aeed-dd55a233ac4b" xsi:nil="true"/>
  </documentManagement>
</p:properties>
</file>

<file path=customXml/itemProps1.xml><?xml version="1.0" encoding="utf-8"?>
<ds:datastoreItem xmlns:ds="http://schemas.openxmlformats.org/officeDocument/2006/customXml" ds:itemID="{783934D6-F2B8-47B6-9D7B-821C97B0820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A56458-9DCF-48E9-90BC-62FC0E0BED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ba1c913-3834-46f4-a0c5-fd96f14654cd"/>
    <ds:schemaRef ds:uri="ea1b8532-76a1-4465-838b-77a68046580b"/>
    <ds:schemaRef ds:uri="c9ac3ab4-a7cc-4b3a-aeed-dd55a233ac4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1188CA7-0472-47C4-85A3-1E0E095052CF}">
  <ds:schemaRefs>
    <ds:schemaRef ds:uri="http://www.w3.org/XML/1998/namespace"/>
    <ds:schemaRef ds:uri="http://purl.org/dc/elements/1.1/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c9ac3ab4-a7cc-4b3a-aeed-dd55a233ac4b"/>
    <ds:schemaRef ds:uri="ea1b8532-76a1-4465-838b-77a68046580b"/>
    <ds:schemaRef ds:uri="0ba1c913-3834-46f4-a0c5-fd96f14654cd"/>
    <ds:schemaRef ds:uri="http://schemas.microsoft.com/office/2006/metadata/properties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3c9bec58-8084-492e-8360-0e1cfe36408c}" enabled="1" method="Standard" siteId="{f35a6974-607f-47d4-82d7-ff31d7dc53a5}" removed="0"/>
  <clbl:label id="{bea66b2b-af80-48b6-873b-d341d3035cfa}" enabled="1" method="Standard" siteId="{63982aff-fb6c-4c22-973b-70e4acfb63e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theme_2024</Template>
  <TotalTime>6992</TotalTime>
  <Words>2892</Words>
  <Application>Microsoft Office PowerPoint</Application>
  <PresentationFormat>ワイド画面</PresentationFormat>
  <Paragraphs>479</Paragraphs>
  <Slides>38</Slides>
  <Notes>36</Notes>
  <HiddenSlides>2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38</vt:i4>
      </vt:variant>
    </vt:vector>
  </HeadingPairs>
  <TitlesOfParts>
    <vt:vector size="47" baseType="lpstr">
      <vt:lpstr>ＭＳ Ｐゴシック</vt:lpstr>
      <vt:lpstr>Ping LCG Medium</vt:lpstr>
      <vt:lpstr>游ゴシック</vt:lpstr>
      <vt:lpstr>Arial</vt:lpstr>
      <vt:lpstr>Calibri</vt:lpstr>
      <vt:lpstr>Consolas</vt:lpstr>
      <vt:lpstr>Lucida Console</vt:lpstr>
      <vt:lpstr>Wingdings</vt:lpstr>
      <vt:lpstr>theme_2024</vt:lpstr>
      <vt:lpstr>Package development for PMDA Oncology inquiries </vt:lpstr>
      <vt:lpstr>本日の発表のゴール</vt:lpstr>
      <vt:lpstr>Introduction of {anaume}</vt:lpstr>
      <vt:lpstr>Challenges regarding to AE analysis of PMDA queries in oncology</vt:lpstr>
      <vt:lpstr>Package to solve this challenge: {anaume}</vt:lpstr>
      <vt:lpstr>Analysis Results Data (ARD) is structured dataset that represents the outputs of statistical analyses.</vt:lpstr>
      <vt:lpstr>Strong points of using ARD</vt:lpstr>
      <vt:lpstr>Working flow from data to reports using ARD</vt:lpstr>
      <vt:lpstr>PowerPoint プレゼンテーション</vt:lpstr>
      <vt:lpstr>PowerPoint プレゼンテーション</vt:lpstr>
      <vt:lpstr>Step1: Define the event  make_ae_type</vt:lpstr>
      <vt:lpstr>Step2: Create ARD jpn_query_overview/ｊpn_query_summary_pt</vt:lpstr>
      <vt:lpstr>Step2: Create ARD  ex) jpn_query_overview</vt:lpstr>
      <vt:lpstr>{cards} package</vt:lpstr>
      <vt:lpstr>Step3: Create outputs from ARD </vt:lpstr>
      <vt:lpstr>Structure of R package</vt:lpstr>
      <vt:lpstr>Basic components of R Package</vt:lpstr>
      <vt:lpstr>Basic components of R Package</vt:lpstr>
      <vt:lpstr>Basic components of R Package</vt:lpstr>
      <vt:lpstr>DESCRIPTION</vt:lpstr>
      <vt:lpstr>NAMESPACE</vt:lpstr>
      <vt:lpstr>Basic components of R Package</vt:lpstr>
      <vt:lpstr>R pgm</vt:lpstr>
      <vt:lpstr>Basic components of R Package</vt:lpstr>
      <vt:lpstr>README</vt:lpstr>
      <vt:lpstr>Github pagesとは？？</vt:lpstr>
      <vt:lpstr>man</vt:lpstr>
      <vt:lpstr>roxygen</vt:lpstr>
      <vt:lpstr>vignettes</vt:lpstr>
      <vt:lpstr>_pkgdown.yml</vt:lpstr>
      <vt:lpstr>Basic components of R Package</vt:lpstr>
      <vt:lpstr>Unit test</vt:lpstr>
      <vt:lpstr>Unit testの例</vt:lpstr>
      <vt:lpstr>本日の発表のゴール（再掲）</vt:lpstr>
      <vt:lpstr>End of slides</vt:lpstr>
      <vt:lpstr>BU</vt:lpstr>
      <vt:lpstr>Overview of PMDA’s Requests</vt:lpstr>
      <vt:lpstr>Structure of ARDs for PMDA queries</vt:lpstr>
    </vt:vector>
  </TitlesOfParts>
  <Company>Novartis Pharma AG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Goto Shunsuke</dc:creator>
  <cp:lastModifiedBy>森岡　裕(038)</cp:lastModifiedBy>
  <cp:revision>3</cp:revision>
  <dcterms:created xsi:type="dcterms:W3CDTF">2025-08-26T00:56:50Z</dcterms:created>
  <dcterms:modified xsi:type="dcterms:W3CDTF">2026-04-09T19:25:10Z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0x0101006DBF427431D4B1448BE8CF98B93B7DD2</vt:lpwstr>
  </property>
  <property fmtid="{D5CDD505-2E9C-101B-9397-08002B2CF9AE}" pid="3" name="MediaServiceImageTags">
    <vt:lpwstr/>
  </property>
</Properties>
</file>